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81" r:id="rId34"/>
    <p:sldId id="280" r:id="rId4"/>
    <p:sldId id="259" r:id="rId5"/>
    <p:sldId id="282" r:id="rId35"/>
    <p:sldId id="260" r:id="rId6"/>
    <p:sldId id="283" r:id="rId36"/>
    <p:sldId id="261" r:id="rId7"/>
    <p:sldId id="262" r:id="rId8"/>
    <p:sldId id="263" r:id="rId9"/>
    <p:sldId id="264" r:id="rId10"/>
    <p:sldId id="265" r:id="rId11"/>
    <p:sldId id="266" r:id="rId12"/>
    <p:sldId id="267" r:id="rId13"/>
    <p:sldId id="284" r:id="rId37"/>
    <p:sldId id="285" r:id="rId38"/>
    <p:sldId id="286" r:id="rId39"/>
    <p:sldId id="268" r:id="rId14"/>
    <p:sldId id="269" r:id="rId15"/>
    <p:sldId id="287" r:id="rId40"/>
    <p:sldId id="270" r:id="rId16"/>
    <p:sldId id="271" r:id="rId17"/>
    <p:sldId id="288" r:id="rId41"/>
    <p:sldId id="289" r:id="rId42"/>
    <p:sldId id="272" r:id="rId18"/>
    <p:sldId id="273" r:id="rId19"/>
    <p:sldId id="290" r:id="rId43"/>
    <p:sldId id="274" r:id="rId20"/>
    <p:sldId id="275" r:id="rId21"/>
    <p:sldId id="291" r:id="rId44"/>
    <p:sldId id="276" r:id="rId22"/>
    <p:sldId id="292" r:id="rId45"/>
    <p:sldId id="277" r:id="rId23"/>
    <p:sldId id="278" r:id="rId24"/>
    <p:sldId id="293" r:id="rId46"/>
    <p:sldId id="294" r:id="rId47"/>
    <p:sldId id="295" r:id="rId48"/>
    <p:sldId id="296" r:id="rId49"/>
    <p:sldId id="297" r:id="rId50"/>
    <p:sldId id="298" r:id="rId5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1B2C3D4-0000-4000-8000-000000000001}" name="Claude (revisión ONUDI)" initials="CR" userId="Claude"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Claude (revisión ONUDI)" initials="CR"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460595-9126-482A-A3B9-5B759A5C0DC6}" v="1" dt="2026-09-24T14:52:43.9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1" d="100"/>
          <a:sy n="71" d="100"/>
        </p:scale>
        <p:origin x="38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commentAuthors" Target="commentAuthors.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microsoft.com/office/2016/11/relationships/changesInfo" Target="changesInfos/changesInfo1.xml"/><Relationship Id="rId32" Type="http://schemas.microsoft.com/office/2015/10/relationships/revisionInfo" Target="revisionInfo.xml"/><Relationship Id="rId33" Type="http://schemas.microsoft.com/office/2018/10/relationships/authors" Target="authors.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kin Gómez" userId="385c81511b083e44" providerId="LiveId" clId="{28FC696F-35B8-4250-866E-37577D9724C4}"/>
    <pc:docChg chg="custSel addSld delSld modSld">
      <pc:chgData name="Elkin Gómez" userId="385c81511b083e44" providerId="LiveId" clId="{28FC696F-35B8-4250-866E-37577D9724C4}" dt="2026-09-24T15:00:44.512" v="399" actId="20577"/>
      <pc:docMkLst>
        <pc:docMk/>
      </pc:docMkLst>
      <pc:sldChg chg="addSp modSp mod">
        <pc:chgData name="Elkin Gómez" userId="385c81511b083e44" providerId="LiveId" clId="{28FC696F-35B8-4250-866E-37577D9724C4}" dt="2026-09-24T14:58:05.499" v="263" actId="20577"/>
        <pc:sldMkLst>
          <pc:docMk/>
          <pc:sldMk cId="0" sldId="257"/>
        </pc:sldMkLst>
        <pc:spChg chg="add mod">
          <ac:chgData name="Elkin Gómez" userId="385c81511b083e44" providerId="LiveId" clId="{28FC696F-35B8-4250-866E-37577D9724C4}" dt="2026-09-24T14:58:05.499" v="263" actId="20577"/>
          <ac:spMkLst>
            <pc:docMk/>
            <pc:sldMk cId="0" sldId="257"/>
            <ac:spMk id="37" creationId="{B5DE28D2-48C6-452D-9224-58A1B0B8C1F8}"/>
          </ac:spMkLst>
        </pc:spChg>
      </pc:sldChg>
      <pc:sldChg chg="del">
        <pc:chgData name="Elkin Gómez" userId="385c81511b083e44" providerId="LiveId" clId="{28FC696F-35B8-4250-866E-37577D9724C4}" dt="2026-09-24T14:55:51.865" v="1"/>
        <pc:sldMkLst>
          <pc:docMk/>
          <pc:sldMk cId="0" sldId="258"/>
        </pc:sldMkLst>
      </pc:sldChg>
      <pc:sldChg chg="addSp modSp mod">
        <pc:chgData name="Elkin Gómez" userId="385c81511b083e44" providerId="LiveId" clId="{28FC696F-35B8-4250-866E-37577D9724C4}" dt="2026-09-24T14:56:42.896" v="54"/>
        <pc:sldMkLst>
          <pc:docMk/>
          <pc:sldMk cId="0" sldId="259"/>
        </pc:sldMkLst>
        <pc:spChg chg="add mod">
          <ac:chgData name="Elkin Gómez" userId="385c81511b083e44" providerId="LiveId" clId="{28FC696F-35B8-4250-866E-37577D9724C4}" dt="2026-09-24T14:56:42.896" v="54"/>
          <ac:spMkLst>
            <pc:docMk/>
            <pc:sldMk cId="0" sldId="259"/>
            <ac:spMk id="26" creationId="{3ADF0D01-B711-45A3-8B76-5C4E882061A6}"/>
          </ac:spMkLst>
        </pc:spChg>
      </pc:sldChg>
      <pc:sldChg chg="addSp modSp mod">
        <pc:chgData name="Elkin Gómez" userId="385c81511b083e44" providerId="LiveId" clId="{28FC696F-35B8-4250-866E-37577D9724C4}" dt="2026-09-24T14:56:42.899" v="71"/>
        <pc:sldMkLst>
          <pc:docMk/>
          <pc:sldMk cId="0" sldId="260"/>
        </pc:sldMkLst>
        <pc:spChg chg="add mod">
          <ac:chgData name="Elkin Gómez" userId="385c81511b083e44" providerId="LiveId" clId="{28FC696F-35B8-4250-866E-37577D9724C4}" dt="2026-09-24T14:56:42.899" v="71"/>
          <ac:spMkLst>
            <pc:docMk/>
            <pc:sldMk cId="0" sldId="260"/>
            <ac:spMk id="49" creationId="{49AA6EAD-9C6B-4858-ACDE-F2FF03709C07}"/>
          </ac:spMkLst>
        </pc:spChg>
      </pc:sldChg>
      <pc:sldChg chg="addSp modSp mod">
        <pc:chgData name="Elkin Gómez" userId="385c81511b083e44" providerId="LiveId" clId="{28FC696F-35B8-4250-866E-37577D9724C4}" dt="2026-09-24T14:59:07.070" v="359" actId="33524"/>
        <pc:sldMkLst>
          <pc:docMk/>
          <pc:sldMk cId="0" sldId="261"/>
        </pc:sldMkLst>
        <pc:spChg chg="add mod">
          <ac:chgData name="Elkin Gómez" userId="385c81511b083e44" providerId="LiveId" clId="{28FC696F-35B8-4250-866E-37577D9724C4}" dt="2026-09-24T14:59:07.070" v="359" actId="33524"/>
          <ac:spMkLst>
            <pc:docMk/>
            <pc:sldMk cId="0" sldId="261"/>
            <ac:spMk id="22" creationId="{EF4D83EE-C0F9-4B72-BAA2-5FE6C6382ACC}"/>
          </ac:spMkLst>
        </pc:spChg>
      </pc:sldChg>
      <pc:sldChg chg="addSp delSp modSp mod">
        <pc:chgData name="Elkin Gómez" userId="385c81511b083e44" providerId="LiveId" clId="{28FC696F-35B8-4250-866E-37577D9724C4}" dt="2026-09-24T14:59:14.070" v="360" actId="478"/>
        <pc:sldMkLst>
          <pc:docMk/>
          <pc:sldMk cId="0" sldId="262"/>
        </pc:sldMkLst>
        <pc:spChg chg="add del mod">
          <ac:chgData name="Elkin Gómez" userId="385c81511b083e44" providerId="LiveId" clId="{28FC696F-35B8-4250-866E-37577D9724C4}" dt="2026-09-24T14:59:14.070" v="360" actId="478"/>
          <ac:spMkLst>
            <pc:docMk/>
            <pc:sldMk cId="0" sldId="262"/>
            <ac:spMk id="38" creationId="{D4A01838-C5EC-4050-A2FC-E27A9E9E6C44}"/>
          </ac:spMkLst>
        </pc:spChg>
      </pc:sldChg>
      <pc:sldChg chg="addSp delSp modSp mod">
        <pc:chgData name="Elkin Gómez" userId="385c81511b083e44" providerId="LiveId" clId="{28FC696F-35B8-4250-866E-37577D9724C4}" dt="2026-09-24T15:00:03.335" v="364" actId="478"/>
        <pc:sldMkLst>
          <pc:docMk/>
          <pc:sldMk cId="0" sldId="265"/>
        </pc:sldMkLst>
        <pc:spChg chg="add del mod">
          <ac:chgData name="Elkin Gómez" userId="385c81511b083e44" providerId="LiveId" clId="{28FC696F-35B8-4250-866E-37577D9724C4}" dt="2026-09-24T15:00:03.335" v="364" actId="478"/>
          <ac:spMkLst>
            <pc:docMk/>
            <pc:sldMk cId="0" sldId="265"/>
            <ac:spMk id="82" creationId="{52A25B1E-D8BB-4478-9FF9-D019E848E264}"/>
          </ac:spMkLst>
        </pc:spChg>
      </pc:sldChg>
      <pc:sldChg chg="addSp modSp mod">
        <pc:chgData name="Elkin Gómez" userId="385c81511b083e44" providerId="LiveId" clId="{28FC696F-35B8-4250-866E-37577D9724C4}" dt="2026-09-24T14:56:42.939" v="139"/>
        <pc:sldMkLst>
          <pc:docMk/>
          <pc:sldMk cId="0" sldId="267"/>
        </pc:sldMkLst>
        <pc:spChg chg="add mod">
          <ac:chgData name="Elkin Gómez" userId="385c81511b083e44" providerId="LiveId" clId="{28FC696F-35B8-4250-866E-37577D9724C4}" dt="2026-09-24T14:56:42.939" v="139"/>
          <ac:spMkLst>
            <pc:docMk/>
            <pc:sldMk cId="0" sldId="267"/>
            <ac:spMk id="55" creationId="{90FE9E98-742F-4F0B-9198-1A3E12BBF151}"/>
          </ac:spMkLst>
        </pc:spChg>
      </pc:sldChg>
      <pc:sldChg chg="addSp modSp mod">
        <pc:chgData name="Elkin Gómez" userId="385c81511b083e44" providerId="LiveId" clId="{28FC696F-35B8-4250-866E-37577D9724C4}" dt="2026-09-24T15:00:44.512" v="399" actId="20577"/>
        <pc:sldMkLst>
          <pc:docMk/>
          <pc:sldMk cId="0" sldId="269"/>
        </pc:sldMkLst>
        <pc:spChg chg="add mod">
          <ac:chgData name="Elkin Gómez" userId="385c81511b083e44" providerId="LiveId" clId="{28FC696F-35B8-4250-866E-37577D9724C4}" dt="2026-09-24T15:00:44.512" v="399" actId="20577"/>
          <ac:spMkLst>
            <pc:docMk/>
            <pc:sldMk cId="0" sldId="269"/>
            <ac:spMk id="57" creationId="{B5B782C2-F317-44AC-B988-4FFF4FA9DAF8}"/>
          </ac:spMkLst>
        </pc:spChg>
      </pc:sldChg>
      <pc:sldChg chg="addSp modSp mod">
        <pc:chgData name="Elkin Gómez" userId="385c81511b083e44" providerId="LiveId" clId="{28FC696F-35B8-4250-866E-37577D9724C4}" dt="2026-09-24T14:56:52.757" v="259"/>
        <pc:sldMkLst>
          <pc:docMk/>
          <pc:sldMk cId="0" sldId="271"/>
        </pc:sldMkLst>
        <pc:spChg chg="add mod">
          <ac:chgData name="Elkin Gómez" userId="385c81511b083e44" providerId="LiveId" clId="{28FC696F-35B8-4250-866E-37577D9724C4}" dt="2026-09-24T14:56:52.757" v="259"/>
          <ac:spMkLst>
            <pc:docMk/>
            <pc:sldMk cId="0" sldId="271"/>
            <ac:spMk id="65" creationId="{F6E891EB-BF5C-4E85-A711-81AD31614CA5}"/>
          </ac:spMkLst>
        </pc:spChg>
      </pc:sldChg>
      <pc:sldChg chg="addSp modSp mod">
        <pc:chgData name="Elkin Gómez" userId="385c81511b083e44" providerId="LiveId" clId="{28FC696F-35B8-4250-866E-37577D9724C4}" dt="2026-09-24T14:56:42.962" v="190"/>
        <pc:sldMkLst>
          <pc:docMk/>
          <pc:sldMk cId="0" sldId="272"/>
        </pc:sldMkLst>
        <pc:spChg chg="add mod">
          <ac:chgData name="Elkin Gómez" userId="385c81511b083e44" providerId="LiveId" clId="{28FC696F-35B8-4250-866E-37577D9724C4}" dt="2026-09-24T14:56:42.962" v="190"/>
          <ac:spMkLst>
            <pc:docMk/>
            <pc:sldMk cId="0" sldId="272"/>
            <ac:spMk id="5" creationId="{8F40E589-20E7-402C-A6E5-99D6B21063A8}"/>
          </ac:spMkLst>
        </pc:spChg>
      </pc:sldChg>
      <pc:sldChg chg="addSp modSp mod">
        <pc:chgData name="Elkin Gómez" userId="385c81511b083e44" providerId="LiveId" clId="{28FC696F-35B8-4250-866E-37577D9724C4}" dt="2026-09-24T14:56:42.967" v="207"/>
        <pc:sldMkLst>
          <pc:docMk/>
          <pc:sldMk cId="0" sldId="273"/>
        </pc:sldMkLst>
        <pc:spChg chg="add mod">
          <ac:chgData name="Elkin Gómez" userId="385c81511b083e44" providerId="LiveId" clId="{28FC696F-35B8-4250-866E-37577D9724C4}" dt="2026-09-24T14:56:42.967" v="207"/>
          <ac:spMkLst>
            <pc:docMk/>
            <pc:sldMk cId="0" sldId="273"/>
            <ac:spMk id="62" creationId="{3B6FE4FA-38BF-4194-9400-FDF93D400CA5}"/>
          </ac:spMkLst>
        </pc:spChg>
      </pc:sldChg>
      <pc:sldChg chg="addSp modSp mod">
        <pc:chgData name="Elkin Gómez" userId="385c81511b083e44" providerId="LiveId" clId="{28FC696F-35B8-4250-866E-37577D9724C4}" dt="2026-09-24T14:56:42.979" v="224"/>
        <pc:sldMkLst>
          <pc:docMk/>
          <pc:sldMk cId="0" sldId="275"/>
        </pc:sldMkLst>
        <pc:spChg chg="add mod">
          <ac:chgData name="Elkin Gómez" userId="385c81511b083e44" providerId="LiveId" clId="{28FC696F-35B8-4250-866E-37577D9724C4}" dt="2026-09-24T14:56:42.979" v="224"/>
          <ac:spMkLst>
            <pc:docMk/>
            <pc:sldMk cId="0" sldId="275"/>
            <ac:spMk id="73" creationId="{D19EE002-A8C0-43EB-8683-DA3C3041ABA8}"/>
          </ac:spMkLst>
        </pc:spChg>
      </pc:sldChg>
      <pc:sldChg chg="addSp modSp mod">
        <pc:chgData name="Elkin Gómez" userId="385c81511b083e44" providerId="LiveId" clId="{28FC696F-35B8-4250-866E-37577D9724C4}" dt="2026-09-24T14:56:42.986" v="241"/>
        <pc:sldMkLst>
          <pc:docMk/>
          <pc:sldMk cId="0" sldId="276"/>
        </pc:sldMkLst>
        <pc:spChg chg="add mod">
          <ac:chgData name="Elkin Gómez" userId="385c81511b083e44" providerId="LiveId" clId="{28FC696F-35B8-4250-866E-37577D9724C4}" dt="2026-09-24T14:56:42.986" v="241"/>
          <ac:spMkLst>
            <pc:docMk/>
            <pc:sldMk cId="0" sldId="276"/>
            <ac:spMk id="36" creationId="{728FE2D5-72B8-4ABA-86F0-DE4C0A6048A3}"/>
          </ac:spMkLst>
        </pc:spChg>
      </pc:sldChg>
      <pc:sldChg chg="addSp modSp mod">
        <pc:chgData name="Elkin Gómez" userId="385c81511b083e44" providerId="LiveId" clId="{28FC696F-35B8-4250-866E-37577D9724C4}" dt="2026-09-24T14:56:42.994" v="258"/>
        <pc:sldMkLst>
          <pc:docMk/>
          <pc:sldMk cId="0" sldId="277"/>
        </pc:sldMkLst>
        <pc:spChg chg="add mod">
          <ac:chgData name="Elkin Gómez" userId="385c81511b083e44" providerId="LiveId" clId="{28FC696F-35B8-4250-866E-37577D9724C4}" dt="2026-09-24T14:56:42.994" v="258"/>
          <ac:spMkLst>
            <pc:docMk/>
            <pc:sldMk cId="0" sldId="277"/>
            <ac:spMk id="36" creationId="{C5B3E143-622A-4217-8A1F-81904FE55A6C}"/>
          </ac:spMkLst>
        </pc:spChg>
      </pc:sldChg>
      <pc:sldChg chg="add del">
        <pc:chgData name="Elkin Gómez" userId="385c81511b083e44" providerId="LiveId" clId="{28FC696F-35B8-4250-866E-37577D9724C4}" dt="2026-09-24T14:56:06.494" v="3"/>
        <pc:sldMkLst>
          <pc:docMk/>
          <pc:sldMk cId="1731679758" sldId="279"/>
        </pc:sldMkLst>
      </pc:sldChg>
      <pc:sldChg chg="addSp modSp add mod">
        <pc:chgData name="Elkin Gómez" userId="385c81511b083e44" providerId="LiveId" clId="{28FC696F-35B8-4250-866E-37577D9724C4}" dt="2026-09-24T14:56:42.882" v="37"/>
        <pc:sldMkLst>
          <pc:docMk/>
          <pc:sldMk cId="3543442249" sldId="280"/>
        </pc:sldMkLst>
        <pc:spChg chg="add mod">
          <ac:chgData name="Elkin Gómez" userId="385c81511b083e44" providerId="LiveId" clId="{28FC696F-35B8-4250-866E-37577D9724C4}" dt="2026-09-24T14:56:42.882" v="37"/>
          <ac:spMkLst>
            <pc:docMk/>
            <pc:sldMk cId="3543442249" sldId="280"/>
            <ac:spMk id="25" creationId="{49B94A2C-185C-454A-8860-68543C6D3658}"/>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Volumen proyectado (L/año)</c:v>
                </c:pt>
              </c:strCache>
            </c:strRef>
          </c:tx>
          <c:spPr>
            <a:ln w="28575">
              <a:solidFill>
                <a:srgbClr val="0D2341"/>
              </a:solidFill>
            </a:ln>
          </c:spPr>
          <c:marker>
            <c:symbol val="circle"/>
            <c:size val="6"/>
            <c:spPr>
              <a:solidFill>
                <a:srgbClr val="0D2341"/>
              </a:solidFill>
              <a:ln>
                <a:solidFill>
                  <a:srgbClr val="0D2341"/>
                </a:solidFill>
              </a:ln>
            </c:spPr>
          </c:marker>
          <c:cat>
            <c:strRef>
              <c:f>Sheet1!$A$2:$A$11</c:f>
              <c:strCache>
                <c:ptCount val="10"/>
                <c:pt idx="0">
                  <c:v>Año 1</c:v>
                </c:pt>
                <c:pt idx="1">
                  <c:v>Año 2</c:v>
                </c:pt>
                <c:pt idx="2">
                  <c:v>Año 3</c:v>
                </c:pt>
                <c:pt idx="3">
                  <c:v>Año 4</c:v>
                </c:pt>
                <c:pt idx="4">
                  <c:v>Año 5</c:v>
                </c:pt>
                <c:pt idx="5">
                  <c:v>Año 6</c:v>
                </c:pt>
                <c:pt idx="6">
                  <c:v>Año 7</c:v>
                </c:pt>
                <c:pt idx="7">
                  <c:v>Año 8</c:v>
                </c:pt>
                <c:pt idx="8">
                  <c:v>Año 9</c:v>
                </c:pt>
                <c:pt idx="9">
                  <c:v>Año 10</c:v>
                </c:pt>
              </c:strCache>
            </c:strRef>
          </c:cat>
          <c:val>
            <c:numRef>
              <c:f>Sheet1!$B$2:$B$11</c:f>
              <c:numCache>
                <c:formatCode>General</c:formatCode>
                <c:ptCount val="10"/>
                <c:pt idx="0">
                  <c:v>108000</c:v>
                </c:pt>
                <c:pt idx="1">
                  <c:v>180000</c:v>
                </c:pt>
                <c:pt idx="2">
                  <c:v>270000</c:v>
                </c:pt>
                <c:pt idx="3">
                  <c:v>378000</c:v>
                </c:pt>
                <c:pt idx="4">
                  <c:v>504000</c:v>
                </c:pt>
                <c:pt idx="5">
                  <c:v>630000</c:v>
                </c:pt>
                <c:pt idx="6">
                  <c:v>774000</c:v>
                </c:pt>
                <c:pt idx="7">
                  <c:v>918000</c:v>
                </c:pt>
                <c:pt idx="8">
                  <c:v>1080000</c:v>
                </c:pt>
                <c:pt idx="9">
                  <c:v>1242000</c:v>
                </c:pt>
              </c:numCache>
            </c:numRef>
          </c:val>
          <c:smooth val="0"/>
        </c:ser>
        <c:ser>
          <c:idx val="1"/>
          <c:order val="1"/>
          <c:tx>
            <c:strRef>
              <c:f>Sheet1!$C$1</c:f>
              <c:strCache>
                <c:ptCount val="1"/>
                <c:pt idx="0">
                  <c:v>Punto de equilibrio contable (L/año)</c:v>
                </c:pt>
              </c:strCache>
            </c:strRef>
          </c:tx>
          <c:spPr>
            <a:ln w="28575">
              <a:solidFill>
                <a:srgbClr val="B5862A"/>
              </a:solidFill>
            </a:ln>
          </c:spPr>
          <c:marker>
            <c:symbol val="circle"/>
            <c:size val="6"/>
            <c:spPr>
              <a:solidFill>
                <a:srgbClr val="B5862A"/>
              </a:solidFill>
              <a:ln>
                <a:solidFill>
                  <a:srgbClr val="B5862A"/>
                </a:solidFill>
              </a:ln>
            </c:spPr>
          </c:marker>
          <c:cat>
            <c:strRef>
              <c:f>Sheet1!$A$2:$A$11</c:f>
              <c:strCache>
                <c:ptCount val="10"/>
                <c:pt idx="0">
                  <c:v>Año 1</c:v>
                </c:pt>
                <c:pt idx="1">
                  <c:v>Año 2</c:v>
                </c:pt>
                <c:pt idx="2">
                  <c:v>Año 3</c:v>
                </c:pt>
                <c:pt idx="3">
                  <c:v>Año 4</c:v>
                </c:pt>
                <c:pt idx="4">
                  <c:v>Año 5</c:v>
                </c:pt>
                <c:pt idx="5">
                  <c:v>Año 6</c:v>
                </c:pt>
                <c:pt idx="6">
                  <c:v>Año 7</c:v>
                </c:pt>
                <c:pt idx="7">
                  <c:v>Año 8</c:v>
                </c:pt>
                <c:pt idx="8">
                  <c:v>Año 9</c:v>
                </c:pt>
                <c:pt idx="9">
                  <c:v>Año 10</c:v>
                </c:pt>
              </c:strCache>
            </c:strRef>
          </c:cat>
          <c:val>
            <c:numRef>
              <c:f>Sheet1!$C$2:$C$11</c:f>
              <c:numCache>
                <c:formatCode>General</c:formatCode>
                <c:ptCount val="10"/>
                <c:pt idx="0">
                  <c:v>184940</c:v>
                </c:pt>
                <c:pt idx="1">
                  <c:v>184216</c:v>
                </c:pt>
                <c:pt idx="2">
                  <c:v>183524</c:v>
                </c:pt>
                <c:pt idx="3">
                  <c:v>182861</c:v>
                </c:pt>
                <c:pt idx="4">
                  <c:v>182227</c:v>
                </c:pt>
                <c:pt idx="5">
                  <c:v>174033</c:v>
                </c:pt>
                <c:pt idx="6">
                  <c:v>173779</c:v>
                </c:pt>
                <c:pt idx="7">
                  <c:v>173536</c:v>
                </c:pt>
                <c:pt idx="8">
                  <c:v>173304</c:v>
                </c:pt>
                <c:pt idx="9">
                  <c:v>173082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BD5E1"/>
            </a:solidFill>
          </a:ln>
        </c:spPr>
        <c:txPr>
          <a:bodyPr/>
          <a:lstStyle/>
          <a:p>
            <a:pPr>
              <a:defRPr sz="950">
                <a:solidFill>
                  <a:srgbClr val="334155"/>
                </a:solidFill>
              </a:defRPr>
            </a:pPr>
          </a:p>
        </c:txPr>
        <c:crossAx val="2140495176"/>
        <c:crosses val="autoZero"/>
        <c:auto val="1"/>
        <c:lblAlgn val="ctr"/>
        <c:lblOffset val="100"/>
        <c:noMultiLvlLbl val="0"/>
      </c:catAx>
      <c:valAx>
        <c:axId val="2140495176"/>
        <c:scaling>
          <c:min val="0.0"/>
        </c:scaling>
        <c:delete val="0"/>
        <c:axPos val="l"/>
        <c:majorGridlines>
          <c:spPr>
            <a:ln>
              <a:solidFill>
                <a:srgbClr val="E2E8F0"/>
              </a:solidFill>
            </a:ln>
          </c:spPr>
        </c:majorGridlines>
        <c:numFmt formatCode="#,##0" sourceLinked="0"/>
        <c:majorTickMark val="out"/>
        <c:minorTickMark val="none"/>
        <c:tickLblPos val="nextTo"/>
        <c:spPr>
          <a:ln>
            <a:noFill/>
          </a:ln>
        </c:spPr>
        <c:txPr>
          <a:bodyPr/>
          <a:lstStyle/>
          <a:p>
            <a:pPr>
              <a:defRPr sz="950">
                <a:solidFill>
                  <a:srgbClr val="334155"/>
                </a:solidFill>
              </a:defRPr>
            </a:pPr>
          </a:p>
        </c:txPr>
        <c:crossAx val="2118791784"/>
        <c:crosses val="autoZero"/>
      </c:valAx>
    </c:plotArea>
    <c:legend>
      <c:legendPos val="b"/>
      <c:layout/>
      <c:overlay val="0"/>
      <c:txPr>
        <a:bodyPr/>
        <a:lstStyle/>
        <a:p>
          <a:pPr>
            <a:defRPr sz="1000">
              <a:solidFill>
                <a:srgbClr val="334155"/>
              </a:solidFill>
            </a:defRPr>
          </a:pPr>
        </a:p>
      </c:txPr>
    </c:legend>
    <c:plotVisOnly val="1"/>
    <c:dispBlanksAs val="gap"/>
    <c:showDLblsOverMax val="0"/>
  </c:chart>
  <c:txPr>
    <a:bodyPr/>
    <a:lstStyle/>
    <a:p>
      <a:pPr>
        <a:defRPr sz="18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0D2341"/>
                </a:solidFill>
              </a:rPr>
              <a:t>Variación del VAN sin financiamiento vs. caso base (L 15.37 M)</a:t>
            </a:r>
          </a:p>
        </c:rich>
      </c:tx>
      <c:layout/>
      <c:overlay val="0"/>
    </c:title>
    <c:autoTitleDeleted val="0"/>
    <c:plotArea>
      <c:barChart>
        <c:barDir val="bar"/>
        <c:grouping val="clustered"/>
        <c:ser>
          <c:idx val="0"/>
          <c:order val="0"/>
          <c:tx>
            <c:strRef>
              <c:f>Sheet1!$B$1</c:f>
              <c:strCache>
                <c:ptCount val="1"/>
                <c:pt idx="0">
                  <c:v>Variable en su valor mínimo</c:v>
                </c:pt>
              </c:strCache>
            </c:strRef>
          </c:tx>
          <c:spPr>
            <a:solidFill>
              <a:srgbClr val="8FB8C9"/>
            </a:solidFill>
          </c:spPr>
          <c:invertIfNegative val="0"/>
          <c:cat>
            <c:strRef>
              <c:f>Sheet1!$A$2:$A$12</c:f>
              <c:strCache>
                <c:ptCount val="11"/>
                <c:pt idx="0">
                  <c:v>Combustible de reparto</c:v>
                </c:pt>
                <c:pt idx="1">
                  <c:v>Costos fijos operativos</c:v>
                </c:pt>
                <c:pt idx="2">
                  <c:v>Costo de empaque</c:v>
                </c:pt>
                <c:pt idx="3">
                  <c:v>Clientes activos, Año 1</c:v>
                </c:pt>
                <c:pt idx="4">
                  <c:v>Merma de proceso</c:v>
                </c:pt>
                <c:pt idx="5">
                  <c:v>Clientes activos, Año 5</c:v>
                </c:pt>
                <c:pt idx="6">
                  <c:v>Inflación anual</c:v>
                </c:pt>
                <c:pt idx="7">
                  <c:v>Clientes activos, Año 10</c:v>
                </c:pt>
                <c:pt idx="8">
                  <c:v>Costo de leche cruda</c:v>
                </c:pt>
                <c:pt idx="9">
                  <c:v>Precio de venta, Año 1</c:v>
                </c:pt>
                <c:pt idx="10">
                  <c:v>Consumo por cliente</c:v>
                </c:pt>
              </c:strCache>
            </c:strRef>
          </c:cat>
          <c:val>
            <c:numRef>
              <c:f>Sheet1!$B$2:$B$12</c:f>
              <c:numCache>
                <c:formatCode>General</c:formatCode>
                <c:ptCount val="11"/>
                <c:pt idx="0">
                  <c:v>150281</c:v>
                </c:pt>
                <c:pt idx="1">
                  <c:v>153645</c:v>
                </c:pt>
                <c:pt idx="2">
                  <c:v>195366</c:v>
                </c:pt>
                <c:pt idx="3">
                  <c:v>-221828</c:v>
                </c:pt>
                <c:pt idx="4">
                  <c:v>185724</c:v>
                </c:pt>
                <c:pt idx="5">
                  <c:v>-499065</c:v>
                </c:pt>
                <c:pt idx="6">
                  <c:v>-428655</c:v>
                </c:pt>
                <c:pt idx="7">
                  <c:v>-777930</c:v>
                </c:pt>
                <c:pt idx="8">
                  <c:v>3021116</c:v>
                </c:pt>
                <c:pt idx="9">
                  <c:v>-4253647</c:v>
                </c:pt>
                <c:pt idx="10">
                  <c:v>-3812864</c:v>
                </c:pt>
              </c:numCache>
            </c:numRef>
          </c:val>
        </c:ser>
        <c:ser>
          <c:idx val="1"/>
          <c:order val="1"/>
          <c:tx>
            <c:strRef>
              <c:f>Sheet1!$C$1</c:f>
              <c:strCache>
                <c:ptCount val="1"/>
                <c:pt idx="0">
                  <c:v>Variable en su valor máximo</c:v>
                </c:pt>
              </c:strCache>
            </c:strRef>
          </c:tx>
          <c:spPr>
            <a:solidFill>
              <a:srgbClr val="0D2341"/>
            </a:solidFill>
          </c:spPr>
          <c:invertIfNegative val="0"/>
          <c:cat>
            <c:strRef>
              <c:f>Sheet1!$A$2:$A$12</c:f>
              <c:strCache>
                <c:ptCount val="11"/>
                <c:pt idx="0">
                  <c:v>Combustible de reparto</c:v>
                </c:pt>
                <c:pt idx="1">
                  <c:v>Costos fijos operativos</c:v>
                </c:pt>
                <c:pt idx="2">
                  <c:v>Costo de empaque</c:v>
                </c:pt>
                <c:pt idx="3">
                  <c:v>Clientes activos, Año 1</c:v>
                </c:pt>
                <c:pt idx="4">
                  <c:v>Merma de proceso</c:v>
                </c:pt>
                <c:pt idx="5">
                  <c:v>Clientes activos, Año 5</c:v>
                </c:pt>
                <c:pt idx="6">
                  <c:v>Inflación anual</c:v>
                </c:pt>
                <c:pt idx="7">
                  <c:v>Clientes activos, Año 10</c:v>
                </c:pt>
                <c:pt idx="8">
                  <c:v>Costo de leche cruda</c:v>
                </c:pt>
                <c:pt idx="9">
                  <c:v>Precio de venta, Año 1</c:v>
                </c:pt>
                <c:pt idx="10">
                  <c:v>Consumo por cliente</c:v>
                </c:pt>
              </c:strCache>
            </c:strRef>
          </c:cat>
          <c:val>
            <c:numRef>
              <c:f>Sheet1!$C$2:$C$12</c:f>
              <c:numCache>
                <c:formatCode>General</c:formatCode>
                <c:ptCount val="11"/>
                <c:pt idx="0">
                  <c:v>-187851</c:v>
                </c:pt>
                <c:pt idx="1">
                  <c:v>-230380</c:v>
                </c:pt>
                <c:pt idx="2">
                  <c:v>-195365</c:v>
                </c:pt>
                <c:pt idx="3">
                  <c:v>223083</c:v>
                </c:pt>
                <c:pt idx="4">
                  <c:v>-282935</c:v>
                </c:pt>
                <c:pt idx="5">
                  <c:v>499072</c:v>
                </c:pt>
                <c:pt idx="6">
                  <c:v>586339</c:v>
                </c:pt>
                <c:pt idx="7">
                  <c:v>777930</c:v>
                </c:pt>
                <c:pt idx="8">
                  <c:v>-4532075</c:v>
                </c:pt>
                <c:pt idx="9">
                  <c:v>4244793</c:v>
                </c:pt>
                <c:pt idx="10">
                  <c:v>5073107</c:v>
                </c:pt>
              </c:numCache>
            </c:numRef>
          </c:val>
        </c:ser>
        <c:gapWidth val="45"/>
        <c:overlap val="100"/>
        <c:axId val="-2068027336"/>
        <c:axId val="-2113994440"/>
      </c:barChart>
      <c:catAx>
        <c:axId val="-2068027336"/>
        <c:scaling>
          <c:orientation val="minMax"/>
        </c:scaling>
        <c:delete val="0"/>
        <c:axPos val="l"/>
        <c:majorTickMark val="out"/>
        <c:minorTickMark val="none"/>
        <c:tickLblPos val="low"/>
        <c:spPr>
          <a:ln>
            <a:solidFill>
              <a:srgbClr val="334155"/>
            </a:solidFill>
          </a:ln>
        </c:spPr>
        <c:txPr>
          <a:bodyPr/>
          <a:lstStyle/>
          <a:p>
            <a:pPr>
              <a:defRPr sz="950">
                <a:solidFill>
                  <a:srgbClr val="334155"/>
                </a:solidFill>
              </a:defRPr>
            </a:pPr>
          </a:p>
        </c:txPr>
        <c:crossAx val="-2113994440"/>
        <c:crosses val="autoZero"/>
        <c:auto val="1"/>
        <c:lblAlgn val="ctr"/>
        <c:lblOffset val="100"/>
        <c:noMultiLvlLbl val="0"/>
      </c:catAx>
      <c:valAx>
        <c:axId val="-2113994440"/>
        <c:scaling>
          <c:max val="6000000.0"/>
          <c:min val="-6000000.0"/>
        </c:scaling>
        <c:delete val="0"/>
        <c:axPos val="b"/>
        <c:majorGridlines>
          <c:spPr>
            <a:ln>
              <a:solidFill>
                <a:srgbClr val="E2E8F0"/>
              </a:solidFill>
            </a:ln>
          </c:spPr>
        </c:majorGridlines>
        <c:numFmt formatCode="#,##0,,&quot;M&quot;;−#,##0,,&quot;M&quot;" sourceLinked="0"/>
        <c:majorTickMark val="out"/>
        <c:minorTickMark val="none"/>
        <c:tickLblPos val="nextTo"/>
        <c:spPr>
          <a:ln>
            <a:noFill/>
          </a:ln>
        </c:spPr>
        <c:txPr>
          <a:bodyPr/>
          <a:lstStyle/>
          <a:p>
            <a:pPr>
              <a:defRPr sz="900"/>
            </a:pPr>
          </a:p>
        </c:txPr>
        <c:crossAx val="-2068027336"/>
        <c:crosses val="autoZero"/>
        <c:majorUnit val="2000000.0"/>
      </c:valAx>
    </c:plotArea>
    <c:legend>
      <c:legendPos val="b"/>
      <c:overlay val="0"/>
      <c:txPr>
        <a:bodyPr/>
        <a:lstStyle/>
        <a:p>
          <a:pPr>
            <a:defRPr sz="950"/>
          </a:pPr>
        </a:p>
      </c:txPr>
    </c:legend>
    <c:dispBlanksAs val="gap"/>
  </c:chart>
  <c:txPr>
    <a:bodyPr/>
    <a:lstStyle/>
    <a:p>
      <a:pPr>
        <a:defRPr sz="18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5025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Población: 10,045,495 habitantes (INE, Estadísticas de género en Honduras, julio 2025). Producción de leche: alrededor de 600 millones de litros al año (SAG, 2026).</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Fuentes: Banco Mundial (2026), Honduras: panorama general; INE (2025), EPHPM 2025 e Informalidad laboral 2024; BCH (2026), Índice de Precios al Consumidor, diciembre 2025; La Tribuna (2026), remesas 2025 con datos del BCH; UNAH (2026), Boletín Económico; BCH (2024), ENIGH 2023-2024.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Económico: PIB +3.4 % proyectado para 2026 (Banco Mundial), inflación de 4.98 % en 2025 (BCH) y remesas por US$12,212 M en 2025 (BCH).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Instrumento de encuesta completo (Anexo A) en la diapositiva 37. (Escribir el número y Enter para saltar.)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Costos fijos operativos L 28,000/mes y gastos administrativos L 21,600/mes. Crecimiento previsto: mercadeo y ventas, contador, supervisor de producción, técnico de calidad, coordinador de logística y más entregadores.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tasa de 15 % se aplica al flujo del proyecto (100 % capital propio) y al flujo del accionista. WACC = 50 % × 14 % × (1 − 25 %) + 50 % × 15 % = 12.8 %; es referencial y no descuenta ningún flujo. Flujos de caja completos (Anexo B) en las diapositivas 38 y 39. (Escribir el número y Enter para saltar.)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IRVA sin financiamiento: VAN / L 1,784,058; con financiamiento: VAN / aporte de los socios (L 892,029). B/C = VP de beneficios / (inversión + VP de costos). Con deuda baja el aporte propio, pero entran intereses y amortizaciones. El WACC de 12.8 % es solo referencial. Los VAN usan supuestos puntuales; el VPN medio de @RISK mide otra cosa.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Una variable a la vez. No simuladas: tasa del préstamo (14 %, contractual), ISR, aportes patronales y estructura de financiamiento. La variación del tipo de cambio se trata como evento de riesgo en la simulación Monte Carlo.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Criterio de las columnas (parámetros de la Tabla 40): severidad según el impacto más probable por evento (alta ≥ L 600,000; media ≥ L 120,000; baja &lt; L 120,000); frecuencia según la probabilidad anual máxima (alta ≥ 0.25; media 0.16–0.24; baja ≤ 0.15). Coincide con la descripción de cada riesgo en la tesis: combustible, tipo de cambio, leche, cadena de frío e inflación son de frecuencia elevada; contaminación de lote, accidente y SENASA son infrecuentes pero costosos. La relación pérdida esperada / VPN medio es 15.06 % (Tabla 43).</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Estudios: sectorial, mercado, técnico, legal, administrativo, ambiental, financiero y riesgos. Nicho: HoReCa y detalle urbano. Técnica: la inversión en tanques (L 360,000) incluye el almacenamiento de 5,000 L. Con deuda: VAN L 15.46 M y TIR 63.62 %; equilibrio superado desde el año 3. Variables críticas: consumo por cliente, precio y costo de la leche. Controles críticos: cadena de frío, proveedores y fidelización. Compras de leche en 10 años; no se cuantificaron empleos indirectos, valor agregado ni divisas.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Problema: las grandes industrias migraron a leche UHT y dejaron sin oferta de leche fresca pasteurizada a cafeterías de especialidad y a más de 2,000 clientes tipo A de la región central. Mercado: encuesta a 63 establecimientos. Inversión: activos fijos L 1,395,000; diferidos L 76,000; capital de trabajo L 313,058. Dimensiones evaluadas: comercial, técnica, organizacional, legal, ambiental, financiera y de riesgos.</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Fuentes primarias: encuesta estructurada validada por juicio de expertos y cotizaciones de equipos. Secundarias: BCH, INE, SAG, SENASA, ARSA, MiAmbiente, FAOSTAT y literatura. Técnicas: estadística descriptiva; indicadores VAN, TIR, PRI, IRVA y B/C; Monte Carlo con 10,000 iteraciones. Muestra para ± 5 %: 500·1.96²·0.25 / (0.05²·499 + 1.96²·0.25) = 218. Encuestados: HoReCa, pulperías, comercios y otros.</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Demanda de leche cruda en L/día: año 1: 305; año 2: 508; año 3: 763; año 4: 1,068; año 5: 1,424; año 10: 3,508. La planta arranca con 1,000 L/día y se diseñó para escalar a 5,000 L/día; la inversión en tanques (L 360,000) incluye el tanque de almacenamiento de 5,000 L. Depreciación según la Ley del ISR. El laboratorio de toma de muestras forma parte del área de recepción.</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Calidad completa (OHN 18:2018): densidad 1.029–1.033 g/ml; sólidos totales ≥ 12 %; acidez 0.13–0.16 %; prueba de alcohol negativa. La producción depende de pequeños y medianos productores y varía por época en volumen y calidad. Producción nacional ≈ 600 millones de L/año (SAG, 2026).</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La deuda queda cancelada al cierre del año 5. Flujos con financiamiento: año 1 −L 993,690 y año 2 −L 224,128 (Tabla 27). Exposición máxima acumulada de los socios: L 2,109,848 en el año 2. Estado de resultados completo en la 40 y balance general en la 41 (Anexo C). (Escribir el número y Enter para saltar.)</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Los años 1 y 2 bajo el equilibrio coinciden con las utilidades negativas de la Tabla 26. El PE de efectivo (sin depreciación) es 168,138 L/año.</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Escenario pesimista: más inflación, leche L 14.95, merma 3.9 %, precio L 26, consumo 127.5 L/mes y menos clientes, todo a la vez.</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VAN determinístico: flujo del accionista con supuestos puntuales; precio y costos crecen con la inflación de 4.5 %. VPN medio: promedio de 10,000 iteraciones de la hoja "Estudio Financiero Prob", que no indexa a la inflación la leche, el empaque, el combustible ni los costos fijos. VPN de evaluación: VPN medio menos la pérdida esperada de los 11 eventos (L 3,614,648).</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Muestra: población de 500 establecimientos; resultados descriptivos. Costos y demanda deben confirmarse en la factibilidad. La metodología ONUDI pide empleos indirectos, valor agregado nacional y efecto en divisas. Riesgos: probabilidades y severidades por juicio experto, sin historia propia; el modelo probabilístico no indexa algunos costos a la inflación, por eso su VPN medio (L 24.0 M) supera al VAN. Financiamiento: no se evaluó una línea de capital de trabajo.</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xml"/><Relationship Id="rId3"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2.xml"/><Relationship Id="rId3"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7315200" cy="6858000"/>
          </a:xfrm>
          <a:prstGeom prst="rect">
            <a:avLst/>
          </a:prstGeom>
          <a:solidFill>
            <a:srgbClr val="FFFFFF"/>
          </a:solidFill>
          <a:ln w="12700">
            <a:solidFill>
              <a:srgbClr val="FFFFFF"/>
            </a:solidFill>
            <a:prstDash val="solid"/>
          </a:ln>
        </p:spPr>
        <p:txBody>
          <a:bodyPr/>
          <a:lstStyle/>
          <a:p>
            <a:endParaRPr lang="es-CO"/>
          </a:p>
        </p:txBody>
      </p:sp>
      <p:sp>
        <p:nvSpPr>
          <p:cNvPr id="3" name="Shape 1"/>
          <p:cNvSpPr/>
          <p:nvPr/>
        </p:nvSpPr>
        <p:spPr>
          <a:xfrm>
            <a:off x="7315200" y="0"/>
            <a:ext cx="4846320" cy="6858000"/>
          </a:xfrm>
          <a:prstGeom prst="rect">
            <a:avLst/>
          </a:prstGeom>
          <a:solidFill>
            <a:srgbClr val="0D2341"/>
          </a:solidFill>
          <a:ln w="12700">
            <a:solidFill>
              <a:srgbClr val="0D2341"/>
            </a:solidFill>
            <a:prstDash val="solid"/>
          </a:ln>
        </p:spPr>
        <p:txBody>
          <a:bodyPr/>
          <a:lstStyle/>
          <a:p>
            <a:endParaRPr lang="es-CO"/>
          </a:p>
        </p:txBody>
      </p:sp>
      <p:sp>
        <p:nvSpPr>
          <p:cNvPr id="4" name="Shape 2"/>
          <p:cNvSpPr/>
          <p:nvPr/>
        </p:nvSpPr>
        <p:spPr>
          <a:xfrm>
            <a:off x="7178040" y="0"/>
            <a:ext cx="137160" cy="6858000"/>
          </a:xfrm>
          <a:prstGeom prst="rect">
            <a:avLst/>
          </a:prstGeom>
          <a:solidFill>
            <a:srgbClr val="1A7A8A"/>
          </a:solidFill>
          <a:ln w="12700">
            <a:solidFill>
              <a:srgbClr val="1A7A8A"/>
            </a:solidFill>
            <a:prstDash val="solid"/>
          </a:ln>
        </p:spPr>
        <p:txBody>
          <a:bodyPr/>
          <a:lstStyle/>
          <a:p>
            <a:endParaRPr lang="es-CO"/>
          </a:p>
        </p:txBody>
      </p:sp>
      <p:sp>
        <p:nvSpPr>
          <p:cNvPr id="5" name="Text 3"/>
          <p:cNvSpPr txBox="1"/>
          <p:nvPr/>
        </p:nvSpPr>
        <p:spPr>
          <a:xfrm>
            <a:off x="502920" y="502920"/>
            <a:ext cx="6492240" cy="292608"/>
          </a:xfrm>
          <a:prstGeom prst="rect">
            <a:avLst/>
          </a:prstGeom>
          <a:noFill/>
          <a:ln/>
        </p:spPr>
        <p:txBody>
          <a:bodyPr wrap="square" rtlCol="0" anchor="ctr"/>
          <a:lstStyle/>
          <a:p>
            <a:pPr marL="0" indent="0">
              <a:buNone/>
            </a:pPr>
            <a:r>
              <a:rPr lang="en-US" sz="1100" b="1" kern="0" spc="150" dirty="0">
                <a:solidFill>
                  <a:srgbClr val="1A7A8A"/>
                </a:solidFill>
                <a:latin typeface="Calibri" pitchFamily="34" charset="0"/>
                <a:ea typeface="Calibri" pitchFamily="34" charset="-122"/>
                <a:cs typeface="Calibri" pitchFamily="34" charset="-120"/>
              </a:rPr>
              <a:t>MAESTRÍA EN AGRONEGOCIOS · EAFIT · ZAMORANO</a:t>
            </a:r>
            <a:endParaRPr lang="en-US" sz="1100" dirty="0"/>
          </a:p>
        </p:txBody>
      </p:sp>
      <p:sp>
        <p:nvSpPr>
          <p:cNvPr id="6" name="Text 4"/>
          <p:cNvSpPr txBox="1"/>
          <p:nvPr/>
        </p:nvSpPr>
        <p:spPr>
          <a:xfrm>
            <a:off x="502920" y="960120"/>
            <a:ext cx="6538080" cy="1600200"/>
          </a:xfrm>
          <a:prstGeom prst="rect">
            <a:avLst/>
          </a:prstGeom>
          <a:noFill/>
          <a:ln/>
        </p:spPr>
        <p:txBody>
          <a:bodyPr wrap="square" rtlCol="0" anchor="ctr"/>
          <a:lstStyle/>
          <a:p>
            <a:pPr marL="0" indent="0">
              <a:buNone/>
            </a:pPr>
            <a:r>
              <a:rPr lang="es-419" sz="2600" b="1" dirty="0">
                <a:solidFill>
                  <a:srgbClr val="0D2341"/>
                </a:solidFill>
                <a:latin typeface="Calibri" pitchFamily="34" charset="0"/>
                <a:ea typeface="Calibri" pitchFamily="34" charset="-122"/>
                <a:cs typeface="Calibri" pitchFamily="34" charset="-120"/>
              </a:rPr>
              <a:t>Estudio de Prefactibilidad para la Producción y Distribución de Leche Pasteurizada a Mercado Nicho en Honduras</a:t>
            </a:r>
            <a:endParaRPr lang="es-419" sz="2600" dirty="0"/>
          </a:p>
        </p:txBody>
      </p:sp>
      <p:sp>
        <p:nvSpPr>
          <p:cNvPr id="7" name="Text 5"/>
          <p:cNvSpPr txBox="1"/>
          <p:nvPr/>
        </p:nvSpPr>
        <p:spPr>
          <a:xfrm>
            <a:off x="502920" y="2596800"/>
            <a:ext cx="6492240" cy="411480"/>
          </a:xfrm>
          <a:prstGeom prst="rect">
            <a:avLst/>
          </a:prstGeom>
          <a:noFill/>
          <a:ln/>
        </p:spPr>
        <p:txBody>
          <a:bodyPr wrap="square" rtlCol="0" anchor="ctr"/>
          <a:lstStyle/>
          <a:p>
            <a:pPr marL="0" indent="0">
              <a:buNone/>
            </a:pPr>
            <a:r>
              <a:rPr lang="en-US" sz="2200" dirty="0">
                <a:solidFill>
                  <a:srgbClr val="1B3A5C"/>
                </a:solidFill>
                <a:latin typeface="Calibri" pitchFamily="34" charset="0"/>
                <a:ea typeface="Calibri" pitchFamily="34" charset="-122"/>
                <a:cs typeface="Calibri" pitchFamily="34" charset="-120"/>
              </a:rPr>
              <a:t>Leche Fresca Pasteurizada</a:t>
            </a:r>
            <a:endParaRPr lang="en-US" sz="2200" dirty="0"/>
          </a:p>
        </p:txBody>
      </p:sp>
      <p:sp>
        <p:nvSpPr>
          <p:cNvPr id="8" name="Shape 6"/>
          <p:cNvSpPr/>
          <p:nvPr/>
        </p:nvSpPr>
        <p:spPr>
          <a:xfrm>
            <a:off x="502920" y="3100320"/>
            <a:ext cx="6400800" cy="22860"/>
          </a:xfrm>
          <a:prstGeom prst="rect">
            <a:avLst/>
          </a:prstGeom>
          <a:solidFill>
            <a:srgbClr val="CBD5E1"/>
          </a:solidFill>
          <a:ln w="12700">
            <a:solidFill>
              <a:srgbClr val="CBD5E1"/>
            </a:solidFill>
            <a:prstDash val="solid"/>
          </a:ln>
        </p:spPr>
        <p:txBody>
          <a:bodyPr/>
          <a:lstStyle/>
          <a:p>
            <a:endParaRPr lang="es-CO"/>
          </a:p>
        </p:txBody>
      </p:sp>
      <p:sp>
        <p:nvSpPr>
          <p:cNvPr id="9" name="Text 7"/>
          <p:cNvSpPr txBox="1"/>
          <p:nvPr/>
        </p:nvSpPr>
        <p:spPr>
          <a:xfrm>
            <a:off x="502920" y="2926080"/>
            <a:ext cx="6492240" cy="914400"/>
          </a:xfrm>
          <a:prstGeom prst="rect">
            <a:avLst/>
          </a:prstGeom>
          <a:noFill/>
          <a:ln/>
        </p:spPr>
        <p:txBody>
          <a:bodyPr wrap="square" rtlCol="0" anchor="ctr"/>
          <a:lstStyle/>
          <a:p>
            <a:pPr marL="0" indent="0">
              <a:buNone/>
            </a:pPr>
            <a:endParaRPr lang="en-US" sz="1500" dirty="0"/>
          </a:p>
          <a:p>
            <a:pPr marL="0" indent="0">
              <a:buNone/>
            </a:pPr>
            <a:endParaRPr lang="en-US" sz="1500" dirty="0"/>
          </a:p>
        </p:txBody>
      </p:sp>
      <p:sp>
        <p:nvSpPr>
          <p:cNvPr id="10" name="Text 8"/>
          <p:cNvSpPr txBox="1"/>
          <p:nvPr/>
        </p:nvSpPr>
        <p:spPr>
          <a:xfrm>
            <a:off x="7543800" y="1188720"/>
            <a:ext cx="4389120" cy="256032"/>
          </a:xfrm>
          <a:prstGeom prst="rect">
            <a:avLst/>
          </a:prstGeom>
          <a:noFill/>
          <a:ln/>
        </p:spPr>
        <p:txBody>
          <a:bodyPr wrap="square" rtlCol="0" anchor="ctr"/>
          <a:lstStyle/>
          <a:p>
            <a:pPr marL="0" indent="0" algn="l">
              <a:buNone/>
            </a:pPr>
            <a:r>
              <a:rPr lang="en-US" sz="900" b="1" kern="0" spc="150" dirty="0">
                <a:solidFill>
                  <a:srgbClr val="1A7A8A"/>
                </a:solidFill>
                <a:latin typeface="Calibri" pitchFamily="34" charset="0"/>
                <a:ea typeface="Calibri" pitchFamily="34" charset="-122"/>
                <a:cs typeface="Calibri" pitchFamily="34" charset="-120"/>
              </a:rPr>
              <a:t>PRESENTADO POR</a:t>
            </a:r>
            <a:endParaRPr lang="en-US" sz="900" dirty="0"/>
          </a:p>
        </p:txBody>
      </p:sp>
      <p:sp>
        <p:nvSpPr>
          <p:cNvPr id="11" name="Text 9"/>
          <p:cNvSpPr txBox="1"/>
          <p:nvPr/>
        </p:nvSpPr>
        <p:spPr>
          <a:xfrm>
            <a:off x="7543800" y="1508760"/>
            <a:ext cx="4389120" cy="310896"/>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Jaime Mauricio Caballero Madriz</a:t>
            </a:r>
            <a:endParaRPr lang="en-US" sz="1350" dirty="0"/>
          </a:p>
        </p:txBody>
      </p:sp>
      <p:sp>
        <p:nvSpPr>
          <p:cNvPr id="12" name="Text 10"/>
          <p:cNvSpPr txBox="1"/>
          <p:nvPr/>
        </p:nvSpPr>
        <p:spPr>
          <a:xfrm>
            <a:off x="7543800" y="1856232"/>
            <a:ext cx="4389120" cy="310896"/>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Fredy Daniel Valladares Suazo</a:t>
            </a:r>
            <a:endParaRPr lang="en-US" sz="1350" dirty="0"/>
          </a:p>
        </p:txBody>
      </p:sp>
      <p:sp>
        <p:nvSpPr>
          <p:cNvPr id="13" name="Text 11"/>
          <p:cNvSpPr txBox="1"/>
          <p:nvPr/>
        </p:nvSpPr>
        <p:spPr>
          <a:xfrm>
            <a:off x="7543800" y="2203704"/>
            <a:ext cx="4389120" cy="310896"/>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Horacio Ernesto Medal Picado</a:t>
            </a:r>
            <a:endParaRPr lang="en-US" sz="1350" dirty="0"/>
          </a:p>
        </p:txBody>
      </p:sp>
      <p:sp>
        <p:nvSpPr>
          <p:cNvPr id="14" name="Text 12"/>
          <p:cNvSpPr txBox="1"/>
          <p:nvPr/>
        </p:nvSpPr>
        <p:spPr>
          <a:xfrm>
            <a:off x="7543800" y="2743200"/>
            <a:ext cx="4389120" cy="256032"/>
          </a:xfrm>
          <a:prstGeom prst="rect">
            <a:avLst/>
          </a:prstGeom>
          <a:noFill/>
          <a:ln/>
        </p:spPr>
        <p:txBody>
          <a:bodyPr wrap="square" rtlCol="0" anchor="ctr"/>
          <a:lstStyle/>
          <a:p>
            <a:pPr marL="0" indent="0" algn="l">
              <a:buNone/>
            </a:pPr>
            <a:r>
              <a:rPr lang="en-US" sz="900" b="1" kern="0" spc="150" dirty="0">
                <a:solidFill>
                  <a:srgbClr val="1A7A8A"/>
                </a:solidFill>
                <a:latin typeface="Calibri" pitchFamily="34" charset="0"/>
                <a:ea typeface="Calibri" pitchFamily="34" charset="-122"/>
                <a:cs typeface="Calibri" pitchFamily="34" charset="-120"/>
              </a:rPr>
              <a:t>ASESOR</a:t>
            </a:r>
            <a:endParaRPr lang="en-US" sz="900" dirty="0"/>
          </a:p>
        </p:txBody>
      </p:sp>
      <p:sp>
        <p:nvSpPr>
          <p:cNvPr id="15" name="Text 13"/>
          <p:cNvSpPr txBox="1"/>
          <p:nvPr/>
        </p:nvSpPr>
        <p:spPr>
          <a:xfrm>
            <a:off x="7543800" y="3035808"/>
            <a:ext cx="4389120" cy="310896"/>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PhD. Elkin Gómez</a:t>
            </a:r>
            <a:endParaRPr lang="en-US" sz="1350" dirty="0"/>
          </a:p>
        </p:txBody>
      </p:sp>
      <p:sp>
        <p:nvSpPr>
          <p:cNvPr id="16" name="Text 14"/>
          <p:cNvSpPr txBox="1"/>
          <p:nvPr/>
        </p:nvSpPr>
        <p:spPr>
          <a:xfrm>
            <a:off x="7543800" y="6217920"/>
            <a:ext cx="4389120" cy="365760"/>
          </a:xfrm>
          <a:prstGeom prst="rect">
            <a:avLst/>
          </a:prstGeom>
          <a:noFill/>
          <a:ln/>
        </p:spPr>
        <p:txBody>
          <a:bodyPr wrap="square" rtlCol="0" anchor="ctr"/>
          <a:lstStyle/>
          <a:p>
            <a:pPr marL="0" indent="0">
              <a:buNone/>
            </a:pPr>
            <a:r>
              <a:rPr lang="en-US" sz="1800" b="1" dirty="0">
                <a:solidFill>
                  <a:srgbClr val="1A7A8A"/>
                </a:solidFill>
                <a:latin typeface="Calibri" pitchFamily="34" charset="0"/>
                <a:ea typeface="Calibri" pitchFamily="34" charset="-122"/>
                <a:cs typeface="Calibri" pitchFamily="34" charset="-120"/>
              </a:rPr>
              <a:t>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FFFFF"/>
          </a:solidFill>
          <a:ln w="12700">
            <a:solidFill>
              <a:srgbClr val="FFFFFF"/>
            </a:solidFill>
            <a:prstDash val="solid"/>
          </a:ln>
        </p:spPr>
        <p:txBody>
          <a:bodyPr/>
          <a:lstStyle/>
          <a:p>
            <a:endParaRPr lang="es-CO"/>
          </a:p>
        </p:txBody>
      </p:sp>
      <p:sp>
        <p:nvSpPr>
          <p:cNvPr id="3" name="Text 1"/>
          <p:cNvSpPr txBox="1"/>
          <p:nvPr/>
        </p:nvSpPr>
        <p:spPr>
          <a:xfrm>
            <a:off x="502920" y="228600"/>
            <a:ext cx="11247120" cy="411480"/>
          </a:xfrm>
          <a:prstGeom prst="rect">
            <a:avLst/>
          </a:prstGeom>
          <a:noFill/>
          <a:ln/>
        </p:spPr>
        <p:txBody>
          <a:bodyPr wrap="square" rtlCol="0" anchor="ctr"/>
          <a:lstStyle/>
          <a:p>
            <a:pPr marL="0" indent="0">
              <a:buNone/>
            </a:pPr>
            <a:r>
              <a:rPr lang="en-US" sz="1100" b="1" kern="0" spc="200" dirty="0">
                <a:solidFill>
                  <a:srgbClr val="1A7A8A"/>
                </a:solidFill>
                <a:latin typeface="Calibri" pitchFamily="34" charset="0"/>
                <a:ea typeface="Calibri" pitchFamily="34" charset="-122"/>
                <a:cs typeface="Calibri" pitchFamily="34" charset="-120"/>
              </a:rPr>
              <a:t>CONTENIDO</a:t>
            </a:r>
            <a:endParaRPr lang="en-US" sz="1100" dirty="0"/>
          </a:p>
        </p:txBody>
      </p:sp>
      <p:sp>
        <p:nvSpPr>
          <p:cNvPr id="4" name="Text 2"/>
          <p:cNvSpPr txBox="1"/>
          <p:nvPr/>
        </p:nvSpPr>
        <p:spPr>
          <a:xfrm>
            <a:off x="502920" y="658368"/>
            <a:ext cx="11247120" cy="502920"/>
          </a:xfrm>
          <a:prstGeom prst="rect">
            <a:avLst/>
          </a:prstGeom>
          <a:noFill/>
          <a:ln/>
        </p:spPr>
        <p:txBody>
          <a:bodyPr wrap="square" rtlCol="0" anchor="ctr"/>
          <a:lstStyle/>
          <a:p>
            <a:pPr marL="0" indent="0">
              <a:buNone/>
            </a:pPr>
            <a:r>
              <a:rPr lang="en-US" sz="2600" b="1" dirty="0">
                <a:solidFill>
                  <a:srgbClr val="0D2341"/>
                </a:solidFill>
                <a:latin typeface="Calibri" pitchFamily="34" charset="0"/>
                <a:ea typeface="Calibri" pitchFamily="34" charset="-122"/>
                <a:cs typeface="Calibri" pitchFamily="34" charset="-120"/>
              </a:rPr>
              <a:t>Índice de la Presentación</a:t>
            </a:r>
            <a:endParaRPr lang="en-US" sz="2600" dirty="0"/>
          </a:p>
        </p:txBody>
      </p:sp>
      <p:sp>
        <p:nvSpPr>
          <p:cNvPr id="5" name="Shape 3"/>
          <p:cNvSpPr/>
          <p:nvPr/>
        </p:nvSpPr>
        <p:spPr>
          <a:xfrm>
            <a:off x="502920" y="1234440"/>
            <a:ext cx="11155680" cy="18288"/>
          </a:xfrm>
          <a:prstGeom prst="rect">
            <a:avLst/>
          </a:prstGeom>
          <a:solidFill>
            <a:srgbClr val="CBD5E1"/>
          </a:solidFill>
          <a:ln w="12700">
            <a:solidFill>
              <a:srgbClr val="CBD5E1"/>
            </a:solidFill>
            <a:prstDash val="solid"/>
          </a:ln>
        </p:spPr>
        <p:txBody>
          <a:bodyPr/>
          <a:lstStyle/>
          <a:p>
            <a:endParaRPr lang="es-CO"/>
          </a:p>
        </p:txBody>
      </p:sp>
      <p:sp>
        <p:nvSpPr>
          <p:cNvPr id="36" name="Text 34"/>
          <p:cNvSpPr txBox="1"/>
          <p:nvPr/>
        </p:nvSpPr>
        <p:spPr>
          <a:xfrm>
            <a:off x="320040" y="6583680"/>
            <a:ext cx="11521440" cy="201168"/>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Maestría en Agronegocios · Universidad EAFIT · Zamorano · 2026   |   Caballero · Valladares · Medal</a:t>
            </a:r>
            <a:endParaRPr lang="en-US" sz="800" dirty="0"/>
          </a:p>
        </p:txBody>
      </p:sp>
      <p:sp>
        <p:nvSpPr>
          <p:cNvPr id="37" name="TextBox 36"/>
          <p:cNvSpPr txBox="1"/>
          <p:nvPr/>
        </p:nvSpPr>
        <p:spPr>
          <a:xfrm>
            <a:off x="502920" y="1389888"/>
            <a:ext cx="411480" cy="365760"/>
          </a:xfrm>
          <a:prstGeom prst="rect">
            <a:avLst/>
          </a:prstGeom>
          <a:noFill/>
        </p:spPr>
        <p:txBody>
          <a:bodyPr wrap="square" anchor="ctr">
            <a:spAutoFit/>
          </a:bodyPr>
          <a:lstStyle/>
          <a:p>
            <a:pPr algn="l"/>
            <a:r>
              <a:rPr sz="1200" b="1" i="0">
                <a:solidFill>
                  <a:srgbClr val="1A7A8A"/>
                </a:solidFill>
                <a:latin typeface="Calibri"/>
              </a:rPr>
              <a:t>1</a:t>
            </a:r>
          </a:p>
        </p:txBody>
      </p:sp>
      <p:sp>
        <p:nvSpPr>
          <p:cNvPr id="38" name="TextBox 37"/>
          <p:cNvSpPr txBox="1"/>
          <p:nvPr/>
        </p:nvSpPr>
        <p:spPr>
          <a:xfrm>
            <a:off x="978408" y="1389888"/>
            <a:ext cx="5212080" cy="365760"/>
          </a:xfrm>
          <a:prstGeom prst="rect">
            <a:avLst/>
          </a:prstGeom>
          <a:noFill/>
        </p:spPr>
        <p:txBody>
          <a:bodyPr wrap="square" anchor="ctr">
            <a:spAutoFit/>
          </a:bodyPr>
          <a:lstStyle/>
          <a:p>
            <a:pPr algn="l"/>
            <a:r>
              <a:rPr sz="1200" b="0" i="0">
                <a:solidFill>
                  <a:srgbClr val="334155"/>
                </a:solidFill>
                <a:latin typeface="Calibri"/>
              </a:rPr>
              <a:t>Resumen ejecutivo</a:t>
            </a:r>
          </a:p>
        </p:txBody>
      </p:sp>
      <p:sp>
        <p:nvSpPr>
          <p:cNvPr id="39" name="TextBox 38"/>
          <p:cNvSpPr txBox="1"/>
          <p:nvPr/>
        </p:nvSpPr>
        <p:spPr>
          <a:xfrm>
            <a:off x="502920" y="1874519"/>
            <a:ext cx="411480" cy="365760"/>
          </a:xfrm>
          <a:prstGeom prst="rect">
            <a:avLst/>
          </a:prstGeom>
          <a:noFill/>
        </p:spPr>
        <p:txBody>
          <a:bodyPr wrap="square" anchor="ctr">
            <a:spAutoFit/>
          </a:bodyPr>
          <a:lstStyle/>
          <a:p>
            <a:pPr algn="l"/>
            <a:r>
              <a:rPr sz="1200" b="1" i="0">
                <a:solidFill>
                  <a:srgbClr val="1A7A8A"/>
                </a:solidFill>
                <a:latin typeface="Calibri"/>
              </a:rPr>
              <a:t>2</a:t>
            </a:r>
          </a:p>
        </p:txBody>
      </p:sp>
      <p:sp>
        <p:nvSpPr>
          <p:cNvPr id="40" name="TextBox 39"/>
          <p:cNvSpPr txBox="1"/>
          <p:nvPr/>
        </p:nvSpPr>
        <p:spPr>
          <a:xfrm>
            <a:off x="978408" y="1874519"/>
            <a:ext cx="5212080" cy="365760"/>
          </a:xfrm>
          <a:prstGeom prst="rect">
            <a:avLst/>
          </a:prstGeom>
          <a:noFill/>
        </p:spPr>
        <p:txBody>
          <a:bodyPr wrap="square" anchor="ctr">
            <a:spAutoFit/>
          </a:bodyPr>
          <a:lstStyle/>
          <a:p>
            <a:pPr algn="l"/>
            <a:r>
              <a:rPr sz="1200" b="0" i="0">
                <a:solidFill>
                  <a:srgbClr val="334155"/>
                </a:solidFill>
                <a:latin typeface="Calibri"/>
              </a:rPr>
              <a:t>Introducción y contexto del sector lácteo</a:t>
            </a:r>
          </a:p>
        </p:txBody>
      </p:sp>
      <p:sp>
        <p:nvSpPr>
          <p:cNvPr id="41" name="TextBox 40"/>
          <p:cNvSpPr txBox="1"/>
          <p:nvPr/>
        </p:nvSpPr>
        <p:spPr>
          <a:xfrm>
            <a:off x="502920" y="2359152"/>
            <a:ext cx="411480" cy="365760"/>
          </a:xfrm>
          <a:prstGeom prst="rect">
            <a:avLst/>
          </a:prstGeom>
          <a:noFill/>
        </p:spPr>
        <p:txBody>
          <a:bodyPr wrap="square" anchor="ctr">
            <a:spAutoFit/>
          </a:bodyPr>
          <a:lstStyle/>
          <a:p>
            <a:pPr algn="l"/>
            <a:r>
              <a:rPr sz="1200" b="1" i="0">
                <a:solidFill>
                  <a:srgbClr val="1A7A8A"/>
                </a:solidFill>
                <a:latin typeface="Calibri"/>
              </a:rPr>
              <a:t>3</a:t>
            </a:r>
          </a:p>
        </p:txBody>
      </p:sp>
      <p:sp>
        <p:nvSpPr>
          <p:cNvPr id="42" name="TextBox 41"/>
          <p:cNvSpPr txBox="1"/>
          <p:nvPr/>
        </p:nvSpPr>
        <p:spPr>
          <a:xfrm>
            <a:off x="978408" y="2359152"/>
            <a:ext cx="5212080" cy="365760"/>
          </a:xfrm>
          <a:prstGeom prst="rect">
            <a:avLst/>
          </a:prstGeom>
          <a:noFill/>
        </p:spPr>
        <p:txBody>
          <a:bodyPr wrap="square" anchor="ctr">
            <a:spAutoFit/>
          </a:bodyPr>
          <a:lstStyle/>
          <a:p>
            <a:pPr algn="l"/>
            <a:r>
              <a:rPr sz="1200" b="0" i="0">
                <a:solidFill>
                  <a:srgbClr val="334155"/>
                </a:solidFill>
                <a:latin typeface="Calibri"/>
              </a:rPr>
              <a:t>Indicadores macroeconómicos de Honduras</a:t>
            </a:r>
          </a:p>
        </p:txBody>
      </p:sp>
      <p:sp>
        <p:nvSpPr>
          <p:cNvPr id="43" name="TextBox 42"/>
          <p:cNvSpPr txBox="1"/>
          <p:nvPr/>
        </p:nvSpPr>
        <p:spPr>
          <a:xfrm>
            <a:off x="502920" y="2843784"/>
            <a:ext cx="411480" cy="365760"/>
          </a:xfrm>
          <a:prstGeom prst="rect">
            <a:avLst/>
          </a:prstGeom>
          <a:noFill/>
        </p:spPr>
        <p:txBody>
          <a:bodyPr wrap="square" anchor="ctr">
            <a:spAutoFit/>
          </a:bodyPr>
          <a:lstStyle/>
          <a:p>
            <a:pPr algn="l"/>
            <a:r>
              <a:rPr sz="1200" b="1" i="0">
                <a:solidFill>
                  <a:srgbClr val="1A7A8A"/>
                </a:solidFill>
                <a:latin typeface="Calibri"/>
              </a:rPr>
              <a:t>4</a:t>
            </a:r>
          </a:p>
        </p:txBody>
      </p:sp>
      <p:sp>
        <p:nvSpPr>
          <p:cNvPr id="44" name="TextBox 43"/>
          <p:cNvSpPr txBox="1"/>
          <p:nvPr/>
        </p:nvSpPr>
        <p:spPr>
          <a:xfrm>
            <a:off x="978408" y="2843784"/>
            <a:ext cx="5212080" cy="365760"/>
          </a:xfrm>
          <a:prstGeom prst="rect">
            <a:avLst/>
          </a:prstGeom>
          <a:noFill/>
        </p:spPr>
        <p:txBody>
          <a:bodyPr wrap="square" anchor="ctr">
            <a:spAutoFit/>
          </a:bodyPr>
          <a:lstStyle/>
          <a:p>
            <a:pPr algn="l"/>
            <a:r>
              <a:rPr sz="1200" b="0" i="0">
                <a:solidFill>
                  <a:srgbClr val="334155"/>
                </a:solidFill>
                <a:latin typeface="Calibri"/>
              </a:rPr>
              <a:t>Planteamiento del problema y pregunta de investigación</a:t>
            </a:r>
          </a:p>
        </p:txBody>
      </p:sp>
      <p:sp>
        <p:nvSpPr>
          <p:cNvPr id="45" name="TextBox 44"/>
          <p:cNvSpPr txBox="1"/>
          <p:nvPr/>
        </p:nvSpPr>
        <p:spPr>
          <a:xfrm>
            <a:off x="502920" y="3328416"/>
            <a:ext cx="411480" cy="365760"/>
          </a:xfrm>
          <a:prstGeom prst="rect">
            <a:avLst/>
          </a:prstGeom>
          <a:noFill/>
        </p:spPr>
        <p:txBody>
          <a:bodyPr wrap="square" anchor="ctr">
            <a:spAutoFit/>
          </a:bodyPr>
          <a:lstStyle/>
          <a:p>
            <a:pPr algn="l"/>
            <a:r>
              <a:rPr sz="1200" b="1" i="0">
                <a:solidFill>
                  <a:srgbClr val="1A7A8A"/>
                </a:solidFill>
                <a:latin typeface="Calibri"/>
              </a:rPr>
              <a:t>5</a:t>
            </a:r>
          </a:p>
        </p:txBody>
      </p:sp>
      <p:sp>
        <p:nvSpPr>
          <p:cNvPr id="46" name="TextBox 45"/>
          <p:cNvSpPr txBox="1"/>
          <p:nvPr/>
        </p:nvSpPr>
        <p:spPr>
          <a:xfrm>
            <a:off x="978408" y="3328416"/>
            <a:ext cx="5212080" cy="365760"/>
          </a:xfrm>
          <a:prstGeom prst="rect">
            <a:avLst/>
          </a:prstGeom>
          <a:noFill/>
        </p:spPr>
        <p:txBody>
          <a:bodyPr wrap="square" anchor="ctr">
            <a:spAutoFit/>
          </a:bodyPr>
          <a:lstStyle/>
          <a:p>
            <a:pPr algn="l"/>
            <a:r>
              <a:rPr sz="1200" b="0" i="0">
                <a:solidFill>
                  <a:srgbClr val="334155"/>
                </a:solidFill>
                <a:latin typeface="Calibri"/>
              </a:rPr>
              <a:t>Objetivos del estudio</a:t>
            </a:r>
          </a:p>
        </p:txBody>
      </p:sp>
      <p:sp>
        <p:nvSpPr>
          <p:cNvPr id="47" name="TextBox 46"/>
          <p:cNvSpPr txBox="1"/>
          <p:nvPr/>
        </p:nvSpPr>
        <p:spPr>
          <a:xfrm>
            <a:off x="502920" y="3813048"/>
            <a:ext cx="411480" cy="365760"/>
          </a:xfrm>
          <a:prstGeom prst="rect">
            <a:avLst/>
          </a:prstGeom>
          <a:noFill/>
        </p:spPr>
        <p:txBody>
          <a:bodyPr wrap="square" anchor="ctr">
            <a:spAutoFit/>
          </a:bodyPr>
          <a:lstStyle/>
          <a:p>
            <a:pPr algn="l"/>
            <a:r>
              <a:rPr sz="1200" b="1" i="0">
                <a:solidFill>
                  <a:srgbClr val="1A7A8A"/>
                </a:solidFill>
                <a:latin typeface="Calibri"/>
              </a:rPr>
              <a:t>6</a:t>
            </a:r>
          </a:p>
        </p:txBody>
      </p:sp>
      <p:sp>
        <p:nvSpPr>
          <p:cNvPr id="48" name="TextBox 47"/>
          <p:cNvSpPr txBox="1"/>
          <p:nvPr/>
        </p:nvSpPr>
        <p:spPr>
          <a:xfrm>
            <a:off x="978408" y="3813048"/>
            <a:ext cx="5212080" cy="365760"/>
          </a:xfrm>
          <a:prstGeom prst="rect">
            <a:avLst/>
          </a:prstGeom>
          <a:noFill/>
        </p:spPr>
        <p:txBody>
          <a:bodyPr wrap="square" anchor="ctr">
            <a:spAutoFit/>
          </a:bodyPr>
          <a:lstStyle/>
          <a:p>
            <a:pPr algn="l"/>
            <a:r>
              <a:rPr sz="1200" b="0" i="0">
                <a:solidFill>
                  <a:srgbClr val="334155"/>
                </a:solidFill>
                <a:latin typeface="Calibri"/>
              </a:rPr>
              <a:t>Diseño metodológico</a:t>
            </a:r>
          </a:p>
        </p:txBody>
      </p:sp>
      <p:sp>
        <p:nvSpPr>
          <p:cNvPr id="49" name="TextBox 48"/>
          <p:cNvSpPr txBox="1"/>
          <p:nvPr/>
        </p:nvSpPr>
        <p:spPr>
          <a:xfrm>
            <a:off x="502920" y="4297680"/>
            <a:ext cx="411480" cy="365760"/>
          </a:xfrm>
          <a:prstGeom prst="rect">
            <a:avLst/>
          </a:prstGeom>
          <a:noFill/>
        </p:spPr>
        <p:txBody>
          <a:bodyPr wrap="square" anchor="ctr">
            <a:spAutoFit/>
          </a:bodyPr>
          <a:lstStyle/>
          <a:p>
            <a:pPr algn="l"/>
            <a:r>
              <a:rPr sz="1200" b="1" i="0">
                <a:solidFill>
                  <a:srgbClr val="1A7A8A"/>
                </a:solidFill>
                <a:latin typeface="Calibri"/>
              </a:rPr>
              <a:t>7</a:t>
            </a:r>
          </a:p>
        </p:txBody>
      </p:sp>
      <p:sp>
        <p:nvSpPr>
          <p:cNvPr id="50" name="TextBox 49"/>
          <p:cNvSpPr txBox="1"/>
          <p:nvPr/>
        </p:nvSpPr>
        <p:spPr>
          <a:xfrm>
            <a:off x="978408" y="4297680"/>
            <a:ext cx="5212080" cy="365760"/>
          </a:xfrm>
          <a:prstGeom prst="rect">
            <a:avLst/>
          </a:prstGeom>
          <a:noFill/>
        </p:spPr>
        <p:txBody>
          <a:bodyPr wrap="square" anchor="ctr">
            <a:spAutoFit/>
          </a:bodyPr>
          <a:lstStyle/>
          <a:p>
            <a:pPr algn="l"/>
            <a:r>
              <a:rPr sz="1200" b="0" i="0">
                <a:solidFill>
                  <a:srgbClr val="334155"/>
                </a:solidFill>
                <a:latin typeface="Calibri"/>
              </a:rPr>
              <a:t>Justificación del proyecto</a:t>
            </a:r>
          </a:p>
        </p:txBody>
      </p:sp>
      <p:sp>
        <p:nvSpPr>
          <p:cNvPr id="51" name="TextBox 50"/>
          <p:cNvSpPr txBox="1"/>
          <p:nvPr/>
        </p:nvSpPr>
        <p:spPr>
          <a:xfrm>
            <a:off x="502920" y="4782312"/>
            <a:ext cx="411480" cy="365760"/>
          </a:xfrm>
          <a:prstGeom prst="rect">
            <a:avLst/>
          </a:prstGeom>
          <a:noFill/>
        </p:spPr>
        <p:txBody>
          <a:bodyPr wrap="square" anchor="ctr">
            <a:spAutoFit/>
          </a:bodyPr>
          <a:lstStyle/>
          <a:p>
            <a:pPr algn="l"/>
            <a:r>
              <a:rPr sz="1200" b="1" i="0">
                <a:solidFill>
                  <a:srgbClr val="1A7A8A"/>
                </a:solidFill>
                <a:latin typeface="Calibri"/>
              </a:rPr>
              <a:t>8</a:t>
            </a:r>
          </a:p>
        </p:txBody>
      </p:sp>
      <p:sp>
        <p:nvSpPr>
          <p:cNvPr id="52" name="TextBox 51"/>
          <p:cNvSpPr txBox="1"/>
          <p:nvPr/>
        </p:nvSpPr>
        <p:spPr>
          <a:xfrm>
            <a:off x="978408" y="4782312"/>
            <a:ext cx="5212080" cy="365760"/>
          </a:xfrm>
          <a:prstGeom prst="rect">
            <a:avLst/>
          </a:prstGeom>
          <a:noFill/>
        </p:spPr>
        <p:txBody>
          <a:bodyPr wrap="square" anchor="ctr">
            <a:spAutoFit/>
          </a:bodyPr>
          <a:lstStyle/>
          <a:p>
            <a:pPr algn="l"/>
            <a:r>
              <a:rPr sz="1200" b="0" i="0">
                <a:solidFill>
                  <a:srgbClr val="334155"/>
                </a:solidFill>
                <a:latin typeface="Calibri"/>
              </a:rPr>
              <a:t>Metodología ONUDI</a:t>
            </a:r>
          </a:p>
        </p:txBody>
      </p:sp>
      <p:sp>
        <p:nvSpPr>
          <p:cNvPr id="53" name="TextBox 52"/>
          <p:cNvSpPr txBox="1"/>
          <p:nvPr/>
        </p:nvSpPr>
        <p:spPr>
          <a:xfrm>
            <a:off x="502920" y="5266944"/>
            <a:ext cx="411480" cy="365760"/>
          </a:xfrm>
          <a:prstGeom prst="rect">
            <a:avLst/>
          </a:prstGeom>
          <a:noFill/>
        </p:spPr>
        <p:txBody>
          <a:bodyPr wrap="square" anchor="ctr">
            <a:spAutoFit/>
          </a:bodyPr>
          <a:lstStyle/>
          <a:p>
            <a:pPr algn="l"/>
            <a:r>
              <a:rPr sz="1200" b="1" i="0">
                <a:solidFill>
                  <a:srgbClr val="1A7A8A"/>
                </a:solidFill>
                <a:latin typeface="Calibri"/>
              </a:rPr>
              <a:t>9</a:t>
            </a:r>
          </a:p>
        </p:txBody>
      </p:sp>
      <p:sp>
        <p:nvSpPr>
          <p:cNvPr id="54" name="TextBox 53"/>
          <p:cNvSpPr txBox="1"/>
          <p:nvPr/>
        </p:nvSpPr>
        <p:spPr>
          <a:xfrm>
            <a:off x="978408" y="5266944"/>
            <a:ext cx="5212080" cy="365760"/>
          </a:xfrm>
          <a:prstGeom prst="rect">
            <a:avLst/>
          </a:prstGeom>
          <a:noFill/>
        </p:spPr>
        <p:txBody>
          <a:bodyPr wrap="square" anchor="ctr">
            <a:spAutoFit/>
          </a:bodyPr>
          <a:lstStyle/>
          <a:p>
            <a:pPr algn="l"/>
            <a:r>
              <a:rPr sz="1200" b="0" i="0">
                <a:solidFill>
                  <a:srgbClr val="334155"/>
                </a:solidFill>
                <a:latin typeface="Calibri"/>
              </a:rPr>
              <a:t>Estudio sectorial: PESTEL y 5 Fuerzas de Porter</a:t>
            </a:r>
          </a:p>
        </p:txBody>
      </p:sp>
      <p:sp>
        <p:nvSpPr>
          <p:cNvPr id="55" name="TextBox 54"/>
          <p:cNvSpPr txBox="1"/>
          <p:nvPr/>
        </p:nvSpPr>
        <p:spPr>
          <a:xfrm>
            <a:off x="502920" y="5751576"/>
            <a:ext cx="411480" cy="365760"/>
          </a:xfrm>
          <a:prstGeom prst="rect">
            <a:avLst/>
          </a:prstGeom>
          <a:noFill/>
        </p:spPr>
        <p:txBody>
          <a:bodyPr wrap="square" anchor="ctr">
            <a:spAutoFit/>
          </a:bodyPr>
          <a:lstStyle/>
          <a:p>
            <a:pPr algn="l"/>
            <a:r>
              <a:rPr sz="1200" b="1" i="0">
                <a:solidFill>
                  <a:srgbClr val="1A7A8A"/>
                </a:solidFill>
                <a:latin typeface="Calibri"/>
              </a:rPr>
              <a:t>10</a:t>
            </a:r>
          </a:p>
        </p:txBody>
      </p:sp>
      <p:sp>
        <p:nvSpPr>
          <p:cNvPr id="56" name="TextBox 55"/>
          <p:cNvSpPr txBox="1"/>
          <p:nvPr/>
        </p:nvSpPr>
        <p:spPr>
          <a:xfrm>
            <a:off x="978408" y="5751576"/>
            <a:ext cx="5212080" cy="365760"/>
          </a:xfrm>
          <a:prstGeom prst="rect">
            <a:avLst/>
          </a:prstGeom>
          <a:noFill/>
        </p:spPr>
        <p:txBody>
          <a:bodyPr wrap="square" anchor="ctr">
            <a:spAutoFit/>
          </a:bodyPr>
          <a:lstStyle/>
          <a:p>
            <a:pPr algn="l"/>
            <a:r>
              <a:rPr sz="1200" b="0" i="0">
                <a:solidFill>
                  <a:srgbClr val="334155"/>
                </a:solidFill>
                <a:latin typeface="Calibri"/>
              </a:rPr>
              <a:t>Análisis de mercado y proyección de ventas</a:t>
            </a:r>
          </a:p>
        </p:txBody>
      </p:sp>
      <p:sp>
        <p:nvSpPr>
          <p:cNvPr id="57" name="TextBox 56"/>
          <p:cNvSpPr txBox="1"/>
          <p:nvPr/>
        </p:nvSpPr>
        <p:spPr>
          <a:xfrm>
            <a:off x="6446520" y="1389888"/>
            <a:ext cx="411480" cy="365760"/>
          </a:xfrm>
          <a:prstGeom prst="rect">
            <a:avLst/>
          </a:prstGeom>
          <a:noFill/>
        </p:spPr>
        <p:txBody>
          <a:bodyPr wrap="square" anchor="ctr">
            <a:spAutoFit/>
          </a:bodyPr>
          <a:lstStyle/>
          <a:p>
            <a:pPr algn="l"/>
            <a:r>
              <a:rPr sz="1200" b="1" i="0">
                <a:solidFill>
                  <a:srgbClr val="1A7A8A"/>
                </a:solidFill>
                <a:latin typeface="Calibri"/>
              </a:rPr>
              <a:t>11</a:t>
            </a:r>
          </a:p>
        </p:txBody>
      </p:sp>
      <p:sp>
        <p:nvSpPr>
          <p:cNvPr id="58" name="TextBox 57"/>
          <p:cNvSpPr txBox="1"/>
          <p:nvPr/>
        </p:nvSpPr>
        <p:spPr>
          <a:xfrm>
            <a:off x="6922008" y="1389888"/>
            <a:ext cx="5212080" cy="365760"/>
          </a:xfrm>
          <a:prstGeom prst="rect">
            <a:avLst/>
          </a:prstGeom>
          <a:noFill/>
        </p:spPr>
        <p:txBody>
          <a:bodyPr wrap="square" anchor="ctr">
            <a:spAutoFit/>
          </a:bodyPr>
          <a:lstStyle/>
          <a:p>
            <a:pPr algn="l"/>
            <a:r>
              <a:rPr sz="1200" b="0" i="0">
                <a:solidFill>
                  <a:srgbClr val="334155"/>
                </a:solidFill>
                <a:latin typeface="Calibri"/>
              </a:rPr>
              <a:t>Estudio técnico: localización, proceso, tamaño, materia prima y planta</a:t>
            </a:r>
          </a:p>
        </p:txBody>
      </p:sp>
      <p:sp>
        <p:nvSpPr>
          <p:cNvPr id="59" name="TextBox 58"/>
          <p:cNvSpPr txBox="1"/>
          <p:nvPr/>
        </p:nvSpPr>
        <p:spPr>
          <a:xfrm>
            <a:off x="6446520" y="1874519"/>
            <a:ext cx="411480" cy="365760"/>
          </a:xfrm>
          <a:prstGeom prst="rect">
            <a:avLst/>
          </a:prstGeom>
          <a:noFill/>
        </p:spPr>
        <p:txBody>
          <a:bodyPr wrap="square" anchor="ctr">
            <a:spAutoFit/>
          </a:bodyPr>
          <a:lstStyle/>
          <a:p>
            <a:pPr algn="l"/>
            <a:r>
              <a:rPr sz="1200" b="1" i="0">
                <a:solidFill>
                  <a:srgbClr val="1A7A8A"/>
                </a:solidFill>
                <a:latin typeface="Calibri"/>
              </a:rPr>
              <a:t>12</a:t>
            </a:r>
          </a:p>
        </p:txBody>
      </p:sp>
      <p:sp>
        <p:nvSpPr>
          <p:cNvPr id="60" name="TextBox 59"/>
          <p:cNvSpPr txBox="1"/>
          <p:nvPr/>
        </p:nvSpPr>
        <p:spPr>
          <a:xfrm>
            <a:off x="6922008" y="1874519"/>
            <a:ext cx="5212080" cy="365760"/>
          </a:xfrm>
          <a:prstGeom prst="rect">
            <a:avLst/>
          </a:prstGeom>
          <a:noFill/>
        </p:spPr>
        <p:txBody>
          <a:bodyPr wrap="square" anchor="ctr">
            <a:spAutoFit/>
          </a:bodyPr>
          <a:lstStyle/>
          <a:p>
            <a:pPr algn="l"/>
            <a:r>
              <a:rPr sz="1200" b="0" i="0">
                <a:solidFill>
                  <a:srgbClr val="334155"/>
                </a:solidFill>
                <a:latin typeface="Calibri"/>
              </a:rPr>
              <a:t>Estudio legal</a:t>
            </a:r>
          </a:p>
        </p:txBody>
      </p:sp>
      <p:sp>
        <p:nvSpPr>
          <p:cNvPr id="61" name="TextBox 60"/>
          <p:cNvSpPr txBox="1"/>
          <p:nvPr/>
        </p:nvSpPr>
        <p:spPr>
          <a:xfrm>
            <a:off x="6446520" y="2359152"/>
            <a:ext cx="411480" cy="365760"/>
          </a:xfrm>
          <a:prstGeom prst="rect">
            <a:avLst/>
          </a:prstGeom>
          <a:noFill/>
        </p:spPr>
        <p:txBody>
          <a:bodyPr wrap="square" anchor="ctr">
            <a:spAutoFit/>
          </a:bodyPr>
          <a:lstStyle/>
          <a:p>
            <a:pPr algn="l"/>
            <a:r>
              <a:rPr sz="1200" b="1" i="0">
                <a:solidFill>
                  <a:srgbClr val="1A7A8A"/>
                </a:solidFill>
                <a:latin typeface="Calibri"/>
              </a:rPr>
              <a:t>13</a:t>
            </a:r>
          </a:p>
        </p:txBody>
      </p:sp>
      <p:sp>
        <p:nvSpPr>
          <p:cNvPr id="62" name="TextBox 61"/>
          <p:cNvSpPr txBox="1"/>
          <p:nvPr/>
        </p:nvSpPr>
        <p:spPr>
          <a:xfrm>
            <a:off x="6922008" y="2359152"/>
            <a:ext cx="5212080" cy="365760"/>
          </a:xfrm>
          <a:prstGeom prst="rect">
            <a:avLst/>
          </a:prstGeom>
          <a:noFill/>
        </p:spPr>
        <p:txBody>
          <a:bodyPr wrap="square" anchor="ctr">
            <a:spAutoFit/>
          </a:bodyPr>
          <a:lstStyle/>
          <a:p>
            <a:pPr algn="l"/>
            <a:r>
              <a:rPr sz="1200" b="0" i="0">
                <a:solidFill>
                  <a:srgbClr val="334155"/>
                </a:solidFill>
                <a:latin typeface="Calibri"/>
              </a:rPr>
              <a:t>Estudio administrativo y plantilla de personal</a:t>
            </a:r>
          </a:p>
        </p:txBody>
      </p:sp>
      <p:sp>
        <p:nvSpPr>
          <p:cNvPr id="63" name="TextBox 62"/>
          <p:cNvSpPr txBox="1"/>
          <p:nvPr/>
        </p:nvSpPr>
        <p:spPr>
          <a:xfrm>
            <a:off x="6446520" y="2843784"/>
            <a:ext cx="411480" cy="365760"/>
          </a:xfrm>
          <a:prstGeom prst="rect">
            <a:avLst/>
          </a:prstGeom>
          <a:noFill/>
        </p:spPr>
        <p:txBody>
          <a:bodyPr wrap="square" anchor="ctr">
            <a:spAutoFit/>
          </a:bodyPr>
          <a:lstStyle/>
          <a:p>
            <a:pPr algn="l"/>
            <a:r>
              <a:rPr sz="1200" b="1" i="0">
                <a:solidFill>
                  <a:srgbClr val="1A7A8A"/>
                </a:solidFill>
                <a:latin typeface="Calibri"/>
              </a:rPr>
              <a:t>14</a:t>
            </a:r>
          </a:p>
        </p:txBody>
      </p:sp>
      <p:sp>
        <p:nvSpPr>
          <p:cNvPr id="64" name="TextBox 63"/>
          <p:cNvSpPr txBox="1"/>
          <p:nvPr/>
        </p:nvSpPr>
        <p:spPr>
          <a:xfrm>
            <a:off x="6922008" y="2843784"/>
            <a:ext cx="5212080" cy="365760"/>
          </a:xfrm>
          <a:prstGeom prst="rect">
            <a:avLst/>
          </a:prstGeom>
          <a:noFill/>
        </p:spPr>
        <p:txBody>
          <a:bodyPr wrap="square" anchor="ctr">
            <a:spAutoFit/>
          </a:bodyPr>
          <a:lstStyle/>
          <a:p>
            <a:pPr algn="l"/>
            <a:r>
              <a:rPr sz="1200" b="0" i="0">
                <a:solidFill>
                  <a:srgbClr val="334155"/>
                </a:solidFill>
                <a:latin typeface="Calibri"/>
              </a:rPr>
              <a:t>Estudio ambiental</a:t>
            </a:r>
          </a:p>
        </p:txBody>
      </p:sp>
      <p:sp>
        <p:nvSpPr>
          <p:cNvPr id="65" name="TextBox 64"/>
          <p:cNvSpPr txBox="1"/>
          <p:nvPr/>
        </p:nvSpPr>
        <p:spPr>
          <a:xfrm>
            <a:off x="6446520" y="3328416"/>
            <a:ext cx="411480" cy="365760"/>
          </a:xfrm>
          <a:prstGeom prst="rect">
            <a:avLst/>
          </a:prstGeom>
          <a:noFill/>
        </p:spPr>
        <p:txBody>
          <a:bodyPr wrap="square" anchor="ctr">
            <a:spAutoFit/>
          </a:bodyPr>
          <a:lstStyle/>
          <a:p>
            <a:pPr algn="l"/>
            <a:r>
              <a:rPr sz="1200" b="1" i="0">
                <a:solidFill>
                  <a:srgbClr val="1A7A8A"/>
                </a:solidFill>
                <a:latin typeface="Calibri"/>
              </a:rPr>
              <a:t>15</a:t>
            </a:r>
          </a:p>
        </p:txBody>
      </p:sp>
      <p:sp>
        <p:nvSpPr>
          <p:cNvPr id="66" name="TextBox 65"/>
          <p:cNvSpPr txBox="1"/>
          <p:nvPr/>
        </p:nvSpPr>
        <p:spPr>
          <a:xfrm>
            <a:off x="6922008" y="3328416"/>
            <a:ext cx="5212080" cy="365760"/>
          </a:xfrm>
          <a:prstGeom prst="rect">
            <a:avLst/>
          </a:prstGeom>
          <a:noFill/>
        </p:spPr>
        <p:txBody>
          <a:bodyPr wrap="square" anchor="ctr">
            <a:spAutoFit/>
          </a:bodyPr>
          <a:lstStyle/>
          <a:p>
            <a:pPr algn="l"/>
            <a:r>
              <a:rPr sz="1200" b="0" i="0">
                <a:solidFill>
                  <a:srgbClr val="334155"/>
                </a:solidFill>
                <a:latin typeface="Calibri"/>
              </a:rPr>
              <a:t>Estudio financiero: inversión, préstamo, estados financieros y equilibrio</a:t>
            </a:r>
          </a:p>
        </p:txBody>
      </p:sp>
      <p:sp>
        <p:nvSpPr>
          <p:cNvPr id="67" name="TextBox 66"/>
          <p:cNvSpPr txBox="1"/>
          <p:nvPr/>
        </p:nvSpPr>
        <p:spPr>
          <a:xfrm>
            <a:off x="6446520" y="3813048"/>
            <a:ext cx="411480" cy="365760"/>
          </a:xfrm>
          <a:prstGeom prst="rect">
            <a:avLst/>
          </a:prstGeom>
          <a:noFill/>
        </p:spPr>
        <p:txBody>
          <a:bodyPr wrap="square" anchor="ctr">
            <a:spAutoFit/>
          </a:bodyPr>
          <a:lstStyle/>
          <a:p>
            <a:pPr algn="l"/>
            <a:r>
              <a:rPr sz="1200" b="1" i="0">
                <a:solidFill>
                  <a:srgbClr val="1A7A8A"/>
                </a:solidFill>
                <a:latin typeface="Calibri"/>
              </a:rPr>
              <a:t>16</a:t>
            </a:r>
          </a:p>
        </p:txBody>
      </p:sp>
      <p:sp>
        <p:nvSpPr>
          <p:cNvPr id="68" name="TextBox 67"/>
          <p:cNvSpPr txBox="1"/>
          <p:nvPr/>
        </p:nvSpPr>
        <p:spPr>
          <a:xfrm>
            <a:off x="6922008" y="3813048"/>
            <a:ext cx="5212080" cy="365760"/>
          </a:xfrm>
          <a:prstGeom prst="rect">
            <a:avLst/>
          </a:prstGeom>
          <a:noFill/>
        </p:spPr>
        <p:txBody>
          <a:bodyPr wrap="square" anchor="ctr">
            <a:spAutoFit/>
          </a:bodyPr>
          <a:lstStyle/>
          <a:p>
            <a:pPr algn="l"/>
            <a:r>
              <a:rPr sz="1200" b="0" i="0">
                <a:solidFill>
                  <a:srgbClr val="334155"/>
                </a:solidFill>
                <a:latin typeface="Calibri"/>
              </a:rPr>
              <a:t>Indicadores financieros: VAN, TIR, PRI, IRVA, B/C</a:t>
            </a:r>
          </a:p>
        </p:txBody>
      </p:sp>
      <p:sp>
        <p:nvSpPr>
          <p:cNvPr id="69" name="TextBox 68"/>
          <p:cNvSpPr txBox="1"/>
          <p:nvPr/>
        </p:nvSpPr>
        <p:spPr>
          <a:xfrm>
            <a:off x="6446520" y="4297680"/>
            <a:ext cx="411480" cy="365760"/>
          </a:xfrm>
          <a:prstGeom prst="rect">
            <a:avLst/>
          </a:prstGeom>
          <a:noFill/>
        </p:spPr>
        <p:txBody>
          <a:bodyPr wrap="square" anchor="ctr">
            <a:spAutoFit/>
          </a:bodyPr>
          <a:lstStyle/>
          <a:p>
            <a:pPr algn="l"/>
            <a:r>
              <a:rPr sz="1200" b="1" i="0">
                <a:solidFill>
                  <a:srgbClr val="1A7A8A"/>
                </a:solidFill>
                <a:latin typeface="Calibri"/>
              </a:rPr>
              <a:t>17</a:t>
            </a:r>
          </a:p>
        </p:txBody>
      </p:sp>
      <p:sp>
        <p:nvSpPr>
          <p:cNvPr id="70" name="TextBox 69"/>
          <p:cNvSpPr txBox="1"/>
          <p:nvPr/>
        </p:nvSpPr>
        <p:spPr>
          <a:xfrm>
            <a:off x="6922008" y="4297680"/>
            <a:ext cx="5212080" cy="365760"/>
          </a:xfrm>
          <a:prstGeom prst="rect">
            <a:avLst/>
          </a:prstGeom>
          <a:noFill/>
        </p:spPr>
        <p:txBody>
          <a:bodyPr wrap="square" anchor="ctr">
            <a:spAutoFit/>
          </a:bodyPr>
          <a:lstStyle/>
          <a:p>
            <a:pPr algn="l"/>
            <a:r>
              <a:rPr sz="1200" b="0" i="0">
                <a:solidFill>
                  <a:srgbClr val="334155"/>
                </a:solidFill>
                <a:latin typeface="Calibri"/>
              </a:rPr>
              <a:t>Sensibilidad, tornado y escenarios</a:t>
            </a:r>
          </a:p>
        </p:txBody>
      </p:sp>
      <p:sp>
        <p:nvSpPr>
          <p:cNvPr id="71" name="TextBox 70"/>
          <p:cNvSpPr txBox="1"/>
          <p:nvPr/>
        </p:nvSpPr>
        <p:spPr>
          <a:xfrm>
            <a:off x="6446520" y="4782312"/>
            <a:ext cx="411480" cy="365760"/>
          </a:xfrm>
          <a:prstGeom prst="rect">
            <a:avLst/>
          </a:prstGeom>
          <a:noFill/>
        </p:spPr>
        <p:txBody>
          <a:bodyPr wrap="square" anchor="ctr">
            <a:spAutoFit/>
          </a:bodyPr>
          <a:lstStyle/>
          <a:p>
            <a:pPr algn="l"/>
            <a:r>
              <a:rPr sz="1200" b="1" i="0">
                <a:solidFill>
                  <a:srgbClr val="1A7A8A"/>
                </a:solidFill>
                <a:latin typeface="Calibri"/>
              </a:rPr>
              <a:t>18</a:t>
            </a:r>
          </a:p>
        </p:txBody>
      </p:sp>
      <p:sp>
        <p:nvSpPr>
          <p:cNvPr id="72" name="TextBox 71"/>
          <p:cNvSpPr txBox="1"/>
          <p:nvPr/>
        </p:nvSpPr>
        <p:spPr>
          <a:xfrm>
            <a:off x="6922008" y="4782312"/>
            <a:ext cx="5212080" cy="365760"/>
          </a:xfrm>
          <a:prstGeom prst="rect">
            <a:avLst/>
          </a:prstGeom>
          <a:noFill/>
        </p:spPr>
        <p:txBody>
          <a:bodyPr wrap="square" anchor="ctr">
            <a:spAutoFit/>
          </a:bodyPr>
          <a:lstStyle/>
          <a:p>
            <a:pPr algn="l"/>
            <a:r>
              <a:rPr sz="1200" b="0" i="0">
                <a:solidFill>
                  <a:srgbClr val="334155"/>
                </a:solidFill>
                <a:latin typeface="Calibri"/>
              </a:rPr>
              <a:t>Análisis de riesgos: Monte Carlo y efecto sobre el valor</a:t>
            </a:r>
          </a:p>
        </p:txBody>
      </p:sp>
      <p:sp>
        <p:nvSpPr>
          <p:cNvPr id="73" name="TextBox 72"/>
          <p:cNvSpPr txBox="1"/>
          <p:nvPr/>
        </p:nvSpPr>
        <p:spPr>
          <a:xfrm>
            <a:off x="6446520" y="5266944"/>
            <a:ext cx="411480" cy="365760"/>
          </a:xfrm>
          <a:prstGeom prst="rect">
            <a:avLst/>
          </a:prstGeom>
          <a:noFill/>
        </p:spPr>
        <p:txBody>
          <a:bodyPr wrap="square" anchor="ctr">
            <a:spAutoFit/>
          </a:bodyPr>
          <a:lstStyle/>
          <a:p>
            <a:pPr algn="l"/>
            <a:r>
              <a:rPr sz="1200" b="1" i="0">
                <a:solidFill>
                  <a:srgbClr val="1A7A8A"/>
                </a:solidFill>
                <a:latin typeface="Calibri"/>
              </a:rPr>
              <a:t>19</a:t>
            </a:r>
          </a:p>
        </p:txBody>
      </p:sp>
      <p:sp>
        <p:nvSpPr>
          <p:cNvPr id="74" name="TextBox 73"/>
          <p:cNvSpPr txBox="1"/>
          <p:nvPr/>
        </p:nvSpPr>
        <p:spPr>
          <a:xfrm>
            <a:off x="6922008" y="5266944"/>
            <a:ext cx="5212080" cy="365760"/>
          </a:xfrm>
          <a:prstGeom prst="rect">
            <a:avLst/>
          </a:prstGeom>
          <a:noFill/>
        </p:spPr>
        <p:txBody>
          <a:bodyPr wrap="square" anchor="ctr">
            <a:spAutoFit/>
          </a:bodyPr>
          <a:lstStyle/>
          <a:p>
            <a:pPr algn="l"/>
            <a:r>
              <a:rPr sz="1200" b="0" i="0">
                <a:solidFill>
                  <a:srgbClr val="334155"/>
                </a:solidFill>
                <a:latin typeface="Calibri"/>
              </a:rPr>
              <a:t>Conclusiones, limitaciones y recomendaciones</a:t>
            </a:r>
          </a:p>
        </p:txBody>
      </p:sp>
      <p:sp>
        <p:nvSpPr>
          <p:cNvPr id="75" name="TextBox 74"/>
          <p:cNvSpPr txBox="1"/>
          <p:nvPr/>
        </p:nvSpPr>
        <p:spPr>
          <a:xfrm>
            <a:off x="6446520" y="5751576"/>
            <a:ext cx="411480" cy="365760"/>
          </a:xfrm>
          <a:prstGeom prst="rect">
            <a:avLst/>
          </a:prstGeom>
          <a:noFill/>
        </p:spPr>
        <p:txBody>
          <a:bodyPr wrap="square" anchor="ctr">
            <a:spAutoFit/>
          </a:bodyPr>
          <a:lstStyle/>
          <a:p>
            <a:pPr algn="l"/>
            <a:r>
              <a:rPr sz="1200" b="1" i="0">
                <a:solidFill>
                  <a:srgbClr val="1A7A8A"/>
                </a:solidFill>
                <a:latin typeface="Calibri"/>
              </a:rPr>
              <a:t>20</a:t>
            </a:r>
          </a:p>
        </p:txBody>
      </p:sp>
      <p:sp>
        <p:nvSpPr>
          <p:cNvPr id="76" name="TextBox 75"/>
          <p:cNvSpPr txBox="1"/>
          <p:nvPr/>
        </p:nvSpPr>
        <p:spPr>
          <a:xfrm>
            <a:off x="6922008" y="5751576"/>
            <a:ext cx="5212080" cy="365760"/>
          </a:xfrm>
          <a:prstGeom prst="rect">
            <a:avLst/>
          </a:prstGeom>
          <a:noFill/>
        </p:spPr>
        <p:txBody>
          <a:bodyPr wrap="square" anchor="ctr">
            <a:spAutoFit/>
          </a:bodyPr>
          <a:lstStyle/>
          <a:p>
            <a:pPr algn="l"/>
            <a:r>
              <a:rPr sz="1200" b="0" i="0">
                <a:solidFill>
                  <a:srgbClr val="334155"/>
                </a:solidFill>
                <a:latin typeface="Calibri"/>
              </a:rPr>
              <a:t>Bibliografía y anexos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320040" y="201168"/>
            <a:ext cx="1828800" cy="256032"/>
          </a:xfrm>
          <a:prstGeom prst="rect">
            <a:avLst/>
          </a:prstGeom>
          <a:noFill/>
          <a:ln/>
        </p:spPr>
        <p:txBody>
          <a:bodyPr wrap="square" rtlCol="0" anchor="ctr"/>
          <a:lstStyle/>
          <a:p>
            <a:pPr marL="0" indent="0" algn="l">
              <a:buNone/>
            </a:pPr>
            <a:r>
              <a:rPr lang="en-US" sz="900" b="1" kern="0" spc="100" dirty="0">
                <a:solidFill>
                  <a:srgbClr val="1A7A8A"/>
                </a:solidFill>
                <a:latin typeface="Calibri" pitchFamily="34" charset="0"/>
                <a:ea typeface="Calibri" pitchFamily="34" charset="-122"/>
                <a:cs typeface="Calibri" pitchFamily="34" charset="-120"/>
              </a:rPr>
              <a:t>INTRODUCCIÓN</a:t>
            </a:r>
            <a:endParaRPr lang="en-US" sz="900" dirty="0"/>
          </a:p>
        </p:txBody>
      </p:sp>
      <p:sp>
        <p:nvSpPr>
          <p:cNvPr id="3" name="Text 1"/>
          <p:cNvSpPr txBox="1"/>
          <p:nvPr/>
        </p:nvSpPr>
        <p:spPr>
          <a:xfrm>
            <a:off x="320040" y="475488"/>
            <a:ext cx="11521440" cy="502920"/>
          </a:xfrm>
          <a:prstGeom prst="rect">
            <a:avLst/>
          </a:prstGeom>
          <a:noFill/>
          <a:ln/>
        </p:spPr>
        <p:txBody>
          <a:bodyPr wrap="square" rtlCol="0" anchor="ctr"/>
          <a:lstStyle/>
          <a:p>
            <a:pPr marL="0" indent="0">
              <a:buNone/>
            </a:pPr>
            <a:r>
              <a:rPr lang="en-US" sz="2800" b="1" dirty="0">
                <a:solidFill>
                  <a:srgbClr val="0D2341"/>
                </a:solidFill>
                <a:latin typeface="Calibri" pitchFamily="34" charset="0"/>
                <a:ea typeface="Calibri" pitchFamily="34" charset="-122"/>
                <a:cs typeface="Calibri" pitchFamily="34" charset="-120"/>
              </a:rPr>
              <a:t>Sector Lácteo en Honduras</a:t>
            </a:r>
            <a:endParaRPr lang="en-US" sz="2800" dirty="0"/>
          </a:p>
        </p:txBody>
      </p:sp>
      <p:sp>
        <p:nvSpPr>
          <p:cNvPr id="4" name="Shape 2"/>
          <p:cNvSpPr/>
          <p:nvPr/>
        </p:nvSpPr>
        <p:spPr>
          <a:xfrm>
            <a:off x="320040" y="1005840"/>
            <a:ext cx="11430000" cy="18288"/>
          </a:xfrm>
          <a:prstGeom prst="rect">
            <a:avLst/>
          </a:prstGeom>
          <a:solidFill>
            <a:srgbClr val="1A7A8A"/>
          </a:solidFill>
          <a:ln w="12700">
            <a:solidFill>
              <a:srgbClr val="1A7A8A"/>
            </a:solidFill>
            <a:prstDash val="solid"/>
          </a:ln>
        </p:spPr>
        <p:txBody>
          <a:bodyPr/>
          <a:lstStyle/>
          <a:p>
            <a:endParaRPr lang="es-CO"/>
          </a:p>
        </p:txBody>
      </p:sp>
      <p:sp>
        <p:nvSpPr>
          <p:cNvPr id="5" name="Text 3"/>
          <p:cNvSpPr txBox="1"/>
          <p:nvPr/>
        </p:nvSpPr>
        <p:spPr>
          <a:xfrm>
            <a:off x="320040" y="1115568"/>
            <a:ext cx="11521440" cy="777240"/>
          </a:xfrm>
          <a:prstGeom prst="rect">
            <a:avLst/>
          </a:prstGeom>
          <a:noFill/>
          <a:ln/>
        </p:spPr>
        <p:txBody>
          <a:bodyPr wrap="square" rtlCol="0" anchor="ctr"/>
          <a:lstStyle/>
          <a:p>
            <a:pPr marL="0" indent="0">
              <a:buNone/>
            </a:pPr>
            <a:r>
              <a:rPr lang="en-US" sz="1300" dirty="0">
                <a:solidFill>
                  <a:srgbClr val="334155"/>
                </a:solidFill>
                <a:latin typeface="Calibri" pitchFamily="34" charset="0"/>
                <a:ea typeface="Calibri" pitchFamily="34" charset="-122"/>
                <a:cs typeface="Calibri" pitchFamily="34" charset="-120"/>
              </a:rPr>
              <a:t>La leche y sus derivados son componentes esenciales de la dieta hondureña y pilares de la economía agroindustrial. El país cuenta con dos circuitos: el industrial (formalizado, ~25 % del total) y el artesanal (mayoría, distribución local). Las grandes empresas migraron a leche UHT, dejando un nicho desatendido de leche fresca pasteurizada.</a:t>
            </a:r>
            <a:endParaRPr lang="en-US" sz="1300" dirty="0"/>
          </a:p>
        </p:txBody>
      </p:sp>
      <p:sp>
        <p:nvSpPr>
          <p:cNvPr id="24" name="Text 22"/>
          <p:cNvSpPr txBox="1"/>
          <p:nvPr/>
        </p:nvSpPr>
        <p:spPr>
          <a:xfrm>
            <a:off x="320040" y="6583680"/>
            <a:ext cx="11521440" cy="201168"/>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Maestría en Agronegocios · Universidad EAFIT · Zamorano · 2026   |   Caballero · Valladares · Medal</a:t>
            </a:r>
            <a:endParaRPr lang="en-US" sz="800" dirty="0"/>
          </a:p>
        </p:txBody>
      </p:sp>
      <p:sp>
        <p:nvSpPr>
          <p:cNvPr id="25" name="Rectangle 24"/>
          <p:cNvSpPr/>
          <p:nvPr/>
        </p:nvSpPr>
        <p:spPr>
          <a:xfrm>
            <a:off x="320040" y="1874519"/>
            <a:ext cx="3611880" cy="1325880"/>
          </a:xfrm>
          <a:prstGeom prst="rect">
            <a:avLst/>
          </a:prstGeom>
          <a:solidFill>
            <a:srgbClr val="E6F4F6"/>
          </a:solidFill>
          <a:ln w="12700">
            <a:solidFill>
              <a:srgbClr val="E6F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11479" y="1947672"/>
            <a:ext cx="3429000" cy="662940"/>
          </a:xfrm>
          <a:prstGeom prst="rect">
            <a:avLst/>
          </a:prstGeom>
          <a:noFill/>
        </p:spPr>
        <p:txBody>
          <a:bodyPr wrap="square" anchor="ctr">
            <a:spAutoFit/>
          </a:bodyPr>
          <a:lstStyle/>
          <a:p>
            <a:pPr algn="ctr"/>
            <a:r>
              <a:rPr sz="2600" b="1" i="0">
                <a:solidFill>
                  <a:srgbClr val="1A7A8A"/>
                </a:solidFill>
                <a:latin typeface="Calibri"/>
              </a:rPr>
              <a:t>10.0 M</a:t>
            </a:r>
          </a:p>
        </p:txBody>
      </p:sp>
      <p:sp>
        <p:nvSpPr>
          <p:cNvPr id="27" name="TextBox 26"/>
          <p:cNvSpPr txBox="1"/>
          <p:nvPr/>
        </p:nvSpPr>
        <p:spPr>
          <a:xfrm>
            <a:off x="411479" y="2563977"/>
            <a:ext cx="3429000" cy="371246"/>
          </a:xfrm>
          <a:prstGeom prst="rect">
            <a:avLst/>
          </a:prstGeom>
          <a:noFill/>
        </p:spPr>
        <p:txBody>
          <a:bodyPr wrap="square" anchor="ctr">
            <a:spAutoFit/>
          </a:bodyPr>
          <a:lstStyle/>
          <a:p>
            <a:pPr algn="ctr"/>
            <a:r>
              <a:rPr sz="1050" b="0" i="0">
                <a:solidFill>
                  <a:srgbClr val="334155"/>
                </a:solidFill>
                <a:latin typeface="Calibri"/>
              </a:rPr>
              <a:t>Habitantes en Honduras</a:t>
            </a:r>
          </a:p>
        </p:txBody>
      </p:sp>
      <p:sp>
        <p:nvSpPr>
          <p:cNvPr id="28" name="TextBox 27"/>
          <p:cNvSpPr txBox="1"/>
          <p:nvPr/>
        </p:nvSpPr>
        <p:spPr>
          <a:xfrm>
            <a:off x="411479" y="2882188"/>
            <a:ext cx="3429000" cy="265176"/>
          </a:xfrm>
          <a:prstGeom prst="rect">
            <a:avLst/>
          </a:prstGeom>
          <a:noFill/>
        </p:spPr>
        <p:txBody>
          <a:bodyPr wrap="square" anchor="ctr">
            <a:spAutoFit/>
          </a:bodyPr>
          <a:lstStyle/>
          <a:p>
            <a:pPr algn="ctr"/>
            <a:r>
              <a:rPr sz="850" b="0" i="1">
                <a:solidFill>
                  <a:srgbClr val="64748B"/>
                </a:solidFill>
                <a:latin typeface="Calibri"/>
              </a:rPr>
              <a:t>INE, 2025</a:t>
            </a:r>
          </a:p>
        </p:txBody>
      </p:sp>
      <p:sp>
        <p:nvSpPr>
          <p:cNvPr id="29" name="Rectangle 28"/>
          <p:cNvSpPr/>
          <p:nvPr/>
        </p:nvSpPr>
        <p:spPr>
          <a:xfrm>
            <a:off x="4160520" y="1874519"/>
            <a:ext cx="3611880" cy="1325880"/>
          </a:xfrm>
          <a:prstGeom prst="rect">
            <a:avLst/>
          </a:prstGeom>
          <a:solidFill>
            <a:srgbClr val="E6F4F6"/>
          </a:solidFill>
          <a:ln w="12700">
            <a:solidFill>
              <a:srgbClr val="E6F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251959" y="1947672"/>
            <a:ext cx="3429000" cy="662940"/>
          </a:xfrm>
          <a:prstGeom prst="rect">
            <a:avLst/>
          </a:prstGeom>
          <a:noFill/>
        </p:spPr>
        <p:txBody>
          <a:bodyPr wrap="square" anchor="ctr">
            <a:spAutoFit/>
          </a:bodyPr>
          <a:lstStyle/>
          <a:p>
            <a:pPr algn="ctr"/>
            <a:r>
              <a:rPr sz="2600" b="1" i="0">
                <a:solidFill>
                  <a:srgbClr val="1A7A8A"/>
                </a:solidFill>
                <a:latin typeface="Calibri"/>
              </a:rPr>
              <a:t>350,000</a:t>
            </a:r>
          </a:p>
        </p:txBody>
      </p:sp>
      <p:sp>
        <p:nvSpPr>
          <p:cNvPr id="31" name="TextBox 30"/>
          <p:cNvSpPr txBox="1"/>
          <p:nvPr/>
        </p:nvSpPr>
        <p:spPr>
          <a:xfrm>
            <a:off x="4251959" y="2563977"/>
            <a:ext cx="3429000" cy="371246"/>
          </a:xfrm>
          <a:prstGeom prst="rect">
            <a:avLst/>
          </a:prstGeom>
          <a:noFill/>
        </p:spPr>
        <p:txBody>
          <a:bodyPr wrap="square" anchor="ctr">
            <a:spAutoFit/>
          </a:bodyPr>
          <a:lstStyle/>
          <a:p>
            <a:pPr algn="ctr"/>
            <a:r>
              <a:rPr sz="1050" b="0" i="0">
                <a:solidFill>
                  <a:srgbClr val="334155"/>
                </a:solidFill>
                <a:latin typeface="Calibri"/>
              </a:rPr>
              <a:t>Empleos directos en la cadena láctea</a:t>
            </a:r>
          </a:p>
        </p:txBody>
      </p:sp>
      <p:sp>
        <p:nvSpPr>
          <p:cNvPr id="32" name="TextBox 31"/>
          <p:cNvSpPr txBox="1"/>
          <p:nvPr/>
        </p:nvSpPr>
        <p:spPr>
          <a:xfrm>
            <a:off x="4251959" y="2882188"/>
            <a:ext cx="3429000" cy="265176"/>
          </a:xfrm>
          <a:prstGeom prst="rect">
            <a:avLst/>
          </a:prstGeom>
          <a:noFill/>
        </p:spPr>
        <p:txBody>
          <a:bodyPr wrap="square" anchor="ctr">
            <a:spAutoFit/>
          </a:bodyPr>
          <a:lstStyle/>
          <a:p>
            <a:pPr algn="ctr"/>
            <a:r>
              <a:rPr sz="850" b="0" i="1">
                <a:solidFill>
                  <a:srgbClr val="64748B"/>
                </a:solidFill>
                <a:latin typeface="Calibri"/>
              </a:rPr>
              <a:t>CNP+L Honduras, 2017</a:t>
            </a:r>
          </a:p>
        </p:txBody>
      </p:sp>
      <p:sp>
        <p:nvSpPr>
          <p:cNvPr id="33" name="Rectangle 32"/>
          <p:cNvSpPr/>
          <p:nvPr/>
        </p:nvSpPr>
        <p:spPr>
          <a:xfrm>
            <a:off x="8001000" y="1874519"/>
            <a:ext cx="3611880" cy="1325880"/>
          </a:xfrm>
          <a:prstGeom prst="rect">
            <a:avLst/>
          </a:prstGeom>
          <a:solidFill>
            <a:srgbClr val="E6F4F6"/>
          </a:solidFill>
          <a:ln w="12700">
            <a:solidFill>
              <a:srgbClr val="E6F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092440" y="1947672"/>
            <a:ext cx="3429000" cy="662940"/>
          </a:xfrm>
          <a:prstGeom prst="rect">
            <a:avLst/>
          </a:prstGeom>
          <a:noFill/>
        </p:spPr>
        <p:txBody>
          <a:bodyPr wrap="square" anchor="ctr">
            <a:spAutoFit/>
          </a:bodyPr>
          <a:lstStyle/>
          <a:p>
            <a:pPr algn="ctr"/>
            <a:r>
              <a:rPr sz="2600" b="1" i="0">
                <a:solidFill>
                  <a:srgbClr val="1A7A8A"/>
                </a:solidFill>
                <a:latin typeface="Calibri"/>
              </a:rPr>
              <a:t>~25 %</a:t>
            </a:r>
          </a:p>
        </p:txBody>
      </p:sp>
      <p:sp>
        <p:nvSpPr>
          <p:cNvPr id="35" name="TextBox 34"/>
          <p:cNvSpPr txBox="1"/>
          <p:nvPr/>
        </p:nvSpPr>
        <p:spPr>
          <a:xfrm>
            <a:off x="8092440" y="2563977"/>
            <a:ext cx="3429000" cy="371246"/>
          </a:xfrm>
          <a:prstGeom prst="rect">
            <a:avLst/>
          </a:prstGeom>
          <a:noFill/>
        </p:spPr>
        <p:txBody>
          <a:bodyPr wrap="square" anchor="ctr">
            <a:spAutoFit/>
          </a:bodyPr>
          <a:lstStyle/>
          <a:p>
            <a:pPr algn="ctr"/>
            <a:r>
              <a:rPr sz="1050" b="0" i="0">
                <a:solidFill>
                  <a:srgbClr val="334155"/>
                </a:solidFill>
                <a:latin typeface="Calibri"/>
              </a:rPr>
              <a:t>Producción vía circuito industrial</a:t>
            </a:r>
          </a:p>
        </p:txBody>
      </p:sp>
      <p:sp>
        <p:nvSpPr>
          <p:cNvPr id="36" name="TextBox 35"/>
          <p:cNvSpPr txBox="1"/>
          <p:nvPr/>
        </p:nvSpPr>
        <p:spPr>
          <a:xfrm>
            <a:off x="8092440" y="2882188"/>
            <a:ext cx="3429000" cy="265176"/>
          </a:xfrm>
          <a:prstGeom prst="rect">
            <a:avLst/>
          </a:prstGeom>
          <a:noFill/>
        </p:spPr>
        <p:txBody>
          <a:bodyPr wrap="square" anchor="ctr">
            <a:spAutoFit/>
          </a:bodyPr>
          <a:lstStyle/>
          <a:p>
            <a:pPr algn="ctr"/>
            <a:r>
              <a:rPr sz="850" b="0" i="1">
                <a:solidFill>
                  <a:srgbClr val="64748B"/>
                </a:solidFill>
                <a:latin typeface="Calibri"/>
              </a:rPr>
              <a:t>Holmann, 2001</a:t>
            </a:r>
          </a:p>
        </p:txBody>
      </p:sp>
      <p:sp>
        <p:nvSpPr>
          <p:cNvPr id="37" name="Rectangle 36"/>
          <p:cNvSpPr/>
          <p:nvPr/>
        </p:nvSpPr>
        <p:spPr>
          <a:xfrm>
            <a:off x="320040" y="3355848"/>
            <a:ext cx="3611880" cy="1325880"/>
          </a:xfrm>
          <a:prstGeom prst="rect">
            <a:avLst/>
          </a:prstGeom>
          <a:solidFill>
            <a:srgbClr val="E6F4F6"/>
          </a:solidFill>
          <a:ln w="12700">
            <a:solidFill>
              <a:srgbClr val="E6F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11479" y="3429000"/>
            <a:ext cx="3429000" cy="662940"/>
          </a:xfrm>
          <a:prstGeom prst="rect">
            <a:avLst/>
          </a:prstGeom>
          <a:noFill/>
        </p:spPr>
        <p:txBody>
          <a:bodyPr wrap="square" anchor="ctr">
            <a:spAutoFit/>
          </a:bodyPr>
          <a:lstStyle/>
          <a:p>
            <a:pPr algn="ctr"/>
            <a:r>
              <a:rPr sz="2600" b="1" i="0">
                <a:solidFill>
                  <a:srgbClr val="1A7A8A"/>
                </a:solidFill>
                <a:latin typeface="Calibri"/>
              </a:rPr>
              <a:t>15 %</a:t>
            </a:r>
          </a:p>
        </p:txBody>
      </p:sp>
      <p:sp>
        <p:nvSpPr>
          <p:cNvPr id="39" name="TextBox 38"/>
          <p:cNvSpPr txBox="1"/>
          <p:nvPr/>
        </p:nvSpPr>
        <p:spPr>
          <a:xfrm>
            <a:off x="411479" y="4045305"/>
            <a:ext cx="3429000" cy="371246"/>
          </a:xfrm>
          <a:prstGeom prst="rect">
            <a:avLst/>
          </a:prstGeom>
          <a:noFill/>
        </p:spPr>
        <p:txBody>
          <a:bodyPr wrap="square" anchor="ctr">
            <a:spAutoFit/>
          </a:bodyPr>
          <a:lstStyle/>
          <a:p>
            <a:pPr algn="ctr"/>
            <a:r>
              <a:rPr sz="1050" b="0" i="0">
                <a:solidFill>
                  <a:srgbClr val="334155"/>
                </a:solidFill>
                <a:latin typeface="Calibri"/>
              </a:rPr>
              <a:t>Aporte de la cadena láctea al PIB agropecuario</a:t>
            </a:r>
          </a:p>
        </p:txBody>
      </p:sp>
      <p:sp>
        <p:nvSpPr>
          <p:cNvPr id="40" name="TextBox 39"/>
          <p:cNvSpPr txBox="1"/>
          <p:nvPr/>
        </p:nvSpPr>
        <p:spPr>
          <a:xfrm>
            <a:off x="411479" y="4363516"/>
            <a:ext cx="3429000" cy="265176"/>
          </a:xfrm>
          <a:prstGeom prst="rect">
            <a:avLst/>
          </a:prstGeom>
          <a:noFill/>
        </p:spPr>
        <p:txBody>
          <a:bodyPr wrap="square" anchor="ctr">
            <a:spAutoFit/>
          </a:bodyPr>
          <a:lstStyle/>
          <a:p>
            <a:pPr algn="ctr"/>
            <a:r>
              <a:rPr sz="850" b="0" i="1">
                <a:solidFill>
                  <a:srgbClr val="64748B"/>
                </a:solidFill>
                <a:latin typeface="Calibri"/>
              </a:rPr>
              <a:t>CNP+L Honduras, 2017</a:t>
            </a:r>
          </a:p>
        </p:txBody>
      </p:sp>
      <p:sp>
        <p:nvSpPr>
          <p:cNvPr id="41" name="Rectangle 40"/>
          <p:cNvSpPr/>
          <p:nvPr/>
        </p:nvSpPr>
        <p:spPr>
          <a:xfrm>
            <a:off x="4160520" y="3355848"/>
            <a:ext cx="3611880" cy="1325880"/>
          </a:xfrm>
          <a:prstGeom prst="rect">
            <a:avLst/>
          </a:prstGeom>
          <a:solidFill>
            <a:srgbClr val="E6F4F6"/>
          </a:solidFill>
          <a:ln w="12700">
            <a:solidFill>
              <a:srgbClr val="E6F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4251959" y="3429000"/>
            <a:ext cx="3429000" cy="662940"/>
          </a:xfrm>
          <a:prstGeom prst="rect">
            <a:avLst/>
          </a:prstGeom>
          <a:noFill/>
        </p:spPr>
        <p:txBody>
          <a:bodyPr wrap="square" anchor="ctr">
            <a:spAutoFit/>
          </a:bodyPr>
          <a:lstStyle/>
          <a:p>
            <a:pPr algn="ctr"/>
            <a:r>
              <a:rPr sz="2600" b="1" i="0">
                <a:solidFill>
                  <a:srgbClr val="1A7A8A"/>
                </a:solidFill>
                <a:latin typeface="Calibri"/>
              </a:rPr>
              <a:t>~600 M L</a:t>
            </a:r>
          </a:p>
        </p:txBody>
      </p:sp>
      <p:sp>
        <p:nvSpPr>
          <p:cNvPr id="43" name="TextBox 42"/>
          <p:cNvSpPr txBox="1"/>
          <p:nvPr/>
        </p:nvSpPr>
        <p:spPr>
          <a:xfrm>
            <a:off x="4251959" y="4045305"/>
            <a:ext cx="3429000" cy="371246"/>
          </a:xfrm>
          <a:prstGeom prst="rect">
            <a:avLst/>
          </a:prstGeom>
          <a:noFill/>
        </p:spPr>
        <p:txBody>
          <a:bodyPr wrap="square" anchor="ctr">
            <a:spAutoFit/>
          </a:bodyPr>
          <a:lstStyle/>
          <a:p>
            <a:pPr algn="ctr"/>
            <a:r>
              <a:rPr sz="1050" b="0" i="0">
                <a:solidFill>
                  <a:srgbClr val="334155"/>
                </a:solidFill>
                <a:latin typeface="Calibri"/>
              </a:rPr>
              <a:t>Producción nacional de leche por año</a:t>
            </a:r>
          </a:p>
        </p:txBody>
      </p:sp>
      <p:sp>
        <p:nvSpPr>
          <p:cNvPr id="44" name="TextBox 43"/>
          <p:cNvSpPr txBox="1"/>
          <p:nvPr/>
        </p:nvSpPr>
        <p:spPr>
          <a:xfrm>
            <a:off x="4251959" y="4363516"/>
            <a:ext cx="3429000" cy="265176"/>
          </a:xfrm>
          <a:prstGeom prst="rect">
            <a:avLst/>
          </a:prstGeom>
          <a:noFill/>
        </p:spPr>
        <p:txBody>
          <a:bodyPr wrap="square" anchor="ctr">
            <a:spAutoFit/>
          </a:bodyPr>
          <a:lstStyle/>
          <a:p>
            <a:pPr algn="ctr"/>
            <a:r>
              <a:rPr sz="850" b="0" i="1">
                <a:solidFill>
                  <a:srgbClr val="64748B"/>
                </a:solidFill>
                <a:latin typeface="Calibri"/>
              </a:rPr>
              <a:t>SAG, 2026</a:t>
            </a:r>
          </a:p>
        </p:txBody>
      </p:sp>
      <p:sp>
        <p:nvSpPr>
          <p:cNvPr id="45" name="Rectangle 44"/>
          <p:cNvSpPr/>
          <p:nvPr/>
        </p:nvSpPr>
        <p:spPr>
          <a:xfrm>
            <a:off x="8001000" y="3355848"/>
            <a:ext cx="3611880" cy="1325880"/>
          </a:xfrm>
          <a:prstGeom prst="rect">
            <a:avLst/>
          </a:prstGeom>
          <a:solidFill>
            <a:srgbClr val="E6F4F6"/>
          </a:solidFill>
          <a:ln w="12700">
            <a:solidFill>
              <a:srgbClr val="E6F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8092440" y="3429000"/>
            <a:ext cx="3429000" cy="662940"/>
          </a:xfrm>
          <a:prstGeom prst="rect">
            <a:avLst/>
          </a:prstGeom>
          <a:noFill/>
        </p:spPr>
        <p:txBody>
          <a:bodyPr wrap="square" anchor="ctr">
            <a:spAutoFit/>
          </a:bodyPr>
          <a:lstStyle/>
          <a:p>
            <a:pPr algn="ctr"/>
            <a:r>
              <a:rPr sz="2600" b="1" i="0">
                <a:solidFill>
                  <a:srgbClr val="1A7A8A"/>
                </a:solidFill>
                <a:latin typeface="Calibri"/>
              </a:rPr>
              <a:t>+2,000</a:t>
            </a:r>
          </a:p>
        </p:txBody>
      </p:sp>
      <p:sp>
        <p:nvSpPr>
          <p:cNvPr id="47" name="TextBox 46"/>
          <p:cNvSpPr txBox="1"/>
          <p:nvPr/>
        </p:nvSpPr>
        <p:spPr>
          <a:xfrm>
            <a:off x="8092440" y="4045305"/>
            <a:ext cx="3429000" cy="371246"/>
          </a:xfrm>
          <a:prstGeom prst="rect">
            <a:avLst/>
          </a:prstGeom>
          <a:noFill/>
        </p:spPr>
        <p:txBody>
          <a:bodyPr wrap="square" anchor="ctr">
            <a:spAutoFit/>
          </a:bodyPr>
          <a:lstStyle/>
          <a:p>
            <a:pPr algn="ctr"/>
            <a:r>
              <a:rPr sz="1050" b="0" i="0">
                <a:solidFill>
                  <a:srgbClr val="334155"/>
                </a:solidFill>
                <a:latin typeface="Calibri"/>
              </a:rPr>
              <a:t>Clientes potenciales tipo A, región central</a:t>
            </a:r>
          </a:p>
        </p:txBody>
      </p:sp>
      <p:sp>
        <p:nvSpPr>
          <p:cNvPr id="48" name="TextBox 47"/>
          <p:cNvSpPr txBox="1"/>
          <p:nvPr/>
        </p:nvSpPr>
        <p:spPr>
          <a:xfrm>
            <a:off x="8092440" y="4363516"/>
            <a:ext cx="3429000" cy="265176"/>
          </a:xfrm>
          <a:prstGeom prst="rect">
            <a:avLst/>
          </a:prstGeom>
          <a:noFill/>
        </p:spPr>
        <p:txBody>
          <a:bodyPr wrap="square" anchor="ctr">
            <a:spAutoFit/>
          </a:bodyPr>
          <a:lstStyle/>
          <a:p>
            <a:pPr algn="ctr"/>
            <a:r>
              <a:rPr sz="850" b="0" i="1">
                <a:solidFill>
                  <a:srgbClr val="64748B"/>
                </a:solidFill>
                <a:latin typeface="Calibri"/>
              </a:rPr>
              <a:t>Censos comerciales del equipo</a:t>
            </a:r>
          </a:p>
        </p:txBody>
      </p:sp>
      <p:sp>
        <p:nvSpPr>
          <p:cNvPr id="49" name="TextBox 48"/>
          <p:cNvSpPr txBox="1"/>
          <p:nvPr/>
        </p:nvSpPr>
        <p:spPr>
          <a:xfrm>
            <a:off x="320040" y="4983480"/>
            <a:ext cx="11521440" cy="274320"/>
          </a:xfrm>
          <a:prstGeom prst="rect">
            <a:avLst/>
          </a:prstGeom>
          <a:noFill/>
        </p:spPr>
        <p:txBody>
          <a:bodyPr wrap="square" anchor="ctr">
            <a:spAutoFit/>
          </a:bodyPr>
          <a:lstStyle/>
          <a:p>
            <a:pPr algn="l"/>
            <a:r>
              <a:rPr sz="850" b="0" i="1">
                <a:solidFill>
                  <a:srgbClr val="64748B"/>
                </a:solidFill>
                <a:latin typeface="Calibri"/>
              </a:rPr>
              <a:t>Fuentes: INE (2025); CNP+L Honduras (2017); Holmann (2001); SAG (2026).</a:t>
            </a:r>
          </a:p>
        </p:txBody>
      </p:sp>
    </p:spTree>
    <p:extLst>
      <p:ext uri="{BB962C8B-B14F-4D97-AF65-F5344CB8AC3E}">
        <p14:creationId xmlns:p14="http://schemas.microsoft.com/office/powerpoint/2010/main" val="35434422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320040" y="201168"/>
            <a:ext cx="1828800" cy="256032"/>
          </a:xfrm>
          <a:prstGeom prst="rect">
            <a:avLst/>
          </a:prstGeom>
          <a:noFill/>
          <a:ln/>
        </p:spPr>
        <p:txBody>
          <a:bodyPr wrap="square" rtlCol="0" anchor="ctr"/>
          <a:lstStyle/>
          <a:p>
            <a:pPr marL="0" indent="0" algn="l">
              <a:buNone/>
            </a:pPr>
            <a:r>
              <a:rPr lang="en-US" sz="900" b="1" kern="0" spc="100" dirty="0">
                <a:solidFill>
                  <a:srgbClr val="1A7A8A"/>
                </a:solidFill>
                <a:latin typeface="Calibri" pitchFamily="34" charset="0"/>
                <a:ea typeface="Calibri" pitchFamily="34" charset="-122"/>
                <a:cs typeface="Calibri" pitchFamily="34" charset="-120"/>
              </a:rPr>
              <a:t>CONTEXTO</a:t>
            </a:r>
            <a:endParaRPr lang="en-US" sz="900" dirty="0"/>
          </a:p>
        </p:txBody>
      </p:sp>
      <p:sp>
        <p:nvSpPr>
          <p:cNvPr id="3" name="Text 1"/>
          <p:cNvSpPr txBox="1"/>
          <p:nvPr/>
        </p:nvSpPr>
        <p:spPr>
          <a:xfrm>
            <a:off x="320040" y="475488"/>
            <a:ext cx="11521440" cy="502920"/>
          </a:xfrm>
          <a:prstGeom prst="rect">
            <a:avLst/>
          </a:prstGeom>
          <a:noFill/>
          <a:ln/>
        </p:spPr>
        <p:txBody>
          <a:bodyPr wrap="square" rtlCol="0" anchor="ctr"/>
          <a:lstStyle/>
          <a:p>
            <a:pPr marL="0" indent="0">
              <a:buNone/>
            </a:pPr>
            <a:r>
              <a:rPr lang="en-US" sz="2600" b="1" dirty="0">
                <a:solidFill>
                  <a:srgbClr val="0D2341"/>
                </a:solidFill>
                <a:latin typeface="Calibri" pitchFamily="34" charset="0"/>
                <a:ea typeface="Calibri" pitchFamily="34" charset="-122"/>
                <a:cs typeface="Calibri" pitchFamily="34" charset="-120"/>
              </a:rPr>
              <a:t>Indicadores Macroeconómicos de Honduras</a:t>
            </a:r>
            <a:endParaRPr lang="en-US" sz="2600" dirty="0"/>
          </a:p>
        </p:txBody>
      </p:sp>
      <p:sp>
        <p:nvSpPr>
          <p:cNvPr id="4" name="Shape 2"/>
          <p:cNvSpPr/>
          <p:nvPr/>
        </p:nvSpPr>
        <p:spPr>
          <a:xfrm>
            <a:off x="320040" y="1005840"/>
            <a:ext cx="11430000" cy="18288"/>
          </a:xfrm>
          <a:prstGeom prst="rect">
            <a:avLst/>
          </a:prstGeom>
          <a:solidFill>
            <a:srgbClr val="1A7A8A"/>
          </a:solidFill>
          <a:ln w="12700">
            <a:solidFill>
              <a:srgbClr val="1A7A8A"/>
            </a:solidFill>
            <a:prstDash val="solid"/>
          </a:ln>
        </p:spPr>
        <p:txBody>
          <a:bodyPr/>
          <a:lstStyle/>
          <a:p>
            <a:endParaRPr lang="es-CO"/>
          </a:p>
        </p:txBody>
      </p:sp>
      <p:sp>
        <p:nvSpPr>
          <p:cNvPr id="5" name="Shape 3"/>
          <p:cNvSpPr/>
          <p:nvPr/>
        </p:nvSpPr>
        <p:spPr>
          <a:xfrm>
            <a:off x="320040" y="1188720"/>
            <a:ext cx="3566160" cy="1280160"/>
          </a:xfrm>
          <a:prstGeom prst="rect">
            <a:avLst/>
          </a:prstGeom>
          <a:solidFill>
            <a:srgbClr val="E6F4F6"/>
          </a:solidFill>
          <a:ln w="12700">
            <a:solidFill>
              <a:srgbClr val="CBD5E1"/>
            </a:solidFill>
            <a:prstDash val="solid"/>
          </a:ln>
        </p:spPr>
        <p:txBody>
          <a:bodyPr/>
          <a:lstStyle/>
          <a:p>
            <a:endParaRPr lang="es-CO"/>
          </a:p>
        </p:txBody>
      </p:sp>
      <p:sp>
        <p:nvSpPr>
          <p:cNvPr id="6" name="Text 4"/>
          <p:cNvSpPr txBox="1"/>
          <p:nvPr/>
        </p:nvSpPr>
        <p:spPr>
          <a:xfrm>
            <a:off x="411480" y="1325880"/>
            <a:ext cx="3383280" cy="640080"/>
          </a:xfrm>
          <a:prstGeom prst="rect">
            <a:avLst/>
          </a:prstGeom>
          <a:noFill/>
          <a:ln/>
        </p:spPr>
        <p:txBody>
          <a:bodyPr wrap="square" rtlCol="0" anchor="ctr"/>
          <a:lstStyle/>
          <a:p>
            <a:pPr marL="0" indent="0" algn="ctr">
              <a:buNone/>
            </a:pPr>
            <a:r>
              <a:rPr lang="en-US" sz="2800" b="1" dirty="0">
                <a:solidFill>
                  <a:srgbClr val="1A7A8A"/>
                </a:solidFill>
                <a:latin typeface="Calibri" pitchFamily="34" charset="0"/>
                <a:ea typeface="Calibri" pitchFamily="34" charset="-122"/>
                <a:cs typeface="Calibri" pitchFamily="34" charset="-120"/>
              </a:rPr>
              <a:t>3.4 %</a:t>
            </a:r>
            <a:endParaRPr lang="en-US" sz="2800" dirty="0"/>
          </a:p>
        </p:txBody>
      </p:sp>
      <p:sp>
        <p:nvSpPr>
          <p:cNvPr id="7" name="Text 5"/>
          <p:cNvSpPr txBox="1"/>
          <p:nvPr/>
        </p:nvSpPr>
        <p:spPr>
          <a:xfrm>
            <a:off x="411480" y="1920240"/>
            <a:ext cx="3383280" cy="411480"/>
          </a:xfrm>
          <a:prstGeom prst="rect">
            <a:avLst/>
          </a:prstGeom>
          <a:noFill/>
          <a:ln/>
        </p:spPr>
        <p:txBody>
          <a:bodyPr wrap="square"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Crecimiento PIB 2026, proyección (Banco Mundial, 2026)</a:t>
            </a:r>
            <a:endParaRPr lang="en-US" sz="1100" dirty="0"/>
          </a:p>
        </p:txBody>
      </p:sp>
      <p:sp>
        <p:nvSpPr>
          <p:cNvPr id="8" name="Shape 6"/>
          <p:cNvSpPr/>
          <p:nvPr/>
        </p:nvSpPr>
        <p:spPr>
          <a:xfrm>
            <a:off x="4160520" y="1188720"/>
            <a:ext cx="3566160" cy="1280160"/>
          </a:xfrm>
          <a:prstGeom prst="rect">
            <a:avLst/>
          </a:prstGeom>
          <a:solidFill>
            <a:srgbClr val="F1F5F9"/>
          </a:solidFill>
          <a:ln w="12700">
            <a:solidFill>
              <a:srgbClr val="CBD5E1"/>
            </a:solidFill>
            <a:prstDash val="solid"/>
          </a:ln>
        </p:spPr>
        <p:txBody>
          <a:bodyPr/>
          <a:lstStyle/>
          <a:p>
            <a:endParaRPr lang="es-CO"/>
          </a:p>
        </p:txBody>
      </p:sp>
      <p:sp>
        <p:nvSpPr>
          <p:cNvPr id="9" name="Text 7"/>
          <p:cNvSpPr txBox="1"/>
          <p:nvPr/>
        </p:nvSpPr>
        <p:spPr>
          <a:xfrm>
            <a:off x="4251960" y="1325880"/>
            <a:ext cx="3383280" cy="640080"/>
          </a:xfrm>
          <a:prstGeom prst="rect">
            <a:avLst/>
          </a:prstGeom>
          <a:noFill/>
          <a:ln/>
        </p:spPr>
        <p:txBody>
          <a:bodyPr wrap="square" rtlCol="0" anchor="ctr"/>
          <a:lstStyle/>
          <a:p>
            <a:pPr marL="0" indent="0" algn="ctr">
              <a:buNone/>
            </a:pPr>
            <a:r>
              <a:rPr lang="en-US" sz="2800" b="1" dirty="0">
                <a:solidFill>
                  <a:srgbClr val="1B3A5C"/>
                </a:solidFill>
                <a:latin typeface="Calibri" pitchFamily="34" charset="0"/>
                <a:ea typeface="Calibri" pitchFamily="34" charset="-122"/>
                <a:cs typeface="Calibri" pitchFamily="34" charset="-120"/>
              </a:rPr>
              <a:t>4.9 %</a:t>
            </a:r>
            <a:endParaRPr lang="en-US" sz="2800" dirty="0"/>
          </a:p>
        </p:txBody>
      </p:sp>
      <p:sp>
        <p:nvSpPr>
          <p:cNvPr id="10" name="Text 8"/>
          <p:cNvSpPr txBox="1"/>
          <p:nvPr/>
        </p:nvSpPr>
        <p:spPr>
          <a:xfrm>
            <a:off x="4251960" y="1920240"/>
            <a:ext cx="3383280" cy="411480"/>
          </a:xfrm>
          <a:prstGeom prst="rect">
            <a:avLst/>
          </a:prstGeom>
          <a:noFill/>
          <a:ln/>
        </p:spPr>
        <p:txBody>
          <a:bodyPr wrap="square"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Desempleo abierto 2025 (INE, 2025)</a:t>
            </a:r>
            <a:endParaRPr lang="en-US" sz="1100" dirty="0"/>
          </a:p>
        </p:txBody>
      </p:sp>
      <p:sp>
        <p:nvSpPr>
          <p:cNvPr id="11" name="Shape 9"/>
          <p:cNvSpPr/>
          <p:nvPr/>
        </p:nvSpPr>
        <p:spPr>
          <a:xfrm>
            <a:off x="8001000" y="1188720"/>
            <a:ext cx="3566160" cy="1280160"/>
          </a:xfrm>
          <a:prstGeom prst="rect">
            <a:avLst/>
          </a:prstGeom>
          <a:solidFill>
            <a:srgbClr val="F1F5F9"/>
          </a:solidFill>
          <a:ln w="12700">
            <a:solidFill>
              <a:srgbClr val="CBD5E1"/>
            </a:solidFill>
            <a:prstDash val="solid"/>
          </a:ln>
        </p:spPr>
        <p:txBody>
          <a:bodyPr/>
          <a:lstStyle/>
          <a:p>
            <a:endParaRPr lang="es-CO"/>
          </a:p>
        </p:txBody>
      </p:sp>
      <p:sp>
        <p:nvSpPr>
          <p:cNvPr id="12" name="Text 10"/>
          <p:cNvSpPr txBox="1"/>
          <p:nvPr/>
        </p:nvSpPr>
        <p:spPr>
          <a:xfrm>
            <a:off x="8092440" y="1325880"/>
            <a:ext cx="3383280" cy="640080"/>
          </a:xfrm>
          <a:prstGeom prst="rect">
            <a:avLst/>
          </a:prstGeom>
          <a:noFill/>
          <a:ln/>
        </p:spPr>
        <p:txBody>
          <a:bodyPr wrap="square" rtlCol="0" anchor="ctr"/>
          <a:lstStyle/>
          <a:p>
            <a:pPr marL="0" indent="0" algn="ctr">
              <a:buNone/>
            </a:pPr>
            <a:r>
              <a:rPr lang="en-US" sz="2800" b="1" dirty="0">
                <a:solidFill>
                  <a:srgbClr val="1A7A8A"/>
                </a:solidFill>
                <a:latin typeface="Calibri" pitchFamily="34" charset="0"/>
                <a:ea typeface="Calibri" pitchFamily="34" charset="-122"/>
                <a:cs typeface="Calibri" pitchFamily="34" charset="-120"/>
              </a:rPr>
              <a:t>4.98 %</a:t>
            </a:r>
            <a:endParaRPr lang="en-US" sz="2800" dirty="0"/>
          </a:p>
        </p:txBody>
      </p:sp>
      <p:sp>
        <p:nvSpPr>
          <p:cNvPr id="13" name="Text 11"/>
          <p:cNvSpPr txBox="1"/>
          <p:nvPr/>
        </p:nvSpPr>
        <p:spPr>
          <a:xfrm>
            <a:off x="8092440" y="1920240"/>
            <a:ext cx="3383280" cy="411480"/>
          </a:xfrm>
          <a:prstGeom prst="rect">
            <a:avLst/>
          </a:prstGeom>
          <a:noFill/>
          <a:ln/>
        </p:spPr>
        <p:txBody>
          <a:bodyPr wrap="square"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Inflación interanual 2025 (BCH, 2026)</a:t>
            </a:r>
            <a:endParaRPr lang="en-US" sz="1100" dirty="0"/>
          </a:p>
        </p:txBody>
      </p:sp>
      <p:sp>
        <p:nvSpPr>
          <p:cNvPr id="14" name="Shape 12"/>
          <p:cNvSpPr/>
          <p:nvPr/>
        </p:nvSpPr>
        <p:spPr>
          <a:xfrm>
            <a:off x="320040" y="2633472"/>
            <a:ext cx="3566160" cy="1280160"/>
          </a:xfrm>
          <a:prstGeom prst="rect">
            <a:avLst/>
          </a:prstGeom>
          <a:solidFill>
            <a:srgbClr val="F1F5F9"/>
          </a:solidFill>
          <a:ln w="12700">
            <a:solidFill>
              <a:srgbClr val="CBD5E1"/>
            </a:solidFill>
            <a:prstDash val="solid"/>
          </a:ln>
        </p:spPr>
        <p:txBody>
          <a:bodyPr/>
          <a:lstStyle/>
          <a:p>
            <a:endParaRPr lang="es-CO"/>
          </a:p>
        </p:txBody>
      </p:sp>
      <p:sp>
        <p:nvSpPr>
          <p:cNvPr id="15" name="Text 13"/>
          <p:cNvSpPr txBox="1"/>
          <p:nvPr/>
        </p:nvSpPr>
        <p:spPr>
          <a:xfrm>
            <a:off x="411480" y="2770632"/>
            <a:ext cx="3383280" cy="640080"/>
          </a:xfrm>
          <a:prstGeom prst="rect">
            <a:avLst/>
          </a:prstGeom>
          <a:noFill/>
          <a:ln/>
        </p:spPr>
        <p:txBody>
          <a:bodyPr wrap="square" rtlCol="0" anchor="ctr"/>
          <a:lstStyle/>
          <a:p>
            <a:pPr marL="0" indent="0" algn="ctr">
              <a:buNone/>
            </a:pPr>
            <a:r>
              <a:rPr lang="en-US" sz="2800" b="1" dirty="0">
                <a:solidFill>
                  <a:srgbClr val="1B3A5C"/>
                </a:solidFill>
                <a:latin typeface="Calibri" pitchFamily="34" charset="0"/>
                <a:ea typeface="Calibri" pitchFamily="34" charset="-122"/>
                <a:cs typeface="Calibri" pitchFamily="34" charset="-120"/>
              </a:rPr>
              <a:t>74.8 %</a:t>
            </a:r>
            <a:endParaRPr lang="en-US" sz="2800" dirty="0"/>
          </a:p>
        </p:txBody>
      </p:sp>
      <p:sp>
        <p:nvSpPr>
          <p:cNvPr id="16" name="Text 14"/>
          <p:cNvSpPr txBox="1"/>
          <p:nvPr/>
        </p:nvSpPr>
        <p:spPr>
          <a:xfrm>
            <a:off x="411480" y="3364992"/>
            <a:ext cx="3383280" cy="411480"/>
          </a:xfrm>
          <a:prstGeom prst="rect">
            <a:avLst/>
          </a:prstGeom>
          <a:noFill/>
          <a:ln/>
        </p:spPr>
        <p:txBody>
          <a:bodyPr wrap="square"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Informalidad laboral 2024 (INE, 2025)</a:t>
            </a:r>
            <a:endParaRPr lang="en-US" sz="1100" dirty="0"/>
          </a:p>
        </p:txBody>
      </p:sp>
      <p:sp>
        <p:nvSpPr>
          <p:cNvPr id="17" name="Shape 15"/>
          <p:cNvSpPr/>
          <p:nvPr/>
        </p:nvSpPr>
        <p:spPr>
          <a:xfrm>
            <a:off x="4160520" y="2633472"/>
            <a:ext cx="3566160" cy="1280160"/>
          </a:xfrm>
          <a:prstGeom prst="rect">
            <a:avLst/>
          </a:prstGeom>
          <a:solidFill>
            <a:srgbClr val="E6F4F6"/>
          </a:solidFill>
          <a:ln w="12700">
            <a:solidFill>
              <a:srgbClr val="CBD5E1"/>
            </a:solidFill>
            <a:prstDash val="solid"/>
          </a:ln>
        </p:spPr>
        <p:txBody>
          <a:bodyPr/>
          <a:lstStyle/>
          <a:p>
            <a:endParaRPr lang="es-CO"/>
          </a:p>
        </p:txBody>
      </p:sp>
      <p:sp>
        <p:nvSpPr>
          <p:cNvPr id="18" name="Text 16"/>
          <p:cNvSpPr txBox="1"/>
          <p:nvPr/>
        </p:nvSpPr>
        <p:spPr>
          <a:xfrm>
            <a:off x="4251960" y="2770632"/>
            <a:ext cx="3383280" cy="640080"/>
          </a:xfrm>
          <a:prstGeom prst="rect">
            <a:avLst/>
          </a:prstGeom>
          <a:noFill/>
          <a:ln/>
        </p:spPr>
        <p:txBody>
          <a:bodyPr wrap="square" rtlCol="0" anchor="ctr"/>
          <a:lstStyle/>
          <a:p>
            <a:pPr marL="0" indent="0" algn="ctr">
              <a:buNone/>
            </a:pPr>
            <a:r>
              <a:rPr lang="en-US" sz="2800" b="1" dirty="0">
                <a:solidFill>
                  <a:srgbClr val="1A7A8A"/>
                </a:solidFill>
                <a:latin typeface="Calibri" pitchFamily="34" charset="0"/>
                <a:ea typeface="Calibri" pitchFamily="34" charset="-122"/>
                <a:cs typeface="Calibri" pitchFamily="34" charset="-120"/>
              </a:rPr>
              <a:t>US$12,212 M</a:t>
            </a:r>
            <a:endParaRPr lang="en-US" sz="2800" dirty="0"/>
          </a:p>
        </p:txBody>
      </p:sp>
      <p:sp>
        <p:nvSpPr>
          <p:cNvPr id="19" name="Text 17"/>
          <p:cNvSpPr txBox="1"/>
          <p:nvPr/>
        </p:nvSpPr>
        <p:spPr>
          <a:xfrm>
            <a:off x="4251960" y="3364992"/>
            <a:ext cx="3383280" cy="411480"/>
          </a:xfrm>
          <a:prstGeom prst="rect">
            <a:avLst/>
          </a:prstGeom>
          <a:noFill/>
          <a:ln/>
        </p:spPr>
        <p:txBody>
          <a:bodyPr wrap="square"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Remesas 2025, ≈29 % del PIB (BCH en La Tribuna, 2026; UNAH, 2026)</a:t>
            </a:r>
            <a:endParaRPr lang="en-US" sz="1100" dirty="0"/>
          </a:p>
        </p:txBody>
      </p:sp>
      <p:sp>
        <p:nvSpPr>
          <p:cNvPr id="20" name="Shape 18"/>
          <p:cNvSpPr/>
          <p:nvPr/>
        </p:nvSpPr>
        <p:spPr>
          <a:xfrm>
            <a:off x="8001000" y="2633472"/>
            <a:ext cx="3566160" cy="1280160"/>
          </a:xfrm>
          <a:prstGeom prst="rect">
            <a:avLst/>
          </a:prstGeom>
          <a:solidFill>
            <a:srgbClr val="F1F5F9"/>
          </a:solidFill>
          <a:ln w="12700">
            <a:solidFill>
              <a:srgbClr val="CBD5E1"/>
            </a:solidFill>
            <a:prstDash val="solid"/>
          </a:ln>
        </p:spPr>
        <p:txBody>
          <a:bodyPr/>
          <a:lstStyle/>
          <a:p>
            <a:endParaRPr lang="es-CO"/>
          </a:p>
        </p:txBody>
      </p:sp>
      <p:sp>
        <p:nvSpPr>
          <p:cNvPr id="21" name="Text 19"/>
          <p:cNvSpPr txBox="1"/>
          <p:nvPr/>
        </p:nvSpPr>
        <p:spPr>
          <a:xfrm>
            <a:off x="8092440" y="2770632"/>
            <a:ext cx="3383280" cy="640080"/>
          </a:xfrm>
          <a:prstGeom prst="rect">
            <a:avLst/>
          </a:prstGeom>
          <a:noFill/>
          <a:ln/>
        </p:spPr>
        <p:txBody>
          <a:bodyPr wrap="square" rtlCol="0" anchor="ctr"/>
          <a:lstStyle/>
          <a:p>
            <a:pPr marL="0" indent="0" algn="ctr">
              <a:buNone/>
            </a:pPr>
            <a:r>
              <a:rPr lang="en-US" sz="2800" b="1" dirty="0">
                <a:solidFill>
                  <a:srgbClr val="1B3A5C"/>
                </a:solidFill>
                <a:latin typeface="Calibri" pitchFamily="34" charset="0"/>
                <a:ea typeface="Calibri" pitchFamily="34" charset="-122"/>
                <a:cs typeface="Calibri" pitchFamily="34" charset="-120"/>
              </a:rPr>
              <a:t>26.5 %</a:t>
            </a:r>
            <a:endParaRPr lang="en-US" sz="2800" dirty="0"/>
          </a:p>
        </p:txBody>
      </p:sp>
      <p:sp>
        <p:nvSpPr>
          <p:cNvPr id="22" name="Text 20"/>
          <p:cNvSpPr txBox="1"/>
          <p:nvPr/>
        </p:nvSpPr>
        <p:spPr>
          <a:xfrm>
            <a:off x="8092440" y="3364992"/>
            <a:ext cx="3383280" cy="411480"/>
          </a:xfrm>
          <a:prstGeom prst="rect">
            <a:avLst/>
          </a:prstGeom>
          <a:noFill/>
          <a:ln/>
        </p:spPr>
        <p:txBody>
          <a:bodyPr wrap="square"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Gasto del hogar en alimentos (BCH, ENIGH 2023-2024)</a:t>
            </a:r>
            <a:endParaRPr lang="en-US" sz="1100" dirty="0"/>
          </a:p>
        </p:txBody>
      </p:sp>
      <p:sp>
        <p:nvSpPr>
          <p:cNvPr id="23" name="Shape 21"/>
          <p:cNvSpPr/>
          <p:nvPr/>
        </p:nvSpPr>
        <p:spPr>
          <a:xfrm>
            <a:off x="320040" y="4114800"/>
            <a:ext cx="11430000" cy="822960"/>
          </a:xfrm>
          <a:prstGeom prst="rect">
            <a:avLst/>
          </a:prstGeom>
          <a:solidFill>
            <a:srgbClr val="E6F4F6"/>
          </a:solidFill>
          <a:ln w="12700">
            <a:solidFill>
              <a:srgbClr val="1A7A8A"/>
            </a:solidFill>
            <a:prstDash val="solid"/>
          </a:ln>
        </p:spPr>
        <p:txBody>
          <a:bodyPr/>
          <a:lstStyle/>
          <a:p>
            <a:endParaRPr lang="es-CO"/>
          </a:p>
        </p:txBody>
      </p:sp>
      <p:sp>
        <p:nvSpPr>
          <p:cNvPr id="24" name="Text 22"/>
          <p:cNvSpPr txBox="1"/>
          <p:nvPr/>
        </p:nvSpPr>
        <p:spPr>
          <a:xfrm>
            <a:off x="502920" y="4187952"/>
            <a:ext cx="11064240" cy="676656"/>
          </a:xfrm>
          <a:prstGeom prst="rect">
            <a:avLst/>
          </a:prstGeom>
          <a:noFill/>
          <a:ln/>
        </p:spPr>
        <p:txBody>
          <a:bodyPr wrap="square" rtlCol="0" anchor="ctr"/>
          <a:lstStyle/>
          <a:p>
            <a:pPr marL="0" indent="0">
              <a:buNone/>
            </a:pPr>
            <a:r>
              <a:rPr lang="en-US" sz="1200" dirty="0">
                <a:solidFill>
                  <a:srgbClr val="1B3A5C"/>
                </a:solidFill>
                <a:latin typeface="Calibri" pitchFamily="34" charset="0"/>
                <a:ea typeface="Calibri" pitchFamily="34" charset="-122"/>
                <a:cs typeface="Calibri" pitchFamily="34" charset="-120"/>
              </a:rPr>
              <a:t>Contexto: PIB y remesas sostienen un segmento urbano con capacidad de pago; por la informalidad (74.8 %), el nicho es HoReCa y consumidor formal. El modelo usa inflación de 4.5 % (meta BCH: 4 % ± 1).</a:t>
            </a:r>
            <a:endParaRPr lang="en-US" sz="1200" dirty="0"/>
          </a:p>
        </p:txBody>
      </p:sp>
      <p:sp>
        <p:nvSpPr>
          <p:cNvPr id="25" name="Text 23"/>
          <p:cNvSpPr txBox="1"/>
          <p:nvPr/>
        </p:nvSpPr>
        <p:spPr>
          <a:xfrm>
            <a:off x="320040" y="6583680"/>
            <a:ext cx="11521440" cy="201168"/>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Maestría en Agronegocios · Universidad EAFIT · Zamorano · 2026   |   Caballero · Valladares · Medal</a:t>
            </a:r>
            <a:endParaRPr lang="en-US" sz="800" dirty="0"/>
          </a:p>
        </p:txBody>
      </p:sp>
      <p:sp>
        <p:nvSpPr>
          <p:cNvPr id="26" name="TextBox 25"/>
          <p:cNvSpPr txBox="1"/>
          <p:nvPr/>
        </p:nvSpPr>
        <p:spPr>
          <a:xfrm>
            <a:off x="320040" y="5074920"/>
            <a:ext cx="11521440" cy="274320"/>
          </a:xfrm>
          <a:prstGeom prst="rect">
            <a:avLst/>
          </a:prstGeom>
          <a:noFill/>
        </p:spPr>
        <p:txBody>
          <a:bodyPr wrap="square" anchor="ctr">
            <a:spAutoFit/>
          </a:bodyPr>
          <a:lstStyle/>
          <a:p>
            <a:pPr algn="l"/>
            <a:r>
              <a:rPr sz="850" b="0" i="1">
                <a:solidFill>
                  <a:srgbClr val="64748B"/>
                </a:solidFill>
                <a:latin typeface="Calibri"/>
              </a:rPr>
              <a:t>Fuentes: Banco Mundial (2026); INE (2025); BCH (2024, 2026); La Tribuna (2026); UNAH (2026).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320040" y="201168"/>
            <a:ext cx="1828800" cy="256032"/>
          </a:xfrm>
          <a:prstGeom prst="rect">
            <a:avLst/>
          </a:prstGeom>
          <a:noFill/>
          <a:ln/>
        </p:spPr>
        <p:txBody>
          <a:bodyPr wrap="square" rtlCol="0" anchor="ctr"/>
          <a:lstStyle/>
          <a:p>
            <a:pPr marL="0" indent="0" algn="l">
              <a:buNone/>
            </a:pPr>
            <a:r>
              <a:rPr lang="en-US" sz="900" b="1" kern="0" spc="100" dirty="0">
                <a:solidFill>
                  <a:srgbClr val="1A7A8A"/>
                </a:solidFill>
                <a:latin typeface="Calibri" pitchFamily="34" charset="0"/>
                <a:ea typeface="Calibri" pitchFamily="34" charset="-122"/>
                <a:cs typeface="Calibri" pitchFamily="34" charset="-120"/>
              </a:rPr>
              <a:t>OBJETIVOS</a:t>
            </a:r>
            <a:endParaRPr lang="en-US" sz="900" dirty="0"/>
          </a:p>
        </p:txBody>
      </p:sp>
      <p:sp>
        <p:nvSpPr>
          <p:cNvPr id="3" name="Text 1"/>
          <p:cNvSpPr txBox="1"/>
          <p:nvPr/>
        </p:nvSpPr>
        <p:spPr>
          <a:xfrm>
            <a:off x="320040" y="475488"/>
            <a:ext cx="11521440" cy="502920"/>
          </a:xfrm>
          <a:prstGeom prst="rect">
            <a:avLst/>
          </a:prstGeom>
          <a:noFill/>
          <a:ln/>
        </p:spPr>
        <p:txBody>
          <a:bodyPr wrap="square" rtlCol="0" anchor="ctr"/>
          <a:lstStyle/>
          <a:p>
            <a:pPr marL="0" indent="0">
              <a:buNone/>
            </a:pPr>
            <a:r>
              <a:rPr lang="en-US" sz="2800" b="1" dirty="0">
                <a:solidFill>
                  <a:srgbClr val="0D2341"/>
                </a:solidFill>
                <a:latin typeface="Calibri" pitchFamily="34" charset="0"/>
                <a:ea typeface="Calibri" pitchFamily="34" charset="-122"/>
                <a:cs typeface="Calibri" pitchFamily="34" charset="-120"/>
              </a:rPr>
              <a:t>Objetivos del Estudio</a:t>
            </a:r>
            <a:endParaRPr lang="en-US" sz="2800" dirty="0"/>
          </a:p>
        </p:txBody>
      </p:sp>
      <p:sp>
        <p:nvSpPr>
          <p:cNvPr id="4" name="Shape 2"/>
          <p:cNvSpPr/>
          <p:nvPr/>
        </p:nvSpPr>
        <p:spPr>
          <a:xfrm>
            <a:off x="320040" y="1005840"/>
            <a:ext cx="11430000" cy="18288"/>
          </a:xfrm>
          <a:prstGeom prst="rect">
            <a:avLst/>
          </a:prstGeom>
          <a:solidFill>
            <a:srgbClr val="1A7A8A"/>
          </a:solidFill>
          <a:ln w="12700">
            <a:solidFill>
              <a:srgbClr val="1A7A8A"/>
            </a:solidFill>
            <a:prstDash val="solid"/>
          </a:ln>
        </p:spPr>
        <p:txBody>
          <a:bodyPr/>
          <a:lstStyle/>
          <a:p>
            <a:endParaRPr lang="es-CO"/>
          </a:p>
        </p:txBody>
      </p:sp>
      <p:sp>
        <p:nvSpPr>
          <p:cNvPr id="5" name="Shape 3"/>
          <p:cNvSpPr/>
          <p:nvPr/>
        </p:nvSpPr>
        <p:spPr>
          <a:xfrm>
            <a:off x="320040" y="1097280"/>
            <a:ext cx="11430000" cy="777240"/>
          </a:xfrm>
          <a:prstGeom prst="rect">
            <a:avLst/>
          </a:prstGeom>
          <a:solidFill>
            <a:srgbClr val="1B3A5C"/>
          </a:solidFill>
          <a:ln w="12700">
            <a:solidFill>
              <a:srgbClr val="1B3A5C"/>
            </a:solidFill>
            <a:prstDash val="solid"/>
          </a:ln>
        </p:spPr>
        <p:txBody>
          <a:bodyPr/>
          <a:lstStyle/>
          <a:p>
            <a:endParaRPr lang="es-CO"/>
          </a:p>
        </p:txBody>
      </p:sp>
      <p:sp>
        <p:nvSpPr>
          <p:cNvPr id="6" name="Text 4"/>
          <p:cNvSpPr txBox="1"/>
          <p:nvPr/>
        </p:nvSpPr>
        <p:spPr>
          <a:xfrm>
            <a:off x="502920" y="1152144"/>
            <a:ext cx="2743200" cy="256032"/>
          </a:xfrm>
          <a:prstGeom prst="rect">
            <a:avLst/>
          </a:prstGeom>
          <a:noFill/>
          <a:ln/>
        </p:spPr>
        <p:txBody>
          <a:bodyPr wrap="square" rtlCol="0" anchor="ctr"/>
          <a:lstStyle/>
          <a:p>
            <a:pPr marL="0" indent="0">
              <a:buNone/>
            </a:pPr>
            <a:r>
              <a:rPr lang="en-US" sz="900" b="1" kern="0" spc="100" dirty="0">
                <a:solidFill>
                  <a:srgbClr val="1A7A8A"/>
                </a:solidFill>
                <a:latin typeface="Calibri" pitchFamily="34" charset="0"/>
                <a:ea typeface="Calibri" pitchFamily="34" charset="-122"/>
                <a:cs typeface="Calibri" pitchFamily="34" charset="-120"/>
              </a:rPr>
              <a:t>OBJETIVO GENERAL</a:t>
            </a:r>
            <a:endParaRPr lang="en-US" sz="900" dirty="0"/>
          </a:p>
        </p:txBody>
      </p:sp>
      <p:sp>
        <p:nvSpPr>
          <p:cNvPr id="7" name="Text 5"/>
          <p:cNvSpPr txBox="1"/>
          <p:nvPr/>
        </p:nvSpPr>
        <p:spPr>
          <a:xfrm>
            <a:off x="502920" y="1389888"/>
            <a:ext cx="11064240" cy="402336"/>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Evaluar la prefactibilidad de crear una nueva marca de leche fresca o fluida en Honduras, para capturar un mercado nicho actualmente no atendido por ninguna empresa en el país.</a:t>
            </a:r>
            <a:endParaRPr lang="en-US" sz="1200" dirty="0"/>
          </a:p>
        </p:txBody>
      </p:sp>
      <p:sp>
        <p:nvSpPr>
          <p:cNvPr id="8" name="Shape 6"/>
          <p:cNvSpPr/>
          <p:nvPr/>
        </p:nvSpPr>
        <p:spPr>
          <a:xfrm>
            <a:off x="320040" y="2084832"/>
            <a:ext cx="347472" cy="402336"/>
          </a:xfrm>
          <a:prstGeom prst="rect">
            <a:avLst/>
          </a:prstGeom>
          <a:solidFill>
            <a:srgbClr val="1A7A8A"/>
          </a:solidFill>
          <a:ln w="12700">
            <a:solidFill>
              <a:srgbClr val="1A7A8A"/>
            </a:solidFill>
            <a:prstDash val="solid"/>
          </a:ln>
        </p:spPr>
        <p:txBody>
          <a:bodyPr/>
          <a:lstStyle/>
          <a:p>
            <a:endParaRPr lang="es-CO"/>
          </a:p>
        </p:txBody>
      </p:sp>
      <p:sp>
        <p:nvSpPr>
          <p:cNvPr id="9" name="Text 7"/>
          <p:cNvSpPr txBox="1"/>
          <p:nvPr/>
        </p:nvSpPr>
        <p:spPr>
          <a:xfrm>
            <a:off x="320040" y="2084832"/>
            <a:ext cx="347472" cy="40233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Shape 8"/>
          <p:cNvSpPr/>
          <p:nvPr/>
        </p:nvSpPr>
        <p:spPr>
          <a:xfrm>
            <a:off x="731520" y="2011680"/>
            <a:ext cx="5074920" cy="548640"/>
          </a:xfrm>
          <a:prstGeom prst="rect">
            <a:avLst/>
          </a:prstGeom>
          <a:solidFill>
            <a:srgbClr val="F1F5F9"/>
          </a:solidFill>
          <a:ln w="12700">
            <a:solidFill>
              <a:srgbClr val="CBD5E1"/>
            </a:solidFill>
            <a:prstDash val="solid"/>
          </a:ln>
        </p:spPr>
        <p:txBody>
          <a:bodyPr/>
          <a:lstStyle/>
          <a:p>
            <a:endParaRPr lang="es-CO"/>
          </a:p>
        </p:txBody>
      </p:sp>
      <p:sp>
        <p:nvSpPr>
          <p:cNvPr id="11" name="Text 9"/>
          <p:cNvSpPr txBox="1"/>
          <p:nvPr/>
        </p:nvSpPr>
        <p:spPr>
          <a:xfrm>
            <a:off x="822960" y="2048256"/>
            <a:ext cx="4937760" cy="219456"/>
          </a:xfrm>
          <a:prstGeom prst="rect">
            <a:avLst/>
          </a:prstGeom>
          <a:noFill/>
          <a:ln/>
        </p:spPr>
        <p:txBody>
          <a:bodyPr wrap="square" rtlCol="0" anchor="ctr"/>
          <a:lstStyle/>
          <a:p>
            <a:pPr marL="0" indent="0">
              <a:buNone/>
            </a:pPr>
            <a:r>
              <a:rPr lang="en-US" sz="1200" b="1" dirty="0">
                <a:solidFill>
                  <a:srgbClr val="1B3A5C"/>
                </a:solidFill>
                <a:latin typeface="Calibri" pitchFamily="34" charset="0"/>
                <a:ea typeface="Calibri" pitchFamily="34" charset="-122"/>
                <a:cs typeface="Calibri" pitchFamily="34" charset="-120"/>
              </a:rPr>
              <a:t>Estudio Sectorial</a:t>
            </a:r>
            <a:endParaRPr lang="en-US" sz="1200" dirty="0"/>
          </a:p>
        </p:txBody>
      </p:sp>
      <p:sp>
        <p:nvSpPr>
          <p:cNvPr id="12" name="Text 10"/>
          <p:cNvSpPr txBox="1"/>
          <p:nvPr/>
        </p:nvSpPr>
        <p:spPr>
          <a:xfrm>
            <a:off x="822960" y="2258568"/>
            <a:ext cx="4937760" cy="237744"/>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PESTEL + 5 Fuerzas de Porter: condiciones macro y micro del sector lácteo.</a:t>
            </a:r>
            <a:endParaRPr lang="en-US" sz="1100" dirty="0"/>
          </a:p>
        </p:txBody>
      </p:sp>
      <p:sp>
        <p:nvSpPr>
          <p:cNvPr id="13" name="Shape 11"/>
          <p:cNvSpPr/>
          <p:nvPr/>
        </p:nvSpPr>
        <p:spPr>
          <a:xfrm>
            <a:off x="320040" y="2724912"/>
            <a:ext cx="347472" cy="402336"/>
          </a:xfrm>
          <a:prstGeom prst="rect">
            <a:avLst/>
          </a:prstGeom>
          <a:solidFill>
            <a:srgbClr val="1A7A8A"/>
          </a:solidFill>
          <a:ln w="12700">
            <a:solidFill>
              <a:srgbClr val="1A7A8A"/>
            </a:solidFill>
            <a:prstDash val="solid"/>
          </a:ln>
        </p:spPr>
        <p:txBody>
          <a:bodyPr/>
          <a:lstStyle/>
          <a:p>
            <a:endParaRPr lang="es-CO"/>
          </a:p>
        </p:txBody>
      </p:sp>
      <p:sp>
        <p:nvSpPr>
          <p:cNvPr id="14" name="Text 12"/>
          <p:cNvSpPr txBox="1"/>
          <p:nvPr/>
        </p:nvSpPr>
        <p:spPr>
          <a:xfrm>
            <a:off x="320040" y="2724912"/>
            <a:ext cx="347472" cy="40233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Shape 13"/>
          <p:cNvSpPr/>
          <p:nvPr/>
        </p:nvSpPr>
        <p:spPr>
          <a:xfrm>
            <a:off x="731520" y="2651760"/>
            <a:ext cx="5074920" cy="548640"/>
          </a:xfrm>
          <a:prstGeom prst="rect">
            <a:avLst/>
          </a:prstGeom>
          <a:solidFill>
            <a:srgbClr val="F1F5F9"/>
          </a:solidFill>
          <a:ln w="12700">
            <a:solidFill>
              <a:srgbClr val="CBD5E1"/>
            </a:solidFill>
            <a:prstDash val="solid"/>
          </a:ln>
        </p:spPr>
        <p:txBody>
          <a:bodyPr/>
          <a:lstStyle/>
          <a:p>
            <a:endParaRPr lang="es-CO"/>
          </a:p>
        </p:txBody>
      </p:sp>
      <p:sp>
        <p:nvSpPr>
          <p:cNvPr id="16" name="Text 14"/>
          <p:cNvSpPr txBox="1"/>
          <p:nvPr/>
        </p:nvSpPr>
        <p:spPr>
          <a:xfrm>
            <a:off x="822960" y="2688336"/>
            <a:ext cx="4937760" cy="219456"/>
          </a:xfrm>
          <a:prstGeom prst="rect">
            <a:avLst/>
          </a:prstGeom>
          <a:noFill/>
          <a:ln/>
        </p:spPr>
        <p:txBody>
          <a:bodyPr wrap="square" rtlCol="0" anchor="ctr"/>
          <a:lstStyle/>
          <a:p>
            <a:pPr marL="0" indent="0">
              <a:buNone/>
            </a:pPr>
            <a:r>
              <a:rPr lang="en-US" sz="1200" b="1" dirty="0">
                <a:solidFill>
                  <a:srgbClr val="1B3A5C"/>
                </a:solidFill>
                <a:latin typeface="Calibri" pitchFamily="34" charset="0"/>
                <a:ea typeface="Calibri" pitchFamily="34" charset="-122"/>
                <a:cs typeface="Calibri" pitchFamily="34" charset="-120"/>
              </a:rPr>
              <a:t>Estudio Administrativo</a:t>
            </a:r>
            <a:endParaRPr lang="en-US" sz="1200" dirty="0"/>
          </a:p>
        </p:txBody>
      </p:sp>
      <p:sp>
        <p:nvSpPr>
          <p:cNvPr id="17" name="Text 15"/>
          <p:cNvSpPr txBox="1"/>
          <p:nvPr/>
        </p:nvSpPr>
        <p:spPr>
          <a:xfrm>
            <a:off x="822960" y="2898648"/>
            <a:ext cx="4937760" cy="237744"/>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Estructura organizacional y procesos de gestión eficientes y escalables.</a:t>
            </a:r>
            <a:endParaRPr lang="en-US" sz="1100" dirty="0"/>
          </a:p>
        </p:txBody>
      </p:sp>
      <p:sp>
        <p:nvSpPr>
          <p:cNvPr id="18" name="Shape 16"/>
          <p:cNvSpPr/>
          <p:nvPr/>
        </p:nvSpPr>
        <p:spPr>
          <a:xfrm>
            <a:off x="320040" y="3364992"/>
            <a:ext cx="347472" cy="402336"/>
          </a:xfrm>
          <a:prstGeom prst="rect">
            <a:avLst/>
          </a:prstGeom>
          <a:solidFill>
            <a:srgbClr val="1A7A8A"/>
          </a:solidFill>
          <a:ln w="12700">
            <a:solidFill>
              <a:srgbClr val="1A7A8A"/>
            </a:solidFill>
            <a:prstDash val="solid"/>
          </a:ln>
        </p:spPr>
        <p:txBody>
          <a:bodyPr/>
          <a:lstStyle/>
          <a:p>
            <a:endParaRPr lang="es-CO"/>
          </a:p>
        </p:txBody>
      </p:sp>
      <p:sp>
        <p:nvSpPr>
          <p:cNvPr id="19" name="Text 17"/>
          <p:cNvSpPr txBox="1"/>
          <p:nvPr/>
        </p:nvSpPr>
        <p:spPr>
          <a:xfrm>
            <a:off x="320040" y="3364992"/>
            <a:ext cx="347472" cy="40233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Shape 18"/>
          <p:cNvSpPr/>
          <p:nvPr/>
        </p:nvSpPr>
        <p:spPr>
          <a:xfrm>
            <a:off x="731520" y="3291840"/>
            <a:ext cx="5074920" cy="548640"/>
          </a:xfrm>
          <a:prstGeom prst="rect">
            <a:avLst/>
          </a:prstGeom>
          <a:solidFill>
            <a:srgbClr val="F1F5F9"/>
          </a:solidFill>
          <a:ln w="12700">
            <a:solidFill>
              <a:srgbClr val="CBD5E1"/>
            </a:solidFill>
            <a:prstDash val="solid"/>
          </a:ln>
        </p:spPr>
        <p:txBody>
          <a:bodyPr/>
          <a:lstStyle/>
          <a:p>
            <a:endParaRPr lang="es-CO"/>
          </a:p>
        </p:txBody>
      </p:sp>
      <p:sp>
        <p:nvSpPr>
          <p:cNvPr id="21" name="Text 19"/>
          <p:cNvSpPr txBox="1"/>
          <p:nvPr/>
        </p:nvSpPr>
        <p:spPr>
          <a:xfrm>
            <a:off x="822960" y="3328416"/>
            <a:ext cx="4937760" cy="219456"/>
          </a:xfrm>
          <a:prstGeom prst="rect">
            <a:avLst/>
          </a:prstGeom>
          <a:noFill/>
          <a:ln/>
        </p:spPr>
        <p:txBody>
          <a:bodyPr wrap="square" rtlCol="0" anchor="ctr"/>
          <a:lstStyle/>
          <a:p>
            <a:pPr marL="0" indent="0">
              <a:buNone/>
            </a:pPr>
            <a:r>
              <a:rPr lang="en-US" sz="1200" b="1" dirty="0">
                <a:solidFill>
                  <a:srgbClr val="1B3A5C"/>
                </a:solidFill>
                <a:latin typeface="Calibri" pitchFamily="34" charset="0"/>
                <a:ea typeface="Calibri" pitchFamily="34" charset="-122"/>
                <a:cs typeface="Calibri" pitchFamily="34" charset="-120"/>
              </a:rPr>
              <a:t>Estudio de Mercado</a:t>
            </a:r>
            <a:endParaRPr lang="en-US" sz="1200" dirty="0"/>
          </a:p>
        </p:txBody>
      </p:sp>
      <p:sp>
        <p:nvSpPr>
          <p:cNvPr id="22" name="Text 20"/>
          <p:cNvSpPr txBox="1"/>
          <p:nvPr/>
        </p:nvSpPr>
        <p:spPr>
          <a:xfrm>
            <a:off x="822960" y="3538728"/>
            <a:ext cx="4937760" cy="237744"/>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Demanda potencial, oferta existente y comportamiento de consumidores (63 encuestas).</a:t>
            </a:r>
            <a:endParaRPr lang="en-US" sz="1100" dirty="0"/>
          </a:p>
        </p:txBody>
      </p:sp>
      <p:sp>
        <p:nvSpPr>
          <p:cNvPr id="23" name="Shape 21"/>
          <p:cNvSpPr/>
          <p:nvPr/>
        </p:nvSpPr>
        <p:spPr>
          <a:xfrm>
            <a:off x="320040" y="4005072"/>
            <a:ext cx="347472" cy="402336"/>
          </a:xfrm>
          <a:prstGeom prst="rect">
            <a:avLst/>
          </a:prstGeom>
          <a:solidFill>
            <a:srgbClr val="1A7A8A"/>
          </a:solidFill>
          <a:ln w="12700">
            <a:solidFill>
              <a:srgbClr val="1A7A8A"/>
            </a:solidFill>
            <a:prstDash val="solid"/>
          </a:ln>
        </p:spPr>
        <p:txBody>
          <a:bodyPr/>
          <a:lstStyle/>
          <a:p>
            <a:endParaRPr lang="es-CO"/>
          </a:p>
        </p:txBody>
      </p:sp>
      <p:sp>
        <p:nvSpPr>
          <p:cNvPr id="24" name="Text 22"/>
          <p:cNvSpPr txBox="1"/>
          <p:nvPr/>
        </p:nvSpPr>
        <p:spPr>
          <a:xfrm>
            <a:off x="320040" y="4005072"/>
            <a:ext cx="347472" cy="40233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Shape 23"/>
          <p:cNvSpPr/>
          <p:nvPr/>
        </p:nvSpPr>
        <p:spPr>
          <a:xfrm>
            <a:off x="731520" y="3931920"/>
            <a:ext cx="5074920" cy="548640"/>
          </a:xfrm>
          <a:prstGeom prst="rect">
            <a:avLst/>
          </a:prstGeom>
          <a:solidFill>
            <a:srgbClr val="F1F5F9"/>
          </a:solidFill>
          <a:ln w="12700">
            <a:solidFill>
              <a:srgbClr val="CBD5E1"/>
            </a:solidFill>
            <a:prstDash val="solid"/>
          </a:ln>
        </p:spPr>
        <p:txBody>
          <a:bodyPr/>
          <a:lstStyle/>
          <a:p>
            <a:endParaRPr lang="es-CO"/>
          </a:p>
        </p:txBody>
      </p:sp>
      <p:sp>
        <p:nvSpPr>
          <p:cNvPr id="26" name="Text 24"/>
          <p:cNvSpPr txBox="1"/>
          <p:nvPr/>
        </p:nvSpPr>
        <p:spPr>
          <a:xfrm>
            <a:off x="822960" y="3968496"/>
            <a:ext cx="4937760" cy="219456"/>
          </a:xfrm>
          <a:prstGeom prst="rect">
            <a:avLst/>
          </a:prstGeom>
          <a:noFill/>
          <a:ln/>
        </p:spPr>
        <p:txBody>
          <a:bodyPr wrap="square" rtlCol="0" anchor="ctr"/>
          <a:lstStyle/>
          <a:p>
            <a:pPr marL="0" indent="0">
              <a:buNone/>
            </a:pPr>
            <a:r>
              <a:rPr lang="en-US" sz="1200" b="1" dirty="0">
                <a:solidFill>
                  <a:srgbClr val="1B3A5C"/>
                </a:solidFill>
                <a:latin typeface="Calibri" pitchFamily="34" charset="0"/>
                <a:ea typeface="Calibri" pitchFamily="34" charset="-122"/>
                <a:cs typeface="Calibri" pitchFamily="34" charset="-120"/>
              </a:rPr>
              <a:t>Estudio Ambiental</a:t>
            </a:r>
            <a:endParaRPr lang="en-US" sz="1200" dirty="0"/>
          </a:p>
        </p:txBody>
      </p:sp>
      <p:sp>
        <p:nvSpPr>
          <p:cNvPr id="27" name="Text 25"/>
          <p:cNvSpPr txBox="1"/>
          <p:nvPr/>
        </p:nvSpPr>
        <p:spPr>
          <a:xfrm>
            <a:off x="822960" y="4178808"/>
            <a:ext cx="4937760" cy="237744"/>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Impactos ambientales y medidas de mitigación (MIAMBIENTE, SENASA).</a:t>
            </a:r>
            <a:endParaRPr lang="en-US" sz="1100" dirty="0"/>
          </a:p>
        </p:txBody>
      </p:sp>
      <p:sp>
        <p:nvSpPr>
          <p:cNvPr id="28" name="Shape 26"/>
          <p:cNvSpPr/>
          <p:nvPr/>
        </p:nvSpPr>
        <p:spPr>
          <a:xfrm>
            <a:off x="6263640" y="2084832"/>
            <a:ext cx="347472" cy="402336"/>
          </a:xfrm>
          <a:prstGeom prst="rect">
            <a:avLst/>
          </a:prstGeom>
          <a:solidFill>
            <a:srgbClr val="1A7A8A"/>
          </a:solidFill>
          <a:ln w="12700">
            <a:solidFill>
              <a:srgbClr val="1A7A8A"/>
            </a:solidFill>
            <a:prstDash val="solid"/>
          </a:ln>
        </p:spPr>
        <p:txBody>
          <a:bodyPr/>
          <a:lstStyle/>
          <a:p>
            <a:endParaRPr lang="es-CO"/>
          </a:p>
        </p:txBody>
      </p:sp>
      <p:sp>
        <p:nvSpPr>
          <p:cNvPr id="29" name="Text 27"/>
          <p:cNvSpPr txBox="1"/>
          <p:nvPr/>
        </p:nvSpPr>
        <p:spPr>
          <a:xfrm>
            <a:off x="6263640" y="2084832"/>
            <a:ext cx="347472" cy="40233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Shape 28"/>
          <p:cNvSpPr/>
          <p:nvPr/>
        </p:nvSpPr>
        <p:spPr>
          <a:xfrm>
            <a:off x="6675120" y="2011680"/>
            <a:ext cx="5074920" cy="548640"/>
          </a:xfrm>
          <a:prstGeom prst="rect">
            <a:avLst/>
          </a:prstGeom>
          <a:solidFill>
            <a:srgbClr val="F1F5F9"/>
          </a:solidFill>
          <a:ln w="12700">
            <a:solidFill>
              <a:srgbClr val="CBD5E1"/>
            </a:solidFill>
            <a:prstDash val="solid"/>
          </a:ln>
        </p:spPr>
        <p:txBody>
          <a:bodyPr/>
          <a:lstStyle/>
          <a:p>
            <a:endParaRPr lang="es-CO"/>
          </a:p>
        </p:txBody>
      </p:sp>
      <p:sp>
        <p:nvSpPr>
          <p:cNvPr id="31" name="Text 29"/>
          <p:cNvSpPr txBox="1"/>
          <p:nvPr/>
        </p:nvSpPr>
        <p:spPr>
          <a:xfrm>
            <a:off x="6766560" y="2048256"/>
            <a:ext cx="4937760" cy="219456"/>
          </a:xfrm>
          <a:prstGeom prst="rect">
            <a:avLst/>
          </a:prstGeom>
          <a:noFill/>
          <a:ln/>
        </p:spPr>
        <p:txBody>
          <a:bodyPr wrap="square" rtlCol="0" anchor="ctr"/>
          <a:lstStyle/>
          <a:p>
            <a:pPr marL="0" indent="0">
              <a:buNone/>
            </a:pPr>
            <a:r>
              <a:rPr lang="en-US" sz="1200" b="1" dirty="0">
                <a:solidFill>
                  <a:srgbClr val="1B3A5C"/>
                </a:solidFill>
                <a:latin typeface="Calibri" pitchFamily="34" charset="0"/>
                <a:ea typeface="Calibri" pitchFamily="34" charset="-122"/>
                <a:cs typeface="Calibri" pitchFamily="34" charset="-120"/>
              </a:rPr>
              <a:t>Estudio Técnico</a:t>
            </a:r>
            <a:endParaRPr lang="en-US" sz="1200" dirty="0"/>
          </a:p>
        </p:txBody>
      </p:sp>
      <p:sp>
        <p:nvSpPr>
          <p:cNvPr id="32" name="Text 30"/>
          <p:cNvSpPr txBox="1"/>
          <p:nvPr/>
        </p:nvSpPr>
        <p:spPr>
          <a:xfrm>
            <a:off x="6766560" y="2258568"/>
            <a:ext cx="4937760" cy="237744"/>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Infraestructura, procesos productivos y capacidad instalada.</a:t>
            </a:r>
            <a:endParaRPr lang="en-US" sz="1100" dirty="0"/>
          </a:p>
        </p:txBody>
      </p:sp>
      <p:sp>
        <p:nvSpPr>
          <p:cNvPr id="33" name="Shape 31"/>
          <p:cNvSpPr/>
          <p:nvPr/>
        </p:nvSpPr>
        <p:spPr>
          <a:xfrm>
            <a:off x="6263640" y="2724912"/>
            <a:ext cx="347472" cy="402336"/>
          </a:xfrm>
          <a:prstGeom prst="rect">
            <a:avLst/>
          </a:prstGeom>
          <a:solidFill>
            <a:srgbClr val="1A7A8A"/>
          </a:solidFill>
          <a:ln w="12700">
            <a:solidFill>
              <a:srgbClr val="1A7A8A"/>
            </a:solidFill>
            <a:prstDash val="solid"/>
          </a:ln>
        </p:spPr>
        <p:txBody>
          <a:bodyPr/>
          <a:lstStyle/>
          <a:p>
            <a:endParaRPr lang="es-CO"/>
          </a:p>
        </p:txBody>
      </p:sp>
      <p:sp>
        <p:nvSpPr>
          <p:cNvPr id="34" name="Text 32"/>
          <p:cNvSpPr txBox="1"/>
          <p:nvPr/>
        </p:nvSpPr>
        <p:spPr>
          <a:xfrm>
            <a:off x="6263640" y="2724912"/>
            <a:ext cx="347472" cy="40233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5" name="Shape 33"/>
          <p:cNvSpPr/>
          <p:nvPr/>
        </p:nvSpPr>
        <p:spPr>
          <a:xfrm>
            <a:off x="6675120" y="2651760"/>
            <a:ext cx="5074920" cy="548640"/>
          </a:xfrm>
          <a:prstGeom prst="rect">
            <a:avLst/>
          </a:prstGeom>
          <a:solidFill>
            <a:srgbClr val="F1F5F9"/>
          </a:solidFill>
          <a:ln w="12700">
            <a:solidFill>
              <a:srgbClr val="CBD5E1"/>
            </a:solidFill>
            <a:prstDash val="solid"/>
          </a:ln>
        </p:spPr>
        <p:txBody>
          <a:bodyPr/>
          <a:lstStyle/>
          <a:p>
            <a:endParaRPr lang="es-CO"/>
          </a:p>
        </p:txBody>
      </p:sp>
      <p:sp>
        <p:nvSpPr>
          <p:cNvPr id="36" name="Text 34"/>
          <p:cNvSpPr txBox="1"/>
          <p:nvPr/>
        </p:nvSpPr>
        <p:spPr>
          <a:xfrm>
            <a:off x="6766560" y="2688336"/>
            <a:ext cx="4937760" cy="219456"/>
          </a:xfrm>
          <a:prstGeom prst="rect">
            <a:avLst/>
          </a:prstGeom>
          <a:noFill/>
          <a:ln/>
        </p:spPr>
        <p:txBody>
          <a:bodyPr wrap="square" rtlCol="0" anchor="ctr"/>
          <a:lstStyle/>
          <a:p>
            <a:pPr marL="0" indent="0">
              <a:buNone/>
            </a:pPr>
            <a:r>
              <a:rPr lang="en-US" sz="1200" b="1" dirty="0">
                <a:solidFill>
                  <a:srgbClr val="1B3A5C"/>
                </a:solidFill>
                <a:latin typeface="Calibri" pitchFamily="34" charset="0"/>
                <a:ea typeface="Calibri" pitchFamily="34" charset="-122"/>
                <a:cs typeface="Calibri" pitchFamily="34" charset="-120"/>
              </a:rPr>
              <a:t>Estudio Financiero</a:t>
            </a:r>
            <a:endParaRPr lang="en-US" sz="1200" dirty="0"/>
          </a:p>
        </p:txBody>
      </p:sp>
      <p:sp>
        <p:nvSpPr>
          <p:cNvPr id="37" name="Text 35"/>
          <p:cNvSpPr txBox="1"/>
          <p:nvPr/>
        </p:nvSpPr>
        <p:spPr>
          <a:xfrm>
            <a:off x="6766560" y="2898648"/>
            <a:ext cx="4937760" cy="237744"/>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Proyectar inversiones, costos e ingresos; calcular VAN, TIR, B/C.</a:t>
            </a:r>
            <a:endParaRPr lang="en-US" sz="1100" dirty="0"/>
          </a:p>
        </p:txBody>
      </p:sp>
      <p:sp>
        <p:nvSpPr>
          <p:cNvPr id="38" name="Shape 36"/>
          <p:cNvSpPr/>
          <p:nvPr/>
        </p:nvSpPr>
        <p:spPr>
          <a:xfrm>
            <a:off x="6263640" y="3364992"/>
            <a:ext cx="347472" cy="402336"/>
          </a:xfrm>
          <a:prstGeom prst="rect">
            <a:avLst/>
          </a:prstGeom>
          <a:solidFill>
            <a:srgbClr val="1A7A8A"/>
          </a:solidFill>
          <a:ln w="12700">
            <a:solidFill>
              <a:srgbClr val="1A7A8A"/>
            </a:solidFill>
            <a:prstDash val="solid"/>
          </a:ln>
        </p:spPr>
        <p:txBody>
          <a:bodyPr/>
          <a:lstStyle/>
          <a:p>
            <a:endParaRPr lang="es-CO"/>
          </a:p>
        </p:txBody>
      </p:sp>
      <p:sp>
        <p:nvSpPr>
          <p:cNvPr id="39" name="Text 37"/>
          <p:cNvSpPr txBox="1"/>
          <p:nvPr/>
        </p:nvSpPr>
        <p:spPr>
          <a:xfrm>
            <a:off x="6263640" y="3364992"/>
            <a:ext cx="347472" cy="40233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40" name="Shape 38"/>
          <p:cNvSpPr/>
          <p:nvPr/>
        </p:nvSpPr>
        <p:spPr>
          <a:xfrm>
            <a:off x="6675120" y="3291840"/>
            <a:ext cx="5074920" cy="548640"/>
          </a:xfrm>
          <a:prstGeom prst="rect">
            <a:avLst/>
          </a:prstGeom>
          <a:solidFill>
            <a:srgbClr val="F1F5F9"/>
          </a:solidFill>
          <a:ln w="12700">
            <a:solidFill>
              <a:srgbClr val="CBD5E1"/>
            </a:solidFill>
            <a:prstDash val="solid"/>
          </a:ln>
        </p:spPr>
        <p:txBody>
          <a:bodyPr/>
          <a:lstStyle/>
          <a:p>
            <a:endParaRPr lang="es-CO"/>
          </a:p>
        </p:txBody>
      </p:sp>
      <p:sp>
        <p:nvSpPr>
          <p:cNvPr id="41" name="Text 39"/>
          <p:cNvSpPr txBox="1"/>
          <p:nvPr/>
        </p:nvSpPr>
        <p:spPr>
          <a:xfrm>
            <a:off x="6766560" y="3328416"/>
            <a:ext cx="4937760" cy="219456"/>
          </a:xfrm>
          <a:prstGeom prst="rect">
            <a:avLst/>
          </a:prstGeom>
          <a:noFill/>
          <a:ln/>
        </p:spPr>
        <p:txBody>
          <a:bodyPr wrap="square" rtlCol="0" anchor="ctr"/>
          <a:lstStyle/>
          <a:p>
            <a:pPr marL="0" indent="0">
              <a:buNone/>
            </a:pPr>
            <a:r>
              <a:rPr lang="en-US" sz="1200" b="1" dirty="0">
                <a:solidFill>
                  <a:srgbClr val="1B3A5C"/>
                </a:solidFill>
                <a:latin typeface="Calibri" pitchFamily="34" charset="0"/>
                <a:ea typeface="Calibri" pitchFamily="34" charset="-122"/>
                <a:cs typeface="Calibri" pitchFamily="34" charset="-120"/>
              </a:rPr>
              <a:t>Estudio Legal</a:t>
            </a:r>
            <a:endParaRPr lang="en-US" sz="1200" dirty="0"/>
          </a:p>
        </p:txBody>
      </p:sp>
      <p:sp>
        <p:nvSpPr>
          <p:cNvPr id="42" name="Text 40"/>
          <p:cNvSpPr txBox="1"/>
          <p:nvPr/>
        </p:nvSpPr>
        <p:spPr>
          <a:xfrm>
            <a:off x="6766560" y="3538728"/>
            <a:ext cx="4937760" cy="237744"/>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Normativas, permisos y obligaciones jurídicas (SENASA, ARSA, SAG).</a:t>
            </a:r>
            <a:endParaRPr lang="en-US" sz="1100" dirty="0"/>
          </a:p>
        </p:txBody>
      </p:sp>
      <p:sp>
        <p:nvSpPr>
          <p:cNvPr id="43" name="Shape 41"/>
          <p:cNvSpPr/>
          <p:nvPr/>
        </p:nvSpPr>
        <p:spPr>
          <a:xfrm>
            <a:off x="6263640" y="4005072"/>
            <a:ext cx="347472" cy="402336"/>
          </a:xfrm>
          <a:prstGeom prst="rect">
            <a:avLst/>
          </a:prstGeom>
          <a:solidFill>
            <a:srgbClr val="1A7A8A"/>
          </a:solidFill>
          <a:ln w="12700">
            <a:solidFill>
              <a:srgbClr val="1A7A8A"/>
            </a:solidFill>
            <a:prstDash val="solid"/>
          </a:ln>
        </p:spPr>
        <p:txBody>
          <a:bodyPr/>
          <a:lstStyle/>
          <a:p>
            <a:endParaRPr lang="es-CO"/>
          </a:p>
        </p:txBody>
      </p:sp>
      <p:sp>
        <p:nvSpPr>
          <p:cNvPr id="44" name="Text 42"/>
          <p:cNvSpPr txBox="1"/>
          <p:nvPr/>
        </p:nvSpPr>
        <p:spPr>
          <a:xfrm>
            <a:off x="6263640" y="4005072"/>
            <a:ext cx="347472" cy="40233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5" name="Shape 43"/>
          <p:cNvSpPr/>
          <p:nvPr/>
        </p:nvSpPr>
        <p:spPr>
          <a:xfrm>
            <a:off x="6675120" y="3931920"/>
            <a:ext cx="5074920" cy="548640"/>
          </a:xfrm>
          <a:prstGeom prst="rect">
            <a:avLst/>
          </a:prstGeom>
          <a:solidFill>
            <a:srgbClr val="F1F5F9"/>
          </a:solidFill>
          <a:ln w="12700">
            <a:solidFill>
              <a:srgbClr val="CBD5E1"/>
            </a:solidFill>
            <a:prstDash val="solid"/>
          </a:ln>
        </p:spPr>
        <p:txBody>
          <a:bodyPr/>
          <a:lstStyle/>
          <a:p>
            <a:endParaRPr lang="es-CO"/>
          </a:p>
        </p:txBody>
      </p:sp>
      <p:sp>
        <p:nvSpPr>
          <p:cNvPr id="46" name="Text 44"/>
          <p:cNvSpPr txBox="1"/>
          <p:nvPr/>
        </p:nvSpPr>
        <p:spPr>
          <a:xfrm>
            <a:off x="6766560" y="3968496"/>
            <a:ext cx="4937760" cy="219456"/>
          </a:xfrm>
          <a:prstGeom prst="rect">
            <a:avLst/>
          </a:prstGeom>
          <a:noFill/>
          <a:ln/>
        </p:spPr>
        <p:txBody>
          <a:bodyPr wrap="square" rtlCol="0" anchor="ctr"/>
          <a:lstStyle/>
          <a:p>
            <a:pPr marL="0" indent="0">
              <a:buNone/>
            </a:pPr>
            <a:r>
              <a:rPr lang="en-US" sz="1200" b="1" dirty="0">
                <a:solidFill>
                  <a:srgbClr val="1B3A5C"/>
                </a:solidFill>
                <a:latin typeface="Calibri" pitchFamily="34" charset="0"/>
                <a:ea typeface="Calibri" pitchFamily="34" charset="-122"/>
                <a:cs typeface="Calibri" pitchFamily="34" charset="-120"/>
              </a:rPr>
              <a:t>Análisis de Riesgos</a:t>
            </a:r>
            <a:endParaRPr lang="en-US" sz="1200" dirty="0"/>
          </a:p>
        </p:txBody>
      </p:sp>
      <p:sp>
        <p:nvSpPr>
          <p:cNvPr id="47" name="Text 45"/>
          <p:cNvSpPr txBox="1"/>
          <p:nvPr/>
        </p:nvSpPr>
        <p:spPr>
          <a:xfrm>
            <a:off x="6766560" y="4178808"/>
            <a:ext cx="4937760" cy="237744"/>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Simulaciones Monte Carlo con @RISK para cuantificar incertidumbre.</a:t>
            </a:r>
            <a:endParaRPr lang="en-US" sz="1100" dirty="0"/>
          </a:p>
        </p:txBody>
      </p:sp>
      <p:sp>
        <p:nvSpPr>
          <p:cNvPr id="48" name="Text 46"/>
          <p:cNvSpPr txBox="1"/>
          <p:nvPr/>
        </p:nvSpPr>
        <p:spPr>
          <a:xfrm>
            <a:off x="320040" y="6583680"/>
            <a:ext cx="11521440" cy="201168"/>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Maestría en Agronegocios · Universidad EAFIT · Zamorano · 2026   |   Caballero · Valladares · Medal</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320040" y="201168"/>
            <a:ext cx="1828800" cy="256032"/>
          </a:xfrm>
          <a:prstGeom prst="rect">
            <a:avLst/>
          </a:prstGeom>
          <a:noFill/>
          <a:ln/>
        </p:spPr>
        <p:txBody>
          <a:bodyPr wrap="square" rtlCol="0" anchor="ctr"/>
          <a:lstStyle/>
          <a:p>
            <a:pPr marL="0" indent="0" algn="l">
              <a:buNone/>
            </a:pPr>
            <a:r>
              <a:rPr lang="en-US" sz="900" b="1" kern="0" spc="100" dirty="0">
                <a:solidFill>
                  <a:srgbClr val="1A7A8A"/>
                </a:solidFill>
                <a:latin typeface="Calibri" pitchFamily="34" charset="0"/>
                <a:ea typeface="Calibri" pitchFamily="34" charset="-122"/>
                <a:cs typeface="Calibri" pitchFamily="34" charset="-120"/>
              </a:rPr>
              <a:t>JUSTIFICACIÓN</a:t>
            </a:r>
            <a:endParaRPr lang="en-US" sz="900" dirty="0"/>
          </a:p>
        </p:txBody>
      </p:sp>
      <p:sp>
        <p:nvSpPr>
          <p:cNvPr id="3" name="Text 1"/>
          <p:cNvSpPr txBox="1"/>
          <p:nvPr/>
        </p:nvSpPr>
        <p:spPr>
          <a:xfrm>
            <a:off x="320040" y="475488"/>
            <a:ext cx="11521440" cy="502920"/>
          </a:xfrm>
          <a:prstGeom prst="rect">
            <a:avLst/>
          </a:prstGeom>
          <a:noFill/>
          <a:ln/>
        </p:spPr>
        <p:txBody>
          <a:bodyPr wrap="square" rtlCol="0" anchor="ctr"/>
          <a:lstStyle/>
          <a:p>
            <a:pPr marL="0" indent="0">
              <a:buNone/>
            </a:pPr>
            <a:r>
              <a:rPr lang="en-US" sz="2800" b="1" dirty="0">
                <a:solidFill>
                  <a:srgbClr val="0D2341"/>
                </a:solidFill>
                <a:latin typeface="Calibri" pitchFamily="34" charset="0"/>
                <a:ea typeface="Calibri" pitchFamily="34" charset="-122"/>
                <a:cs typeface="Calibri" pitchFamily="34" charset="-120"/>
              </a:rPr>
              <a:t>¿Por qué "Pura"?</a:t>
            </a:r>
            <a:endParaRPr lang="en-US" sz="2800" dirty="0"/>
          </a:p>
        </p:txBody>
      </p:sp>
      <p:sp>
        <p:nvSpPr>
          <p:cNvPr id="4" name="Shape 2"/>
          <p:cNvSpPr/>
          <p:nvPr/>
        </p:nvSpPr>
        <p:spPr>
          <a:xfrm>
            <a:off x="320040" y="1005840"/>
            <a:ext cx="11430000" cy="18288"/>
          </a:xfrm>
          <a:prstGeom prst="rect">
            <a:avLst/>
          </a:prstGeom>
          <a:solidFill>
            <a:srgbClr val="1A7A8A"/>
          </a:solidFill>
          <a:ln w="12700">
            <a:solidFill>
              <a:srgbClr val="1A7A8A"/>
            </a:solidFill>
            <a:prstDash val="solid"/>
          </a:ln>
        </p:spPr>
        <p:txBody>
          <a:bodyPr/>
          <a:lstStyle/>
          <a:p>
            <a:endParaRPr lang="es-CO"/>
          </a:p>
        </p:txBody>
      </p:sp>
      <p:sp>
        <p:nvSpPr>
          <p:cNvPr id="5" name="Shape 3"/>
          <p:cNvSpPr/>
          <p:nvPr/>
        </p:nvSpPr>
        <p:spPr>
          <a:xfrm>
            <a:off x="320040" y="1143000"/>
            <a:ext cx="5303520" cy="2011680"/>
          </a:xfrm>
          <a:prstGeom prst="rect">
            <a:avLst/>
          </a:prstGeom>
          <a:solidFill>
            <a:srgbClr val="FFFFFF"/>
          </a:solidFill>
          <a:ln w="12700">
            <a:solidFill>
              <a:srgbClr val="CBD5E1"/>
            </a:solidFill>
            <a:prstDash val="solid"/>
          </a:ln>
        </p:spPr>
        <p:txBody>
          <a:bodyPr/>
          <a:lstStyle/>
          <a:p>
            <a:endParaRPr lang="es-CO"/>
          </a:p>
        </p:txBody>
      </p:sp>
      <p:sp>
        <p:nvSpPr>
          <p:cNvPr id="6" name="Shape 4"/>
          <p:cNvSpPr/>
          <p:nvPr/>
        </p:nvSpPr>
        <p:spPr>
          <a:xfrm>
            <a:off x="320040" y="1280160"/>
            <a:ext cx="54864" cy="1737360"/>
          </a:xfrm>
          <a:prstGeom prst="rect">
            <a:avLst/>
          </a:prstGeom>
          <a:solidFill>
            <a:srgbClr val="1A7A8A"/>
          </a:solidFill>
          <a:ln w="12700">
            <a:solidFill>
              <a:srgbClr val="1A7A8A"/>
            </a:solidFill>
            <a:prstDash val="solid"/>
          </a:ln>
        </p:spPr>
        <p:txBody>
          <a:bodyPr/>
          <a:lstStyle/>
          <a:p>
            <a:endParaRPr lang="es-CO"/>
          </a:p>
        </p:txBody>
      </p:sp>
      <p:sp>
        <p:nvSpPr>
          <p:cNvPr id="7" name="Text 5"/>
          <p:cNvSpPr txBox="1"/>
          <p:nvPr/>
        </p:nvSpPr>
        <p:spPr>
          <a:xfrm>
            <a:off x="484632" y="1280160"/>
            <a:ext cx="5047488" cy="292608"/>
          </a:xfrm>
          <a:prstGeom prst="rect">
            <a:avLst/>
          </a:prstGeom>
          <a:noFill/>
          <a:ln/>
        </p:spPr>
        <p:txBody>
          <a:bodyPr wrap="square" rtlCol="0" anchor="ctr"/>
          <a:lstStyle/>
          <a:p>
            <a:pPr marL="0" indent="0">
              <a:buNone/>
            </a:pPr>
            <a:r>
              <a:rPr lang="en-US" sz="1350" b="1" dirty="0">
                <a:solidFill>
                  <a:srgbClr val="1B3A5C"/>
                </a:solidFill>
                <a:latin typeface="Calibri" pitchFamily="34" charset="0"/>
                <a:ea typeface="Calibri" pitchFamily="34" charset="-122"/>
                <a:cs typeface="Calibri" pitchFamily="34" charset="-120"/>
              </a:rPr>
              <a:t>Canal HoReCa sin abastecer</a:t>
            </a:r>
            <a:endParaRPr lang="en-US" sz="1350" dirty="0"/>
          </a:p>
        </p:txBody>
      </p:sp>
      <p:sp>
        <p:nvSpPr>
          <p:cNvPr id="8" name="Text 6"/>
          <p:cNvSpPr txBox="1"/>
          <p:nvPr/>
        </p:nvSpPr>
        <p:spPr>
          <a:xfrm>
            <a:off x="484632" y="1618488"/>
            <a:ext cx="5047488" cy="1417320"/>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Cafeterías y restaurantes necesitan leche fresca para la espuma; la UHT no la logra. Nadie la ofrece en Honduras.</a:t>
            </a:r>
            <a:endParaRPr lang="en-US" sz="1150" dirty="0"/>
          </a:p>
        </p:txBody>
      </p:sp>
      <p:sp>
        <p:nvSpPr>
          <p:cNvPr id="9" name="Shape 7"/>
          <p:cNvSpPr/>
          <p:nvPr/>
        </p:nvSpPr>
        <p:spPr>
          <a:xfrm>
            <a:off x="6080760" y="1143000"/>
            <a:ext cx="5303520" cy="2011680"/>
          </a:xfrm>
          <a:prstGeom prst="rect">
            <a:avLst/>
          </a:prstGeom>
          <a:solidFill>
            <a:srgbClr val="FFFFFF"/>
          </a:solidFill>
          <a:ln w="12700">
            <a:solidFill>
              <a:srgbClr val="CBD5E1"/>
            </a:solidFill>
            <a:prstDash val="solid"/>
          </a:ln>
        </p:spPr>
        <p:txBody>
          <a:bodyPr/>
          <a:lstStyle/>
          <a:p>
            <a:endParaRPr lang="es-CO"/>
          </a:p>
        </p:txBody>
      </p:sp>
      <p:sp>
        <p:nvSpPr>
          <p:cNvPr id="10" name="Shape 8"/>
          <p:cNvSpPr/>
          <p:nvPr/>
        </p:nvSpPr>
        <p:spPr>
          <a:xfrm>
            <a:off x="6080760" y="1280160"/>
            <a:ext cx="54864" cy="1737360"/>
          </a:xfrm>
          <a:prstGeom prst="rect">
            <a:avLst/>
          </a:prstGeom>
          <a:solidFill>
            <a:srgbClr val="1A7A8A"/>
          </a:solidFill>
          <a:ln w="12700">
            <a:solidFill>
              <a:srgbClr val="1A7A8A"/>
            </a:solidFill>
            <a:prstDash val="solid"/>
          </a:ln>
        </p:spPr>
        <p:txBody>
          <a:bodyPr/>
          <a:lstStyle/>
          <a:p>
            <a:endParaRPr lang="es-CO"/>
          </a:p>
        </p:txBody>
      </p:sp>
      <p:sp>
        <p:nvSpPr>
          <p:cNvPr id="11" name="Text 9"/>
          <p:cNvSpPr txBox="1"/>
          <p:nvPr/>
        </p:nvSpPr>
        <p:spPr>
          <a:xfrm>
            <a:off x="6245352" y="1280160"/>
            <a:ext cx="5047488" cy="292608"/>
          </a:xfrm>
          <a:prstGeom prst="rect">
            <a:avLst/>
          </a:prstGeom>
          <a:noFill/>
          <a:ln/>
        </p:spPr>
        <p:txBody>
          <a:bodyPr wrap="square" rtlCol="0" anchor="ctr"/>
          <a:lstStyle/>
          <a:p>
            <a:pPr marL="0" indent="0">
              <a:buNone/>
            </a:pPr>
            <a:r>
              <a:rPr lang="en-US" sz="1350" b="1" dirty="0">
                <a:solidFill>
                  <a:srgbClr val="1B3A5C"/>
                </a:solidFill>
                <a:latin typeface="Calibri" pitchFamily="34" charset="0"/>
                <a:ea typeface="Calibri" pitchFamily="34" charset="-122"/>
                <a:cs typeface="Calibri" pitchFamily="34" charset="-120"/>
              </a:rPr>
              <a:t>Mercado de detalle amplio</a:t>
            </a:r>
            <a:endParaRPr lang="en-US" sz="1350" dirty="0"/>
          </a:p>
        </p:txBody>
      </p:sp>
      <p:sp>
        <p:nvSpPr>
          <p:cNvPr id="12" name="Text 10"/>
          <p:cNvSpPr txBox="1"/>
          <p:nvPr/>
        </p:nvSpPr>
        <p:spPr>
          <a:xfrm>
            <a:off x="6245352" y="1618488"/>
            <a:ext cx="5047488" cy="1417320"/>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+2,000 clientes tipo "A" de la región central hoy la sustituyen con UHT por falta de oferta.</a:t>
            </a:r>
            <a:endParaRPr lang="en-US" sz="1150" dirty="0"/>
          </a:p>
        </p:txBody>
      </p:sp>
      <p:sp>
        <p:nvSpPr>
          <p:cNvPr id="13" name="Shape 11"/>
          <p:cNvSpPr/>
          <p:nvPr/>
        </p:nvSpPr>
        <p:spPr>
          <a:xfrm>
            <a:off x="320040" y="3337560"/>
            <a:ext cx="5303520" cy="2011680"/>
          </a:xfrm>
          <a:prstGeom prst="rect">
            <a:avLst/>
          </a:prstGeom>
          <a:solidFill>
            <a:srgbClr val="FFFFFF"/>
          </a:solidFill>
          <a:ln w="12700">
            <a:solidFill>
              <a:srgbClr val="CBD5E1"/>
            </a:solidFill>
            <a:prstDash val="solid"/>
          </a:ln>
        </p:spPr>
        <p:txBody>
          <a:bodyPr/>
          <a:lstStyle/>
          <a:p>
            <a:endParaRPr lang="es-CO"/>
          </a:p>
        </p:txBody>
      </p:sp>
      <p:sp>
        <p:nvSpPr>
          <p:cNvPr id="14" name="Shape 12"/>
          <p:cNvSpPr/>
          <p:nvPr/>
        </p:nvSpPr>
        <p:spPr>
          <a:xfrm>
            <a:off x="320040" y="3474720"/>
            <a:ext cx="54864" cy="1737360"/>
          </a:xfrm>
          <a:prstGeom prst="rect">
            <a:avLst/>
          </a:prstGeom>
          <a:solidFill>
            <a:srgbClr val="1A7A8A"/>
          </a:solidFill>
          <a:ln w="12700">
            <a:solidFill>
              <a:srgbClr val="1A7A8A"/>
            </a:solidFill>
            <a:prstDash val="solid"/>
          </a:ln>
        </p:spPr>
        <p:txBody>
          <a:bodyPr/>
          <a:lstStyle/>
          <a:p>
            <a:endParaRPr lang="es-CO"/>
          </a:p>
        </p:txBody>
      </p:sp>
      <p:sp>
        <p:nvSpPr>
          <p:cNvPr id="15" name="Text 13"/>
          <p:cNvSpPr txBox="1"/>
          <p:nvPr/>
        </p:nvSpPr>
        <p:spPr>
          <a:xfrm>
            <a:off x="484632" y="3474720"/>
            <a:ext cx="5047488" cy="292608"/>
          </a:xfrm>
          <a:prstGeom prst="rect">
            <a:avLst/>
          </a:prstGeom>
          <a:noFill/>
          <a:ln/>
        </p:spPr>
        <p:txBody>
          <a:bodyPr wrap="square" rtlCol="0" anchor="ctr"/>
          <a:lstStyle/>
          <a:p>
            <a:pPr marL="0" indent="0">
              <a:buNone/>
            </a:pPr>
            <a:r>
              <a:rPr lang="en-US" sz="1350" b="1" dirty="0">
                <a:solidFill>
                  <a:srgbClr val="1B3A5C"/>
                </a:solidFill>
                <a:latin typeface="Calibri" pitchFamily="34" charset="0"/>
                <a:ea typeface="Calibri" pitchFamily="34" charset="-122"/>
                <a:cs typeface="Calibri" pitchFamily="34" charset="-120"/>
              </a:rPr>
              <a:t>Propuesta de valor diferenciada</a:t>
            </a:r>
            <a:endParaRPr lang="en-US" sz="1350" dirty="0"/>
          </a:p>
        </p:txBody>
      </p:sp>
      <p:sp>
        <p:nvSpPr>
          <p:cNvPr id="16" name="Text 14"/>
          <p:cNvSpPr txBox="1"/>
          <p:nvPr/>
        </p:nvSpPr>
        <p:spPr>
          <a:xfrm>
            <a:off x="484632" y="3813048"/>
            <a:ext cx="5047488" cy="1417320"/>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HTST (72–75 °C, 15 s) conserva nutrientes y sabor; la UHT, a temperatura mucho mayor, altera sabor y textura.</a:t>
            </a:r>
            <a:endParaRPr lang="en-US" sz="1150" dirty="0"/>
          </a:p>
        </p:txBody>
      </p:sp>
      <p:sp>
        <p:nvSpPr>
          <p:cNvPr id="17" name="Shape 15"/>
          <p:cNvSpPr/>
          <p:nvPr/>
        </p:nvSpPr>
        <p:spPr>
          <a:xfrm>
            <a:off x="6080760" y="3337560"/>
            <a:ext cx="5303520" cy="2011680"/>
          </a:xfrm>
          <a:prstGeom prst="rect">
            <a:avLst/>
          </a:prstGeom>
          <a:solidFill>
            <a:srgbClr val="FFFFFF"/>
          </a:solidFill>
          <a:ln w="12700">
            <a:solidFill>
              <a:srgbClr val="CBD5E1"/>
            </a:solidFill>
            <a:prstDash val="solid"/>
          </a:ln>
        </p:spPr>
        <p:txBody>
          <a:bodyPr/>
          <a:lstStyle/>
          <a:p>
            <a:endParaRPr lang="es-CO"/>
          </a:p>
        </p:txBody>
      </p:sp>
      <p:sp>
        <p:nvSpPr>
          <p:cNvPr id="18" name="Shape 16"/>
          <p:cNvSpPr/>
          <p:nvPr/>
        </p:nvSpPr>
        <p:spPr>
          <a:xfrm>
            <a:off x="6080760" y="3474720"/>
            <a:ext cx="54864" cy="1737360"/>
          </a:xfrm>
          <a:prstGeom prst="rect">
            <a:avLst/>
          </a:prstGeom>
          <a:solidFill>
            <a:srgbClr val="1A7A8A"/>
          </a:solidFill>
          <a:ln w="12700">
            <a:solidFill>
              <a:srgbClr val="1A7A8A"/>
            </a:solidFill>
            <a:prstDash val="solid"/>
          </a:ln>
        </p:spPr>
        <p:txBody>
          <a:bodyPr/>
          <a:lstStyle/>
          <a:p>
            <a:endParaRPr lang="es-CO"/>
          </a:p>
        </p:txBody>
      </p:sp>
      <p:sp>
        <p:nvSpPr>
          <p:cNvPr id="19" name="Text 17"/>
          <p:cNvSpPr txBox="1"/>
          <p:nvPr/>
        </p:nvSpPr>
        <p:spPr>
          <a:xfrm>
            <a:off x="6245352" y="3474720"/>
            <a:ext cx="5047488" cy="292608"/>
          </a:xfrm>
          <a:prstGeom prst="rect">
            <a:avLst/>
          </a:prstGeom>
          <a:noFill/>
          <a:ln/>
        </p:spPr>
        <p:txBody>
          <a:bodyPr wrap="square" rtlCol="0" anchor="ctr"/>
          <a:lstStyle/>
          <a:p>
            <a:pPr marL="0" indent="0">
              <a:buNone/>
            </a:pPr>
            <a:r>
              <a:rPr lang="en-US" sz="1350" b="1" dirty="0">
                <a:solidFill>
                  <a:srgbClr val="1B3A5C"/>
                </a:solidFill>
                <a:latin typeface="Calibri" pitchFamily="34" charset="0"/>
                <a:ea typeface="Calibri" pitchFamily="34" charset="-122"/>
                <a:cs typeface="Calibri" pitchFamily="34" charset="-120"/>
              </a:rPr>
              <a:t>Respaldo del estudio de mercado</a:t>
            </a:r>
            <a:endParaRPr lang="en-US" sz="1350" dirty="0"/>
          </a:p>
        </p:txBody>
      </p:sp>
      <p:sp>
        <p:nvSpPr>
          <p:cNvPr id="20" name="Text 18"/>
          <p:cNvSpPr txBox="1"/>
          <p:nvPr/>
        </p:nvSpPr>
        <p:spPr>
          <a:xfrm>
            <a:off x="6245352" y="3813048"/>
            <a:ext cx="5047488" cy="1417320"/>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65 % compraría el producto y 48 % pagaría L 26–30 por litro (precio base L 28).</a:t>
            </a:r>
            <a:endParaRPr lang="en-US" sz="1150" dirty="0"/>
          </a:p>
        </p:txBody>
      </p:sp>
      <p:sp>
        <p:nvSpPr>
          <p:cNvPr id="21" name="Text 19"/>
          <p:cNvSpPr txBox="1"/>
          <p:nvPr/>
        </p:nvSpPr>
        <p:spPr>
          <a:xfrm>
            <a:off x="320040" y="6583680"/>
            <a:ext cx="11521440" cy="201168"/>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Maestría en Agronegocios · Universidad EAFIT · Zamorano · 2026   |   Caballero · Valladares · Medal</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320040" y="201168"/>
            <a:ext cx="1828800" cy="256032"/>
          </a:xfrm>
          <a:prstGeom prst="rect">
            <a:avLst/>
          </a:prstGeom>
          <a:noFill/>
          <a:ln/>
        </p:spPr>
        <p:txBody>
          <a:bodyPr wrap="square" rtlCol="0" anchor="ctr"/>
          <a:lstStyle/>
          <a:p>
            <a:pPr marL="0" indent="0" algn="l">
              <a:buNone/>
            </a:pPr>
            <a:r>
              <a:rPr lang="en-US" sz="900" b="1" kern="0" spc="100" dirty="0">
                <a:solidFill>
                  <a:srgbClr val="1A7A8A"/>
                </a:solidFill>
                <a:latin typeface="Calibri" pitchFamily="34" charset="0"/>
                <a:ea typeface="Calibri" pitchFamily="34" charset="-122"/>
                <a:cs typeface="Calibri" pitchFamily="34" charset="-120"/>
              </a:rPr>
              <a:t>METODOLOGÍA</a:t>
            </a:r>
            <a:endParaRPr lang="en-US" sz="900" dirty="0"/>
          </a:p>
        </p:txBody>
      </p:sp>
      <p:sp>
        <p:nvSpPr>
          <p:cNvPr id="3" name="Text 1"/>
          <p:cNvSpPr txBox="1"/>
          <p:nvPr/>
        </p:nvSpPr>
        <p:spPr>
          <a:xfrm>
            <a:off x="320040" y="475488"/>
            <a:ext cx="11521440" cy="502920"/>
          </a:xfrm>
          <a:prstGeom prst="rect">
            <a:avLst/>
          </a:prstGeom>
          <a:noFill/>
          <a:ln/>
        </p:spPr>
        <p:txBody>
          <a:bodyPr wrap="square" rtlCol="0" anchor="ctr"/>
          <a:lstStyle/>
          <a:p>
            <a:pPr marL="0" indent="0">
              <a:buNone/>
            </a:pPr>
            <a:r>
              <a:rPr lang="en-US" sz="2600" b="1" dirty="0">
                <a:solidFill>
                  <a:srgbClr val="0D2341"/>
                </a:solidFill>
                <a:latin typeface="Calibri" pitchFamily="34" charset="0"/>
                <a:ea typeface="Calibri" pitchFamily="34" charset="-122"/>
                <a:cs typeface="Calibri" pitchFamily="34" charset="-120"/>
              </a:rPr>
              <a:t>Metodología ONUDI · Componentes del Estudio</a:t>
            </a:r>
            <a:endParaRPr lang="en-US" sz="2600" dirty="0"/>
          </a:p>
        </p:txBody>
      </p:sp>
      <p:sp>
        <p:nvSpPr>
          <p:cNvPr id="4" name="Shape 2"/>
          <p:cNvSpPr/>
          <p:nvPr/>
        </p:nvSpPr>
        <p:spPr>
          <a:xfrm>
            <a:off x="320040" y="1005840"/>
            <a:ext cx="11430000" cy="18288"/>
          </a:xfrm>
          <a:prstGeom prst="rect">
            <a:avLst/>
          </a:prstGeom>
          <a:solidFill>
            <a:srgbClr val="1A7A8A"/>
          </a:solidFill>
          <a:ln w="12700">
            <a:solidFill>
              <a:srgbClr val="1A7A8A"/>
            </a:solidFill>
            <a:prstDash val="solid"/>
          </a:ln>
        </p:spPr>
        <p:txBody>
          <a:bodyPr/>
          <a:lstStyle/>
          <a:p>
            <a:endParaRPr lang="es-CO"/>
          </a:p>
        </p:txBody>
      </p:sp>
      <p:sp>
        <p:nvSpPr>
          <p:cNvPr id="5" name="Shape 3"/>
          <p:cNvSpPr/>
          <p:nvPr/>
        </p:nvSpPr>
        <p:spPr>
          <a:xfrm>
            <a:off x="320040" y="1170432"/>
            <a:ext cx="2510790" cy="384048"/>
          </a:xfrm>
          <a:prstGeom prst="rect">
            <a:avLst/>
          </a:prstGeom>
          <a:solidFill>
            <a:srgbClr val="1A7A8A"/>
          </a:solidFill>
          <a:ln w="12700">
            <a:solidFill>
              <a:srgbClr val="1A7A8A"/>
            </a:solidFill>
            <a:prstDash val="solid"/>
          </a:ln>
        </p:spPr>
        <p:txBody>
          <a:bodyPr/>
          <a:lstStyle/>
          <a:p>
            <a:endParaRPr lang="es-CO"/>
          </a:p>
        </p:txBody>
      </p:sp>
      <p:sp>
        <p:nvSpPr>
          <p:cNvPr id="6" name="Text 4"/>
          <p:cNvSpPr txBox="1"/>
          <p:nvPr/>
        </p:nvSpPr>
        <p:spPr>
          <a:xfrm>
            <a:off x="411480" y="1225296"/>
            <a:ext cx="237363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1  Sectorial</a:t>
            </a:r>
            <a:endParaRPr lang="en-US" sz="1300" dirty="0"/>
          </a:p>
        </p:txBody>
      </p:sp>
      <p:sp>
        <p:nvSpPr>
          <p:cNvPr id="7" name="Shape 5"/>
          <p:cNvSpPr/>
          <p:nvPr/>
        </p:nvSpPr>
        <p:spPr>
          <a:xfrm>
            <a:off x="320040" y="1554480"/>
            <a:ext cx="2510790" cy="850392"/>
          </a:xfrm>
          <a:prstGeom prst="rect">
            <a:avLst/>
          </a:prstGeom>
          <a:solidFill>
            <a:srgbClr val="F1F5F9"/>
          </a:solidFill>
          <a:ln w="12700">
            <a:solidFill>
              <a:srgbClr val="CBD5E1"/>
            </a:solidFill>
            <a:prstDash val="solid"/>
          </a:ln>
        </p:spPr>
        <p:txBody>
          <a:bodyPr/>
          <a:lstStyle/>
          <a:p>
            <a:endParaRPr lang="es-CO"/>
          </a:p>
        </p:txBody>
      </p:sp>
      <p:sp>
        <p:nvSpPr>
          <p:cNvPr id="8" name="Text 6"/>
          <p:cNvSpPr txBox="1"/>
          <p:nvPr/>
        </p:nvSpPr>
        <p:spPr>
          <a:xfrm>
            <a:off x="411480" y="1609344"/>
            <a:ext cx="2373630" cy="758952"/>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PESTEL + Porter. Análisis cuantitativo y cualitativo del entorno macro y competitivo.</a:t>
            </a:r>
            <a:endParaRPr lang="en-US" sz="1150" dirty="0"/>
          </a:p>
        </p:txBody>
      </p:sp>
      <p:sp>
        <p:nvSpPr>
          <p:cNvPr id="9" name="Shape 7"/>
          <p:cNvSpPr/>
          <p:nvPr/>
        </p:nvSpPr>
        <p:spPr>
          <a:xfrm>
            <a:off x="3333750" y="1170432"/>
            <a:ext cx="2510790" cy="384048"/>
          </a:xfrm>
          <a:prstGeom prst="rect">
            <a:avLst/>
          </a:prstGeom>
          <a:solidFill>
            <a:srgbClr val="1A7A8A"/>
          </a:solidFill>
          <a:ln w="12700">
            <a:solidFill>
              <a:srgbClr val="1A7A8A"/>
            </a:solidFill>
            <a:prstDash val="solid"/>
          </a:ln>
        </p:spPr>
        <p:txBody>
          <a:bodyPr/>
          <a:lstStyle/>
          <a:p>
            <a:endParaRPr lang="es-CO"/>
          </a:p>
        </p:txBody>
      </p:sp>
      <p:sp>
        <p:nvSpPr>
          <p:cNvPr id="10" name="Text 8"/>
          <p:cNvSpPr txBox="1"/>
          <p:nvPr/>
        </p:nvSpPr>
        <p:spPr>
          <a:xfrm>
            <a:off x="3425190" y="1225296"/>
            <a:ext cx="237363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2  Mercado</a:t>
            </a:r>
            <a:endParaRPr lang="en-US" sz="1300" dirty="0"/>
          </a:p>
        </p:txBody>
      </p:sp>
      <p:sp>
        <p:nvSpPr>
          <p:cNvPr id="11" name="Shape 9"/>
          <p:cNvSpPr/>
          <p:nvPr/>
        </p:nvSpPr>
        <p:spPr>
          <a:xfrm>
            <a:off x="3333750" y="1554480"/>
            <a:ext cx="2510790" cy="850392"/>
          </a:xfrm>
          <a:prstGeom prst="rect">
            <a:avLst/>
          </a:prstGeom>
          <a:solidFill>
            <a:srgbClr val="F1F5F9"/>
          </a:solidFill>
          <a:ln w="12700">
            <a:solidFill>
              <a:srgbClr val="CBD5E1"/>
            </a:solidFill>
            <a:prstDash val="solid"/>
          </a:ln>
        </p:spPr>
        <p:txBody>
          <a:bodyPr/>
          <a:lstStyle/>
          <a:p>
            <a:endParaRPr lang="es-CO"/>
          </a:p>
        </p:txBody>
      </p:sp>
      <p:sp>
        <p:nvSpPr>
          <p:cNvPr id="12" name="Text 10"/>
          <p:cNvSpPr txBox="1"/>
          <p:nvPr/>
        </p:nvSpPr>
        <p:spPr>
          <a:xfrm>
            <a:off x="3425190" y="1609344"/>
            <a:ext cx="2373630" cy="758952"/>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Encuestas a 63 establecimientos. Evalúa demanda, competencia y define estrategia "Pura".</a:t>
            </a:r>
            <a:endParaRPr lang="en-US" sz="1150" dirty="0"/>
          </a:p>
        </p:txBody>
      </p:sp>
      <p:sp>
        <p:nvSpPr>
          <p:cNvPr id="13" name="Shape 11"/>
          <p:cNvSpPr/>
          <p:nvPr/>
        </p:nvSpPr>
        <p:spPr>
          <a:xfrm>
            <a:off x="6347460" y="1170432"/>
            <a:ext cx="2510790" cy="384048"/>
          </a:xfrm>
          <a:prstGeom prst="rect">
            <a:avLst/>
          </a:prstGeom>
          <a:solidFill>
            <a:srgbClr val="1A7A8A"/>
          </a:solidFill>
          <a:ln w="12700">
            <a:solidFill>
              <a:srgbClr val="1A7A8A"/>
            </a:solidFill>
            <a:prstDash val="solid"/>
          </a:ln>
        </p:spPr>
        <p:txBody>
          <a:bodyPr/>
          <a:lstStyle/>
          <a:p>
            <a:endParaRPr lang="es-CO"/>
          </a:p>
        </p:txBody>
      </p:sp>
      <p:sp>
        <p:nvSpPr>
          <p:cNvPr id="14" name="Text 12"/>
          <p:cNvSpPr txBox="1"/>
          <p:nvPr/>
        </p:nvSpPr>
        <p:spPr>
          <a:xfrm>
            <a:off x="6438900" y="1225296"/>
            <a:ext cx="237363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3  Técnico</a:t>
            </a:r>
            <a:endParaRPr lang="en-US" sz="1300" dirty="0"/>
          </a:p>
        </p:txBody>
      </p:sp>
      <p:sp>
        <p:nvSpPr>
          <p:cNvPr id="15" name="Shape 13"/>
          <p:cNvSpPr/>
          <p:nvPr/>
        </p:nvSpPr>
        <p:spPr>
          <a:xfrm>
            <a:off x="6347460" y="1554480"/>
            <a:ext cx="2510790" cy="850392"/>
          </a:xfrm>
          <a:prstGeom prst="rect">
            <a:avLst/>
          </a:prstGeom>
          <a:solidFill>
            <a:srgbClr val="F1F5F9"/>
          </a:solidFill>
          <a:ln w="12700">
            <a:solidFill>
              <a:srgbClr val="CBD5E1"/>
            </a:solidFill>
            <a:prstDash val="solid"/>
          </a:ln>
        </p:spPr>
        <p:txBody>
          <a:bodyPr/>
          <a:lstStyle/>
          <a:p>
            <a:endParaRPr lang="es-CO"/>
          </a:p>
        </p:txBody>
      </p:sp>
      <p:sp>
        <p:nvSpPr>
          <p:cNvPr id="16" name="Text 14"/>
          <p:cNvSpPr txBox="1"/>
          <p:nvPr/>
        </p:nvSpPr>
        <p:spPr>
          <a:xfrm>
            <a:off x="6438900" y="1609344"/>
            <a:ext cx="2373630" cy="758952"/>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Localización (Comayagua), proceso HTST, capacidad 1,000–5,000 L/día y equipos.</a:t>
            </a:r>
            <a:endParaRPr lang="en-US" sz="1150" dirty="0"/>
          </a:p>
        </p:txBody>
      </p:sp>
      <p:sp>
        <p:nvSpPr>
          <p:cNvPr id="17" name="Shape 15"/>
          <p:cNvSpPr/>
          <p:nvPr/>
        </p:nvSpPr>
        <p:spPr>
          <a:xfrm>
            <a:off x="9361170" y="1170432"/>
            <a:ext cx="2510790" cy="384048"/>
          </a:xfrm>
          <a:prstGeom prst="rect">
            <a:avLst/>
          </a:prstGeom>
          <a:solidFill>
            <a:srgbClr val="1A7A8A"/>
          </a:solidFill>
          <a:ln w="12700">
            <a:solidFill>
              <a:srgbClr val="1A7A8A"/>
            </a:solidFill>
            <a:prstDash val="solid"/>
          </a:ln>
        </p:spPr>
        <p:txBody>
          <a:bodyPr/>
          <a:lstStyle/>
          <a:p>
            <a:endParaRPr lang="es-CO"/>
          </a:p>
        </p:txBody>
      </p:sp>
      <p:sp>
        <p:nvSpPr>
          <p:cNvPr id="18" name="Text 16"/>
          <p:cNvSpPr txBox="1"/>
          <p:nvPr/>
        </p:nvSpPr>
        <p:spPr>
          <a:xfrm>
            <a:off x="9452610" y="1225296"/>
            <a:ext cx="237363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4  Legal</a:t>
            </a:r>
            <a:endParaRPr lang="en-US" sz="1300" dirty="0"/>
          </a:p>
        </p:txBody>
      </p:sp>
      <p:sp>
        <p:nvSpPr>
          <p:cNvPr id="19" name="Shape 17"/>
          <p:cNvSpPr/>
          <p:nvPr/>
        </p:nvSpPr>
        <p:spPr>
          <a:xfrm>
            <a:off x="9361170" y="1554480"/>
            <a:ext cx="2510790" cy="850392"/>
          </a:xfrm>
          <a:prstGeom prst="rect">
            <a:avLst/>
          </a:prstGeom>
          <a:solidFill>
            <a:srgbClr val="F1F5F9"/>
          </a:solidFill>
          <a:ln w="12700">
            <a:solidFill>
              <a:srgbClr val="CBD5E1"/>
            </a:solidFill>
            <a:prstDash val="solid"/>
          </a:ln>
        </p:spPr>
        <p:txBody>
          <a:bodyPr/>
          <a:lstStyle/>
          <a:p>
            <a:endParaRPr lang="es-CO"/>
          </a:p>
        </p:txBody>
      </p:sp>
      <p:sp>
        <p:nvSpPr>
          <p:cNvPr id="20" name="Text 18"/>
          <p:cNvSpPr txBox="1"/>
          <p:nvPr/>
        </p:nvSpPr>
        <p:spPr>
          <a:xfrm>
            <a:off x="9452610" y="1609344"/>
            <a:ext cx="2373630" cy="758952"/>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Regulatorio: ARSA (licencia sanitaria), SENASA (inocuidad), SAG (producción), MIAMBIENTE.</a:t>
            </a:r>
            <a:endParaRPr lang="en-US" sz="1150" dirty="0"/>
          </a:p>
        </p:txBody>
      </p:sp>
      <p:sp>
        <p:nvSpPr>
          <p:cNvPr id="21" name="Shape 19"/>
          <p:cNvSpPr/>
          <p:nvPr/>
        </p:nvSpPr>
        <p:spPr>
          <a:xfrm>
            <a:off x="320040" y="2660904"/>
            <a:ext cx="2510790" cy="384048"/>
          </a:xfrm>
          <a:prstGeom prst="rect">
            <a:avLst/>
          </a:prstGeom>
          <a:solidFill>
            <a:srgbClr val="1B3A5C"/>
          </a:solidFill>
          <a:ln w="12700">
            <a:solidFill>
              <a:srgbClr val="1B3A5C"/>
            </a:solidFill>
            <a:prstDash val="solid"/>
          </a:ln>
        </p:spPr>
        <p:txBody>
          <a:bodyPr/>
          <a:lstStyle/>
          <a:p>
            <a:endParaRPr lang="es-CO"/>
          </a:p>
        </p:txBody>
      </p:sp>
      <p:sp>
        <p:nvSpPr>
          <p:cNvPr id="22" name="Text 20"/>
          <p:cNvSpPr txBox="1"/>
          <p:nvPr/>
        </p:nvSpPr>
        <p:spPr>
          <a:xfrm>
            <a:off x="411480" y="2715768"/>
            <a:ext cx="237363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5  Administrativo</a:t>
            </a:r>
            <a:endParaRPr lang="en-US" sz="1300" dirty="0"/>
          </a:p>
        </p:txBody>
      </p:sp>
      <p:sp>
        <p:nvSpPr>
          <p:cNvPr id="23" name="Shape 21"/>
          <p:cNvSpPr/>
          <p:nvPr/>
        </p:nvSpPr>
        <p:spPr>
          <a:xfrm>
            <a:off x="320040" y="3044952"/>
            <a:ext cx="2510790" cy="850392"/>
          </a:xfrm>
          <a:prstGeom prst="rect">
            <a:avLst/>
          </a:prstGeom>
          <a:solidFill>
            <a:srgbClr val="F1F5F9"/>
          </a:solidFill>
          <a:ln w="12700">
            <a:solidFill>
              <a:srgbClr val="CBD5E1"/>
            </a:solidFill>
            <a:prstDash val="solid"/>
          </a:ln>
        </p:spPr>
        <p:txBody>
          <a:bodyPr/>
          <a:lstStyle/>
          <a:p>
            <a:endParaRPr lang="es-CO"/>
          </a:p>
        </p:txBody>
      </p:sp>
      <p:sp>
        <p:nvSpPr>
          <p:cNvPr id="24" name="Text 22"/>
          <p:cNvSpPr txBox="1"/>
          <p:nvPr/>
        </p:nvSpPr>
        <p:spPr>
          <a:xfrm>
            <a:off x="411480" y="3099816"/>
            <a:ext cx="2373630" cy="758952"/>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Estructura funcional escalable. Organigrama, roles, salarios y gestión del talento.</a:t>
            </a:r>
            <a:endParaRPr lang="en-US" sz="1150" dirty="0"/>
          </a:p>
        </p:txBody>
      </p:sp>
      <p:sp>
        <p:nvSpPr>
          <p:cNvPr id="25" name="Shape 23"/>
          <p:cNvSpPr/>
          <p:nvPr/>
        </p:nvSpPr>
        <p:spPr>
          <a:xfrm>
            <a:off x="3333750" y="2660904"/>
            <a:ext cx="2510790" cy="384048"/>
          </a:xfrm>
          <a:prstGeom prst="rect">
            <a:avLst/>
          </a:prstGeom>
          <a:solidFill>
            <a:srgbClr val="1B3A5C"/>
          </a:solidFill>
          <a:ln w="12700">
            <a:solidFill>
              <a:srgbClr val="1B3A5C"/>
            </a:solidFill>
            <a:prstDash val="solid"/>
          </a:ln>
        </p:spPr>
        <p:txBody>
          <a:bodyPr/>
          <a:lstStyle/>
          <a:p>
            <a:endParaRPr lang="es-CO"/>
          </a:p>
        </p:txBody>
      </p:sp>
      <p:sp>
        <p:nvSpPr>
          <p:cNvPr id="26" name="Text 24"/>
          <p:cNvSpPr txBox="1"/>
          <p:nvPr/>
        </p:nvSpPr>
        <p:spPr>
          <a:xfrm>
            <a:off x="3425190" y="2715768"/>
            <a:ext cx="237363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6  Ambiental</a:t>
            </a:r>
            <a:endParaRPr lang="en-US" sz="1300" dirty="0"/>
          </a:p>
        </p:txBody>
      </p:sp>
      <p:sp>
        <p:nvSpPr>
          <p:cNvPr id="27" name="Shape 25"/>
          <p:cNvSpPr/>
          <p:nvPr/>
        </p:nvSpPr>
        <p:spPr>
          <a:xfrm>
            <a:off x="3333750" y="3044952"/>
            <a:ext cx="2510790" cy="850392"/>
          </a:xfrm>
          <a:prstGeom prst="rect">
            <a:avLst/>
          </a:prstGeom>
          <a:solidFill>
            <a:srgbClr val="F1F5F9"/>
          </a:solidFill>
          <a:ln w="12700">
            <a:solidFill>
              <a:srgbClr val="CBD5E1"/>
            </a:solidFill>
            <a:prstDash val="solid"/>
          </a:ln>
        </p:spPr>
        <p:txBody>
          <a:bodyPr/>
          <a:lstStyle/>
          <a:p>
            <a:endParaRPr lang="es-CO"/>
          </a:p>
        </p:txBody>
      </p:sp>
      <p:sp>
        <p:nvSpPr>
          <p:cNvPr id="28" name="Text 26"/>
          <p:cNvSpPr txBox="1"/>
          <p:nvPr/>
        </p:nvSpPr>
        <p:spPr>
          <a:xfrm>
            <a:off x="3425190" y="3099816"/>
            <a:ext cx="2373630" cy="758952"/>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Ley General del Ambiente, SERNA/MIAMBIENTE, SENASA. Gestión de efluentes y residuos.</a:t>
            </a:r>
            <a:endParaRPr lang="en-US" sz="1150" dirty="0"/>
          </a:p>
        </p:txBody>
      </p:sp>
      <p:sp>
        <p:nvSpPr>
          <p:cNvPr id="29" name="Shape 27"/>
          <p:cNvSpPr/>
          <p:nvPr/>
        </p:nvSpPr>
        <p:spPr>
          <a:xfrm>
            <a:off x="6347460" y="2660904"/>
            <a:ext cx="2510790" cy="384048"/>
          </a:xfrm>
          <a:prstGeom prst="rect">
            <a:avLst/>
          </a:prstGeom>
          <a:solidFill>
            <a:srgbClr val="1B3A5C"/>
          </a:solidFill>
          <a:ln w="12700">
            <a:solidFill>
              <a:srgbClr val="1B3A5C"/>
            </a:solidFill>
            <a:prstDash val="solid"/>
          </a:ln>
        </p:spPr>
        <p:txBody>
          <a:bodyPr/>
          <a:lstStyle/>
          <a:p>
            <a:endParaRPr lang="es-CO"/>
          </a:p>
        </p:txBody>
      </p:sp>
      <p:sp>
        <p:nvSpPr>
          <p:cNvPr id="30" name="Text 28"/>
          <p:cNvSpPr txBox="1"/>
          <p:nvPr/>
        </p:nvSpPr>
        <p:spPr>
          <a:xfrm>
            <a:off x="6438900" y="2715768"/>
            <a:ext cx="237363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7  Financiero</a:t>
            </a:r>
            <a:endParaRPr lang="en-US" sz="1300" dirty="0"/>
          </a:p>
        </p:txBody>
      </p:sp>
      <p:sp>
        <p:nvSpPr>
          <p:cNvPr id="31" name="Shape 29"/>
          <p:cNvSpPr/>
          <p:nvPr/>
        </p:nvSpPr>
        <p:spPr>
          <a:xfrm>
            <a:off x="6347460" y="3044952"/>
            <a:ext cx="2510790" cy="850392"/>
          </a:xfrm>
          <a:prstGeom prst="rect">
            <a:avLst/>
          </a:prstGeom>
          <a:solidFill>
            <a:srgbClr val="F1F5F9"/>
          </a:solidFill>
          <a:ln w="12700">
            <a:solidFill>
              <a:srgbClr val="CBD5E1"/>
            </a:solidFill>
            <a:prstDash val="solid"/>
          </a:ln>
        </p:spPr>
        <p:txBody>
          <a:bodyPr/>
          <a:lstStyle/>
          <a:p>
            <a:endParaRPr lang="es-CO"/>
          </a:p>
        </p:txBody>
      </p:sp>
      <p:sp>
        <p:nvSpPr>
          <p:cNvPr id="32" name="Text 30"/>
          <p:cNvSpPr txBox="1"/>
          <p:nvPr/>
        </p:nvSpPr>
        <p:spPr>
          <a:xfrm>
            <a:off x="6438900" y="3099816"/>
            <a:ext cx="2373630" cy="758952"/>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Proyección 10 años: inversión L 1,784,058, flujos de caja, VAN, TIR, B/C.</a:t>
            </a:r>
            <a:endParaRPr lang="en-US" sz="1150" dirty="0"/>
          </a:p>
        </p:txBody>
      </p:sp>
      <p:sp>
        <p:nvSpPr>
          <p:cNvPr id="33" name="Shape 31"/>
          <p:cNvSpPr/>
          <p:nvPr/>
        </p:nvSpPr>
        <p:spPr>
          <a:xfrm>
            <a:off x="9361170" y="2660904"/>
            <a:ext cx="2510790" cy="384048"/>
          </a:xfrm>
          <a:prstGeom prst="rect">
            <a:avLst/>
          </a:prstGeom>
          <a:solidFill>
            <a:srgbClr val="1B3A5C"/>
          </a:solidFill>
          <a:ln w="12700">
            <a:solidFill>
              <a:srgbClr val="1B3A5C"/>
            </a:solidFill>
            <a:prstDash val="solid"/>
          </a:ln>
        </p:spPr>
        <p:txBody>
          <a:bodyPr/>
          <a:lstStyle/>
          <a:p>
            <a:endParaRPr lang="es-CO"/>
          </a:p>
        </p:txBody>
      </p:sp>
      <p:sp>
        <p:nvSpPr>
          <p:cNvPr id="34" name="Text 32"/>
          <p:cNvSpPr txBox="1"/>
          <p:nvPr/>
        </p:nvSpPr>
        <p:spPr>
          <a:xfrm>
            <a:off x="9452610" y="2715768"/>
            <a:ext cx="237363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8  Riesgos</a:t>
            </a:r>
            <a:endParaRPr lang="en-US" sz="1300" dirty="0"/>
          </a:p>
        </p:txBody>
      </p:sp>
      <p:sp>
        <p:nvSpPr>
          <p:cNvPr id="35" name="Shape 33"/>
          <p:cNvSpPr/>
          <p:nvPr/>
        </p:nvSpPr>
        <p:spPr>
          <a:xfrm>
            <a:off x="9361170" y="3044952"/>
            <a:ext cx="2510790" cy="850392"/>
          </a:xfrm>
          <a:prstGeom prst="rect">
            <a:avLst/>
          </a:prstGeom>
          <a:solidFill>
            <a:srgbClr val="F1F5F9"/>
          </a:solidFill>
          <a:ln w="12700">
            <a:solidFill>
              <a:srgbClr val="CBD5E1"/>
            </a:solidFill>
            <a:prstDash val="solid"/>
          </a:ln>
        </p:spPr>
        <p:txBody>
          <a:bodyPr/>
          <a:lstStyle/>
          <a:p>
            <a:endParaRPr lang="es-CO"/>
          </a:p>
        </p:txBody>
      </p:sp>
      <p:sp>
        <p:nvSpPr>
          <p:cNvPr id="36" name="Text 34"/>
          <p:cNvSpPr txBox="1"/>
          <p:nvPr/>
        </p:nvSpPr>
        <p:spPr>
          <a:xfrm>
            <a:off x="9452610" y="3099816"/>
            <a:ext cx="2373630" cy="758952"/>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Simulación Monte Carlo (@RISK) con 11 eventos bajo enfoque frecuencia-severidad.</a:t>
            </a:r>
            <a:endParaRPr lang="en-US" sz="1150" dirty="0"/>
          </a:p>
        </p:txBody>
      </p:sp>
      <p:sp>
        <p:nvSpPr>
          <p:cNvPr id="37" name="Text 35"/>
          <p:cNvSpPr txBox="1"/>
          <p:nvPr/>
        </p:nvSpPr>
        <p:spPr>
          <a:xfrm>
            <a:off x="320040" y="6583680"/>
            <a:ext cx="11521440" cy="201168"/>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Maestría en Agronegocios · Universidad EAFIT · Zamorano · 2026   |   Caballero · Valladares · Medal</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320040" y="201168"/>
            <a:ext cx="1828800" cy="256032"/>
          </a:xfrm>
          <a:prstGeom prst="rect">
            <a:avLst/>
          </a:prstGeom>
          <a:noFill/>
          <a:ln/>
        </p:spPr>
        <p:txBody>
          <a:bodyPr wrap="square" rtlCol="0" anchor="ctr"/>
          <a:lstStyle/>
          <a:p>
            <a:pPr marL="0" indent="0" algn="l">
              <a:buNone/>
            </a:pPr>
            <a:r>
              <a:rPr lang="en-US" sz="900" b="1" kern="0" spc="100" dirty="0">
                <a:solidFill>
                  <a:srgbClr val="1A7A8A"/>
                </a:solidFill>
                <a:latin typeface="Calibri" pitchFamily="34" charset="0"/>
                <a:ea typeface="Calibri" pitchFamily="34" charset="-122"/>
                <a:cs typeface="Calibri" pitchFamily="34" charset="-120"/>
              </a:rPr>
              <a:t>SECTORIAL</a:t>
            </a:r>
            <a:endParaRPr lang="en-US" sz="900" dirty="0"/>
          </a:p>
        </p:txBody>
      </p:sp>
      <p:sp>
        <p:nvSpPr>
          <p:cNvPr id="3" name="Text 1"/>
          <p:cNvSpPr txBox="1"/>
          <p:nvPr/>
        </p:nvSpPr>
        <p:spPr>
          <a:xfrm>
            <a:off x="320040" y="475488"/>
            <a:ext cx="11521440" cy="502920"/>
          </a:xfrm>
          <a:prstGeom prst="rect">
            <a:avLst/>
          </a:prstGeom>
          <a:noFill/>
          <a:ln/>
        </p:spPr>
        <p:txBody>
          <a:bodyPr wrap="square" rtlCol="0" anchor="ctr"/>
          <a:lstStyle/>
          <a:p>
            <a:pPr marL="0" indent="0">
              <a:buNone/>
            </a:pPr>
            <a:r>
              <a:rPr lang="en-US" sz="2800" b="1" dirty="0">
                <a:solidFill>
                  <a:srgbClr val="0D2341"/>
                </a:solidFill>
                <a:latin typeface="Calibri" pitchFamily="34" charset="0"/>
                <a:ea typeface="Calibri" pitchFamily="34" charset="-122"/>
                <a:cs typeface="Calibri" pitchFamily="34" charset="-120"/>
              </a:rPr>
              <a:t>Estudio Sectorial · PESTEL</a:t>
            </a:r>
            <a:endParaRPr lang="en-US" sz="2800" dirty="0"/>
          </a:p>
        </p:txBody>
      </p:sp>
      <p:sp>
        <p:nvSpPr>
          <p:cNvPr id="4" name="Shape 2"/>
          <p:cNvSpPr/>
          <p:nvPr/>
        </p:nvSpPr>
        <p:spPr>
          <a:xfrm>
            <a:off x="320040" y="1005840"/>
            <a:ext cx="11430000" cy="18288"/>
          </a:xfrm>
          <a:prstGeom prst="rect">
            <a:avLst/>
          </a:prstGeom>
          <a:solidFill>
            <a:srgbClr val="1A7A8A"/>
          </a:solidFill>
          <a:ln w="12700">
            <a:solidFill>
              <a:srgbClr val="1A7A8A"/>
            </a:solidFill>
            <a:prstDash val="solid"/>
          </a:ln>
        </p:spPr>
        <p:txBody>
          <a:bodyPr/>
          <a:lstStyle/>
          <a:p>
            <a:endParaRPr lang="es-CO"/>
          </a:p>
        </p:txBody>
      </p:sp>
      <p:sp>
        <p:nvSpPr>
          <p:cNvPr id="5" name="Shape 3"/>
          <p:cNvSpPr/>
          <p:nvPr/>
        </p:nvSpPr>
        <p:spPr>
          <a:xfrm>
            <a:off x="320040" y="1170432"/>
            <a:ext cx="3520440" cy="2029968"/>
          </a:xfrm>
          <a:prstGeom prst="rect">
            <a:avLst/>
          </a:prstGeom>
          <a:solidFill>
            <a:srgbClr val="FFFFFF"/>
          </a:solidFill>
          <a:ln w="12700">
            <a:solidFill>
              <a:srgbClr val="CBD5E1"/>
            </a:solidFill>
            <a:prstDash val="solid"/>
          </a:ln>
        </p:spPr>
        <p:txBody>
          <a:bodyPr/>
          <a:lstStyle/>
          <a:p>
            <a:endParaRPr lang="es-CO"/>
          </a:p>
        </p:txBody>
      </p:sp>
      <p:sp>
        <p:nvSpPr>
          <p:cNvPr id="6" name="Shape 4"/>
          <p:cNvSpPr/>
          <p:nvPr/>
        </p:nvSpPr>
        <p:spPr>
          <a:xfrm>
            <a:off x="393192" y="1261872"/>
            <a:ext cx="502920" cy="502920"/>
          </a:xfrm>
          <a:prstGeom prst="rect">
            <a:avLst/>
          </a:prstGeom>
          <a:solidFill>
            <a:srgbClr val="1A7A8A"/>
          </a:solidFill>
          <a:ln w="12700">
            <a:solidFill>
              <a:srgbClr val="1A7A8A"/>
            </a:solidFill>
            <a:prstDash val="solid"/>
          </a:ln>
        </p:spPr>
        <p:txBody>
          <a:bodyPr/>
          <a:lstStyle/>
          <a:p>
            <a:endParaRPr lang="es-CO"/>
          </a:p>
        </p:txBody>
      </p:sp>
      <p:sp>
        <p:nvSpPr>
          <p:cNvPr id="7" name="Text 5"/>
          <p:cNvSpPr txBox="1"/>
          <p:nvPr/>
        </p:nvSpPr>
        <p:spPr>
          <a:xfrm>
            <a:off x="393192" y="1261872"/>
            <a:ext cx="50292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P</a:t>
            </a:r>
            <a:endParaRPr lang="en-US" sz="2000" dirty="0"/>
          </a:p>
        </p:txBody>
      </p:sp>
      <p:sp>
        <p:nvSpPr>
          <p:cNvPr id="8" name="Text 6"/>
          <p:cNvSpPr txBox="1"/>
          <p:nvPr/>
        </p:nvSpPr>
        <p:spPr>
          <a:xfrm>
            <a:off x="978408" y="1325880"/>
            <a:ext cx="2770632" cy="274320"/>
          </a:xfrm>
          <a:prstGeom prst="rect">
            <a:avLst/>
          </a:prstGeom>
          <a:noFill/>
          <a:ln/>
        </p:spPr>
        <p:txBody>
          <a:bodyPr wrap="square" rtlCol="0" anchor="ctr"/>
          <a:lstStyle/>
          <a:p>
            <a:pPr marL="0" indent="0">
              <a:buNone/>
            </a:pPr>
            <a:r>
              <a:rPr lang="en-US" sz="1100" b="1" kern="0" spc="50" dirty="0">
                <a:solidFill>
                  <a:srgbClr val="1A7A8A"/>
                </a:solidFill>
                <a:latin typeface="Calibri" pitchFamily="34" charset="0"/>
                <a:ea typeface="Calibri" pitchFamily="34" charset="-122"/>
                <a:cs typeface="Calibri" pitchFamily="34" charset="-120"/>
              </a:rPr>
              <a:t>POLÍTICO</a:t>
            </a:r>
            <a:endParaRPr lang="en-US" sz="1100" dirty="0"/>
          </a:p>
        </p:txBody>
      </p:sp>
      <p:sp>
        <p:nvSpPr>
          <p:cNvPr id="9" name="Text 7"/>
          <p:cNvSpPr txBox="1"/>
          <p:nvPr/>
        </p:nvSpPr>
        <p:spPr>
          <a:xfrm>
            <a:off x="429768" y="1828800"/>
            <a:ext cx="3319272" cy="1280160"/>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Regulación de SAG y SENASA; marco legal estable y política de inocuidad activa.</a:t>
            </a:r>
            <a:endParaRPr lang="en-US" sz="1150" dirty="0"/>
          </a:p>
        </p:txBody>
      </p:sp>
      <p:sp>
        <p:nvSpPr>
          <p:cNvPr id="10" name="Shape 8"/>
          <p:cNvSpPr/>
          <p:nvPr/>
        </p:nvSpPr>
        <p:spPr>
          <a:xfrm>
            <a:off x="4114800" y="1170432"/>
            <a:ext cx="3520440" cy="2029968"/>
          </a:xfrm>
          <a:prstGeom prst="rect">
            <a:avLst/>
          </a:prstGeom>
          <a:solidFill>
            <a:srgbClr val="FFFFFF"/>
          </a:solidFill>
          <a:ln w="12700">
            <a:solidFill>
              <a:srgbClr val="CBD5E1"/>
            </a:solidFill>
            <a:prstDash val="solid"/>
          </a:ln>
        </p:spPr>
        <p:txBody>
          <a:bodyPr/>
          <a:lstStyle/>
          <a:p>
            <a:endParaRPr lang="es-CO"/>
          </a:p>
        </p:txBody>
      </p:sp>
      <p:sp>
        <p:nvSpPr>
          <p:cNvPr id="11" name="Shape 9"/>
          <p:cNvSpPr/>
          <p:nvPr/>
        </p:nvSpPr>
        <p:spPr>
          <a:xfrm>
            <a:off x="4187952" y="1261872"/>
            <a:ext cx="502920" cy="502920"/>
          </a:xfrm>
          <a:prstGeom prst="rect">
            <a:avLst/>
          </a:prstGeom>
          <a:solidFill>
            <a:srgbClr val="1B3A5C"/>
          </a:solidFill>
          <a:ln w="12700">
            <a:solidFill>
              <a:srgbClr val="1B3A5C"/>
            </a:solidFill>
            <a:prstDash val="solid"/>
          </a:ln>
        </p:spPr>
        <p:txBody>
          <a:bodyPr/>
          <a:lstStyle/>
          <a:p>
            <a:endParaRPr lang="es-CO"/>
          </a:p>
        </p:txBody>
      </p:sp>
      <p:sp>
        <p:nvSpPr>
          <p:cNvPr id="12" name="Text 10"/>
          <p:cNvSpPr txBox="1"/>
          <p:nvPr/>
        </p:nvSpPr>
        <p:spPr>
          <a:xfrm>
            <a:off x="4187952" y="1261872"/>
            <a:ext cx="50292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E</a:t>
            </a:r>
            <a:endParaRPr lang="en-US" sz="2000" dirty="0"/>
          </a:p>
        </p:txBody>
      </p:sp>
      <p:sp>
        <p:nvSpPr>
          <p:cNvPr id="13" name="Text 11"/>
          <p:cNvSpPr txBox="1"/>
          <p:nvPr/>
        </p:nvSpPr>
        <p:spPr>
          <a:xfrm>
            <a:off x="4773168" y="1325880"/>
            <a:ext cx="2770632" cy="274320"/>
          </a:xfrm>
          <a:prstGeom prst="rect">
            <a:avLst/>
          </a:prstGeom>
          <a:noFill/>
          <a:ln/>
        </p:spPr>
        <p:txBody>
          <a:bodyPr wrap="square" rtlCol="0" anchor="ctr"/>
          <a:lstStyle/>
          <a:p>
            <a:pPr marL="0" indent="0">
              <a:buNone/>
            </a:pPr>
            <a:r>
              <a:rPr lang="en-US" sz="1100" b="1" kern="0" spc="50" dirty="0">
                <a:solidFill>
                  <a:srgbClr val="1B3A5C"/>
                </a:solidFill>
                <a:latin typeface="Calibri" pitchFamily="34" charset="0"/>
                <a:ea typeface="Calibri" pitchFamily="34" charset="-122"/>
                <a:cs typeface="Calibri" pitchFamily="34" charset="-120"/>
              </a:rPr>
              <a:t>ECONÓMICO</a:t>
            </a:r>
            <a:endParaRPr lang="en-US" sz="1100" dirty="0"/>
          </a:p>
        </p:txBody>
      </p:sp>
      <p:sp>
        <p:nvSpPr>
          <p:cNvPr id="14" name="Text 12"/>
          <p:cNvSpPr txBox="1"/>
          <p:nvPr/>
        </p:nvSpPr>
        <p:spPr>
          <a:xfrm>
            <a:off x="4224528" y="1828800"/>
            <a:ext cx="3319272" cy="1280160"/>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PIB +3.4 % (2026), inflación 4.98 % y remesas US$12,212 M: segmento urbano que paga por calidad.</a:t>
            </a:r>
            <a:endParaRPr lang="en-US" sz="1150" dirty="0"/>
          </a:p>
        </p:txBody>
      </p:sp>
      <p:sp>
        <p:nvSpPr>
          <p:cNvPr id="15" name="Shape 13"/>
          <p:cNvSpPr/>
          <p:nvPr/>
        </p:nvSpPr>
        <p:spPr>
          <a:xfrm>
            <a:off x="7909560" y="1170432"/>
            <a:ext cx="3520440" cy="2029968"/>
          </a:xfrm>
          <a:prstGeom prst="rect">
            <a:avLst/>
          </a:prstGeom>
          <a:solidFill>
            <a:srgbClr val="FFFFFF"/>
          </a:solidFill>
          <a:ln w="12700">
            <a:solidFill>
              <a:srgbClr val="CBD5E1"/>
            </a:solidFill>
            <a:prstDash val="solid"/>
          </a:ln>
        </p:spPr>
        <p:txBody>
          <a:bodyPr/>
          <a:lstStyle/>
          <a:p>
            <a:endParaRPr lang="es-CO"/>
          </a:p>
        </p:txBody>
      </p:sp>
      <p:sp>
        <p:nvSpPr>
          <p:cNvPr id="16" name="Shape 14"/>
          <p:cNvSpPr/>
          <p:nvPr/>
        </p:nvSpPr>
        <p:spPr>
          <a:xfrm>
            <a:off x="7982712" y="1261872"/>
            <a:ext cx="502920" cy="502920"/>
          </a:xfrm>
          <a:prstGeom prst="rect">
            <a:avLst/>
          </a:prstGeom>
          <a:solidFill>
            <a:srgbClr val="1A7A8A"/>
          </a:solidFill>
          <a:ln w="12700">
            <a:solidFill>
              <a:srgbClr val="1A7A8A"/>
            </a:solidFill>
            <a:prstDash val="solid"/>
          </a:ln>
        </p:spPr>
        <p:txBody>
          <a:bodyPr/>
          <a:lstStyle/>
          <a:p>
            <a:endParaRPr lang="es-CO"/>
          </a:p>
        </p:txBody>
      </p:sp>
      <p:sp>
        <p:nvSpPr>
          <p:cNvPr id="17" name="Text 15"/>
          <p:cNvSpPr txBox="1"/>
          <p:nvPr/>
        </p:nvSpPr>
        <p:spPr>
          <a:xfrm>
            <a:off x="7982712" y="1261872"/>
            <a:ext cx="50292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a:t>
            </a:r>
            <a:endParaRPr lang="en-US" sz="2000" dirty="0"/>
          </a:p>
        </p:txBody>
      </p:sp>
      <p:sp>
        <p:nvSpPr>
          <p:cNvPr id="18" name="Text 16"/>
          <p:cNvSpPr txBox="1"/>
          <p:nvPr/>
        </p:nvSpPr>
        <p:spPr>
          <a:xfrm>
            <a:off x="8567928" y="1325880"/>
            <a:ext cx="2770632" cy="274320"/>
          </a:xfrm>
          <a:prstGeom prst="rect">
            <a:avLst/>
          </a:prstGeom>
          <a:noFill/>
          <a:ln/>
        </p:spPr>
        <p:txBody>
          <a:bodyPr wrap="square" rtlCol="0" anchor="ctr"/>
          <a:lstStyle/>
          <a:p>
            <a:pPr marL="0" indent="0">
              <a:buNone/>
            </a:pPr>
            <a:r>
              <a:rPr lang="en-US" sz="1100" b="1" kern="0" spc="50" dirty="0">
                <a:solidFill>
                  <a:srgbClr val="1A7A8A"/>
                </a:solidFill>
                <a:latin typeface="Calibri" pitchFamily="34" charset="0"/>
                <a:ea typeface="Calibri" pitchFamily="34" charset="-122"/>
                <a:cs typeface="Calibri" pitchFamily="34" charset="-120"/>
              </a:rPr>
              <a:t>SOCIAL</a:t>
            </a:r>
            <a:endParaRPr lang="en-US" sz="1100" dirty="0"/>
          </a:p>
        </p:txBody>
      </p:sp>
      <p:sp>
        <p:nvSpPr>
          <p:cNvPr id="19" name="Text 17"/>
          <p:cNvSpPr txBox="1"/>
          <p:nvPr/>
        </p:nvSpPr>
        <p:spPr>
          <a:xfrm>
            <a:off x="8019288" y="1828800"/>
            <a:ext cx="3319272" cy="1280160"/>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Consumo tradicional de leche cruda; tendencia urbana a productos naturales y de calidad.</a:t>
            </a:r>
            <a:endParaRPr lang="en-US" sz="1150" dirty="0"/>
          </a:p>
        </p:txBody>
      </p:sp>
      <p:sp>
        <p:nvSpPr>
          <p:cNvPr id="20" name="Shape 18"/>
          <p:cNvSpPr/>
          <p:nvPr/>
        </p:nvSpPr>
        <p:spPr>
          <a:xfrm>
            <a:off x="320040" y="3328416"/>
            <a:ext cx="3520440" cy="2029968"/>
          </a:xfrm>
          <a:prstGeom prst="rect">
            <a:avLst/>
          </a:prstGeom>
          <a:solidFill>
            <a:srgbClr val="FFFFFF"/>
          </a:solidFill>
          <a:ln w="12700">
            <a:solidFill>
              <a:srgbClr val="CBD5E1"/>
            </a:solidFill>
            <a:prstDash val="solid"/>
          </a:ln>
        </p:spPr>
        <p:txBody>
          <a:bodyPr/>
          <a:lstStyle/>
          <a:p>
            <a:endParaRPr lang="es-CO"/>
          </a:p>
        </p:txBody>
      </p:sp>
      <p:sp>
        <p:nvSpPr>
          <p:cNvPr id="21" name="Shape 19"/>
          <p:cNvSpPr/>
          <p:nvPr/>
        </p:nvSpPr>
        <p:spPr>
          <a:xfrm>
            <a:off x="393192" y="3419856"/>
            <a:ext cx="502920" cy="502920"/>
          </a:xfrm>
          <a:prstGeom prst="rect">
            <a:avLst/>
          </a:prstGeom>
          <a:solidFill>
            <a:srgbClr val="1B3A5C"/>
          </a:solidFill>
          <a:ln w="12700">
            <a:solidFill>
              <a:srgbClr val="1B3A5C"/>
            </a:solidFill>
            <a:prstDash val="solid"/>
          </a:ln>
        </p:spPr>
        <p:txBody>
          <a:bodyPr/>
          <a:lstStyle/>
          <a:p>
            <a:endParaRPr lang="es-CO"/>
          </a:p>
        </p:txBody>
      </p:sp>
      <p:sp>
        <p:nvSpPr>
          <p:cNvPr id="22" name="Text 20"/>
          <p:cNvSpPr txBox="1"/>
          <p:nvPr/>
        </p:nvSpPr>
        <p:spPr>
          <a:xfrm>
            <a:off x="393192" y="3419856"/>
            <a:ext cx="50292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T</a:t>
            </a:r>
            <a:endParaRPr lang="en-US" sz="2000" dirty="0"/>
          </a:p>
        </p:txBody>
      </p:sp>
      <p:sp>
        <p:nvSpPr>
          <p:cNvPr id="23" name="Text 21"/>
          <p:cNvSpPr txBox="1"/>
          <p:nvPr/>
        </p:nvSpPr>
        <p:spPr>
          <a:xfrm>
            <a:off x="978408" y="3483864"/>
            <a:ext cx="2770632" cy="274320"/>
          </a:xfrm>
          <a:prstGeom prst="rect">
            <a:avLst/>
          </a:prstGeom>
          <a:noFill/>
          <a:ln/>
        </p:spPr>
        <p:txBody>
          <a:bodyPr wrap="square" rtlCol="0" anchor="ctr"/>
          <a:lstStyle/>
          <a:p>
            <a:pPr marL="0" indent="0">
              <a:buNone/>
            </a:pPr>
            <a:r>
              <a:rPr lang="en-US" sz="1100" b="1" kern="0" spc="50" dirty="0">
                <a:solidFill>
                  <a:srgbClr val="1B3A5C"/>
                </a:solidFill>
                <a:latin typeface="Calibri" pitchFamily="34" charset="0"/>
                <a:ea typeface="Calibri" pitchFamily="34" charset="-122"/>
                <a:cs typeface="Calibri" pitchFamily="34" charset="-120"/>
              </a:rPr>
              <a:t>TECNOLÓGICO</a:t>
            </a:r>
            <a:endParaRPr lang="en-US" sz="1100" dirty="0"/>
          </a:p>
        </p:txBody>
      </p:sp>
      <p:sp>
        <p:nvSpPr>
          <p:cNvPr id="24" name="Text 22"/>
          <p:cNvSpPr txBox="1"/>
          <p:nvPr/>
        </p:nvSpPr>
        <p:spPr>
          <a:xfrm>
            <a:off x="429768" y="3986784"/>
            <a:ext cx="3319272" cy="1280160"/>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Tecnología HTST disponible y regulada (RTCA); HACCP implementable desde el inicio.</a:t>
            </a:r>
            <a:endParaRPr lang="en-US" sz="1150" dirty="0"/>
          </a:p>
        </p:txBody>
      </p:sp>
      <p:sp>
        <p:nvSpPr>
          <p:cNvPr id="25" name="Shape 23"/>
          <p:cNvSpPr/>
          <p:nvPr/>
        </p:nvSpPr>
        <p:spPr>
          <a:xfrm>
            <a:off x="4114800" y="3328416"/>
            <a:ext cx="3520440" cy="2029968"/>
          </a:xfrm>
          <a:prstGeom prst="rect">
            <a:avLst/>
          </a:prstGeom>
          <a:solidFill>
            <a:srgbClr val="FFFFFF"/>
          </a:solidFill>
          <a:ln w="12700">
            <a:solidFill>
              <a:srgbClr val="CBD5E1"/>
            </a:solidFill>
            <a:prstDash val="solid"/>
          </a:ln>
        </p:spPr>
        <p:txBody>
          <a:bodyPr/>
          <a:lstStyle/>
          <a:p>
            <a:endParaRPr lang="es-CO"/>
          </a:p>
        </p:txBody>
      </p:sp>
      <p:sp>
        <p:nvSpPr>
          <p:cNvPr id="26" name="Shape 24"/>
          <p:cNvSpPr/>
          <p:nvPr/>
        </p:nvSpPr>
        <p:spPr>
          <a:xfrm>
            <a:off x="4187952" y="3419856"/>
            <a:ext cx="502920" cy="502920"/>
          </a:xfrm>
          <a:prstGeom prst="rect">
            <a:avLst/>
          </a:prstGeom>
          <a:solidFill>
            <a:srgbClr val="1A7A8A"/>
          </a:solidFill>
          <a:ln w="12700">
            <a:solidFill>
              <a:srgbClr val="1A7A8A"/>
            </a:solidFill>
            <a:prstDash val="solid"/>
          </a:ln>
        </p:spPr>
        <p:txBody>
          <a:bodyPr/>
          <a:lstStyle/>
          <a:p>
            <a:endParaRPr lang="es-CO"/>
          </a:p>
        </p:txBody>
      </p:sp>
      <p:sp>
        <p:nvSpPr>
          <p:cNvPr id="27" name="Text 25"/>
          <p:cNvSpPr txBox="1"/>
          <p:nvPr/>
        </p:nvSpPr>
        <p:spPr>
          <a:xfrm>
            <a:off x="4187952" y="3419856"/>
            <a:ext cx="50292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E</a:t>
            </a:r>
            <a:endParaRPr lang="en-US" sz="2000" dirty="0"/>
          </a:p>
        </p:txBody>
      </p:sp>
      <p:sp>
        <p:nvSpPr>
          <p:cNvPr id="28" name="Text 26"/>
          <p:cNvSpPr txBox="1"/>
          <p:nvPr/>
        </p:nvSpPr>
        <p:spPr>
          <a:xfrm>
            <a:off x="4773168" y="3483864"/>
            <a:ext cx="2770632" cy="274320"/>
          </a:xfrm>
          <a:prstGeom prst="rect">
            <a:avLst/>
          </a:prstGeom>
          <a:noFill/>
          <a:ln/>
        </p:spPr>
        <p:txBody>
          <a:bodyPr wrap="square" rtlCol="0" anchor="ctr"/>
          <a:lstStyle/>
          <a:p>
            <a:pPr marL="0" indent="0">
              <a:buNone/>
            </a:pPr>
            <a:r>
              <a:rPr lang="en-US" sz="1100" b="1" kern="0" spc="50" dirty="0">
                <a:solidFill>
                  <a:srgbClr val="1A7A8A"/>
                </a:solidFill>
                <a:latin typeface="Calibri" pitchFamily="34" charset="0"/>
                <a:ea typeface="Calibri" pitchFamily="34" charset="-122"/>
                <a:cs typeface="Calibri" pitchFamily="34" charset="-120"/>
              </a:rPr>
              <a:t>ECOLÓGICO</a:t>
            </a:r>
            <a:endParaRPr lang="en-US" sz="1100" dirty="0"/>
          </a:p>
        </p:txBody>
      </p:sp>
      <p:sp>
        <p:nvSpPr>
          <p:cNvPr id="29" name="Text 27"/>
          <p:cNvSpPr txBox="1"/>
          <p:nvPr/>
        </p:nvSpPr>
        <p:spPr>
          <a:xfrm>
            <a:off x="4224528" y="3986784"/>
            <a:ext cx="3319272" cy="1280160"/>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Vulnerabilidad climática, gestión de efluentes (MiAmbiente) y huella energética del frío.</a:t>
            </a:r>
            <a:endParaRPr lang="en-US" sz="1150" dirty="0"/>
          </a:p>
        </p:txBody>
      </p:sp>
      <p:sp>
        <p:nvSpPr>
          <p:cNvPr id="30" name="Shape 28"/>
          <p:cNvSpPr/>
          <p:nvPr/>
        </p:nvSpPr>
        <p:spPr>
          <a:xfrm>
            <a:off x="7909560" y="3328416"/>
            <a:ext cx="3520440" cy="2029968"/>
          </a:xfrm>
          <a:prstGeom prst="rect">
            <a:avLst/>
          </a:prstGeom>
          <a:solidFill>
            <a:srgbClr val="FFFFFF"/>
          </a:solidFill>
          <a:ln w="12700">
            <a:solidFill>
              <a:srgbClr val="CBD5E1"/>
            </a:solidFill>
            <a:prstDash val="solid"/>
          </a:ln>
        </p:spPr>
        <p:txBody>
          <a:bodyPr/>
          <a:lstStyle/>
          <a:p>
            <a:endParaRPr lang="es-CO"/>
          </a:p>
        </p:txBody>
      </p:sp>
      <p:sp>
        <p:nvSpPr>
          <p:cNvPr id="31" name="Shape 29"/>
          <p:cNvSpPr/>
          <p:nvPr/>
        </p:nvSpPr>
        <p:spPr>
          <a:xfrm>
            <a:off x="7982712" y="3419856"/>
            <a:ext cx="502920" cy="502920"/>
          </a:xfrm>
          <a:prstGeom prst="rect">
            <a:avLst/>
          </a:prstGeom>
          <a:solidFill>
            <a:srgbClr val="1B3A5C"/>
          </a:solidFill>
          <a:ln w="12700">
            <a:solidFill>
              <a:srgbClr val="1B3A5C"/>
            </a:solidFill>
            <a:prstDash val="solid"/>
          </a:ln>
        </p:spPr>
        <p:txBody>
          <a:bodyPr/>
          <a:lstStyle/>
          <a:p>
            <a:endParaRPr lang="es-CO"/>
          </a:p>
        </p:txBody>
      </p:sp>
      <p:sp>
        <p:nvSpPr>
          <p:cNvPr id="32" name="Text 30"/>
          <p:cNvSpPr txBox="1"/>
          <p:nvPr/>
        </p:nvSpPr>
        <p:spPr>
          <a:xfrm>
            <a:off x="7982712" y="3419856"/>
            <a:ext cx="50292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L</a:t>
            </a:r>
            <a:endParaRPr lang="en-US" sz="2000" dirty="0"/>
          </a:p>
        </p:txBody>
      </p:sp>
      <p:sp>
        <p:nvSpPr>
          <p:cNvPr id="33" name="Text 31"/>
          <p:cNvSpPr txBox="1"/>
          <p:nvPr/>
        </p:nvSpPr>
        <p:spPr>
          <a:xfrm>
            <a:off x="8567928" y="3483864"/>
            <a:ext cx="2770632" cy="274320"/>
          </a:xfrm>
          <a:prstGeom prst="rect">
            <a:avLst/>
          </a:prstGeom>
          <a:noFill/>
          <a:ln/>
        </p:spPr>
        <p:txBody>
          <a:bodyPr wrap="square" rtlCol="0" anchor="ctr"/>
          <a:lstStyle/>
          <a:p>
            <a:pPr marL="0" indent="0">
              <a:buNone/>
            </a:pPr>
            <a:r>
              <a:rPr lang="en-US" sz="1100" b="1" kern="0" spc="50" dirty="0">
                <a:solidFill>
                  <a:srgbClr val="1B3A5C"/>
                </a:solidFill>
                <a:latin typeface="Calibri" pitchFamily="34" charset="0"/>
                <a:ea typeface="Calibri" pitchFamily="34" charset="-122"/>
                <a:cs typeface="Calibri" pitchFamily="34" charset="-120"/>
              </a:rPr>
              <a:t>LEGAL</a:t>
            </a:r>
            <a:endParaRPr lang="en-US" sz="1100" dirty="0"/>
          </a:p>
        </p:txBody>
      </p:sp>
      <p:sp>
        <p:nvSpPr>
          <p:cNvPr id="34" name="Text 32"/>
          <p:cNvSpPr txBox="1"/>
          <p:nvPr/>
        </p:nvSpPr>
        <p:spPr>
          <a:xfrm>
            <a:off x="8019288" y="3986784"/>
            <a:ext cx="3319272" cy="1280160"/>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RTCA, Ley de Inocuidad y Ordenanza de Inspección Sanitaria de Leche; registro ARSA y permisos SENASA.</a:t>
            </a:r>
            <a:endParaRPr lang="en-US" sz="1150" dirty="0"/>
          </a:p>
        </p:txBody>
      </p:sp>
      <p:sp>
        <p:nvSpPr>
          <p:cNvPr id="35" name="Text 33"/>
          <p:cNvSpPr txBox="1"/>
          <p:nvPr/>
        </p:nvSpPr>
        <p:spPr>
          <a:xfrm>
            <a:off x="320040" y="6583680"/>
            <a:ext cx="11521440" cy="201168"/>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Maestría en Agronegocios · Universidad EAFIT · Zamorano · 2026   |   Caballero · Valladares · Medal</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320040" y="201168"/>
            <a:ext cx="1828800" cy="256032"/>
          </a:xfrm>
          <a:prstGeom prst="rect">
            <a:avLst/>
          </a:prstGeom>
          <a:noFill/>
          <a:ln/>
        </p:spPr>
        <p:txBody>
          <a:bodyPr wrap="square" rtlCol="0" anchor="ctr"/>
          <a:lstStyle/>
          <a:p>
            <a:pPr marL="0" indent="0" algn="l">
              <a:buNone/>
            </a:pPr>
            <a:r>
              <a:rPr lang="en-US" sz="900" b="1" kern="0" spc="100" dirty="0">
                <a:solidFill>
                  <a:srgbClr val="1A7A8A"/>
                </a:solidFill>
                <a:latin typeface="Calibri" pitchFamily="34" charset="0"/>
                <a:ea typeface="Calibri" pitchFamily="34" charset="-122"/>
                <a:cs typeface="Calibri" pitchFamily="34" charset="-120"/>
              </a:rPr>
              <a:t>SECTORIAL</a:t>
            </a:r>
            <a:endParaRPr lang="en-US" sz="900" dirty="0"/>
          </a:p>
        </p:txBody>
      </p:sp>
      <p:sp>
        <p:nvSpPr>
          <p:cNvPr id="3" name="Text 1"/>
          <p:cNvSpPr txBox="1"/>
          <p:nvPr/>
        </p:nvSpPr>
        <p:spPr>
          <a:xfrm>
            <a:off x="320040" y="475488"/>
            <a:ext cx="11521440" cy="502920"/>
          </a:xfrm>
          <a:prstGeom prst="rect">
            <a:avLst/>
          </a:prstGeom>
          <a:noFill/>
          <a:ln/>
        </p:spPr>
        <p:txBody>
          <a:bodyPr wrap="square" rtlCol="0" anchor="ctr"/>
          <a:lstStyle/>
          <a:p>
            <a:pPr marL="0" indent="0">
              <a:buNone/>
            </a:pPr>
            <a:r>
              <a:rPr lang="en-US" sz="2600" b="1" dirty="0">
                <a:solidFill>
                  <a:srgbClr val="0D2341"/>
                </a:solidFill>
                <a:latin typeface="Calibri" pitchFamily="34" charset="0"/>
                <a:ea typeface="Calibri" pitchFamily="34" charset="-122"/>
                <a:cs typeface="Calibri" pitchFamily="34" charset="-120"/>
              </a:rPr>
              <a:t>Estudio Sectorial · 5 Fuerzas de Porter</a:t>
            </a:r>
            <a:endParaRPr lang="en-US" sz="2600" dirty="0"/>
          </a:p>
        </p:txBody>
      </p:sp>
      <p:sp>
        <p:nvSpPr>
          <p:cNvPr id="4" name="Shape 2"/>
          <p:cNvSpPr/>
          <p:nvPr/>
        </p:nvSpPr>
        <p:spPr>
          <a:xfrm>
            <a:off x="320040" y="1005840"/>
            <a:ext cx="11430000" cy="18288"/>
          </a:xfrm>
          <a:prstGeom prst="rect">
            <a:avLst/>
          </a:prstGeom>
          <a:solidFill>
            <a:srgbClr val="1A7A8A"/>
          </a:solidFill>
          <a:ln w="12700">
            <a:solidFill>
              <a:srgbClr val="1A7A8A"/>
            </a:solidFill>
            <a:prstDash val="solid"/>
          </a:ln>
        </p:spPr>
        <p:txBody>
          <a:bodyPr/>
          <a:lstStyle/>
          <a:p>
            <a:endParaRPr lang="es-CO"/>
          </a:p>
        </p:txBody>
      </p:sp>
      <p:sp>
        <p:nvSpPr>
          <p:cNvPr id="5" name="Shape 3"/>
          <p:cNvSpPr/>
          <p:nvPr/>
        </p:nvSpPr>
        <p:spPr>
          <a:xfrm>
            <a:off x="4389120" y="2606040"/>
            <a:ext cx="3383280" cy="1965960"/>
          </a:xfrm>
          <a:prstGeom prst="rect">
            <a:avLst/>
          </a:prstGeom>
          <a:solidFill>
            <a:srgbClr val="0D2341"/>
          </a:solidFill>
          <a:ln w="12700">
            <a:solidFill>
              <a:srgbClr val="0D2341"/>
            </a:solidFill>
            <a:prstDash val="solid"/>
          </a:ln>
        </p:spPr>
        <p:txBody>
          <a:bodyPr/>
          <a:lstStyle/>
          <a:p>
            <a:endParaRPr lang="es-CO"/>
          </a:p>
        </p:txBody>
      </p:sp>
      <p:sp>
        <p:nvSpPr>
          <p:cNvPr id="6" name="Text 4"/>
          <p:cNvSpPr txBox="1"/>
          <p:nvPr/>
        </p:nvSpPr>
        <p:spPr>
          <a:xfrm>
            <a:off x="4480560" y="2697480"/>
            <a:ext cx="3200400" cy="475488"/>
          </a:xfrm>
          <a:prstGeom prst="rect">
            <a:avLst/>
          </a:prstGeom>
          <a:noFill/>
          <a:ln/>
        </p:spPr>
        <p:txBody>
          <a:bodyPr wrap="square" rtlCol="0" anchor="ctr"/>
          <a:lstStyle/>
          <a:p>
            <a:pPr marL="0" indent="0" algn="ctr">
              <a:buNone/>
            </a:pPr>
            <a:r>
              <a:rPr lang="en-US" sz="1100" b="1" dirty="0">
                <a:solidFill>
                  <a:srgbClr val="1A7A8A"/>
                </a:solidFill>
                <a:latin typeface="Calibri" pitchFamily="34" charset="0"/>
                <a:ea typeface="Calibri" pitchFamily="34" charset="-122"/>
                <a:cs typeface="Calibri" pitchFamily="34" charset="-120"/>
              </a:rPr>
              <a:t>ESTRATEGIA DE</a:t>
            </a:r>
            <a:endParaRPr lang="en-US" sz="1100" dirty="0"/>
          </a:p>
          <a:p>
            <a:pPr marL="0" indent="0" algn="ctr">
              <a:buNone/>
            </a:pPr>
            <a:r>
              <a:rPr lang="en-US" sz="1100" b="1" dirty="0">
                <a:solidFill>
                  <a:srgbClr val="1A7A8A"/>
                </a:solidFill>
                <a:latin typeface="Calibri" pitchFamily="34" charset="0"/>
                <a:ea typeface="Calibri" pitchFamily="34" charset="-122"/>
                <a:cs typeface="Calibri" pitchFamily="34" charset="-120"/>
              </a:rPr>
              <a:t>POSICIONAMIENTO</a:t>
            </a:r>
            <a:endParaRPr lang="en-US" sz="1100" dirty="0"/>
          </a:p>
        </p:txBody>
      </p:sp>
      <p:sp>
        <p:nvSpPr>
          <p:cNvPr id="7" name="Text 5"/>
          <p:cNvSpPr txBox="1"/>
          <p:nvPr/>
        </p:nvSpPr>
        <p:spPr>
          <a:xfrm>
            <a:off x="4526280" y="3200400"/>
            <a:ext cx="3108960" cy="25603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Única leche fresca fluida en Honduras</a:t>
            </a:r>
            <a:endParaRPr lang="en-US" sz="1100" dirty="0"/>
          </a:p>
        </p:txBody>
      </p:sp>
      <p:sp>
        <p:nvSpPr>
          <p:cNvPr id="8" name="Text 6"/>
          <p:cNvSpPr txBox="1"/>
          <p:nvPr/>
        </p:nvSpPr>
        <p:spPr>
          <a:xfrm>
            <a:off x="4526280" y="3493008"/>
            <a:ext cx="3108960" cy="25603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Alianza con ganaderos CREL certificados</a:t>
            </a:r>
            <a:endParaRPr lang="en-US" sz="1100" dirty="0"/>
          </a:p>
        </p:txBody>
      </p:sp>
      <p:sp>
        <p:nvSpPr>
          <p:cNvPr id="9" name="Text 7"/>
          <p:cNvSpPr txBox="1"/>
          <p:nvPr/>
        </p:nvSpPr>
        <p:spPr>
          <a:xfrm>
            <a:off x="4526280" y="3785616"/>
            <a:ext cx="3108960" cy="25603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Foco: HoReCa y cafeterías gourmet</a:t>
            </a:r>
            <a:endParaRPr lang="en-US" sz="1100" dirty="0"/>
          </a:p>
        </p:txBody>
      </p:sp>
      <p:sp>
        <p:nvSpPr>
          <p:cNvPr id="10" name="Text 8"/>
          <p:cNvSpPr txBox="1"/>
          <p:nvPr/>
        </p:nvSpPr>
        <p:spPr>
          <a:xfrm>
            <a:off x="4526280" y="4078224"/>
            <a:ext cx="3108960" cy="25603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Precio L 28/L validado por mercado</a:t>
            </a:r>
            <a:endParaRPr lang="en-US" sz="1100" dirty="0"/>
          </a:p>
        </p:txBody>
      </p:sp>
      <p:sp>
        <p:nvSpPr>
          <p:cNvPr id="11" name="Shape 9"/>
          <p:cNvSpPr/>
          <p:nvPr/>
        </p:nvSpPr>
        <p:spPr>
          <a:xfrm>
            <a:off x="228600" y="1188720"/>
            <a:ext cx="3840480" cy="1783080"/>
          </a:xfrm>
          <a:prstGeom prst="rect">
            <a:avLst/>
          </a:prstGeom>
          <a:solidFill>
            <a:srgbClr val="E6F4F6"/>
          </a:solidFill>
          <a:ln w="12700">
            <a:solidFill>
              <a:srgbClr val="1A7A8A"/>
            </a:solidFill>
            <a:prstDash val="solid"/>
          </a:ln>
        </p:spPr>
        <p:txBody>
          <a:bodyPr/>
          <a:lstStyle/>
          <a:p>
            <a:endParaRPr lang="es-CO"/>
          </a:p>
        </p:txBody>
      </p:sp>
      <p:sp>
        <p:nvSpPr>
          <p:cNvPr id="12" name="Text 10"/>
          <p:cNvSpPr txBox="1"/>
          <p:nvPr/>
        </p:nvSpPr>
        <p:spPr>
          <a:xfrm>
            <a:off x="338328" y="1280160"/>
            <a:ext cx="3639312" cy="310896"/>
          </a:xfrm>
          <a:prstGeom prst="rect">
            <a:avLst/>
          </a:prstGeom>
          <a:noFill/>
          <a:ln/>
        </p:spPr>
        <p:txBody>
          <a:bodyPr wrap="square" rtlCol="0" anchor="ctr"/>
          <a:lstStyle/>
          <a:p>
            <a:pPr marL="0" indent="0">
              <a:buNone/>
            </a:pPr>
            <a:r>
              <a:rPr lang="en-US" sz="1200" b="1" dirty="0">
                <a:solidFill>
                  <a:srgbClr val="1A7A8A"/>
                </a:solidFill>
                <a:latin typeface="Calibri" pitchFamily="34" charset="0"/>
                <a:ea typeface="Calibri" pitchFamily="34" charset="-122"/>
                <a:cs typeface="Calibri" pitchFamily="34" charset="-120"/>
              </a:rPr>
              <a:t>Poder de Proveedores · Medio-alto</a:t>
            </a:r>
            <a:endParaRPr lang="en-US" sz="1200" dirty="0"/>
          </a:p>
        </p:txBody>
      </p:sp>
      <p:sp>
        <p:nvSpPr>
          <p:cNvPr id="13" name="Text 11"/>
          <p:cNvSpPr txBox="1"/>
          <p:nvPr/>
        </p:nvSpPr>
        <p:spPr>
          <a:xfrm>
            <a:off x="338328" y="1609344"/>
            <a:ext cx="3639312" cy="1271016"/>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Alta atomización de ganaderos y dependencia del clima. Contratos con CREL estabilizan suministro y precio.</a:t>
            </a:r>
            <a:endParaRPr lang="en-US" sz="1150" dirty="0"/>
          </a:p>
        </p:txBody>
      </p:sp>
      <p:sp>
        <p:nvSpPr>
          <p:cNvPr id="14" name="Shape 12"/>
          <p:cNvSpPr/>
          <p:nvPr/>
        </p:nvSpPr>
        <p:spPr>
          <a:xfrm>
            <a:off x="8092440" y="1188720"/>
            <a:ext cx="3840480" cy="1783080"/>
          </a:xfrm>
          <a:prstGeom prst="rect">
            <a:avLst/>
          </a:prstGeom>
          <a:solidFill>
            <a:srgbClr val="E6F4F6"/>
          </a:solidFill>
          <a:ln w="12700">
            <a:solidFill>
              <a:srgbClr val="1A7A8A"/>
            </a:solidFill>
            <a:prstDash val="solid"/>
          </a:ln>
        </p:spPr>
        <p:txBody>
          <a:bodyPr/>
          <a:lstStyle/>
          <a:p>
            <a:endParaRPr lang="es-CO"/>
          </a:p>
        </p:txBody>
      </p:sp>
      <p:sp>
        <p:nvSpPr>
          <p:cNvPr id="15" name="Text 13"/>
          <p:cNvSpPr txBox="1"/>
          <p:nvPr/>
        </p:nvSpPr>
        <p:spPr>
          <a:xfrm>
            <a:off x="8202168" y="1280160"/>
            <a:ext cx="3639312" cy="310896"/>
          </a:xfrm>
          <a:prstGeom prst="rect">
            <a:avLst/>
          </a:prstGeom>
          <a:noFill/>
          <a:ln/>
        </p:spPr>
        <p:txBody>
          <a:bodyPr wrap="square" rtlCol="0" anchor="ctr"/>
          <a:lstStyle/>
          <a:p>
            <a:pPr marL="0" indent="0">
              <a:buNone/>
            </a:pPr>
            <a:r>
              <a:rPr lang="en-US" sz="1200" b="1" dirty="0">
                <a:solidFill>
                  <a:srgbClr val="1A7A8A"/>
                </a:solidFill>
                <a:latin typeface="Calibri" pitchFamily="34" charset="0"/>
                <a:ea typeface="Calibri" pitchFamily="34" charset="-122"/>
                <a:cs typeface="Calibri" pitchFamily="34" charset="-120"/>
              </a:rPr>
              <a:t>Nuevos Competidores · Medio</a:t>
            </a:r>
            <a:endParaRPr lang="en-US" sz="1200" dirty="0"/>
          </a:p>
        </p:txBody>
      </p:sp>
      <p:sp>
        <p:nvSpPr>
          <p:cNvPr id="16" name="Text 14"/>
          <p:cNvSpPr txBox="1"/>
          <p:nvPr/>
        </p:nvSpPr>
        <p:spPr>
          <a:xfrm>
            <a:off x="8202168" y="1609344"/>
            <a:ext cx="3639312" cy="1271016"/>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Barreras moderadas: tecnología, permisos SENASA/ARSA e inversión; mercado controlado por un actor dominante.</a:t>
            </a:r>
            <a:endParaRPr lang="en-US" sz="1150" dirty="0"/>
          </a:p>
        </p:txBody>
      </p:sp>
      <p:sp>
        <p:nvSpPr>
          <p:cNvPr id="17" name="Shape 15"/>
          <p:cNvSpPr/>
          <p:nvPr/>
        </p:nvSpPr>
        <p:spPr>
          <a:xfrm>
            <a:off x="228600" y="3154680"/>
            <a:ext cx="3840480" cy="1783080"/>
          </a:xfrm>
          <a:prstGeom prst="rect">
            <a:avLst/>
          </a:prstGeom>
          <a:solidFill>
            <a:srgbClr val="E6F4F6"/>
          </a:solidFill>
          <a:ln w="12700">
            <a:solidFill>
              <a:srgbClr val="1A7A8A"/>
            </a:solidFill>
            <a:prstDash val="solid"/>
          </a:ln>
        </p:spPr>
        <p:txBody>
          <a:bodyPr/>
          <a:lstStyle/>
          <a:p>
            <a:endParaRPr lang="es-CO"/>
          </a:p>
        </p:txBody>
      </p:sp>
      <p:sp>
        <p:nvSpPr>
          <p:cNvPr id="18" name="Text 16"/>
          <p:cNvSpPr txBox="1"/>
          <p:nvPr/>
        </p:nvSpPr>
        <p:spPr>
          <a:xfrm>
            <a:off x="338328" y="3246120"/>
            <a:ext cx="3639312" cy="310896"/>
          </a:xfrm>
          <a:prstGeom prst="rect">
            <a:avLst/>
          </a:prstGeom>
          <a:noFill/>
          <a:ln/>
        </p:spPr>
        <p:txBody>
          <a:bodyPr wrap="square" rtlCol="0" anchor="ctr"/>
          <a:lstStyle/>
          <a:p>
            <a:pPr marL="0" indent="0">
              <a:buNone/>
            </a:pPr>
            <a:r>
              <a:rPr lang="en-US" sz="1200" b="1" dirty="0">
                <a:solidFill>
                  <a:srgbClr val="1A7A8A"/>
                </a:solidFill>
                <a:latin typeface="Calibri" pitchFamily="34" charset="0"/>
                <a:ea typeface="Calibri" pitchFamily="34" charset="-122"/>
                <a:cs typeface="Calibri" pitchFamily="34" charset="-120"/>
              </a:rPr>
              <a:t>Rivalidad Competitiva · Alta</a:t>
            </a:r>
            <a:endParaRPr lang="en-US" sz="1200" dirty="0"/>
          </a:p>
        </p:txBody>
      </p:sp>
      <p:sp>
        <p:nvSpPr>
          <p:cNvPr id="19" name="Text 17"/>
          <p:cNvSpPr txBox="1"/>
          <p:nvPr/>
        </p:nvSpPr>
        <p:spPr>
          <a:xfrm>
            <a:off x="338328" y="3575304"/>
            <a:ext cx="3639312" cy="1271016"/>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Sula (Lacthosa) domina con UHT (83 % de preferencia), seguida de Leyde y Dos Pinos. Nadie ofrece leche fresca fluida.</a:t>
            </a:r>
            <a:endParaRPr lang="en-US" sz="1150" dirty="0"/>
          </a:p>
        </p:txBody>
      </p:sp>
      <p:sp>
        <p:nvSpPr>
          <p:cNvPr id="20" name="Shape 18"/>
          <p:cNvSpPr/>
          <p:nvPr/>
        </p:nvSpPr>
        <p:spPr>
          <a:xfrm>
            <a:off x="8092440" y="3154680"/>
            <a:ext cx="3840480" cy="1783080"/>
          </a:xfrm>
          <a:prstGeom prst="rect">
            <a:avLst/>
          </a:prstGeom>
          <a:solidFill>
            <a:srgbClr val="E6F4F6"/>
          </a:solidFill>
          <a:ln w="12700">
            <a:solidFill>
              <a:srgbClr val="1A7A8A"/>
            </a:solidFill>
            <a:prstDash val="solid"/>
          </a:ln>
        </p:spPr>
        <p:txBody>
          <a:bodyPr/>
          <a:lstStyle/>
          <a:p>
            <a:endParaRPr lang="es-CO"/>
          </a:p>
        </p:txBody>
      </p:sp>
      <p:sp>
        <p:nvSpPr>
          <p:cNvPr id="21" name="Text 19"/>
          <p:cNvSpPr txBox="1"/>
          <p:nvPr/>
        </p:nvSpPr>
        <p:spPr>
          <a:xfrm>
            <a:off x="8202168" y="3246120"/>
            <a:ext cx="3639312" cy="310896"/>
          </a:xfrm>
          <a:prstGeom prst="rect">
            <a:avLst/>
          </a:prstGeom>
          <a:noFill/>
          <a:ln/>
        </p:spPr>
        <p:txBody>
          <a:bodyPr wrap="square" rtlCol="0" anchor="ctr"/>
          <a:lstStyle/>
          <a:p>
            <a:pPr marL="0" indent="0">
              <a:buNone/>
            </a:pPr>
            <a:r>
              <a:rPr lang="en-US" sz="1200" b="1" dirty="0">
                <a:solidFill>
                  <a:srgbClr val="1A7A8A"/>
                </a:solidFill>
                <a:latin typeface="Calibri" pitchFamily="34" charset="0"/>
                <a:ea typeface="Calibri" pitchFamily="34" charset="-122"/>
                <a:cs typeface="Calibri" pitchFamily="34" charset="-120"/>
              </a:rPr>
              <a:t>Poder de Clientes · Medio</a:t>
            </a:r>
            <a:endParaRPr lang="en-US" sz="1200" dirty="0"/>
          </a:p>
        </p:txBody>
      </p:sp>
      <p:sp>
        <p:nvSpPr>
          <p:cNvPr id="22" name="Text 20"/>
          <p:cNvSpPr txBox="1"/>
          <p:nvPr/>
        </p:nvSpPr>
        <p:spPr>
          <a:xfrm>
            <a:off x="8202168" y="3575304"/>
            <a:ext cx="3639312" cy="1271016"/>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Supermercados negocian fuerte; canal detalle y HoReCa (+2,000 clientes tipo A) son más accesibles y valoran servicio local.</a:t>
            </a:r>
            <a:endParaRPr lang="en-US" sz="1150" dirty="0"/>
          </a:p>
        </p:txBody>
      </p:sp>
      <p:sp>
        <p:nvSpPr>
          <p:cNvPr id="23" name="Shape 21"/>
          <p:cNvSpPr/>
          <p:nvPr/>
        </p:nvSpPr>
        <p:spPr>
          <a:xfrm>
            <a:off x="4114800" y="5120640"/>
            <a:ext cx="3931920" cy="1325880"/>
          </a:xfrm>
          <a:prstGeom prst="rect">
            <a:avLst/>
          </a:prstGeom>
          <a:solidFill>
            <a:srgbClr val="E6F4F6"/>
          </a:solidFill>
          <a:ln w="12700">
            <a:solidFill>
              <a:srgbClr val="1A7A8A"/>
            </a:solidFill>
            <a:prstDash val="solid"/>
          </a:ln>
        </p:spPr>
        <p:txBody>
          <a:bodyPr/>
          <a:lstStyle/>
          <a:p>
            <a:endParaRPr lang="es-CO"/>
          </a:p>
        </p:txBody>
      </p:sp>
      <p:sp>
        <p:nvSpPr>
          <p:cNvPr id="24" name="Text 22"/>
          <p:cNvSpPr txBox="1"/>
          <p:nvPr/>
        </p:nvSpPr>
        <p:spPr>
          <a:xfrm>
            <a:off x="4224528" y="5212080"/>
            <a:ext cx="3730752" cy="310896"/>
          </a:xfrm>
          <a:prstGeom prst="rect">
            <a:avLst/>
          </a:prstGeom>
          <a:noFill/>
          <a:ln/>
        </p:spPr>
        <p:txBody>
          <a:bodyPr wrap="square" rtlCol="0" anchor="ctr"/>
          <a:lstStyle/>
          <a:p>
            <a:pPr marL="0" indent="0">
              <a:buNone/>
            </a:pPr>
            <a:r>
              <a:rPr lang="en-US" sz="1200" b="1" dirty="0">
                <a:solidFill>
                  <a:srgbClr val="1A7A8A"/>
                </a:solidFill>
                <a:latin typeface="Calibri" pitchFamily="34" charset="0"/>
                <a:ea typeface="Calibri" pitchFamily="34" charset="-122"/>
                <a:cs typeface="Calibri" pitchFamily="34" charset="-120"/>
              </a:rPr>
              <a:t>Productos Sustitutos · Alto</a:t>
            </a:r>
            <a:endParaRPr lang="en-US" sz="1200" dirty="0"/>
          </a:p>
        </p:txBody>
      </p:sp>
      <p:sp>
        <p:nvSpPr>
          <p:cNvPr id="25" name="Text 23"/>
          <p:cNvSpPr txBox="1"/>
          <p:nvPr/>
        </p:nvSpPr>
        <p:spPr>
          <a:xfrm>
            <a:off x="4224528" y="5541264"/>
            <a:ext cx="3730752" cy="996696"/>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Leche UHT (Sula, Dos Pinos), bebidas vegetales (soya, almendra, avena), leche cruda informal.</a:t>
            </a:r>
            <a:endParaRPr lang="en-US" sz="1150" dirty="0"/>
          </a:p>
        </p:txBody>
      </p:sp>
      <p:sp>
        <p:nvSpPr>
          <p:cNvPr id="26" name="Text 24"/>
          <p:cNvSpPr txBox="1"/>
          <p:nvPr/>
        </p:nvSpPr>
        <p:spPr>
          <a:xfrm>
            <a:off x="320040" y="6583680"/>
            <a:ext cx="11521440" cy="201168"/>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Maestría en Agronegocios · Universidad EAFIT · Zamorano · 2026   |   Caballero · Valladares · Medal</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320040" y="201168"/>
            <a:ext cx="1828800" cy="256032"/>
          </a:xfrm>
          <a:prstGeom prst="rect">
            <a:avLst/>
          </a:prstGeom>
          <a:noFill/>
          <a:ln/>
        </p:spPr>
        <p:txBody>
          <a:bodyPr wrap="square" rtlCol="0" anchor="ctr"/>
          <a:lstStyle/>
          <a:p>
            <a:pPr marL="0" indent="0" algn="l">
              <a:buNone/>
            </a:pPr>
            <a:r>
              <a:rPr lang="en-US" sz="900" b="1" kern="0" spc="100" dirty="0">
                <a:solidFill>
                  <a:srgbClr val="1A7A8A"/>
                </a:solidFill>
                <a:latin typeface="Calibri" pitchFamily="34" charset="0"/>
                <a:ea typeface="Calibri" pitchFamily="34" charset="-122"/>
                <a:cs typeface="Calibri" pitchFamily="34" charset="-120"/>
              </a:rPr>
              <a:t>MERCADO</a:t>
            </a:r>
            <a:endParaRPr lang="en-US" sz="900" dirty="0"/>
          </a:p>
        </p:txBody>
      </p:sp>
      <p:sp>
        <p:nvSpPr>
          <p:cNvPr id="3" name="Text 1"/>
          <p:cNvSpPr txBox="1"/>
          <p:nvPr/>
        </p:nvSpPr>
        <p:spPr>
          <a:xfrm>
            <a:off x="320040" y="475488"/>
            <a:ext cx="11521440" cy="502920"/>
          </a:xfrm>
          <a:prstGeom prst="rect">
            <a:avLst/>
          </a:prstGeom>
          <a:noFill/>
          <a:ln/>
        </p:spPr>
        <p:txBody>
          <a:bodyPr wrap="square" rtlCol="0" anchor="ctr"/>
          <a:lstStyle/>
          <a:p>
            <a:pPr marL="0" indent="0">
              <a:buNone/>
            </a:pPr>
            <a:r>
              <a:rPr lang="en-US" sz="2800" b="1" dirty="0">
                <a:solidFill>
                  <a:srgbClr val="0D2341"/>
                </a:solidFill>
                <a:latin typeface="Calibri" pitchFamily="34" charset="0"/>
                <a:ea typeface="Calibri" pitchFamily="34" charset="-122"/>
                <a:cs typeface="Calibri" pitchFamily="34" charset="-120"/>
              </a:rPr>
              <a:t>Análisis de Mercado</a:t>
            </a:r>
            <a:endParaRPr lang="en-US" sz="2800" dirty="0"/>
          </a:p>
        </p:txBody>
      </p:sp>
      <p:sp>
        <p:nvSpPr>
          <p:cNvPr id="4" name="Shape 2"/>
          <p:cNvSpPr/>
          <p:nvPr/>
        </p:nvSpPr>
        <p:spPr>
          <a:xfrm>
            <a:off x="320040" y="1005840"/>
            <a:ext cx="11430000" cy="18288"/>
          </a:xfrm>
          <a:prstGeom prst="rect">
            <a:avLst/>
          </a:prstGeom>
          <a:solidFill>
            <a:srgbClr val="1A7A8A"/>
          </a:solidFill>
          <a:ln w="12700">
            <a:solidFill>
              <a:srgbClr val="1A7A8A"/>
            </a:solidFill>
            <a:prstDash val="solid"/>
          </a:ln>
        </p:spPr>
        <p:txBody>
          <a:bodyPr/>
          <a:lstStyle/>
          <a:p>
            <a:endParaRPr lang="es-CO"/>
          </a:p>
        </p:txBody>
      </p:sp>
      <p:sp>
        <p:nvSpPr>
          <p:cNvPr id="5" name="Text 3"/>
          <p:cNvSpPr txBox="1"/>
          <p:nvPr/>
        </p:nvSpPr>
        <p:spPr>
          <a:xfrm>
            <a:off x="320040" y="1042415"/>
            <a:ext cx="4114800" cy="256032"/>
          </a:xfrm>
          <a:prstGeom prst="rect">
            <a:avLst/>
          </a:prstGeom>
          <a:noFill/>
          <a:ln/>
        </p:spPr>
        <p:txBody>
          <a:bodyPr wrap="none"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Encuesta a 63 establecimientos (abril–mayo de 2026)</a:t>
            </a:r>
            <a:endParaRPr lang="en-US" sz="1150" dirty="0"/>
          </a:p>
        </p:txBody>
      </p:sp>
      <p:sp>
        <p:nvSpPr>
          <p:cNvPr id="6" name="Shape 4"/>
          <p:cNvSpPr/>
          <p:nvPr/>
        </p:nvSpPr>
        <p:spPr>
          <a:xfrm>
            <a:off x="594360" y="1426464"/>
            <a:ext cx="274320" cy="274320"/>
          </a:xfrm>
          <a:prstGeom prst="rect">
            <a:avLst/>
          </a:prstGeom>
          <a:solidFill>
            <a:srgbClr val="1A7A8A"/>
          </a:solidFill>
          <a:ln w="12700">
            <a:solidFill>
              <a:srgbClr val="1A7A8A"/>
            </a:solidFill>
            <a:prstDash val="solid"/>
          </a:ln>
        </p:spPr>
        <p:txBody>
          <a:bodyPr/>
          <a:lstStyle/>
          <a:p>
            <a:endParaRPr lang="es-CO"/>
          </a:p>
        </p:txBody>
      </p:sp>
      <p:sp>
        <p:nvSpPr>
          <p:cNvPr id="7" name="Text 5"/>
          <p:cNvSpPr txBox="1"/>
          <p:nvPr/>
        </p:nvSpPr>
        <p:spPr>
          <a:xfrm>
            <a:off x="594360" y="1426464"/>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8" name="Text 6"/>
          <p:cNvSpPr txBox="1"/>
          <p:nvPr/>
        </p:nvSpPr>
        <p:spPr>
          <a:xfrm>
            <a:off x="1005840" y="1408176"/>
            <a:ext cx="2926080" cy="292608"/>
          </a:xfrm>
          <a:prstGeom prst="rect">
            <a:avLst/>
          </a:prstGeom>
          <a:noFill/>
          <a:ln/>
        </p:spPr>
        <p:txBody>
          <a:bodyPr wrap="square" rtlCol="0" anchor="ctr"/>
          <a:lstStyle/>
          <a:p>
            <a:pPr marL="0" indent="0">
              <a:buNone/>
            </a:pPr>
            <a:r>
              <a:rPr lang="en-US" sz="1250" b="1" dirty="0">
                <a:solidFill>
                  <a:srgbClr val="1B3A5C"/>
                </a:solidFill>
                <a:latin typeface="Calibri" pitchFamily="34" charset="0"/>
                <a:ea typeface="Calibri" pitchFamily="34" charset="-122"/>
                <a:cs typeface="Calibri" pitchFamily="34" charset="-120"/>
              </a:rPr>
              <a:t>Alta intención de compra</a:t>
            </a:r>
            <a:endParaRPr lang="en-US" sz="1250" dirty="0"/>
          </a:p>
        </p:txBody>
      </p:sp>
      <p:sp>
        <p:nvSpPr>
          <p:cNvPr id="9" name="Text 7"/>
          <p:cNvSpPr txBox="1"/>
          <p:nvPr/>
        </p:nvSpPr>
        <p:spPr>
          <a:xfrm>
            <a:off x="1005840" y="1691640"/>
            <a:ext cx="3200400" cy="411480"/>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65 % compraría; HoReCa y detalle valoran frescura e inocuidad.</a:t>
            </a:r>
            <a:endParaRPr lang="en-US" sz="1150" dirty="0"/>
          </a:p>
        </p:txBody>
      </p:sp>
      <p:sp>
        <p:nvSpPr>
          <p:cNvPr id="10" name="Shape 8"/>
          <p:cNvSpPr/>
          <p:nvPr/>
        </p:nvSpPr>
        <p:spPr>
          <a:xfrm>
            <a:off x="594360" y="2146464"/>
            <a:ext cx="274320" cy="274320"/>
          </a:xfrm>
          <a:prstGeom prst="rect">
            <a:avLst/>
          </a:prstGeom>
          <a:solidFill>
            <a:srgbClr val="1A7A8A"/>
          </a:solidFill>
          <a:ln w="12700">
            <a:solidFill>
              <a:srgbClr val="1A7A8A"/>
            </a:solidFill>
            <a:prstDash val="solid"/>
          </a:ln>
        </p:spPr>
        <p:txBody>
          <a:bodyPr/>
          <a:lstStyle/>
          <a:p>
            <a:endParaRPr lang="es-CO"/>
          </a:p>
        </p:txBody>
      </p:sp>
      <p:sp>
        <p:nvSpPr>
          <p:cNvPr id="11" name="Text 9"/>
          <p:cNvSpPr txBox="1"/>
          <p:nvPr/>
        </p:nvSpPr>
        <p:spPr>
          <a:xfrm>
            <a:off x="594360" y="2146464"/>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2" name="Text 10"/>
          <p:cNvSpPr txBox="1"/>
          <p:nvPr/>
        </p:nvSpPr>
        <p:spPr>
          <a:xfrm>
            <a:off x="1005840" y="2128176"/>
            <a:ext cx="2926080" cy="292608"/>
          </a:xfrm>
          <a:prstGeom prst="rect">
            <a:avLst/>
          </a:prstGeom>
          <a:noFill/>
          <a:ln/>
        </p:spPr>
        <p:txBody>
          <a:bodyPr wrap="square" rtlCol="0" anchor="ctr"/>
          <a:lstStyle/>
          <a:p>
            <a:pPr marL="0" indent="0">
              <a:buNone/>
            </a:pPr>
            <a:r>
              <a:rPr lang="en-US" sz="1250" b="1" dirty="0">
                <a:solidFill>
                  <a:srgbClr val="1B3A5C"/>
                </a:solidFill>
                <a:latin typeface="Calibri" pitchFamily="34" charset="0"/>
                <a:ea typeface="Calibri" pitchFamily="34" charset="-122"/>
                <a:cs typeface="Calibri" pitchFamily="34" charset="-120"/>
              </a:rPr>
              <a:t>Consumo frecuente</a:t>
            </a:r>
            <a:endParaRPr lang="en-US" sz="1250" dirty="0"/>
          </a:p>
        </p:txBody>
      </p:sp>
      <p:sp>
        <p:nvSpPr>
          <p:cNvPr id="13" name="Text 11"/>
          <p:cNvSpPr txBox="1"/>
          <p:nvPr/>
        </p:nvSpPr>
        <p:spPr>
          <a:xfrm>
            <a:off x="1005840" y="2411640"/>
            <a:ext cx="3200400" cy="411480"/>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Compra frecuente de lácteos; alta rotación en clientes tipo A.</a:t>
            </a:r>
            <a:endParaRPr lang="en-US" sz="1150" dirty="0"/>
          </a:p>
        </p:txBody>
      </p:sp>
      <p:sp>
        <p:nvSpPr>
          <p:cNvPr id="14" name="Shape 12"/>
          <p:cNvSpPr/>
          <p:nvPr/>
        </p:nvSpPr>
        <p:spPr>
          <a:xfrm>
            <a:off x="594360" y="2866464"/>
            <a:ext cx="274320" cy="274320"/>
          </a:xfrm>
          <a:prstGeom prst="rect">
            <a:avLst/>
          </a:prstGeom>
          <a:solidFill>
            <a:srgbClr val="1A7A8A"/>
          </a:solidFill>
          <a:ln w="12700">
            <a:solidFill>
              <a:srgbClr val="1A7A8A"/>
            </a:solidFill>
            <a:prstDash val="solid"/>
          </a:ln>
        </p:spPr>
        <p:txBody>
          <a:bodyPr/>
          <a:lstStyle/>
          <a:p>
            <a:endParaRPr lang="es-CO"/>
          </a:p>
        </p:txBody>
      </p:sp>
      <p:sp>
        <p:nvSpPr>
          <p:cNvPr id="15" name="Text 13"/>
          <p:cNvSpPr txBox="1"/>
          <p:nvPr/>
        </p:nvSpPr>
        <p:spPr>
          <a:xfrm>
            <a:off x="594360" y="2866464"/>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6" name="Text 14"/>
          <p:cNvSpPr txBox="1"/>
          <p:nvPr/>
        </p:nvSpPr>
        <p:spPr>
          <a:xfrm>
            <a:off x="1005840" y="2848176"/>
            <a:ext cx="2926080" cy="292608"/>
          </a:xfrm>
          <a:prstGeom prst="rect">
            <a:avLst/>
          </a:prstGeom>
          <a:noFill/>
          <a:ln/>
        </p:spPr>
        <p:txBody>
          <a:bodyPr wrap="square" rtlCol="0" anchor="ctr"/>
          <a:lstStyle/>
          <a:p>
            <a:pPr marL="0" indent="0">
              <a:buNone/>
            </a:pPr>
            <a:r>
              <a:rPr lang="en-US" sz="1250" b="1" dirty="0">
                <a:solidFill>
                  <a:srgbClr val="1B3A5C"/>
                </a:solidFill>
                <a:latin typeface="Calibri" pitchFamily="34" charset="0"/>
                <a:ea typeface="Calibri" pitchFamily="34" charset="-122"/>
                <a:cs typeface="Calibri" pitchFamily="34" charset="-120"/>
              </a:rPr>
              <a:t>Precio validado</a:t>
            </a:r>
            <a:endParaRPr lang="en-US" sz="1250" dirty="0"/>
          </a:p>
        </p:txBody>
      </p:sp>
      <p:sp>
        <p:nvSpPr>
          <p:cNvPr id="17" name="Text 15"/>
          <p:cNvSpPr txBox="1"/>
          <p:nvPr/>
        </p:nvSpPr>
        <p:spPr>
          <a:xfrm>
            <a:off x="1005840" y="3131640"/>
            <a:ext cx="3200400" cy="411480"/>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El 48 % pagaría L 26–30 por litro (precio base L 28).</a:t>
            </a:r>
            <a:endParaRPr lang="en-US" sz="1150" dirty="0"/>
          </a:p>
        </p:txBody>
      </p:sp>
      <p:sp>
        <p:nvSpPr>
          <p:cNvPr id="18" name="Shape 16"/>
          <p:cNvSpPr/>
          <p:nvPr/>
        </p:nvSpPr>
        <p:spPr>
          <a:xfrm>
            <a:off x="594360" y="3586464"/>
            <a:ext cx="274320" cy="274320"/>
          </a:xfrm>
          <a:prstGeom prst="rect">
            <a:avLst/>
          </a:prstGeom>
          <a:solidFill>
            <a:srgbClr val="1A7A8A"/>
          </a:solidFill>
          <a:ln w="12700">
            <a:solidFill>
              <a:srgbClr val="1A7A8A"/>
            </a:solidFill>
            <a:prstDash val="solid"/>
          </a:ln>
        </p:spPr>
        <p:txBody>
          <a:bodyPr/>
          <a:lstStyle/>
          <a:p>
            <a:endParaRPr lang="es-CO"/>
          </a:p>
        </p:txBody>
      </p:sp>
      <p:sp>
        <p:nvSpPr>
          <p:cNvPr id="19" name="Text 17"/>
          <p:cNvSpPr txBox="1"/>
          <p:nvPr/>
        </p:nvSpPr>
        <p:spPr>
          <a:xfrm>
            <a:off x="594360" y="3586464"/>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0" name="Text 18"/>
          <p:cNvSpPr txBox="1"/>
          <p:nvPr/>
        </p:nvSpPr>
        <p:spPr>
          <a:xfrm>
            <a:off x="1005840" y="3568176"/>
            <a:ext cx="2926080" cy="292608"/>
          </a:xfrm>
          <a:prstGeom prst="rect">
            <a:avLst/>
          </a:prstGeom>
          <a:noFill/>
          <a:ln/>
        </p:spPr>
        <p:txBody>
          <a:bodyPr wrap="square" rtlCol="0" anchor="ctr"/>
          <a:lstStyle/>
          <a:p>
            <a:pPr marL="0" indent="0">
              <a:buNone/>
            </a:pPr>
            <a:r>
              <a:rPr lang="en-US" sz="1250" b="1" dirty="0">
                <a:solidFill>
                  <a:srgbClr val="1B3A5C"/>
                </a:solidFill>
                <a:latin typeface="Calibri" pitchFamily="34" charset="0"/>
                <a:ea typeface="Calibri" pitchFamily="34" charset="-122"/>
                <a:cs typeface="Calibri" pitchFamily="34" charset="-120"/>
              </a:rPr>
              <a:t>Brecha de oferta</a:t>
            </a:r>
            <a:endParaRPr lang="en-US" sz="1250" dirty="0"/>
          </a:p>
        </p:txBody>
      </p:sp>
      <p:sp>
        <p:nvSpPr>
          <p:cNvPr id="21" name="Text 19"/>
          <p:cNvSpPr txBox="1"/>
          <p:nvPr/>
        </p:nvSpPr>
        <p:spPr>
          <a:xfrm>
            <a:off x="1005840" y="3851640"/>
            <a:ext cx="3200400" cy="411480"/>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Nadie ofrece leche fresca fluida; se usa UHT por falta de oferta.</a:t>
            </a:r>
            <a:endParaRPr lang="en-US" sz="1150" dirty="0"/>
          </a:p>
        </p:txBody>
      </p:sp>
      <p:sp>
        <p:nvSpPr>
          <p:cNvPr id="22" name="Shape 20"/>
          <p:cNvSpPr/>
          <p:nvPr/>
        </p:nvSpPr>
        <p:spPr>
          <a:xfrm>
            <a:off x="4480560" y="1143000"/>
            <a:ext cx="7315200" cy="384048"/>
          </a:xfrm>
          <a:prstGeom prst="rect">
            <a:avLst/>
          </a:prstGeom>
          <a:solidFill>
            <a:srgbClr val="0D2341"/>
          </a:solidFill>
          <a:ln w="12700">
            <a:solidFill>
              <a:srgbClr val="0D2341"/>
            </a:solidFill>
            <a:prstDash val="solid"/>
          </a:ln>
        </p:spPr>
        <p:txBody>
          <a:bodyPr/>
          <a:lstStyle/>
          <a:p>
            <a:endParaRPr lang="es-CO"/>
          </a:p>
        </p:txBody>
      </p:sp>
      <p:sp>
        <p:nvSpPr>
          <p:cNvPr id="23" name="Text 21"/>
          <p:cNvSpPr txBox="1"/>
          <p:nvPr/>
        </p:nvSpPr>
        <p:spPr>
          <a:xfrm>
            <a:off x="4526280" y="1170432"/>
            <a:ext cx="7223760" cy="292608"/>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Proyección de Clientes y Ventas a 10 Años</a:t>
            </a:r>
            <a:endParaRPr lang="en-US" sz="1150" dirty="0"/>
          </a:p>
        </p:txBody>
      </p:sp>
      <p:sp>
        <p:nvSpPr>
          <p:cNvPr id="24" name="Text 22"/>
          <p:cNvSpPr txBox="1"/>
          <p:nvPr/>
        </p:nvSpPr>
        <p:spPr>
          <a:xfrm>
            <a:off x="4526280" y="4846320"/>
            <a:ext cx="7223760" cy="201168"/>
          </a:xfrm>
          <a:prstGeom prst="rect">
            <a:avLst/>
          </a:prstGeom>
          <a:noFill/>
          <a:ln/>
        </p:spPr>
        <p:txBody>
          <a:bodyPr wrap="square"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Precio inicial L 28/litro · Ajuste por inflación 4.5 %/año · Consumo promedio 150 L/mes por cliente</a:t>
            </a:r>
            <a:endParaRPr lang="en-US" sz="900" dirty="0"/>
          </a:p>
        </p:txBody>
      </p:sp>
      <p:sp>
        <p:nvSpPr>
          <p:cNvPr id="25" name="Shape 23"/>
          <p:cNvSpPr/>
          <p:nvPr/>
        </p:nvSpPr>
        <p:spPr>
          <a:xfrm>
            <a:off x="4480560" y="1691640"/>
            <a:ext cx="731520" cy="347472"/>
          </a:xfrm>
          <a:prstGeom prst="rect">
            <a:avLst/>
          </a:prstGeom>
          <a:solidFill>
            <a:srgbClr val="1B3A5C"/>
          </a:solidFill>
          <a:ln w="12700">
            <a:solidFill>
              <a:srgbClr val="1B3A5C"/>
            </a:solidFill>
            <a:prstDash val="solid"/>
          </a:ln>
        </p:spPr>
        <p:txBody>
          <a:bodyPr/>
          <a:lstStyle/>
          <a:p>
            <a:endParaRPr lang="es-CO"/>
          </a:p>
        </p:txBody>
      </p:sp>
      <p:sp>
        <p:nvSpPr>
          <p:cNvPr id="26" name="Text 24"/>
          <p:cNvSpPr txBox="1"/>
          <p:nvPr/>
        </p:nvSpPr>
        <p:spPr>
          <a:xfrm>
            <a:off x="4526280" y="1719072"/>
            <a:ext cx="658368"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Año</a:t>
            </a:r>
            <a:endParaRPr lang="en-US" sz="1100" dirty="0"/>
          </a:p>
        </p:txBody>
      </p:sp>
      <p:sp>
        <p:nvSpPr>
          <p:cNvPr id="27" name="Shape 25"/>
          <p:cNvSpPr/>
          <p:nvPr/>
        </p:nvSpPr>
        <p:spPr>
          <a:xfrm>
            <a:off x="5212080" y="1691640"/>
            <a:ext cx="1371600" cy="347472"/>
          </a:xfrm>
          <a:prstGeom prst="rect">
            <a:avLst/>
          </a:prstGeom>
          <a:solidFill>
            <a:srgbClr val="1B3A5C"/>
          </a:solidFill>
          <a:ln w="12700">
            <a:solidFill>
              <a:srgbClr val="1B3A5C"/>
            </a:solidFill>
            <a:prstDash val="solid"/>
          </a:ln>
        </p:spPr>
        <p:txBody>
          <a:bodyPr/>
          <a:lstStyle/>
          <a:p>
            <a:endParaRPr lang="es-CO"/>
          </a:p>
        </p:txBody>
      </p:sp>
      <p:sp>
        <p:nvSpPr>
          <p:cNvPr id="28" name="Text 26"/>
          <p:cNvSpPr txBox="1"/>
          <p:nvPr/>
        </p:nvSpPr>
        <p:spPr>
          <a:xfrm>
            <a:off x="5257800" y="1719072"/>
            <a:ext cx="1298448" cy="274320"/>
          </a:xfrm>
          <a:prstGeom prst="rect">
            <a:avLst/>
          </a:prstGeom>
          <a:noFill/>
          <a:ln/>
        </p:spPr>
        <p:txBody>
          <a:bodyPr wrap="square" rtlCol="0" anchor="ctr"/>
          <a:lstStyle/>
          <a:p>
            <a:pPr marL="0" indent="0" algn="r">
              <a:buNone/>
            </a:pPr>
            <a:r>
              <a:rPr lang="en-US" sz="1100" b="1" dirty="0">
                <a:solidFill>
                  <a:srgbClr val="FFFFFF"/>
                </a:solidFill>
                <a:latin typeface="Calibri" pitchFamily="34" charset="0"/>
                <a:ea typeface="Calibri" pitchFamily="34" charset="-122"/>
                <a:cs typeface="Calibri" pitchFamily="34" charset="-120"/>
              </a:rPr>
              <a:t>Clientes</a:t>
            </a:r>
            <a:endParaRPr lang="en-US" sz="1100" dirty="0"/>
          </a:p>
        </p:txBody>
      </p:sp>
      <p:sp>
        <p:nvSpPr>
          <p:cNvPr id="29" name="Shape 27"/>
          <p:cNvSpPr/>
          <p:nvPr/>
        </p:nvSpPr>
        <p:spPr>
          <a:xfrm>
            <a:off x="6583680" y="1691640"/>
            <a:ext cx="2011680" cy="347472"/>
          </a:xfrm>
          <a:prstGeom prst="rect">
            <a:avLst/>
          </a:prstGeom>
          <a:solidFill>
            <a:srgbClr val="1B3A5C"/>
          </a:solidFill>
          <a:ln w="12700">
            <a:solidFill>
              <a:srgbClr val="1B3A5C"/>
            </a:solidFill>
            <a:prstDash val="solid"/>
          </a:ln>
        </p:spPr>
        <p:txBody>
          <a:bodyPr/>
          <a:lstStyle/>
          <a:p>
            <a:endParaRPr lang="es-CO"/>
          </a:p>
        </p:txBody>
      </p:sp>
      <p:sp>
        <p:nvSpPr>
          <p:cNvPr id="30" name="Text 28"/>
          <p:cNvSpPr txBox="1"/>
          <p:nvPr/>
        </p:nvSpPr>
        <p:spPr>
          <a:xfrm>
            <a:off x="6629400" y="1719072"/>
            <a:ext cx="1938528" cy="274320"/>
          </a:xfrm>
          <a:prstGeom prst="rect">
            <a:avLst/>
          </a:prstGeom>
          <a:noFill/>
          <a:ln/>
        </p:spPr>
        <p:txBody>
          <a:bodyPr wrap="square" rtlCol="0" anchor="ctr"/>
          <a:lstStyle/>
          <a:p>
            <a:pPr marL="0" indent="0" algn="r">
              <a:buNone/>
            </a:pPr>
            <a:r>
              <a:rPr lang="en-US" sz="1100" b="1" dirty="0">
                <a:solidFill>
                  <a:srgbClr val="FFFFFF"/>
                </a:solidFill>
                <a:latin typeface="Calibri" pitchFamily="34" charset="0"/>
                <a:ea typeface="Calibri" pitchFamily="34" charset="-122"/>
                <a:cs typeface="Calibri" pitchFamily="34" charset="-120"/>
              </a:rPr>
              <a:t>Litros/año</a:t>
            </a:r>
            <a:endParaRPr lang="en-US" sz="1100" dirty="0"/>
          </a:p>
        </p:txBody>
      </p:sp>
      <p:sp>
        <p:nvSpPr>
          <p:cNvPr id="31" name="Shape 29"/>
          <p:cNvSpPr/>
          <p:nvPr/>
        </p:nvSpPr>
        <p:spPr>
          <a:xfrm>
            <a:off x="8595360" y="1691640"/>
            <a:ext cx="3200400" cy="347472"/>
          </a:xfrm>
          <a:prstGeom prst="rect">
            <a:avLst/>
          </a:prstGeom>
          <a:solidFill>
            <a:srgbClr val="1B3A5C"/>
          </a:solidFill>
          <a:ln w="12700">
            <a:solidFill>
              <a:srgbClr val="1B3A5C"/>
            </a:solidFill>
            <a:prstDash val="solid"/>
          </a:ln>
        </p:spPr>
        <p:txBody>
          <a:bodyPr/>
          <a:lstStyle/>
          <a:p>
            <a:endParaRPr lang="es-CO"/>
          </a:p>
        </p:txBody>
      </p:sp>
      <p:sp>
        <p:nvSpPr>
          <p:cNvPr id="32" name="Text 30"/>
          <p:cNvSpPr txBox="1"/>
          <p:nvPr/>
        </p:nvSpPr>
        <p:spPr>
          <a:xfrm>
            <a:off x="8641080" y="1719072"/>
            <a:ext cx="3127248" cy="274320"/>
          </a:xfrm>
          <a:prstGeom prst="rect">
            <a:avLst/>
          </a:prstGeom>
          <a:noFill/>
          <a:ln/>
        </p:spPr>
        <p:txBody>
          <a:bodyPr wrap="square" rtlCol="0" anchor="ctr"/>
          <a:lstStyle/>
          <a:p>
            <a:pPr marL="0" indent="0" algn="r">
              <a:buNone/>
            </a:pPr>
            <a:r>
              <a:rPr lang="en-US" sz="1100" b="1" dirty="0">
                <a:solidFill>
                  <a:srgbClr val="FFFFFF"/>
                </a:solidFill>
                <a:latin typeface="Calibri" pitchFamily="34" charset="0"/>
                <a:ea typeface="Calibri" pitchFamily="34" charset="-122"/>
                <a:cs typeface="Calibri" pitchFamily="34" charset="-120"/>
              </a:rPr>
              <a:t>Ingresos (L)</a:t>
            </a:r>
            <a:endParaRPr lang="en-US" sz="1100" dirty="0"/>
          </a:p>
        </p:txBody>
      </p:sp>
      <p:sp>
        <p:nvSpPr>
          <p:cNvPr id="33" name="Shape 31"/>
          <p:cNvSpPr/>
          <p:nvPr/>
        </p:nvSpPr>
        <p:spPr>
          <a:xfrm>
            <a:off x="4480560" y="2039112"/>
            <a:ext cx="731520" cy="420624"/>
          </a:xfrm>
          <a:prstGeom prst="rect">
            <a:avLst/>
          </a:prstGeom>
          <a:solidFill>
            <a:srgbClr val="F1F5F9"/>
          </a:solidFill>
          <a:ln w="12700">
            <a:solidFill>
              <a:srgbClr val="CBD5E1"/>
            </a:solidFill>
            <a:prstDash val="solid"/>
          </a:ln>
        </p:spPr>
        <p:txBody>
          <a:bodyPr/>
          <a:lstStyle/>
          <a:p>
            <a:endParaRPr lang="es-CO"/>
          </a:p>
        </p:txBody>
      </p:sp>
      <p:sp>
        <p:nvSpPr>
          <p:cNvPr id="34" name="Text 32"/>
          <p:cNvSpPr txBox="1"/>
          <p:nvPr/>
        </p:nvSpPr>
        <p:spPr>
          <a:xfrm>
            <a:off x="4526280" y="2130552"/>
            <a:ext cx="658368" cy="274320"/>
          </a:xfrm>
          <a:prstGeom prst="rect">
            <a:avLst/>
          </a:prstGeom>
          <a:noFill/>
          <a:ln/>
        </p:spPr>
        <p:txBody>
          <a:bodyPr wrap="square" rtlCol="0" anchor="ctr"/>
          <a:lstStyle/>
          <a:p>
            <a:pPr marL="0" indent="0" algn="ctr">
              <a:buNone/>
            </a:pPr>
            <a:r>
              <a:rPr lang="en-US" sz="1250" b="1" dirty="0">
                <a:solidFill>
                  <a:srgbClr val="334155"/>
                </a:solidFill>
                <a:latin typeface="Calibri" pitchFamily="34" charset="0"/>
                <a:ea typeface="Calibri" pitchFamily="34" charset="-122"/>
                <a:cs typeface="Calibri" pitchFamily="34" charset="-120"/>
              </a:rPr>
              <a:t>1</a:t>
            </a:r>
            <a:endParaRPr lang="en-US" sz="1250" dirty="0"/>
          </a:p>
        </p:txBody>
      </p:sp>
      <p:sp>
        <p:nvSpPr>
          <p:cNvPr id="35" name="Shape 33"/>
          <p:cNvSpPr/>
          <p:nvPr/>
        </p:nvSpPr>
        <p:spPr>
          <a:xfrm>
            <a:off x="5212080" y="2039112"/>
            <a:ext cx="1371600" cy="420624"/>
          </a:xfrm>
          <a:prstGeom prst="rect">
            <a:avLst/>
          </a:prstGeom>
          <a:solidFill>
            <a:srgbClr val="F1F5F9"/>
          </a:solidFill>
          <a:ln w="12700">
            <a:solidFill>
              <a:srgbClr val="CBD5E1"/>
            </a:solidFill>
            <a:prstDash val="solid"/>
          </a:ln>
        </p:spPr>
        <p:txBody>
          <a:bodyPr/>
          <a:lstStyle/>
          <a:p>
            <a:endParaRPr lang="es-CO"/>
          </a:p>
        </p:txBody>
      </p:sp>
      <p:sp>
        <p:nvSpPr>
          <p:cNvPr id="36" name="Text 34"/>
          <p:cNvSpPr txBox="1"/>
          <p:nvPr/>
        </p:nvSpPr>
        <p:spPr>
          <a:xfrm>
            <a:off x="5257800" y="2130552"/>
            <a:ext cx="1298448" cy="274320"/>
          </a:xfrm>
          <a:prstGeom prst="rect">
            <a:avLst/>
          </a:prstGeom>
          <a:noFill/>
          <a:ln/>
        </p:spPr>
        <p:txBody>
          <a:bodyPr wrap="square" rtlCol="0" anchor="ctr"/>
          <a:lstStyle/>
          <a:p>
            <a:pPr marL="0" indent="0" algn="r">
              <a:buNone/>
            </a:pPr>
            <a:r>
              <a:rPr lang="en-US" sz="1250" b="1" dirty="0">
                <a:solidFill>
                  <a:srgbClr val="334155"/>
                </a:solidFill>
                <a:latin typeface="Calibri" pitchFamily="34" charset="0"/>
                <a:ea typeface="Calibri" pitchFamily="34" charset="-122"/>
                <a:cs typeface="Calibri" pitchFamily="34" charset="-120"/>
              </a:rPr>
              <a:t>60</a:t>
            </a:r>
            <a:endParaRPr lang="en-US" sz="1250" dirty="0"/>
          </a:p>
        </p:txBody>
      </p:sp>
      <p:sp>
        <p:nvSpPr>
          <p:cNvPr id="37" name="Shape 35"/>
          <p:cNvSpPr/>
          <p:nvPr/>
        </p:nvSpPr>
        <p:spPr>
          <a:xfrm>
            <a:off x="6583680" y="2039112"/>
            <a:ext cx="2011680" cy="420624"/>
          </a:xfrm>
          <a:prstGeom prst="rect">
            <a:avLst/>
          </a:prstGeom>
          <a:solidFill>
            <a:srgbClr val="F1F5F9"/>
          </a:solidFill>
          <a:ln w="12700">
            <a:solidFill>
              <a:srgbClr val="CBD5E1"/>
            </a:solidFill>
            <a:prstDash val="solid"/>
          </a:ln>
        </p:spPr>
        <p:txBody>
          <a:bodyPr/>
          <a:lstStyle/>
          <a:p>
            <a:endParaRPr lang="es-CO"/>
          </a:p>
        </p:txBody>
      </p:sp>
      <p:sp>
        <p:nvSpPr>
          <p:cNvPr id="38" name="Text 36"/>
          <p:cNvSpPr txBox="1"/>
          <p:nvPr/>
        </p:nvSpPr>
        <p:spPr>
          <a:xfrm>
            <a:off x="6629400" y="2130552"/>
            <a:ext cx="1938528" cy="274320"/>
          </a:xfrm>
          <a:prstGeom prst="rect">
            <a:avLst/>
          </a:prstGeom>
          <a:noFill/>
          <a:ln/>
        </p:spPr>
        <p:txBody>
          <a:bodyPr wrap="square" rtlCol="0" anchor="ctr"/>
          <a:lstStyle/>
          <a:p>
            <a:pPr marL="0" indent="0" algn="r">
              <a:buNone/>
            </a:pPr>
            <a:r>
              <a:rPr lang="en-US" sz="1250" b="1" dirty="0">
                <a:solidFill>
                  <a:srgbClr val="334155"/>
                </a:solidFill>
                <a:latin typeface="Calibri" pitchFamily="34" charset="0"/>
                <a:ea typeface="Calibri" pitchFamily="34" charset="-122"/>
                <a:cs typeface="Calibri" pitchFamily="34" charset="-120"/>
              </a:rPr>
              <a:t>108,000</a:t>
            </a:r>
            <a:endParaRPr lang="en-US" sz="1250" dirty="0"/>
          </a:p>
        </p:txBody>
      </p:sp>
      <p:sp>
        <p:nvSpPr>
          <p:cNvPr id="39" name="Shape 37"/>
          <p:cNvSpPr/>
          <p:nvPr/>
        </p:nvSpPr>
        <p:spPr>
          <a:xfrm>
            <a:off x="8595360" y="2039112"/>
            <a:ext cx="3200400" cy="420624"/>
          </a:xfrm>
          <a:prstGeom prst="rect">
            <a:avLst/>
          </a:prstGeom>
          <a:solidFill>
            <a:srgbClr val="F1F5F9"/>
          </a:solidFill>
          <a:ln w="12700">
            <a:solidFill>
              <a:srgbClr val="CBD5E1"/>
            </a:solidFill>
            <a:prstDash val="solid"/>
          </a:ln>
        </p:spPr>
        <p:txBody>
          <a:bodyPr/>
          <a:lstStyle/>
          <a:p>
            <a:endParaRPr lang="es-CO"/>
          </a:p>
        </p:txBody>
      </p:sp>
      <p:sp>
        <p:nvSpPr>
          <p:cNvPr id="40" name="Text 38"/>
          <p:cNvSpPr txBox="1"/>
          <p:nvPr/>
        </p:nvSpPr>
        <p:spPr>
          <a:xfrm>
            <a:off x="8641080" y="2130552"/>
            <a:ext cx="3127248" cy="274320"/>
          </a:xfrm>
          <a:prstGeom prst="rect">
            <a:avLst/>
          </a:prstGeom>
          <a:noFill/>
          <a:ln/>
        </p:spPr>
        <p:txBody>
          <a:bodyPr wrap="square" rtlCol="0" anchor="ctr"/>
          <a:lstStyle/>
          <a:p>
            <a:pPr marL="0" indent="0" algn="r">
              <a:buNone/>
            </a:pPr>
            <a:r>
              <a:rPr lang="en-US" sz="1250" b="1" dirty="0">
                <a:solidFill>
                  <a:srgbClr val="334155"/>
                </a:solidFill>
                <a:latin typeface="Calibri" pitchFamily="34" charset="0"/>
                <a:ea typeface="Calibri" pitchFamily="34" charset="-122"/>
                <a:cs typeface="Calibri" pitchFamily="34" charset="-120"/>
              </a:rPr>
              <a:t>L 3,024,000</a:t>
            </a:r>
            <a:endParaRPr lang="en-US" sz="1250" dirty="0"/>
          </a:p>
        </p:txBody>
      </p:sp>
      <p:sp>
        <p:nvSpPr>
          <p:cNvPr id="41" name="Shape 39"/>
          <p:cNvSpPr/>
          <p:nvPr/>
        </p:nvSpPr>
        <p:spPr>
          <a:xfrm>
            <a:off x="4480560" y="2496312"/>
            <a:ext cx="731520" cy="420624"/>
          </a:xfrm>
          <a:prstGeom prst="rect">
            <a:avLst/>
          </a:prstGeom>
          <a:solidFill>
            <a:srgbClr val="FFFFFF"/>
          </a:solidFill>
          <a:ln w="12700">
            <a:solidFill>
              <a:srgbClr val="CBD5E1"/>
            </a:solidFill>
            <a:prstDash val="solid"/>
          </a:ln>
        </p:spPr>
        <p:txBody>
          <a:bodyPr/>
          <a:lstStyle/>
          <a:p>
            <a:endParaRPr lang="es-CO"/>
          </a:p>
        </p:txBody>
      </p:sp>
      <p:sp>
        <p:nvSpPr>
          <p:cNvPr id="42" name="Text 40"/>
          <p:cNvSpPr txBox="1"/>
          <p:nvPr/>
        </p:nvSpPr>
        <p:spPr>
          <a:xfrm>
            <a:off x="4526280" y="2587752"/>
            <a:ext cx="658368" cy="274320"/>
          </a:xfrm>
          <a:prstGeom prst="rect">
            <a:avLst/>
          </a:prstGeom>
          <a:noFill/>
          <a:ln/>
        </p:spPr>
        <p:txBody>
          <a:bodyPr wrap="square" rtlCol="0" anchor="ctr"/>
          <a:lstStyle/>
          <a:p>
            <a:pPr marL="0" indent="0" algn="ctr">
              <a:buNone/>
            </a:pPr>
            <a:r>
              <a:rPr lang="en-US" sz="1250" dirty="0">
                <a:solidFill>
                  <a:srgbClr val="334155"/>
                </a:solidFill>
                <a:latin typeface="Calibri" pitchFamily="34" charset="0"/>
                <a:ea typeface="Calibri" pitchFamily="34" charset="-122"/>
                <a:cs typeface="Calibri" pitchFamily="34" charset="-120"/>
              </a:rPr>
              <a:t>2</a:t>
            </a:r>
            <a:endParaRPr lang="en-US" sz="1250" dirty="0"/>
          </a:p>
        </p:txBody>
      </p:sp>
      <p:sp>
        <p:nvSpPr>
          <p:cNvPr id="43" name="Shape 41"/>
          <p:cNvSpPr/>
          <p:nvPr/>
        </p:nvSpPr>
        <p:spPr>
          <a:xfrm>
            <a:off x="5212080" y="2496312"/>
            <a:ext cx="1371600" cy="420624"/>
          </a:xfrm>
          <a:prstGeom prst="rect">
            <a:avLst/>
          </a:prstGeom>
          <a:solidFill>
            <a:srgbClr val="FFFFFF"/>
          </a:solidFill>
          <a:ln w="12700">
            <a:solidFill>
              <a:srgbClr val="CBD5E1"/>
            </a:solidFill>
            <a:prstDash val="solid"/>
          </a:ln>
        </p:spPr>
        <p:txBody>
          <a:bodyPr/>
          <a:lstStyle/>
          <a:p>
            <a:endParaRPr lang="es-CO"/>
          </a:p>
        </p:txBody>
      </p:sp>
      <p:sp>
        <p:nvSpPr>
          <p:cNvPr id="44" name="Text 42"/>
          <p:cNvSpPr txBox="1"/>
          <p:nvPr/>
        </p:nvSpPr>
        <p:spPr>
          <a:xfrm>
            <a:off x="5257800" y="2587752"/>
            <a:ext cx="1298448" cy="274320"/>
          </a:xfrm>
          <a:prstGeom prst="rect">
            <a:avLst/>
          </a:prstGeom>
          <a:noFill/>
          <a:ln/>
        </p:spPr>
        <p:txBody>
          <a:bodyPr wrap="square" rtlCol="0" anchor="ctr"/>
          <a:lstStyle/>
          <a:p>
            <a:pPr marL="0" indent="0" algn="r">
              <a:buNone/>
            </a:pPr>
            <a:r>
              <a:rPr lang="en-US" sz="1250" dirty="0">
                <a:solidFill>
                  <a:srgbClr val="334155"/>
                </a:solidFill>
                <a:latin typeface="Calibri" pitchFamily="34" charset="0"/>
                <a:ea typeface="Calibri" pitchFamily="34" charset="-122"/>
                <a:cs typeface="Calibri" pitchFamily="34" charset="-120"/>
              </a:rPr>
              <a:t>100</a:t>
            </a:r>
            <a:endParaRPr lang="en-US" sz="1250" dirty="0"/>
          </a:p>
        </p:txBody>
      </p:sp>
      <p:sp>
        <p:nvSpPr>
          <p:cNvPr id="45" name="Shape 43"/>
          <p:cNvSpPr/>
          <p:nvPr/>
        </p:nvSpPr>
        <p:spPr>
          <a:xfrm>
            <a:off x="6583680" y="2496312"/>
            <a:ext cx="2011680" cy="420624"/>
          </a:xfrm>
          <a:prstGeom prst="rect">
            <a:avLst/>
          </a:prstGeom>
          <a:solidFill>
            <a:srgbClr val="FFFFFF"/>
          </a:solidFill>
          <a:ln w="12700">
            <a:solidFill>
              <a:srgbClr val="CBD5E1"/>
            </a:solidFill>
            <a:prstDash val="solid"/>
          </a:ln>
        </p:spPr>
        <p:txBody>
          <a:bodyPr/>
          <a:lstStyle/>
          <a:p>
            <a:endParaRPr lang="es-CO"/>
          </a:p>
        </p:txBody>
      </p:sp>
      <p:sp>
        <p:nvSpPr>
          <p:cNvPr id="46" name="Text 44"/>
          <p:cNvSpPr txBox="1"/>
          <p:nvPr/>
        </p:nvSpPr>
        <p:spPr>
          <a:xfrm>
            <a:off x="6629400" y="2587752"/>
            <a:ext cx="1938528" cy="274320"/>
          </a:xfrm>
          <a:prstGeom prst="rect">
            <a:avLst/>
          </a:prstGeom>
          <a:noFill/>
          <a:ln/>
        </p:spPr>
        <p:txBody>
          <a:bodyPr wrap="square" rtlCol="0" anchor="ctr"/>
          <a:lstStyle/>
          <a:p>
            <a:pPr marL="0" indent="0" algn="r">
              <a:buNone/>
            </a:pPr>
            <a:r>
              <a:rPr lang="en-US" sz="1250" dirty="0">
                <a:solidFill>
                  <a:srgbClr val="334155"/>
                </a:solidFill>
                <a:latin typeface="Calibri" pitchFamily="34" charset="0"/>
                <a:ea typeface="Calibri" pitchFamily="34" charset="-122"/>
                <a:cs typeface="Calibri" pitchFamily="34" charset="-120"/>
              </a:rPr>
              <a:t>180,000</a:t>
            </a:r>
            <a:endParaRPr lang="en-US" sz="1250" dirty="0"/>
          </a:p>
        </p:txBody>
      </p:sp>
      <p:sp>
        <p:nvSpPr>
          <p:cNvPr id="47" name="Shape 45"/>
          <p:cNvSpPr/>
          <p:nvPr/>
        </p:nvSpPr>
        <p:spPr>
          <a:xfrm>
            <a:off x="8595360" y="2496312"/>
            <a:ext cx="3200400" cy="420624"/>
          </a:xfrm>
          <a:prstGeom prst="rect">
            <a:avLst/>
          </a:prstGeom>
          <a:solidFill>
            <a:srgbClr val="FFFFFF"/>
          </a:solidFill>
          <a:ln w="12700">
            <a:solidFill>
              <a:srgbClr val="CBD5E1"/>
            </a:solidFill>
            <a:prstDash val="solid"/>
          </a:ln>
        </p:spPr>
        <p:txBody>
          <a:bodyPr/>
          <a:lstStyle/>
          <a:p>
            <a:endParaRPr lang="es-CO"/>
          </a:p>
        </p:txBody>
      </p:sp>
      <p:sp>
        <p:nvSpPr>
          <p:cNvPr id="48" name="Text 46"/>
          <p:cNvSpPr txBox="1"/>
          <p:nvPr/>
        </p:nvSpPr>
        <p:spPr>
          <a:xfrm>
            <a:off x="8641080" y="2587752"/>
            <a:ext cx="3127248" cy="274320"/>
          </a:xfrm>
          <a:prstGeom prst="rect">
            <a:avLst/>
          </a:prstGeom>
          <a:noFill/>
          <a:ln/>
        </p:spPr>
        <p:txBody>
          <a:bodyPr wrap="square" rtlCol="0" anchor="ctr"/>
          <a:lstStyle/>
          <a:p>
            <a:pPr marL="0" indent="0" algn="r">
              <a:buNone/>
            </a:pPr>
            <a:r>
              <a:rPr lang="en-US" sz="1250" dirty="0">
                <a:solidFill>
                  <a:srgbClr val="334155"/>
                </a:solidFill>
                <a:latin typeface="Calibri" pitchFamily="34" charset="0"/>
                <a:ea typeface="Calibri" pitchFamily="34" charset="-122"/>
                <a:cs typeface="Calibri" pitchFamily="34" charset="-120"/>
              </a:rPr>
              <a:t>L 5,266,800</a:t>
            </a:r>
            <a:endParaRPr lang="en-US" sz="1250" dirty="0"/>
          </a:p>
        </p:txBody>
      </p:sp>
      <p:sp>
        <p:nvSpPr>
          <p:cNvPr id="49" name="Shape 47"/>
          <p:cNvSpPr/>
          <p:nvPr/>
        </p:nvSpPr>
        <p:spPr>
          <a:xfrm>
            <a:off x="4480560" y="2953512"/>
            <a:ext cx="731520" cy="420624"/>
          </a:xfrm>
          <a:prstGeom prst="rect">
            <a:avLst/>
          </a:prstGeom>
          <a:solidFill>
            <a:srgbClr val="F1F5F9"/>
          </a:solidFill>
          <a:ln w="12700">
            <a:solidFill>
              <a:srgbClr val="CBD5E1"/>
            </a:solidFill>
            <a:prstDash val="solid"/>
          </a:ln>
        </p:spPr>
        <p:txBody>
          <a:bodyPr/>
          <a:lstStyle/>
          <a:p>
            <a:endParaRPr lang="es-CO"/>
          </a:p>
        </p:txBody>
      </p:sp>
      <p:sp>
        <p:nvSpPr>
          <p:cNvPr id="50" name="Text 48"/>
          <p:cNvSpPr txBox="1"/>
          <p:nvPr/>
        </p:nvSpPr>
        <p:spPr>
          <a:xfrm>
            <a:off x="4526280" y="3044952"/>
            <a:ext cx="658368" cy="274320"/>
          </a:xfrm>
          <a:prstGeom prst="rect">
            <a:avLst/>
          </a:prstGeom>
          <a:noFill/>
          <a:ln/>
        </p:spPr>
        <p:txBody>
          <a:bodyPr wrap="square" rtlCol="0" anchor="ctr"/>
          <a:lstStyle/>
          <a:p>
            <a:pPr marL="0" indent="0" algn="ctr">
              <a:buNone/>
            </a:pPr>
            <a:r>
              <a:rPr lang="en-US" sz="1250" dirty="0">
                <a:solidFill>
                  <a:srgbClr val="334155"/>
                </a:solidFill>
                <a:latin typeface="Calibri" pitchFamily="34" charset="0"/>
                <a:ea typeface="Calibri" pitchFamily="34" charset="-122"/>
                <a:cs typeface="Calibri" pitchFamily="34" charset="-120"/>
              </a:rPr>
              <a:t>3</a:t>
            </a:r>
            <a:endParaRPr lang="en-US" sz="1250" dirty="0"/>
          </a:p>
        </p:txBody>
      </p:sp>
      <p:sp>
        <p:nvSpPr>
          <p:cNvPr id="51" name="Shape 49"/>
          <p:cNvSpPr/>
          <p:nvPr/>
        </p:nvSpPr>
        <p:spPr>
          <a:xfrm>
            <a:off x="5212080" y="2953512"/>
            <a:ext cx="1371600" cy="420624"/>
          </a:xfrm>
          <a:prstGeom prst="rect">
            <a:avLst/>
          </a:prstGeom>
          <a:solidFill>
            <a:srgbClr val="F1F5F9"/>
          </a:solidFill>
          <a:ln w="12700">
            <a:solidFill>
              <a:srgbClr val="CBD5E1"/>
            </a:solidFill>
            <a:prstDash val="solid"/>
          </a:ln>
        </p:spPr>
        <p:txBody>
          <a:bodyPr/>
          <a:lstStyle/>
          <a:p>
            <a:endParaRPr lang="es-CO"/>
          </a:p>
        </p:txBody>
      </p:sp>
      <p:sp>
        <p:nvSpPr>
          <p:cNvPr id="52" name="Text 50"/>
          <p:cNvSpPr txBox="1"/>
          <p:nvPr/>
        </p:nvSpPr>
        <p:spPr>
          <a:xfrm>
            <a:off x="5257800" y="3044952"/>
            <a:ext cx="1298448" cy="274320"/>
          </a:xfrm>
          <a:prstGeom prst="rect">
            <a:avLst/>
          </a:prstGeom>
          <a:noFill/>
          <a:ln/>
        </p:spPr>
        <p:txBody>
          <a:bodyPr wrap="square" rtlCol="0" anchor="ctr"/>
          <a:lstStyle/>
          <a:p>
            <a:pPr marL="0" indent="0" algn="r">
              <a:buNone/>
            </a:pPr>
            <a:r>
              <a:rPr lang="en-US" sz="1250" dirty="0">
                <a:solidFill>
                  <a:srgbClr val="334155"/>
                </a:solidFill>
                <a:latin typeface="Calibri" pitchFamily="34" charset="0"/>
                <a:ea typeface="Calibri" pitchFamily="34" charset="-122"/>
                <a:cs typeface="Calibri" pitchFamily="34" charset="-120"/>
              </a:rPr>
              <a:t>150</a:t>
            </a:r>
            <a:endParaRPr lang="en-US" sz="1250" dirty="0"/>
          </a:p>
        </p:txBody>
      </p:sp>
      <p:sp>
        <p:nvSpPr>
          <p:cNvPr id="53" name="Shape 51"/>
          <p:cNvSpPr/>
          <p:nvPr/>
        </p:nvSpPr>
        <p:spPr>
          <a:xfrm>
            <a:off x="6583680" y="2953512"/>
            <a:ext cx="2011680" cy="420624"/>
          </a:xfrm>
          <a:prstGeom prst="rect">
            <a:avLst/>
          </a:prstGeom>
          <a:solidFill>
            <a:srgbClr val="F1F5F9"/>
          </a:solidFill>
          <a:ln w="12700">
            <a:solidFill>
              <a:srgbClr val="CBD5E1"/>
            </a:solidFill>
            <a:prstDash val="solid"/>
          </a:ln>
        </p:spPr>
        <p:txBody>
          <a:bodyPr/>
          <a:lstStyle/>
          <a:p>
            <a:endParaRPr lang="es-CO"/>
          </a:p>
        </p:txBody>
      </p:sp>
      <p:sp>
        <p:nvSpPr>
          <p:cNvPr id="54" name="Text 52"/>
          <p:cNvSpPr txBox="1"/>
          <p:nvPr/>
        </p:nvSpPr>
        <p:spPr>
          <a:xfrm>
            <a:off x="6629400" y="3044952"/>
            <a:ext cx="1938528" cy="274320"/>
          </a:xfrm>
          <a:prstGeom prst="rect">
            <a:avLst/>
          </a:prstGeom>
          <a:noFill/>
          <a:ln/>
        </p:spPr>
        <p:txBody>
          <a:bodyPr wrap="square" rtlCol="0" anchor="ctr"/>
          <a:lstStyle/>
          <a:p>
            <a:pPr marL="0" indent="0" algn="r">
              <a:buNone/>
            </a:pPr>
            <a:r>
              <a:rPr lang="en-US" sz="1250" dirty="0">
                <a:solidFill>
                  <a:srgbClr val="334155"/>
                </a:solidFill>
                <a:latin typeface="Calibri" pitchFamily="34" charset="0"/>
                <a:ea typeface="Calibri" pitchFamily="34" charset="-122"/>
                <a:cs typeface="Calibri" pitchFamily="34" charset="-120"/>
              </a:rPr>
              <a:t>270,000</a:t>
            </a:r>
            <a:endParaRPr lang="en-US" sz="1250" dirty="0"/>
          </a:p>
        </p:txBody>
      </p:sp>
      <p:sp>
        <p:nvSpPr>
          <p:cNvPr id="55" name="Shape 53"/>
          <p:cNvSpPr/>
          <p:nvPr/>
        </p:nvSpPr>
        <p:spPr>
          <a:xfrm>
            <a:off x="8595360" y="2953512"/>
            <a:ext cx="3200400" cy="420624"/>
          </a:xfrm>
          <a:prstGeom prst="rect">
            <a:avLst/>
          </a:prstGeom>
          <a:solidFill>
            <a:srgbClr val="F1F5F9"/>
          </a:solidFill>
          <a:ln w="12700">
            <a:solidFill>
              <a:srgbClr val="CBD5E1"/>
            </a:solidFill>
            <a:prstDash val="solid"/>
          </a:ln>
        </p:spPr>
        <p:txBody>
          <a:bodyPr/>
          <a:lstStyle/>
          <a:p>
            <a:endParaRPr lang="es-CO"/>
          </a:p>
        </p:txBody>
      </p:sp>
      <p:sp>
        <p:nvSpPr>
          <p:cNvPr id="56" name="Text 54"/>
          <p:cNvSpPr txBox="1"/>
          <p:nvPr/>
        </p:nvSpPr>
        <p:spPr>
          <a:xfrm>
            <a:off x="8641080" y="3044952"/>
            <a:ext cx="3127248" cy="274320"/>
          </a:xfrm>
          <a:prstGeom prst="rect">
            <a:avLst/>
          </a:prstGeom>
          <a:noFill/>
          <a:ln/>
        </p:spPr>
        <p:txBody>
          <a:bodyPr wrap="square" rtlCol="0" anchor="ctr"/>
          <a:lstStyle/>
          <a:p>
            <a:pPr marL="0" indent="0" algn="r">
              <a:buNone/>
            </a:pPr>
            <a:r>
              <a:rPr lang="en-US" sz="1250" dirty="0">
                <a:solidFill>
                  <a:srgbClr val="334155"/>
                </a:solidFill>
                <a:latin typeface="Calibri" pitchFamily="34" charset="0"/>
                <a:ea typeface="Calibri" pitchFamily="34" charset="-122"/>
                <a:cs typeface="Calibri" pitchFamily="34" charset="-120"/>
              </a:rPr>
              <a:t>L 8,255,709</a:t>
            </a:r>
            <a:endParaRPr lang="en-US" sz="1250" dirty="0"/>
          </a:p>
        </p:txBody>
      </p:sp>
      <p:sp>
        <p:nvSpPr>
          <p:cNvPr id="57" name="Shape 55"/>
          <p:cNvSpPr/>
          <p:nvPr/>
        </p:nvSpPr>
        <p:spPr>
          <a:xfrm>
            <a:off x="4480560" y="3410712"/>
            <a:ext cx="731520" cy="420624"/>
          </a:xfrm>
          <a:prstGeom prst="rect">
            <a:avLst/>
          </a:prstGeom>
          <a:solidFill>
            <a:srgbClr val="FFFFFF"/>
          </a:solidFill>
          <a:ln w="12700">
            <a:solidFill>
              <a:srgbClr val="CBD5E1"/>
            </a:solidFill>
            <a:prstDash val="solid"/>
          </a:ln>
        </p:spPr>
        <p:txBody>
          <a:bodyPr/>
          <a:lstStyle/>
          <a:p>
            <a:endParaRPr lang="es-CO"/>
          </a:p>
        </p:txBody>
      </p:sp>
      <p:sp>
        <p:nvSpPr>
          <p:cNvPr id="58" name="Text 56"/>
          <p:cNvSpPr txBox="1"/>
          <p:nvPr/>
        </p:nvSpPr>
        <p:spPr>
          <a:xfrm>
            <a:off x="4526280" y="3502152"/>
            <a:ext cx="658368" cy="274320"/>
          </a:xfrm>
          <a:prstGeom prst="rect">
            <a:avLst/>
          </a:prstGeom>
          <a:noFill/>
          <a:ln/>
        </p:spPr>
        <p:txBody>
          <a:bodyPr wrap="square" rtlCol="0" anchor="ctr"/>
          <a:lstStyle/>
          <a:p>
            <a:pPr marL="0" indent="0" algn="ctr">
              <a:buNone/>
            </a:pPr>
            <a:r>
              <a:rPr lang="en-US" sz="1250" dirty="0">
                <a:solidFill>
                  <a:srgbClr val="334155"/>
                </a:solidFill>
                <a:latin typeface="Calibri" pitchFamily="34" charset="0"/>
                <a:ea typeface="Calibri" pitchFamily="34" charset="-122"/>
                <a:cs typeface="Calibri" pitchFamily="34" charset="-120"/>
              </a:rPr>
              <a:t>5</a:t>
            </a:r>
            <a:endParaRPr lang="en-US" sz="1250" dirty="0"/>
          </a:p>
        </p:txBody>
      </p:sp>
      <p:sp>
        <p:nvSpPr>
          <p:cNvPr id="59" name="Shape 57"/>
          <p:cNvSpPr/>
          <p:nvPr/>
        </p:nvSpPr>
        <p:spPr>
          <a:xfrm>
            <a:off x="5212080" y="3410712"/>
            <a:ext cx="1371600" cy="420624"/>
          </a:xfrm>
          <a:prstGeom prst="rect">
            <a:avLst/>
          </a:prstGeom>
          <a:solidFill>
            <a:srgbClr val="FFFFFF"/>
          </a:solidFill>
          <a:ln w="12700">
            <a:solidFill>
              <a:srgbClr val="CBD5E1"/>
            </a:solidFill>
            <a:prstDash val="solid"/>
          </a:ln>
        </p:spPr>
        <p:txBody>
          <a:bodyPr/>
          <a:lstStyle/>
          <a:p>
            <a:endParaRPr lang="es-CO"/>
          </a:p>
        </p:txBody>
      </p:sp>
      <p:sp>
        <p:nvSpPr>
          <p:cNvPr id="60" name="Text 58"/>
          <p:cNvSpPr txBox="1"/>
          <p:nvPr/>
        </p:nvSpPr>
        <p:spPr>
          <a:xfrm>
            <a:off x="5257800" y="3502152"/>
            <a:ext cx="1298448" cy="274320"/>
          </a:xfrm>
          <a:prstGeom prst="rect">
            <a:avLst/>
          </a:prstGeom>
          <a:noFill/>
          <a:ln/>
        </p:spPr>
        <p:txBody>
          <a:bodyPr wrap="square" rtlCol="0" anchor="ctr"/>
          <a:lstStyle/>
          <a:p>
            <a:pPr marL="0" indent="0" algn="r">
              <a:buNone/>
            </a:pPr>
            <a:r>
              <a:rPr lang="en-US" sz="1250" dirty="0">
                <a:solidFill>
                  <a:srgbClr val="334155"/>
                </a:solidFill>
                <a:latin typeface="Calibri" pitchFamily="34" charset="0"/>
                <a:ea typeface="Calibri" pitchFamily="34" charset="-122"/>
                <a:cs typeface="Calibri" pitchFamily="34" charset="-120"/>
              </a:rPr>
              <a:t>280</a:t>
            </a:r>
            <a:endParaRPr lang="en-US" sz="1250" dirty="0"/>
          </a:p>
        </p:txBody>
      </p:sp>
      <p:sp>
        <p:nvSpPr>
          <p:cNvPr id="61" name="Shape 59"/>
          <p:cNvSpPr/>
          <p:nvPr/>
        </p:nvSpPr>
        <p:spPr>
          <a:xfrm>
            <a:off x="6583680" y="3410712"/>
            <a:ext cx="2011680" cy="420624"/>
          </a:xfrm>
          <a:prstGeom prst="rect">
            <a:avLst/>
          </a:prstGeom>
          <a:solidFill>
            <a:srgbClr val="FFFFFF"/>
          </a:solidFill>
          <a:ln w="12700">
            <a:solidFill>
              <a:srgbClr val="CBD5E1"/>
            </a:solidFill>
            <a:prstDash val="solid"/>
          </a:ln>
        </p:spPr>
        <p:txBody>
          <a:bodyPr/>
          <a:lstStyle/>
          <a:p>
            <a:endParaRPr lang="es-CO"/>
          </a:p>
        </p:txBody>
      </p:sp>
      <p:sp>
        <p:nvSpPr>
          <p:cNvPr id="62" name="Text 60"/>
          <p:cNvSpPr txBox="1"/>
          <p:nvPr/>
        </p:nvSpPr>
        <p:spPr>
          <a:xfrm>
            <a:off x="6629400" y="3502152"/>
            <a:ext cx="1938528" cy="274320"/>
          </a:xfrm>
          <a:prstGeom prst="rect">
            <a:avLst/>
          </a:prstGeom>
          <a:noFill/>
          <a:ln/>
        </p:spPr>
        <p:txBody>
          <a:bodyPr wrap="square" rtlCol="0" anchor="ctr"/>
          <a:lstStyle/>
          <a:p>
            <a:pPr marL="0" indent="0" algn="r">
              <a:buNone/>
            </a:pPr>
            <a:r>
              <a:rPr lang="en-US" sz="1250" dirty="0">
                <a:solidFill>
                  <a:srgbClr val="334155"/>
                </a:solidFill>
                <a:latin typeface="Calibri" pitchFamily="34" charset="0"/>
                <a:ea typeface="Calibri" pitchFamily="34" charset="-122"/>
                <a:cs typeface="Calibri" pitchFamily="34" charset="-120"/>
              </a:rPr>
              <a:t>504,000</a:t>
            </a:r>
            <a:endParaRPr lang="en-US" sz="1250" dirty="0"/>
          </a:p>
        </p:txBody>
      </p:sp>
      <p:sp>
        <p:nvSpPr>
          <p:cNvPr id="63" name="Shape 61"/>
          <p:cNvSpPr/>
          <p:nvPr/>
        </p:nvSpPr>
        <p:spPr>
          <a:xfrm>
            <a:off x="8595360" y="3410712"/>
            <a:ext cx="3200400" cy="420624"/>
          </a:xfrm>
          <a:prstGeom prst="rect">
            <a:avLst/>
          </a:prstGeom>
          <a:solidFill>
            <a:srgbClr val="FFFFFF"/>
          </a:solidFill>
          <a:ln w="12700">
            <a:solidFill>
              <a:srgbClr val="CBD5E1"/>
            </a:solidFill>
            <a:prstDash val="solid"/>
          </a:ln>
        </p:spPr>
        <p:txBody>
          <a:bodyPr/>
          <a:lstStyle/>
          <a:p>
            <a:endParaRPr lang="es-CO"/>
          </a:p>
        </p:txBody>
      </p:sp>
      <p:sp>
        <p:nvSpPr>
          <p:cNvPr id="64" name="Text 62"/>
          <p:cNvSpPr txBox="1"/>
          <p:nvPr/>
        </p:nvSpPr>
        <p:spPr>
          <a:xfrm>
            <a:off x="8641080" y="3502152"/>
            <a:ext cx="3127248" cy="274320"/>
          </a:xfrm>
          <a:prstGeom prst="rect">
            <a:avLst/>
          </a:prstGeom>
          <a:noFill/>
          <a:ln/>
        </p:spPr>
        <p:txBody>
          <a:bodyPr wrap="square" rtlCol="0" anchor="ctr"/>
          <a:lstStyle/>
          <a:p>
            <a:pPr marL="0" indent="0" algn="r">
              <a:buNone/>
            </a:pPr>
            <a:r>
              <a:rPr lang="en-US" sz="1250" dirty="0">
                <a:solidFill>
                  <a:srgbClr val="334155"/>
                </a:solidFill>
                <a:latin typeface="Calibri" pitchFamily="34" charset="0"/>
                <a:ea typeface="Calibri" pitchFamily="34" charset="-122"/>
                <a:cs typeface="Calibri" pitchFamily="34" charset="-120"/>
              </a:rPr>
              <a:t>L 16,828,822</a:t>
            </a:r>
            <a:endParaRPr lang="en-US" sz="1250" dirty="0"/>
          </a:p>
        </p:txBody>
      </p:sp>
      <p:sp>
        <p:nvSpPr>
          <p:cNvPr id="65" name="Shape 63"/>
          <p:cNvSpPr/>
          <p:nvPr/>
        </p:nvSpPr>
        <p:spPr>
          <a:xfrm>
            <a:off x="4480560" y="3867912"/>
            <a:ext cx="731520" cy="420624"/>
          </a:xfrm>
          <a:prstGeom prst="rect">
            <a:avLst/>
          </a:prstGeom>
          <a:solidFill>
            <a:srgbClr val="F1F5F9"/>
          </a:solidFill>
          <a:ln w="12700">
            <a:solidFill>
              <a:srgbClr val="CBD5E1"/>
            </a:solidFill>
            <a:prstDash val="solid"/>
          </a:ln>
        </p:spPr>
        <p:txBody>
          <a:bodyPr/>
          <a:lstStyle/>
          <a:p>
            <a:endParaRPr lang="es-CO"/>
          </a:p>
        </p:txBody>
      </p:sp>
      <p:sp>
        <p:nvSpPr>
          <p:cNvPr id="66" name="Text 64"/>
          <p:cNvSpPr txBox="1"/>
          <p:nvPr/>
        </p:nvSpPr>
        <p:spPr>
          <a:xfrm>
            <a:off x="4526280" y="3959352"/>
            <a:ext cx="658368" cy="274320"/>
          </a:xfrm>
          <a:prstGeom prst="rect">
            <a:avLst/>
          </a:prstGeom>
          <a:noFill/>
          <a:ln/>
        </p:spPr>
        <p:txBody>
          <a:bodyPr wrap="square" rtlCol="0" anchor="ctr"/>
          <a:lstStyle/>
          <a:p>
            <a:pPr marL="0" indent="0" algn="ctr">
              <a:buNone/>
            </a:pPr>
            <a:r>
              <a:rPr lang="en-US" sz="1250" dirty="0">
                <a:solidFill>
                  <a:srgbClr val="334155"/>
                </a:solidFill>
                <a:latin typeface="Calibri" pitchFamily="34" charset="0"/>
                <a:ea typeface="Calibri" pitchFamily="34" charset="-122"/>
                <a:cs typeface="Calibri" pitchFamily="34" charset="-120"/>
              </a:rPr>
              <a:t>7</a:t>
            </a:r>
            <a:endParaRPr lang="en-US" sz="1250" dirty="0"/>
          </a:p>
        </p:txBody>
      </p:sp>
      <p:sp>
        <p:nvSpPr>
          <p:cNvPr id="67" name="Shape 65"/>
          <p:cNvSpPr/>
          <p:nvPr/>
        </p:nvSpPr>
        <p:spPr>
          <a:xfrm>
            <a:off x="5212080" y="3867912"/>
            <a:ext cx="1371600" cy="420624"/>
          </a:xfrm>
          <a:prstGeom prst="rect">
            <a:avLst/>
          </a:prstGeom>
          <a:solidFill>
            <a:srgbClr val="F1F5F9"/>
          </a:solidFill>
          <a:ln w="12700">
            <a:solidFill>
              <a:srgbClr val="CBD5E1"/>
            </a:solidFill>
            <a:prstDash val="solid"/>
          </a:ln>
        </p:spPr>
        <p:txBody>
          <a:bodyPr/>
          <a:lstStyle/>
          <a:p>
            <a:endParaRPr lang="es-CO"/>
          </a:p>
        </p:txBody>
      </p:sp>
      <p:sp>
        <p:nvSpPr>
          <p:cNvPr id="68" name="Text 66"/>
          <p:cNvSpPr txBox="1"/>
          <p:nvPr/>
        </p:nvSpPr>
        <p:spPr>
          <a:xfrm>
            <a:off x="5257800" y="3959352"/>
            <a:ext cx="1298448" cy="274320"/>
          </a:xfrm>
          <a:prstGeom prst="rect">
            <a:avLst/>
          </a:prstGeom>
          <a:noFill/>
          <a:ln/>
        </p:spPr>
        <p:txBody>
          <a:bodyPr wrap="square" rtlCol="0" anchor="ctr"/>
          <a:lstStyle/>
          <a:p>
            <a:pPr marL="0" indent="0" algn="r">
              <a:buNone/>
            </a:pPr>
            <a:r>
              <a:rPr lang="en-US" sz="1250" dirty="0">
                <a:solidFill>
                  <a:srgbClr val="334155"/>
                </a:solidFill>
                <a:latin typeface="Calibri" pitchFamily="34" charset="0"/>
                <a:ea typeface="Calibri" pitchFamily="34" charset="-122"/>
                <a:cs typeface="Calibri" pitchFamily="34" charset="-120"/>
              </a:rPr>
              <a:t>430</a:t>
            </a:r>
            <a:endParaRPr lang="en-US" sz="1250" dirty="0"/>
          </a:p>
        </p:txBody>
      </p:sp>
      <p:sp>
        <p:nvSpPr>
          <p:cNvPr id="69" name="Shape 67"/>
          <p:cNvSpPr/>
          <p:nvPr/>
        </p:nvSpPr>
        <p:spPr>
          <a:xfrm>
            <a:off x="6583680" y="3867912"/>
            <a:ext cx="2011680" cy="420624"/>
          </a:xfrm>
          <a:prstGeom prst="rect">
            <a:avLst/>
          </a:prstGeom>
          <a:solidFill>
            <a:srgbClr val="F1F5F9"/>
          </a:solidFill>
          <a:ln w="12700">
            <a:solidFill>
              <a:srgbClr val="CBD5E1"/>
            </a:solidFill>
            <a:prstDash val="solid"/>
          </a:ln>
        </p:spPr>
        <p:txBody>
          <a:bodyPr/>
          <a:lstStyle/>
          <a:p>
            <a:endParaRPr lang="es-CO"/>
          </a:p>
        </p:txBody>
      </p:sp>
      <p:sp>
        <p:nvSpPr>
          <p:cNvPr id="70" name="Text 68"/>
          <p:cNvSpPr txBox="1"/>
          <p:nvPr/>
        </p:nvSpPr>
        <p:spPr>
          <a:xfrm>
            <a:off x="6629400" y="3959352"/>
            <a:ext cx="1938528" cy="274320"/>
          </a:xfrm>
          <a:prstGeom prst="rect">
            <a:avLst/>
          </a:prstGeom>
          <a:noFill/>
          <a:ln/>
        </p:spPr>
        <p:txBody>
          <a:bodyPr wrap="square" rtlCol="0" anchor="ctr"/>
          <a:lstStyle/>
          <a:p>
            <a:pPr marL="0" indent="0" algn="r">
              <a:buNone/>
            </a:pPr>
            <a:r>
              <a:rPr lang="en-US" sz="1250" dirty="0">
                <a:solidFill>
                  <a:srgbClr val="334155"/>
                </a:solidFill>
                <a:latin typeface="Calibri" pitchFamily="34" charset="0"/>
                <a:ea typeface="Calibri" pitchFamily="34" charset="-122"/>
                <a:cs typeface="Calibri" pitchFamily="34" charset="-120"/>
              </a:rPr>
              <a:t>774,000</a:t>
            </a:r>
            <a:endParaRPr lang="en-US" sz="1250" dirty="0"/>
          </a:p>
        </p:txBody>
      </p:sp>
      <p:sp>
        <p:nvSpPr>
          <p:cNvPr id="71" name="Shape 69"/>
          <p:cNvSpPr/>
          <p:nvPr/>
        </p:nvSpPr>
        <p:spPr>
          <a:xfrm>
            <a:off x="8595360" y="3867912"/>
            <a:ext cx="3200400" cy="420624"/>
          </a:xfrm>
          <a:prstGeom prst="rect">
            <a:avLst/>
          </a:prstGeom>
          <a:solidFill>
            <a:srgbClr val="F1F5F9"/>
          </a:solidFill>
          <a:ln w="12700">
            <a:solidFill>
              <a:srgbClr val="CBD5E1"/>
            </a:solidFill>
            <a:prstDash val="solid"/>
          </a:ln>
        </p:spPr>
        <p:txBody>
          <a:bodyPr/>
          <a:lstStyle/>
          <a:p>
            <a:endParaRPr lang="es-CO"/>
          </a:p>
        </p:txBody>
      </p:sp>
      <p:sp>
        <p:nvSpPr>
          <p:cNvPr id="72" name="Text 70"/>
          <p:cNvSpPr txBox="1"/>
          <p:nvPr/>
        </p:nvSpPr>
        <p:spPr>
          <a:xfrm>
            <a:off x="8641080" y="3959352"/>
            <a:ext cx="3127248" cy="274320"/>
          </a:xfrm>
          <a:prstGeom prst="rect">
            <a:avLst/>
          </a:prstGeom>
          <a:noFill/>
          <a:ln/>
        </p:spPr>
        <p:txBody>
          <a:bodyPr wrap="square" rtlCol="0" anchor="ctr"/>
          <a:lstStyle/>
          <a:p>
            <a:pPr marL="0" indent="0" algn="r">
              <a:buNone/>
            </a:pPr>
            <a:r>
              <a:rPr lang="en-US" sz="1250" dirty="0">
                <a:solidFill>
                  <a:srgbClr val="334155"/>
                </a:solidFill>
                <a:latin typeface="Calibri" pitchFamily="34" charset="0"/>
                <a:ea typeface="Calibri" pitchFamily="34" charset="-122"/>
                <a:cs typeface="Calibri" pitchFamily="34" charset="-120"/>
              </a:rPr>
              <a:t>L 28,222,581</a:t>
            </a:r>
            <a:endParaRPr lang="en-US" sz="1250" dirty="0"/>
          </a:p>
        </p:txBody>
      </p:sp>
      <p:sp>
        <p:nvSpPr>
          <p:cNvPr id="73" name="Shape 71"/>
          <p:cNvSpPr/>
          <p:nvPr/>
        </p:nvSpPr>
        <p:spPr>
          <a:xfrm>
            <a:off x="4480560" y="4325112"/>
            <a:ext cx="731520" cy="420624"/>
          </a:xfrm>
          <a:prstGeom prst="rect">
            <a:avLst/>
          </a:prstGeom>
          <a:solidFill>
            <a:srgbClr val="FFFFFF"/>
          </a:solidFill>
          <a:ln w="12700">
            <a:solidFill>
              <a:srgbClr val="CBD5E1"/>
            </a:solidFill>
            <a:prstDash val="solid"/>
          </a:ln>
        </p:spPr>
        <p:txBody>
          <a:bodyPr/>
          <a:lstStyle/>
          <a:p>
            <a:endParaRPr lang="es-CO"/>
          </a:p>
        </p:txBody>
      </p:sp>
      <p:sp>
        <p:nvSpPr>
          <p:cNvPr id="74" name="Text 72"/>
          <p:cNvSpPr txBox="1"/>
          <p:nvPr/>
        </p:nvSpPr>
        <p:spPr>
          <a:xfrm>
            <a:off x="4526280" y="4416552"/>
            <a:ext cx="658368" cy="274320"/>
          </a:xfrm>
          <a:prstGeom prst="rect">
            <a:avLst/>
          </a:prstGeom>
          <a:noFill/>
          <a:ln/>
        </p:spPr>
        <p:txBody>
          <a:bodyPr wrap="square" rtlCol="0" anchor="ctr"/>
          <a:lstStyle/>
          <a:p>
            <a:pPr marL="0" indent="0" algn="ctr">
              <a:buNone/>
            </a:pPr>
            <a:r>
              <a:rPr lang="en-US" sz="1250" b="1" dirty="0">
                <a:solidFill>
                  <a:srgbClr val="1A7A8A"/>
                </a:solidFill>
                <a:latin typeface="Calibri" pitchFamily="34" charset="0"/>
                <a:ea typeface="Calibri" pitchFamily="34" charset="-122"/>
                <a:cs typeface="Calibri" pitchFamily="34" charset="-120"/>
              </a:rPr>
              <a:t>10</a:t>
            </a:r>
            <a:endParaRPr lang="en-US" sz="1250" dirty="0"/>
          </a:p>
        </p:txBody>
      </p:sp>
      <p:sp>
        <p:nvSpPr>
          <p:cNvPr id="75" name="Shape 73"/>
          <p:cNvSpPr/>
          <p:nvPr/>
        </p:nvSpPr>
        <p:spPr>
          <a:xfrm>
            <a:off x="5212080" y="4325112"/>
            <a:ext cx="1371600" cy="420624"/>
          </a:xfrm>
          <a:prstGeom prst="rect">
            <a:avLst/>
          </a:prstGeom>
          <a:solidFill>
            <a:srgbClr val="FFFFFF"/>
          </a:solidFill>
          <a:ln w="12700">
            <a:solidFill>
              <a:srgbClr val="CBD5E1"/>
            </a:solidFill>
            <a:prstDash val="solid"/>
          </a:ln>
        </p:spPr>
        <p:txBody>
          <a:bodyPr/>
          <a:lstStyle/>
          <a:p>
            <a:endParaRPr lang="es-CO"/>
          </a:p>
        </p:txBody>
      </p:sp>
      <p:sp>
        <p:nvSpPr>
          <p:cNvPr id="76" name="Text 74"/>
          <p:cNvSpPr txBox="1"/>
          <p:nvPr/>
        </p:nvSpPr>
        <p:spPr>
          <a:xfrm>
            <a:off x="5257800" y="4416552"/>
            <a:ext cx="1298448" cy="274320"/>
          </a:xfrm>
          <a:prstGeom prst="rect">
            <a:avLst/>
          </a:prstGeom>
          <a:noFill/>
          <a:ln/>
        </p:spPr>
        <p:txBody>
          <a:bodyPr wrap="square" rtlCol="0" anchor="ctr"/>
          <a:lstStyle/>
          <a:p>
            <a:pPr marL="0" indent="0" algn="r">
              <a:buNone/>
            </a:pPr>
            <a:r>
              <a:rPr lang="en-US" sz="1250" b="1" dirty="0">
                <a:solidFill>
                  <a:srgbClr val="1A7A8A"/>
                </a:solidFill>
                <a:latin typeface="Calibri" pitchFamily="34" charset="0"/>
                <a:ea typeface="Calibri" pitchFamily="34" charset="-122"/>
                <a:cs typeface="Calibri" pitchFamily="34" charset="-120"/>
              </a:rPr>
              <a:t>690</a:t>
            </a:r>
            <a:endParaRPr lang="en-US" sz="1250" dirty="0"/>
          </a:p>
        </p:txBody>
      </p:sp>
      <p:sp>
        <p:nvSpPr>
          <p:cNvPr id="77" name="Shape 75"/>
          <p:cNvSpPr/>
          <p:nvPr/>
        </p:nvSpPr>
        <p:spPr>
          <a:xfrm>
            <a:off x="6583680" y="4325112"/>
            <a:ext cx="2011680" cy="420624"/>
          </a:xfrm>
          <a:prstGeom prst="rect">
            <a:avLst/>
          </a:prstGeom>
          <a:solidFill>
            <a:srgbClr val="FFFFFF"/>
          </a:solidFill>
          <a:ln w="12700">
            <a:solidFill>
              <a:srgbClr val="CBD5E1"/>
            </a:solidFill>
            <a:prstDash val="solid"/>
          </a:ln>
        </p:spPr>
        <p:txBody>
          <a:bodyPr/>
          <a:lstStyle/>
          <a:p>
            <a:endParaRPr lang="es-CO"/>
          </a:p>
        </p:txBody>
      </p:sp>
      <p:sp>
        <p:nvSpPr>
          <p:cNvPr id="78" name="Text 76"/>
          <p:cNvSpPr txBox="1"/>
          <p:nvPr/>
        </p:nvSpPr>
        <p:spPr>
          <a:xfrm>
            <a:off x="6629400" y="4416552"/>
            <a:ext cx="1938528" cy="274320"/>
          </a:xfrm>
          <a:prstGeom prst="rect">
            <a:avLst/>
          </a:prstGeom>
          <a:noFill/>
          <a:ln/>
        </p:spPr>
        <p:txBody>
          <a:bodyPr wrap="square" rtlCol="0" anchor="ctr"/>
          <a:lstStyle/>
          <a:p>
            <a:pPr marL="0" indent="0" algn="r">
              <a:buNone/>
            </a:pPr>
            <a:r>
              <a:rPr lang="en-US" sz="1250" b="1" dirty="0">
                <a:solidFill>
                  <a:srgbClr val="1A7A8A"/>
                </a:solidFill>
                <a:latin typeface="Calibri" pitchFamily="34" charset="0"/>
                <a:ea typeface="Calibri" pitchFamily="34" charset="-122"/>
                <a:cs typeface="Calibri" pitchFamily="34" charset="-120"/>
              </a:rPr>
              <a:t>1,242,000</a:t>
            </a:r>
            <a:endParaRPr lang="en-US" sz="1250" dirty="0"/>
          </a:p>
        </p:txBody>
      </p:sp>
      <p:sp>
        <p:nvSpPr>
          <p:cNvPr id="79" name="Shape 77"/>
          <p:cNvSpPr/>
          <p:nvPr/>
        </p:nvSpPr>
        <p:spPr>
          <a:xfrm>
            <a:off x="8595360" y="4325112"/>
            <a:ext cx="3200400" cy="420624"/>
          </a:xfrm>
          <a:prstGeom prst="rect">
            <a:avLst/>
          </a:prstGeom>
          <a:solidFill>
            <a:srgbClr val="FFFFFF"/>
          </a:solidFill>
          <a:ln w="12700">
            <a:solidFill>
              <a:srgbClr val="CBD5E1"/>
            </a:solidFill>
            <a:prstDash val="solid"/>
          </a:ln>
        </p:spPr>
        <p:txBody>
          <a:bodyPr/>
          <a:lstStyle/>
          <a:p>
            <a:endParaRPr lang="es-CO"/>
          </a:p>
        </p:txBody>
      </p:sp>
      <p:sp>
        <p:nvSpPr>
          <p:cNvPr id="80" name="Text 78"/>
          <p:cNvSpPr txBox="1"/>
          <p:nvPr/>
        </p:nvSpPr>
        <p:spPr>
          <a:xfrm>
            <a:off x="8641080" y="4416552"/>
            <a:ext cx="3127248" cy="274320"/>
          </a:xfrm>
          <a:prstGeom prst="rect">
            <a:avLst/>
          </a:prstGeom>
          <a:noFill/>
          <a:ln/>
        </p:spPr>
        <p:txBody>
          <a:bodyPr wrap="square" rtlCol="0" anchor="ctr"/>
          <a:lstStyle/>
          <a:p>
            <a:pPr marL="0" indent="0" algn="r">
              <a:buNone/>
            </a:pPr>
            <a:r>
              <a:rPr lang="en-US" sz="1250" b="1" dirty="0">
                <a:solidFill>
                  <a:srgbClr val="1A7A8A"/>
                </a:solidFill>
                <a:latin typeface="Calibri" pitchFamily="34" charset="0"/>
                <a:ea typeface="Calibri" pitchFamily="34" charset="-122"/>
                <a:cs typeface="Calibri" pitchFamily="34" charset="-120"/>
              </a:rPr>
              <a:t>L 51,680,445</a:t>
            </a:r>
            <a:endParaRPr lang="en-US" sz="1250" dirty="0"/>
          </a:p>
        </p:txBody>
      </p:sp>
      <p:sp>
        <p:nvSpPr>
          <p:cNvPr id="81" name="Text 79"/>
          <p:cNvSpPr txBox="1"/>
          <p:nvPr/>
        </p:nvSpPr>
        <p:spPr>
          <a:xfrm>
            <a:off x="320040" y="6583680"/>
            <a:ext cx="11521440" cy="201168"/>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Maestría en Agronegocios · Universidad EAFIT · Zamorano · 2026   |   Caballero · Valladares · Medal</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320040" y="201168"/>
            <a:ext cx="1828800" cy="256032"/>
          </a:xfrm>
          <a:prstGeom prst="rect">
            <a:avLst/>
          </a:prstGeom>
          <a:noFill/>
          <a:ln/>
        </p:spPr>
        <p:txBody>
          <a:bodyPr wrap="square" rtlCol="0" anchor="ctr"/>
          <a:lstStyle/>
          <a:p>
            <a:pPr marL="0" indent="0" algn="l">
              <a:buNone/>
            </a:pPr>
            <a:r>
              <a:rPr lang="en-US" sz="900" b="1" kern="0" spc="100" dirty="0">
                <a:solidFill>
                  <a:srgbClr val="1A7A8A"/>
                </a:solidFill>
                <a:latin typeface="Calibri" pitchFamily="34" charset="0"/>
                <a:ea typeface="Calibri" pitchFamily="34" charset="-122"/>
                <a:cs typeface="Calibri" pitchFamily="34" charset="-120"/>
              </a:rPr>
              <a:t>TÉCNICO</a:t>
            </a:r>
            <a:endParaRPr lang="en-US" sz="900" dirty="0"/>
          </a:p>
        </p:txBody>
      </p:sp>
      <p:sp>
        <p:nvSpPr>
          <p:cNvPr id="3" name="Text 1"/>
          <p:cNvSpPr txBox="1"/>
          <p:nvPr/>
        </p:nvSpPr>
        <p:spPr>
          <a:xfrm>
            <a:off x="320040" y="475488"/>
            <a:ext cx="11521440" cy="502920"/>
          </a:xfrm>
          <a:prstGeom prst="rect">
            <a:avLst/>
          </a:prstGeom>
          <a:noFill/>
          <a:ln/>
        </p:spPr>
        <p:txBody>
          <a:bodyPr wrap="square" rtlCol="0" anchor="ctr"/>
          <a:lstStyle/>
          <a:p>
            <a:pPr marL="0" indent="0">
              <a:buNone/>
            </a:pPr>
            <a:r>
              <a:rPr lang="en-US" sz="2800" b="1" dirty="0">
                <a:solidFill>
                  <a:srgbClr val="0D2341"/>
                </a:solidFill>
                <a:latin typeface="Calibri" pitchFamily="34" charset="0"/>
                <a:ea typeface="Calibri" pitchFamily="34" charset="-122"/>
                <a:cs typeface="Calibri" pitchFamily="34" charset="-120"/>
              </a:rPr>
              <a:t>Estudio Técnico · Localización</a:t>
            </a:r>
            <a:endParaRPr lang="en-US" sz="2800" dirty="0"/>
          </a:p>
        </p:txBody>
      </p:sp>
      <p:sp>
        <p:nvSpPr>
          <p:cNvPr id="4" name="Shape 2"/>
          <p:cNvSpPr/>
          <p:nvPr/>
        </p:nvSpPr>
        <p:spPr>
          <a:xfrm>
            <a:off x="320040" y="1005840"/>
            <a:ext cx="11430000" cy="18288"/>
          </a:xfrm>
          <a:prstGeom prst="rect">
            <a:avLst/>
          </a:prstGeom>
          <a:solidFill>
            <a:srgbClr val="1A7A8A"/>
          </a:solidFill>
          <a:ln w="12700">
            <a:solidFill>
              <a:srgbClr val="1A7A8A"/>
            </a:solidFill>
            <a:prstDash val="solid"/>
          </a:ln>
        </p:spPr>
        <p:txBody>
          <a:bodyPr/>
          <a:lstStyle/>
          <a:p>
            <a:endParaRPr lang="es-CO"/>
          </a:p>
        </p:txBody>
      </p:sp>
      <p:sp>
        <p:nvSpPr>
          <p:cNvPr id="5" name="Shape 3"/>
          <p:cNvSpPr/>
          <p:nvPr/>
        </p:nvSpPr>
        <p:spPr>
          <a:xfrm>
            <a:off x="320040" y="1115568"/>
            <a:ext cx="5303520" cy="640080"/>
          </a:xfrm>
          <a:prstGeom prst="rect">
            <a:avLst/>
          </a:prstGeom>
          <a:solidFill>
            <a:srgbClr val="1A7A8A"/>
          </a:solidFill>
          <a:ln w="12700">
            <a:solidFill>
              <a:srgbClr val="1A7A8A"/>
            </a:solidFill>
            <a:prstDash val="solid"/>
          </a:ln>
        </p:spPr>
        <p:txBody>
          <a:bodyPr/>
          <a:lstStyle/>
          <a:p>
            <a:endParaRPr lang="es-CO"/>
          </a:p>
        </p:txBody>
      </p:sp>
      <p:sp>
        <p:nvSpPr>
          <p:cNvPr id="6" name="Text 4"/>
          <p:cNvSpPr txBox="1"/>
          <p:nvPr/>
        </p:nvSpPr>
        <p:spPr>
          <a:xfrm>
            <a:off x="457200" y="1188720"/>
            <a:ext cx="5120640" cy="45720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Localización Óptima: Comayagua</a:t>
            </a:r>
            <a:endParaRPr lang="en-US" sz="1700" dirty="0"/>
          </a:p>
        </p:txBody>
      </p:sp>
      <p:sp>
        <p:nvSpPr>
          <p:cNvPr id="7" name="Text 5"/>
          <p:cNvSpPr txBox="1"/>
          <p:nvPr/>
        </p:nvSpPr>
        <p:spPr>
          <a:xfrm>
            <a:off x="320040" y="1828800"/>
            <a:ext cx="5303520" cy="777240"/>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Autopista CA-5, a 500 m de la primera entrada a Comayagua, entre Tegucigalpa y San Pedro Sula: distribución a la zona central y norte.</a:t>
            </a:r>
            <a:endParaRPr lang="en-US" sz="1150" dirty="0"/>
          </a:p>
        </p:txBody>
      </p:sp>
      <p:sp>
        <p:nvSpPr>
          <p:cNvPr id="8" name="Shape 6"/>
          <p:cNvSpPr/>
          <p:nvPr/>
        </p:nvSpPr>
        <p:spPr>
          <a:xfrm>
            <a:off x="320040" y="2697480"/>
            <a:ext cx="274320" cy="274320"/>
          </a:xfrm>
          <a:prstGeom prst="rect">
            <a:avLst/>
          </a:prstGeom>
          <a:solidFill>
            <a:srgbClr val="1A7A8A"/>
          </a:solidFill>
          <a:ln w="12700">
            <a:solidFill>
              <a:srgbClr val="1A7A8A"/>
            </a:solidFill>
            <a:prstDash val="solid"/>
          </a:ln>
        </p:spPr>
        <p:txBody>
          <a:bodyPr/>
          <a:lstStyle/>
          <a:p>
            <a:endParaRPr lang="es-CO"/>
          </a:p>
        </p:txBody>
      </p:sp>
      <p:sp>
        <p:nvSpPr>
          <p:cNvPr id="9" name="Text 7"/>
          <p:cNvSpPr txBox="1"/>
          <p:nvPr/>
        </p:nvSpPr>
        <p:spPr>
          <a:xfrm>
            <a:off x="320040" y="2697480"/>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0" name="Text 8"/>
          <p:cNvSpPr txBox="1"/>
          <p:nvPr/>
        </p:nvSpPr>
        <p:spPr>
          <a:xfrm>
            <a:off x="676656" y="2697480"/>
            <a:ext cx="4846320" cy="329184"/>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Acceso a productores ganaderos certificados de la región y CREL</a:t>
            </a:r>
            <a:endParaRPr lang="en-US" sz="1150" dirty="0"/>
          </a:p>
        </p:txBody>
      </p:sp>
      <p:sp>
        <p:nvSpPr>
          <p:cNvPr id="11" name="Shape 9"/>
          <p:cNvSpPr/>
          <p:nvPr/>
        </p:nvSpPr>
        <p:spPr>
          <a:xfrm>
            <a:off x="320040" y="3081528"/>
            <a:ext cx="274320" cy="274320"/>
          </a:xfrm>
          <a:prstGeom prst="rect">
            <a:avLst/>
          </a:prstGeom>
          <a:solidFill>
            <a:srgbClr val="1A7A8A"/>
          </a:solidFill>
          <a:ln w="12700">
            <a:solidFill>
              <a:srgbClr val="1A7A8A"/>
            </a:solidFill>
            <a:prstDash val="solid"/>
          </a:ln>
        </p:spPr>
        <p:txBody>
          <a:bodyPr/>
          <a:lstStyle/>
          <a:p>
            <a:endParaRPr lang="es-CO"/>
          </a:p>
        </p:txBody>
      </p:sp>
      <p:sp>
        <p:nvSpPr>
          <p:cNvPr id="12" name="Text 10"/>
          <p:cNvSpPr txBox="1"/>
          <p:nvPr/>
        </p:nvSpPr>
        <p:spPr>
          <a:xfrm>
            <a:off x="320040" y="3081528"/>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3" name="Text 11"/>
          <p:cNvSpPr txBox="1"/>
          <p:nvPr/>
        </p:nvSpPr>
        <p:spPr>
          <a:xfrm>
            <a:off x="676656" y="3081528"/>
            <a:ext cx="4846320" cy="329184"/>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Logística de cadena de frío eficiente hacia ambas ciudades principales</a:t>
            </a:r>
            <a:endParaRPr lang="en-US" sz="1150" dirty="0"/>
          </a:p>
        </p:txBody>
      </p:sp>
      <p:sp>
        <p:nvSpPr>
          <p:cNvPr id="14" name="Shape 12"/>
          <p:cNvSpPr/>
          <p:nvPr/>
        </p:nvSpPr>
        <p:spPr>
          <a:xfrm>
            <a:off x="320040" y="3465576"/>
            <a:ext cx="274320" cy="274320"/>
          </a:xfrm>
          <a:prstGeom prst="rect">
            <a:avLst/>
          </a:prstGeom>
          <a:solidFill>
            <a:srgbClr val="1A7A8A"/>
          </a:solidFill>
          <a:ln w="12700">
            <a:solidFill>
              <a:srgbClr val="1A7A8A"/>
            </a:solidFill>
            <a:prstDash val="solid"/>
          </a:ln>
        </p:spPr>
        <p:txBody>
          <a:bodyPr/>
          <a:lstStyle/>
          <a:p>
            <a:endParaRPr lang="es-CO"/>
          </a:p>
        </p:txBody>
      </p:sp>
      <p:sp>
        <p:nvSpPr>
          <p:cNvPr id="15" name="Text 13"/>
          <p:cNvSpPr txBox="1"/>
          <p:nvPr/>
        </p:nvSpPr>
        <p:spPr>
          <a:xfrm>
            <a:off x="320040" y="3465576"/>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6" name="Text 14"/>
          <p:cNvSpPr txBox="1"/>
          <p:nvPr/>
        </p:nvSpPr>
        <p:spPr>
          <a:xfrm>
            <a:off x="676656" y="3465576"/>
            <a:ext cx="4846320" cy="329184"/>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Zonificación agroindustrial compatible con procesamiento de lácteos</a:t>
            </a:r>
            <a:endParaRPr lang="en-US" sz="1150" dirty="0"/>
          </a:p>
        </p:txBody>
      </p:sp>
      <p:sp>
        <p:nvSpPr>
          <p:cNvPr id="17" name="Shape 15"/>
          <p:cNvSpPr/>
          <p:nvPr/>
        </p:nvSpPr>
        <p:spPr>
          <a:xfrm>
            <a:off x="320040" y="3849624"/>
            <a:ext cx="274320" cy="274320"/>
          </a:xfrm>
          <a:prstGeom prst="rect">
            <a:avLst/>
          </a:prstGeom>
          <a:solidFill>
            <a:srgbClr val="1A7A8A"/>
          </a:solidFill>
          <a:ln w="12700">
            <a:solidFill>
              <a:srgbClr val="1A7A8A"/>
            </a:solidFill>
            <a:prstDash val="solid"/>
          </a:ln>
        </p:spPr>
        <p:txBody>
          <a:bodyPr/>
          <a:lstStyle/>
          <a:p>
            <a:endParaRPr lang="es-CO"/>
          </a:p>
        </p:txBody>
      </p:sp>
      <p:sp>
        <p:nvSpPr>
          <p:cNvPr id="18" name="Text 16"/>
          <p:cNvSpPr txBox="1"/>
          <p:nvPr/>
        </p:nvSpPr>
        <p:spPr>
          <a:xfrm>
            <a:off x="320040" y="3849624"/>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9" name="Text 17"/>
          <p:cNvSpPr txBox="1"/>
          <p:nvPr/>
        </p:nvSpPr>
        <p:spPr>
          <a:xfrm>
            <a:off x="676656" y="3849624"/>
            <a:ext cx="4846320" cy="329184"/>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Autopista CA-5: conectividad directa Tegucigalpa - San Pedro Sula</a:t>
            </a:r>
            <a:endParaRPr lang="en-US" sz="1150" dirty="0"/>
          </a:p>
        </p:txBody>
      </p:sp>
      <p:sp>
        <p:nvSpPr>
          <p:cNvPr id="86" name="Text 84"/>
          <p:cNvSpPr txBox="1"/>
          <p:nvPr/>
        </p:nvSpPr>
        <p:spPr>
          <a:xfrm>
            <a:off x="320040" y="6583680"/>
            <a:ext cx="11521440" cy="201168"/>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Maestría en Agronegocios · Universidad EAFIT · Zamorano · 2026   |   Caballero · Valladares · Medal</a:t>
            </a:r>
            <a:endParaRPr lang="en-US" sz="800" dirty="0"/>
          </a:p>
        </p:txBody>
      </p:sp>
      <p:sp>
        <p:nvSpPr>
          <p:cNvPr id="87" name="Rectangle 86"/>
          <p:cNvSpPr/>
          <p:nvPr/>
        </p:nvSpPr>
        <p:spPr>
          <a:xfrm>
            <a:off x="5943600" y="1115568"/>
            <a:ext cx="5806440" cy="36576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Box 87"/>
          <p:cNvSpPr txBox="1"/>
          <p:nvPr/>
        </p:nvSpPr>
        <p:spPr>
          <a:xfrm>
            <a:off x="6035040" y="1115568"/>
            <a:ext cx="5669280" cy="365760"/>
          </a:xfrm>
          <a:prstGeom prst="rect">
            <a:avLst/>
          </a:prstGeom>
          <a:noFill/>
        </p:spPr>
        <p:txBody>
          <a:bodyPr wrap="square" anchor="ctr">
            <a:spAutoFit/>
          </a:bodyPr>
          <a:lstStyle/>
          <a:p>
            <a:pPr algn="l"/>
            <a:r>
              <a:rPr sz="1100" b="1" i="0">
                <a:solidFill>
                  <a:srgbClr val="FFFFFF"/>
                </a:solidFill>
                <a:latin typeface="Calibri"/>
              </a:rPr>
              <a:t>Matriz de selección de localización (Tabla 8 de la tesis)</a:t>
            </a:r>
          </a:p>
        </p:txBody>
      </p:sp>
      <p:sp>
        <p:nvSpPr>
          <p:cNvPr id="89" name="Rectangle 88"/>
          <p:cNvSpPr/>
          <p:nvPr/>
        </p:nvSpPr>
        <p:spPr>
          <a:xfrm>
            <a:off x="5943600" y="1554480"/>
            <a:ext cx="2514600" cy="310896"/>
          </a:xfrm>
          <a:prstGeom prst="rect">
            <a:avLst/>
          </a:prstGeom>
          <a:solidFill>
            <a:srgbClr val="1B3A5C"/>
          </a:solidFill>
          <a:ln w="12700">
            <a:solidFill>
              <a:srgbClr val="1B3A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TextBox 89"/>
          <p:cNvSpPr txBox="1"/>
          <p:nvPr/>
        </p:nvSpPr>
        <p:spPr>
          <a:xfrm>
            <a:off x="5961888" y="1554480"/>
            <a:ext cx="2478024" cy="310896"/>
          </a:xfrm>
          <a:prstGeom prst="rect">
            <a:avLst/>
          </a:prstGeom>
          <a:noFill/>
        </p:spPr>
        <p:txBody>
          <a:bodyPr wrap="square" anchor="ctr" lIns="45720" rIns="45720" tIns="9144" bIns="9144">
            <a:spAutoFit/>
          </a:bodyPr>
          <a:lstStyle/>
          <a:p>
            <a:pPr algn="l"/>
            <a:r>
              <a:rPr sz="1050" b="1" i="0">
                <a:solidFill>
                  <a:srgbClr val="FFFFFF"/>
                </a:solidFill>
                <a:latin typeface="Calibri"/>
              </a:rPr>
              <a:t>Criterio</a:t>
            </a:r>
          </a:p>
        </p:txBody>
      </p:sp>
      <p:sp>
        <p:nvSpPr>
          <p:cNvPr id="91" name="Rectangle 90"/>
          <p:cNvSpPr/>
          <p:nvPr/>
        </p:nvSpPr>
        <p:spPr>
          <a:xfrm>
            <a:off x="8458200" y="1554480"/>
            <a:ext cx="822960" cy="310896"/>
          </a:xfrm>
          <a:prstGeom prst="rect">
            <a:avLst/>
          </a:prstGeom>
          <a:solidFill>
            <a:srgbClr val="1B3A5C"/>
          </a:solidFill>
          <a:ln w="12700">
            <a:solidFill>
              <a:srgbClr val="1B3A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TextBox 91"/>
          <p:cNvSpPr txBox="1"/>
          <p:nvPr/>
        </p:nvSpPr>
        <p:spPr>
          <a:xfrm>
            <a:off x="8476488" y="1554480"/>
            <a:ext cx="786384" cy="310896"/>
          </a:xfrm>
          <a:prstGeom prst="rect">
            <a:avLst/>
          </a:prstGeom>
          <a:noFill/>
        </p:spPr>
        <p:txBody>
          <a:bodyPr wrap="square" anchor="ctr" lIns="45720" rIns="45720" tIns="9144" bIns="9144">
            <a:spAutoFit/>
          </a:bodyPr>
          <a:lstStyle/>
          <a:p>
            <a:pPr algn="ctr"/>
            <a:r>
              <a:rPr sz="1050" b="1" i="0">
                <a:solidFill>
                  <a:srgbClr val="FFFFFF"/>
                </a:solidFill>
                <a:latin typeface="Calibri"/>
              </a:rPr>
              <a:t>Peso</a:t>
            </a:r>
          </a:p>
        </p:txBody>
      </p:sp>
      <p:sp>
        <p:nvSpPr>
          <p:cNvPr id="93" name="Rectangle 92"/>
          <p:cNvSpPr/>
          <p:nvPr/>
        </p:nvSpPr>
        <p:spPr>
          <a:xfrm>
            <a:off x="9281160" y="1554480"/>
            <a:ext cx="1234440" cy="310896"/>
          </a:xfrm>
          <a:prstGeom prst="rect">
            <a:avLst/>
          </a:prstGeom>
          <a:solidFill>
            <a:srgbClr val="1B3A5C"/>
          </a:solidFill>
          <a:ln w="12700">
            <a:solidFill>
              <a:srgbClr val="1B3A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TextBox 93"/>
          <p:cNvSpPr txBox="1"/>
          <p:nvPr/>
        </p:nvSpPr>
        <p:spPr>
          <a:xfrm>
            <a:off x="9299448" y="1554480"/>
            <a:ext cx="1197864" cy="310896"/>
          </a:xfrm>
          <a:prstGeom prst="rect">
            <a:avLst/>
          </a:prstGeom>
          <a:noFill/>
        </p:spPr>
        <p:txBody>
          <a:bodyPr wrap="square" anchor="ctr" lIns="45720" rIns="45720" tIns="9144" bIns="9144">
            <a:spAutoFit/>
          </a:bodyPr>
          <a:lstStyle/>
          <a:p>
            <a:pPr algn="ctr"/>
            <a:r>
              <a:rPr sz="1050" b="1" i="0">
                <a:solidFill>
                  <a:srgbClr val="FFFFFF"/>
                </a:solidFill>
                <a:latin typeface="Calibri"/>
              </a:rPr>
              <a:t>Comayagua</a:t>
            </a:r>
          </a:p>
        </p:txBody>
      </p:sp>
      <p:sp>
        <p:nvSpPr>
          <p:cNvPr id="95" name="Rectangle 94"/>
          <p:cNvSpPr/>
          <p:nvPr/>
        </p:nvSpPr>
        <p:spPr>
          <a:xfrm>
            <a:off x="10515600" y="1554480"/>
            <a:ext cx="1234440" cy="310896"/>
          </a:xfrm>
          <a:prstGeom prst="rect">
            <a:avLst/>
          </a:prstGeom>
          <a:solidFill>
            <a:srgbClr val="1B3A5C"/>
          </a:solidFill>
          <a:ln w="12700">
            <a:solidFill>
              <a:srgbClr val="1B3A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TextBox 95"/>
          <p:cNvSpPr txBox="1"/>
          <p:nvPr/>
        </p:nvSpPr>
        <p:spPr>
          <a:xfrm>
            <a:off x="10533888" y="1554480"/>
            <a:ext cx="1197864" cy="310896"/>
          </a:xfrm>
          <a:prstGeom prst="rect">
            <a:avLst/>
          </a:prstGeom>
          <a:noFill/>
        </p:spPr>
        <p:txBody>
          <a:bodyPr wrap="square" anchor="ctr" lIns="45720" rIns="45720" tIns="9144" bIns="9144">
            <a:spAutoFit/>
          </a:bodyPr>
          <a:lstStyle/>
          <a:p>
            <a:pPr algn="ctr"/>
            <a:r>
              <a:rPr sz="1050" b="1" i="0">
                <a:solidFill>
                  <a:srgbClr val="FFFFFF"/>
                </a:solidFill>
                <a:latin typeface="Calibri"/>
              </a:rPr>
              <a:t>Villanueva</a:t>
            </a:r>
          </a:p>
        </p:txBody>
      </p:sp>
      <p:sp>
        <p:nvSpPr>
          <p:cNvPr id="97" name="Rectangle 96"/>
          <p:cNvSpPr/>
          <p:nvPr/>
        </p:nvSpPr>
        <p:spPr>
          <a:xfrm>
            <a:off x="5943600" y="1865376"/>
            <a:ext cx="251460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TextBox 97"/>
          <p:cNvSpPr txBox="1"/>
          <p:nvPr/>
        </p:nvSpPr>
        <p:spPr>
          <a:xfrm>
            <a:off x="5961888" y="1865376"/>
            <a:ext cx="2478024" cy="329184"/>
          </a:xfrm>
          <a:prstGeom prst="rect">
            <a:avLst/>
          </a:prstGeom>
          <a:noFill/>
        </p:spPr>
        <p:txBody>
          <a:bodyPr wrap="square" anchor="ctr" lIns="45720" rIns="45720" tIns="9144" bIns="9144">
            <a:spAutoFit/>
          </a:bodyPr>
          <a:lstStyle/>
          <a:p>
            <a:pPr algn="l"/>
            <a:r>
              <a:rPr sz="1050" b="0" i="0">
                <a:solidFill>
                  <a:srgbClr val="334155"/>
                </a:solidFill>
                <a:latin typeface="Calibri"/>
              </a:rPr>
              <a:t>Costo</a:t>
            </a:r>
          </a:p>
        </p:txBody>
      </p:sp>
      <p:sp>
        <p:nvSpPr>
          <p:cNvPr id="99" name="Rectangle 98"/>
          <p:cNvSpPr/>
          <p:nvPr/>
        </p:nvSpPr>
        <p:spPr>
          <a:xfrm>
            <a:off x="8458200" y="1865376"/>
            <a:ext cx="82296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Box 99"/>
          <p:cNvSpPr txBox="1"/>
          <p:nvPr/>
        </p:nvSpPr>
        <p:spPr>
          <a:xfrm>
            <a:off x="8476488" y="1865376"/>
            <a:ext cx="786384" cy="329184"/>
          </a:xfrm>
          <a:prstGeom prst="rect">
            <a:avLst/>
          </a:prstGeom>
          <a:noFill/>
        </p:spPr>
        <p:txBody>
          <a:bodyPr wrap="square" anchor="ctr" lIns="45720" rIns="45720" tIns="9144" bIns="9144">
            <a:spAutoFit/>
          </a:bodyPr>
          <a:lstStyle/>
          <a:p>
            <a:pPr algn="ctr"/>
            <a:r>
              <a:rPr sz="1050" b="0" i="0">
                <a:solidFill>
                  <a:srgbClr val="334155"/>
                </a:solidFill>
                <a:latin typeface="Calibri"/>
              </a:rPr>
              <a:t>10 %</a:t>
            </a:r>
          </a:p>
        </p:txBody>
      </p:sp>
      <p:sp>
        <p:nvSpPr>
          <p:cNvPr id="101" name="Rectangle 100"/>
          <p:cNvSpPr/>
          <p:nvPr/>
        </p:nvSpPr>
        <p:spPr>
          <a:xfrm>
            <a:off x="9281160" y="1865376"/>
            <a:ext cx="123444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Box 101"/>
          <p:cNvSpPr txBox="1"/>
          <p:nvPr/>
        </p:nvSpPr>
        <p:spPr>
          <a:xfrm>
            <a:off x="9299448" y="1865376"/>
            <a:ext cx="1197864" cy="329184"/>
          </a:xfrm>
          <a:prstGeom prst="rect">
            <a:avLst/>
          </a:prstGeom>
          <a:noFill/>
        </p:spPr>
        <p:txBody>
          <a:bodyPr wrap="square" anchor="ctr" lIns="45720" rIns="45720" tIns="9144" bIns="9144">
            <a:spAutoFit/>
          </a:bodyPr>
          <a:lstStyle/>
          <a:p>
            <a:pPr algn="ctr"/>
            <a:r>
              <a:rPr sz="1050" b="0" i="0">
                <a:solidFill>
                  <a:srgbClr val="334155"/>
                </a:solidFill>
                <a:latin typeface="Calibri"/>
              </a:rPr>
              <a:t>3 / 0.30</a:t>
            </a:r>
          </a:p>
        </p:txBody>
      </p:sp>
      <p:sp>
        <p:nvSpPr>
          <p:cNvPr id="103" name="Rectangle 102"/>
          <p:cNvSpPr/>
          <p:nvPr/>
        </p:nvSpPr>
        <p:spPr>
          <a:xfrm>
            <a:off x="10515600" y="1865376"/>
            <a:ext cx="123444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TextBox 103"/>
          <p:cNvSpPr txBox="1"/>
          <p:nvPr/>
        </p:nvSpPr>
        <p:spPr>
          <a:xfrm>
            <a:off x="10533888" y="1865376"/>
            <a:ext cx="1197864" cy="329184"/>
          </a:xfrm>
          <a:prstGeom prst="rect">
            <a:avLst/>
          </a:prstGeom>
          <a:noFill/>
        </p:spPr>
        <p:txBody>
          <a:bodyPr wrap="square" anchor="ctr" lIns="45720" rIns="45720" tIns="9144" bIns="9144">
            <a:spAutoFit/>
          </a:bodyPr>
          <a:lstStyle/>
          <a:p>
            <a:pPr algn="ctr"/>
            <a:r>
              <a:rPr sz="1050" b="0" i="0">
                <a:solidFill>
                  <a:srgbClr val="334155"/>
                </a:solidFill>
                <a:latin typeface="Calibri"/>
              </a:rPr>
              <a:t>1 / 0.10</a:t>
            </a:r>
          </a:p>
        </p:txBody>
      </p:sp>
      <p:sp>
        <p:nvSpPr>
          <p:cNvPr id="105" name="Rectangle 104"/>
          <p:cNvSpPr/>
          <p:nvPr/>
        </p:nvSpPr>
        <p:spPr>
          <a:xfrm>
            <a:off x="5943600" y="2194560"/>
            <a:ext cx="251460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TextBox 105"/>
          <p:cNvSpPr txBox="1"/>
          <p:nvPr/>
        </p:nvSpPr>
        <p:spPr>
          <a:xfrm>
            <a:off x="5961888" y="2194560"/>
            <a:ext cx="2478024" cy="329184"/>
          </a:xfrm>
          <a:prstGeom prst="rect">
            <a:avLst/>
          </a:prstGeom>
          <a:noFill/>
        </p:spPr>
        <p:txBody>
          <a:bodyPr wrap="square" anchor="ctr" lIns="45720" rIns="45720" tIns="9144" bIns="9144">
            <a:spAutoFit/>
          </a:bodyPr>
          <a:lstStyle/>
          <a:p>
            <a:pPr algn="l"/>
            <a:r>
              <a:rPr sz="1050" b="0" i="0">
                <a:solidFill>
                  <a:srgbClr val="334155"/>
                </a:solidFill>
                <a:latin typeface="Calibri"/>
              </a:rPr>
              <a:t>Logística</a:t>
            </a:r>
          </a:p>
        </p:txBody>
      </p:sp>
      <p:sp>
        <p:nvSpPr>
          <p:cNvPr id="107" name="Rectangle 106"/>
          <p:cNvSpPr/>
          <p:nvPr/>
        </p:nvSpPr>
        <p:spPr>
          <a:xfrm>
            <a:off x="8458200" y="2194560"/>
            <a:ext cx="82296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TextBox 107"/>
          <p:cNvSpPr txBox="1"/>
          <p:nvPr/>
        </p:nvSpPr>
        <p:spPr>
          <a:xfrm>
            <a:off x="8476488" y="2194560"/>
            <a:ext cx="786384" cy="329184"/>
          </a:xfrm>
          <a:prstGeom prst="rect">
            <a:avLst/>
          </a:prstGeom>
          <a:noFill/>
        </p:spPr>
        <p:txBody>
          <a:bodyPr wrap="square" anchor="ctr" lIns="45720" rIns="45720" tIns="9144" bIns="9144">
            <a:spAutoFit/>
          </a:bodyPr>
          <a:lstStyle/>
          <a:p>
            <a:pPr algn="ctr"/>
            <a:r>
              <a:rPr sz="1050" b="0" i="0">
                <a:solidFill>
                  <a:srgbClr val="334155"/>
                </a:solidFill>
                <a:latin typeface="Calibri"/>
              </a:rPr>
              <a:t>15 %</a:t>
            </a:r>
          </a:p>
        </p:txBody>
      </p:sp>
      <p:sp>
        <p:nvSpPr>
          <p:cNvPr id="109" name="Rectangle 108"/>
          <p:cNvSpPr/>
          <p:nvPr/>
        </p:nvSpPr>
        <p:spPr>
          <a:xfrm>
            <a:off x="9281160" y="2194560"/>
            <a:ext cx="123444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TextBox 109"/>
          <p:cNvSpPr txBox="1"/>
          <p:nvPr/>
        </p:nvSpPr>
        <p:spPr>
          <a:xfrm>
            <a:off x="9299448" y="2194560"/>
            <a:ext cx="1197864" cy="329184"/>
          </a:xfrm>
          <a:prstGeom prst="rect">
            <a:avLst/>
          </a:prstGeom>
          <a:noFill/>
        </p:spPr>
        <p:txBody>
          <a:bodyPr wrap="square" anchor="ctr" lIns="45720" rIns="45720" tIns="9144" bIns="9144">
            <a:spAutoFit/>
          </a:bodyPr>
          <a:lstStyle/>
          <a:p>
            <a:pPr algn="ctr"/>
            <a:r>
              <a:rPr sz="1050" b="0" i="0">
                <a:solidFill>
                  <a:srgbClr val="334155"/>
                </a:solidFill>
                <a:latin typeface="Calibri"/>
              </a:rPr>
              <a:t>2 / 0.30</a:t>
            </a:r>
          </a:p>
        </p:txBody>
      </p:sp>
      <p:sp>
        <p:nvSpPr>
          <p:cNvPr id="111" name="Rectangle 110"/>
          <p:cNvSpPr/>
          <p:nvPr/>
        </p:nvSpPr>
        <p:spPr>
          <a:xfrm>
            <a:off x="10515600" y="2194560"/>
            <a:ext cx="123444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TextBox 111"/>
          <p:cNvSpPr txBox="1"/>
          <p:nvPr/>
        </p:nvSpPr>
        <p:spPr>
          <a:xfrm>
            <a:off x="10533888" y="2194560"/>
            <a:ext cx="1197864" cy="329184"/>
          </a:xfrm>
          <a:prstGeom prst="rect">
            <a:avLst/>
          </a:prstGeom>
          <a:noFill/>
        </p:spPr>
        <p:txBody>
          <a:bodyPr wrap="square" anchor="ctr" lIns="45720" rIns="45720" tIns="9144" bIns="9144">
            <a:spAutoFit/>
          </a:bodyPr>
          <a:lstStyle/>
          <a:p>
            <a:pPr algn="ctr"/>
            <a:r>
              <a:rPr sz="1050" b="0" i="0">
                <a:solidFill>
                  <a:srgbClr val="334155"/>
                </a:solidFill>
                <a:latin typeface="Calibri"/>
              </a:rPr>
              <a:t>2 / 0.30</a:t>
            </a:r>
          </a:p>
        </p:txBody>
      </p:sp>
      <p:sp>
        <p:nvSpPr>
          <p:cNvPr id="113" name="Rectangle 112"/>
          <p:cNvSpPr/>
          <p:nvPr/>
        </p:nvSpPr>
        <p:spPr>
          <a:xfrm>
            <a:off x="5943600" y="2523744"/>
            <a:ext cx="251460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TextBox 113"/>
          <p:cNvSpPr txBox="1"/>
          <p:nvPr/>
        </p:nvSpPr>
        <p:spPr>
          <a:xfrm>
            <a:off x="5961888" y="2523744"/>
            <a:ext cx="2478024" cy="329184"/>
          </a:xfrm>
          <a:prstGeom prst="rect">
            <a:avLst/>
          </a:prstGeom>
          <a:noFill/>
        </p:spPr>
        <p:txBody>
          <a:bodyPr wrap="square" anchor="ctr" lIns="45720" rIns="45720" tIns="9144" bIns="9144">
            <a:spAutoFit/>
          </a:bodyPr>
          <a:lstStyle/>
          <a:p>
            <a:pPr algn="l"/>
            <a:r>
              <a:rPr sz="1050" b="0" i="0">
                <a:solidFill>
                  <a:srgbClr val="334155"/>
                </a:solidFill>
                <a:latin typeface="Calibri"/>
              </a:rPr>
              <a:t>Proveedores</a:t>
            </a:r>
          </a:p>
        </p:txBody>
      </p:sp>
      <p:sp>
        <p:nvSpPr>
          <p:cNvPr id="115" name="Rectangle 114"/>
          <p:cNvSpPr/>
          <p:nvPr/>
        </p:nvSpPr>
        <p:spPr>
          <a:xfrm>
            <a:off x="8458200" y="2523744"/>
            <a:ext cx="82296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TextBox 115"/>
          <p:cNvSpPr txBox="1"/>
          <p:nvPr/>
        </p:nvSpPr>
        <p:spPr>
          <a:xfrm>
            <a:off x="8476488" y="2523744"/>
            <a:ext cx="786384" cy="329184"/>
          </a:xfrm>
          <a:prstGeom prst="rect">
            <a:avLst/>
          </a:prstGeom>
          <a:noFill/>
        </p:spPr>
        <p:txBody>
          <a:bodyPr wrap="square" anchor="ctr" lIns="45720" rIns="45720" tIns="9144" bIns="9144">
            <a:spAutoFit/>
          </a:bodyPr>
          <a:lstStyle/>
          <a:p>
            <a:pPr algn="ctr"/>
            <a:r>
              <a:rPr sz="1050" b="0" i="0">
                <a:solidFill>
                  <a:srgbClr val="334155"/>
                </a:solidFill>
                <a:latin typeface="Calibri"/>
              </a:rPr>
              <a:t>15 %</a:t>
            </a:r>
          </a:p>
        </p:txBody>
      </p:sp>
      <p:sp>
        <p:nvSpPr>
          <p:cNvPr id="117" name="Rectangle 116"/>
          <p:cNvSpPr/>
          <p:nvPr/>
        </p:nvSpPr>
        <p:spPr>
          <a:xfrm>
            <a:off x="9281160" y="2523744"/>
            <a:ext cx="123444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TextBox 117"/>
          <p:cNvSpPr txBox="1"/>
          <p:nvPr/>
        </p:nvSpPr>
        <p:spPr>
          <a:xfrm>
            <a:off x="9299448" y="2523744"/>
            <a:ext cx="1197864" cy="329184"/>
          </a:xfrm>
          <a:prstGeom prst="rect">
            <a:avLst/>
          </a:prstGeom>
          <a:noFill/>
        </p:spPr>
        <p:txBody>
          <a:bodyPr wrap="square" anchor="ctr" lIns="45720" rIns="45720" tIns="9144" bIns="9144">
            <a:spAutoFit/>
          </a:bodyPr>
          <a:lstStyle/>
          <a:p>
            <a:pPr algn="ctr"/>
            <a:r>
              <a:rPr sz="1050" b="0" i="0">
                <a:solidFill>
                  <a:srgbClr val="334155"/>
                </a:solidFill>
                <a:latin typeface="Calibri"/>
              </a:rPr>
              <a:t>3 / 0.45</a:t>
            </a:r>
          </a:p>
        </p:txBody>
      </p:sp>
      <p:sp>
        <p:nvSpPr>
          <p:cNvPr id="119" name="Rectangle 118"/>
          <p:cNvSpPr/>
          <p:nvPr/>
        </p:nvSpPr>
        <p:spPr>
          <a:xfrm>
            <a:off x="10515600" y="2523744"/>
            <a:ext cx="123444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TextBox 119"/>
          <p:cNvSpPr txBox="1"/>
          <p:nvPr/>
        </p:nvSpPr>
        <p:spPr>
          <a:xfrm>
            <a:off x="10533888" y="2523744"/>
            <a:ext cx="1197864" cy="329184"/>
          </a:xfrm>
          <a:prstGeom prst="rect">
            <a:avLst/>
          </a:prstGeom>
          <a:noFill/>
        </p:spPr>
        <p:txBody>
          <a:bodyPr wrap="square" anchor="ctr" lIns="45720" rIns="45720" tIns="9144" bIns="9144">
            <a:spAutoFit/>
          </a:bodyPr>
          <a:lstStyle/>
          <a:p>
            <a:pPr algn="ctr"/>
            <a:r>
              <a:rPr sz="1050" b="0" i="0">
                <a:solidFill>
                  <a:srgbClr val="334155"/>
                </a:solidFill>
                <a:latin typeface="Calibri"/>
              </a:rPr>
              <a:t>1 / 0.15</a:t>
            </a:r>
          </a:p>
        </p:txBody>
      </p:sp>
      <p:sp>
        <p:nvSpPr>
          <p:cNvPr id="121" name="Rectangle 120"/>
          <p:cNvSpPr/>
          <p:nvPr/>
        </p:nvSpPr>
        <p:spPr>
          <a:xfrm>
            <a:off x="5943600" y="2852927"/>
            <a:ext cx="251460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TextBox 121"/>
          <p:cNvSpPr txBox="1"/>
          <p:nvPr/>
        </p:nvSpPr>
        <p:spPr>
          <a:xfrm>
            <a:off x="5961888" y="2852927"/>
            <a:ext cx="2478024" cy="329184"/>
          </a:xfrm>
          <a:prstGeom prst="rect">
            <a:avLst/>
          </a:prstGeom>
          <a:noFill/>
        </p:spPr>
        <p:txBody>
          <a:bodyPr wrap="square" anchor="ctr" lIns="45720" rIns="45720" tIns="9144" bIns="9144">
            <a:spAutoFit/>
          </a:bodyPr>
          <a:lstStyle/>
          <a:p>
            <a:pPr algn="l"/>
            <a:r>
              <a:rPr sz="1050" b="0" i="0">
                <a:solidFill>
                  <a:srgbClr val="334155"/>
                </a:solidFill>
                <a:latin typeface="Calibri"/>
              </a:rPr>
              <a:t>Competencia</a:t>
            </a:r>
          </a:p>
        </p:txBody>
      </p:sp>
      <p:sp>
        <p:nvSpPr>
          <p:cNvPr id="123" name="Rectangle 122"/>
          <p:cNvSpPr/>
          <p:nvPr/>
        </p:nvSpPr>
        <p:spPr>
          <a:xfrm>
            <a:off x="8458200" y="2852927"/>
            <a:ext cx="82296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TextBox 123"/>
          <p:cNvSpPr txBox="1"/>
          <p:nvPr/>
        </p:nvSpPr>
        <p:spPr>
          <a:xfrm>
            <a:off x="8476488" y="2852927"/>
            <a:ext cx="786384" cy="329184"/>
          </a:xfrm>
          <a:prstGeom prst="rect">
            <a:avLst/>
          </a:prstGeom>
          <a:noFill/>
        </p:spPr>
        <p:txBody>
          <a:bodyPr wrap="square" anchor="ctr" lIns="45720" rIns="45720" tIns="9144" bIns="9144">
            <a:spAutoFit/>
          </a:bodyPr>
          <a:lstStyle/>
          <a:p>
            <a:pPr algn="ctr"/>
            <a:r>
              <a:rPr sz="1050" b="0" i="0">
                <a:solidFill>
                  <a:srgbClr val="334155"/>
                </a:solidFill>
                <a:latin typeface="Calibri"/>
              </a:rPr>
              <a:t>5 %</a:t>
            </a:r>
          </a:p>
        </p:txBody>
      </p:sp>
      <p:sp>
        <p:nvSpPr>
          <p:cNvPr id="125" name="Rectangle 124"/>
          <p:cNvSpPr/>
          <p:nvPr/>
        </p:nvSpPr>
        <p:spPr>
          <a:xfrm>
            <a:off x="9281160" y="2852927"/>
            <a:ext cx="123444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TextBox 125"/>
          <p:cNvSpPr txBox="1"/>
          <p:nvPr/>
        </p:nvSpPr>
        <p:spPr>
          <a:xfrm>
            <a:off x="9299448" y="2852927"/>
            <a:ext cx="1197864" cy="329184"/>
          </a:xfrm>
          <a:prstGeom prst="rect">
            <a:avLst/>
          </a:prstGeom>
          <a:noFill/>
        </p:spPr>
        <p:txBody>
          <a:bodyPr wrap="square" anchor="ctr" lIns="45720" rIns="45720" tIns="9144" bIns="9144">
            <a:spAutoFit/>
          </a:bodyPr>
          <a:lstStyle/>
          <a:p>
            <a:pPr algn="ctr"/>
            <a:r>
              <a:rPr sz="1050" b="0" i="0">
                <a:solidFill>
                  <a:srgbClr val="334155"/>
                </a:solidFill>
                <a:latin typeface="Calibri"/>
              </a:rPr>
              <a:t>1 / 0.05</a:t>
            </a:r>
          </a:p>
        </p:txBody>
      </p:sp>
      <p:sp>
        <p:nvSpPr>
          <p:cNvPr id="127" name="Rectangle 126"/>
          <p:cNvSpPr/>
          <p:nvPr/>
        </p:nvSpPr>
        <p:spPr>
          <a:xfrm>
            <a:off x="10515600" y="2852927"/>
            <a:ext cx="123444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TextBox 127"/>
          <p:cNvSpPr txBox="1"/>
          <p:nvPr/>
        </p:nvSpPr>
        <p:spPr>
          <a:xfrm>
            <a:off x="10533888" y="2852927"/>
            <a:ext cx="1197864" cy="329184"/>
          </a:xfrm>
          <a:prstGeom prst="rect">
            <a:avLst/>
          </a:prstGeom>
          <a:noFill/>
        </p:spPr>
        <p:txBody>
          <a:bodyPr wrap="square" anchor="ctr" lIns="45720" rIns="45720" tIns="9144" bIns="9144">
            <a:spAutoFit/>
          </a:bodyPr>
          <a:lstStyle/>
          <a:p>
            <a:pPr algn="ctr"/>
            <a:r>
              <a:rPr sz="1050" b="0" i="0">
                <a:solidFill>
                  <a:srgbClr val="334155"/>
                </a:solidFill>
                <a:latin typeface="Calibri"/>
              </a:rPr>
              <a:t>1 / 0.05</a:t>
            </a:r>
          </a:p>
        </p:txBody>
      </p:sp>
      <p:sp>
        <p:nvSpPr>
          <p:cNvPr id="129" name="Rectangle 128"/>
          <p:cNvSpPr/>
          <p:nvPr/>
        </p:nvSpPr>
        <p:spPr>
          <a:xfrm>
            <a:off x="5943600" y="3182111"/>
            <a:ext cx="251460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TextBox 129"/>
          <p:cNvSpPr txBox="1"/>
          <p:nvPr/>
        </p:nvSpPr>
        <p:spPr>
          <a:xfrm>
            <a:off x="5961888" y="3182111"/>
            <a:ext cx="2478024" cy="329184"/>
          </a:xfrm>
          <a:prstGeom prst="rect">
            <a:avLst/>
          </a:prstGeom>
          <a:noFill/>
        </p:spPr>
        <p:txBody>
          <a:bodyPr wrap="square" anchor="ctr" lIns="45720" rIns="45720" tIns="9144" bIns="9144">
            <a:spAutoFit/>
          </a:bodyPr>
          <a:lstStyle/>
          <a:p>
            <a:pPr algn="l"/>
            <a:r>
              <a:rPr sz="1050" b="0" i="0">
                <a:solidFill>
                  <a:srgbClr val="334155"/>
                </a:solidFill>
                <a:latin typeface="Calibri"/>
              </a:rPr>
              <a:t>Disponibilidad de mano de obra</a:t>
            </a:r>
          </a:p>
        </p:txBody>
      </p:sp>
      <p:sp>
        <p:nvSpPr>
          <p:cNvPr id="131" name="Rectangle 130"/>
          <p:cNvSpPr/>
          <p:nvPr/>
        </p:nvSpPr>
        <p:spPr>
          <a:xfrm>
            <a:off x="8458200" y="3182111"/>
            <a:ext cx="82296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TextBox 131"/>
          <p:cNvSpPr txBox="1"/>
          <p:nvPr/>
        </p:nvSpPr>
        <p:spPr>
          <a:xfrm>
            <a:off x="8476488" y="3182111"/>
            <a:ext cx="786384" cy="329184"/>
          </a:xfrm>
          <a:prstGeom prst="rect">
            <a:avLst/>
          </a:prstGeom>
          <a:noFill/>
        </p:spPr>
        <p:txBody>
          <a:bodyPr wrap="square" anchor="ctr" lIns="45720" rIns="45720" tIns="9144" bIns="9144">
            <a:spAutoFit/>
          </a:bodyPr>
          <a:lstStyle/>
          <a:p>
            <a:pPr algn="ctr"/>
            <a:r>
              <a:rPr sz="1050" b="0" i="0">
                <a:solidFill>
                  <a:srgbClr val="334155"/>
                </a:solidFill>
                <a:latin typeface="Calibri"/>
              </a:rPr>
              <a:t>10 %</a:t>
            </a:r>
          </a:p>
        </p:txBody>
      </p:sp>
      <p:sp>
        <p:nvSpPr>
          <p:cNvPr id="133" name="Rectangle 132"/>
          <p:cNvSpPr/>
          <p:nvPr/>
        </p:nvSpPr>
        <p:spPr>
          <a:xfrm>
            <a:off x="9281160" y="3182111"/>
            <a:ext cx="123444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4" name="TextBox 133"/>
          <p:cNvSpPr txBox="1"/>
          <p:nvPr/>
        </p:nvSpPr>
        <p:spPr>
          <a:xfrm>
            <a:off x="9299448" y="3182111"/>
            <a:ext cx="1197864" cy="329184"/>
          </a:xfrm>
          <a:prstGeom prst="rect">
            <a:avLst/>
          </a:prstGeom>
          <a:noFill/>
        </p:spPr>
        <p:txBody>
          <a:bodyPr wrap="square" anchor="ctr" lIns="45720" rIns="45720" tIns="9144" bIns="9144">
            <a:spAutoFit/>
          </a:bodyPr>
          <a:lstStyle/>
          <a:p>
            <a:pPr algn="ctr"/>
            <a:r>
              <a:rPr sz="1050" b="0" i="0">
                <a:solidFill>
                  <a:srgbClr val="334155"/>
                </a:solidFill>
                <a:latin typeface="Calibri"/>
              </a:rPr>
              <a:t>2 / 0.20</a:t>
            </a:r>
          </a:p>
        </p:txBody>
      </p:sp>
      <p:sp>
        <p:nvSpPr>
          <p:cNvPr id="135" name="Rectangle 134"/>
          <p:cNvSpPr/>
          <p:nvPr/>
        </p:nvSpPr>
        <p:spPr>
          <a:xfrm>
            <a:off x="10515600" y="3182111"/>
            <a:ext cx="123444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TextBox 135"/>
          <p:cNvSpPr txBox="1"/>
          <p:nvPr/>
        </p:nvSpPr>
        <p:spPr>
          <a:xfrm>
            <a:off x="10533888" y="3182111"/>
            <a:ext cx="1197864" cy="329184"/>
          </a:xfrm>
          <a:prstGeom prst="rect">
            <a:avLst/>
          </a:prstGeom>
          <a:noFill/>
        </p:spPr>
        <p:txBody>
          <a:bodyPr wrap="square" anchor="ctr" lIns="45720" rIns="45720" tIns="9144" bIns="9144">
            <a:spAutoFit/>
          </a:bodyPr>
          <a:lstStyle/>
          <a:p>
            <a:pPr algn="ctr"/>
            <a:r>
              <a:rPr sz="1050" b="0" i="0">
                <a:solidFill>
                  <a:srgbClr val="334155"/>
                </a:solidFill>
                <a:latin typeface="Calibri"/>
              </a:rPr>
              <a:t>2 / 0.20</a:t>
            </a:r>
          </a:p>
        </p:txBody>
      </p:sp>
      <p:sp>
        <p:nvSpPr>
          <p:cNvPr id="137" name="Rectangle 136"/>
          <p:cNvSpPr/>
          <p:nvPr/>
        </p:nvSpPr>
        <p:spPr>
          <a:xfrm>
            <a:off x="5943600" y="3511295"/>
            <a:ext cx="251460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TextBox 137"/>
          <p:cNvSpPr txBox="1"/>
          <p:nvPr/>
        </p:nvSpPr>
        <p:spPr>
          <a:xfrm>
            <a:off x="5961888" y="3511295"/>
            <a:ext cx="2478024" cy="329184"/>
          </a:xfrm>
          <a:prstGeom prst="rect">
            <a:avLst/>
          </a:prstGeom>
          <a:noFill/>
        </p:spPr>
        <p:txBody>
          <a:bodyPr wrap="square" anchor="ctr" lIns="45720" rIns="45720" tIns="9144" bIns="9144">
            <a:spAutoFit/>
          </a:bodyPr>
          <a:lstStyle/>
          <a:p>
            <a:pPr algn="l"/>
            <a:r>
              <a:rPr sz="1050" b="0" i="0">
                <a:solidFill>
                  <a:srgbClr val="334155"/>
                </a:solidFill>
                <a:latin typeface="Calibri"/>
              </a:rPr>
              <a:t>Accesibilidad</a:t>
            </a:r>
          </a:p>
        </p:txBody>
      </p:sp>
      <p:sp>
        <p:nvSpPr>
          <p:cNvPr id="139" name="Rectangle 138"/>
          <p:cNvSpPr/>
          <p:nvPr/>
        </p:nvSpPr>
        <p:spPr>
          <a:xfrm>
            <a:off x="8458200" y="3511295"/>
            <a:ext cx="82296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TextBox 139"/>
          <p:cNvSpPr txBox="1"/>
          <p:nvPr/>
        </p:nvSpPr>
        <p:spPr>
          <a:xfrm>
            <a:off x="8476488" y="3511295"/>
            <a:ext cx="786384" cy="329184"/>
          </a:xfrm>
          <a:prstGeom prst="rect">
            <a:avLst/>
          </a:prstGeom>
          <a:noFill/>
        </p:spPr>
        <p:txBody>
          <a:bodyPr wrap="square" anchor="ctr" lIns="45720" rIns="45720" tIns="9144" bIns="9144">
            <a:spAutoFit/>
          </a:bodyPr>
          <a:lstStyle/>
          <a:p>
            <a:pPr algn="ctr"/>
            <a:r>
              <a:rPr sz="1050" b="0" i="0">
                <a:solidFill>
                  <a:srgbClr val="334155"/>
                </a:solidFill>
                <a:latin typeface="Calibri"/>
              </a:rPr>
              <a:t>10 %</a:t>
            </a:r>
          </a:p>
        </p:txBody>
      </p:sp>
      <p:sp>
        <p:nvSpPr>
          <p:cNvPr id="141" name="Rectangle 140"/>
          <p:cNvSpPr/>
          <p:nvPr/>
        </p:nvSpPr>
        <p:spPr>
          <a:xfrm>
            <a:off x="9281160" y="3511295"/>
            <a:ext cx="123444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2" name="TextBox 141"/>
          <p:cNvSpPr txBox="1"/>
          <p:nvPr/>
        </p:nvSpPr>
        <p:spPr>
          <a:xfrm>
            <a:off x="9299448" y="3511295"/>
            <a:ext cx="1197864" cy="329184"/>
          </a:xfrm>
          <a:prstGeom prst="rect">
            <a:avLst/>
          </a:prstGeom>
          <a:noFill/>
        </p:spPr>
        <p:txBody>
          <a:bodyPr wrap="square" anchor="ctr" lIns="45720" rIns="45720" tIns="9144" bIns="9144">
            <a:spAutoFit/>
          </a:bodyPr>
          <a:lstStyle/>
          <a:p>
            <a:pPr algn="ctr"/>
            <a:r>
              <a:rPr sz="1050" b="0" i="0">
                <a:solidFill>
                  <a:srgbClr val="334155"/>
                </a:solidFill>
                <a:latin typeface="Calibri"/>
              </a:rPr>
              <a:t>3 / 0.30</a:t>
            </a:r>
          </a:p>
        </p:txBody>
      </p:sp>
      <p:sp>
        <p:nvSpPr>
          <p:cNvPr id="143" name="Rectangle 142"/>
          <p:cNvSpPr/>
          <p:nvPr/>
        </p:nvSpPr>
        <p:spPr>
          <a:xfrm>
            <a:off x="10515600" y="3511295"/>
            <a:ext cx="123444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4" name="TextBox 143"/>
          <p:cNvSpPr txBox="1"/>
          <p:nvPr/>
        </p:nvSpPr>
        <p:spPr>
          <a:xfrm>
            <a:off x="10533888" y="3511295"/>
            <a:ext cx="1197864" cy="329184"/>
          </a:xfrm>
          <a:prstGeom prst="rect">
            <a:avLst/>
          </a:prstGeom>
          <a:noFill/>
        </p:spPr>
        <p:txBody>
          <a:bodyPr wrap="square" anchor="ctr" lIns="45720" rIns="45720" tIns="9144" bIns="9144">
            <a:spAutoFit/>
          </a:bodyPr>
          <a:lstStyle/>
          <a:p>
            <a:pPr algn="ctr"/>
            <a:r>
              <a:rPr sz="1050" b="0" i="0">
                <a:solidFill>
                  <a:srgbClr val="334155"/>
                </a:solidFill>
                <a:latin typeface="Calibri"/>
              </a:rPr>
              <a:t>3 / 0.30</a:t>
            </a:r>
          </a:p>
        </p:txBody>
      </p:sp>
      <p:sp>
        <p:nvSpPr>
          <p:cNvPr id="145" name="Rectangle 144"/>
          <p:cNvSpPr/>
          <p:nvPr/>
        </p:nvSpPr>
        <p:spPr>
          <a:xfrm>
            <a:off x="5943600" y="3840479"/>
            <a:ext cx="251460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6" name="TextBox 145"/>
          <p:cNvSpPr txBox="1"/>
          <p:nvPr/>
        </p:nvSpPr>
        <p:spPr>
          <a:xfrm>
            <a:off x="5961888" y="3840479"/>
            <a:ext cx="2478024" cy="329184"/>
          </a:xfrm>
          <a:prstGeom prst="rect">
            <a:avLst/>
          </a:prstGeom>
          <a:noFill/>
        </p:spPr>
        <p:txBody>
          <a:bodyPr wrap="square" anchor="ctr" lIns="45720" rIns="45720" tIns="9144" bIns="9144">
            <a:spAutoFit/>
          </a:bodyPr>
          <a:lstStyle/>
          <a:p>
            <a:pPr algn="l"/>
            <a:r>
              <a:rPr sz="1050" b="0" i="0">
                <a:solidFill>
                  <a:srgbClr val="334155"/>
                </a:solidFill>
                <a:latin typeface="Calibri"/>
              </a:rPr>
              <a:t>Flujo de personas</a:t>
            </a:r>
          </a:p>
        </p:txBody>
      </p:sp>
      <p:sp>
        <p:nvSpPr>
          <p:cNvPr id="147" name="Rectangle 146"/>
          <p:cNvSpPr/>
          <p:nvPr/>
        </p:nvSpPr>
        <p:spPr>
          <a:xfrm>
            <a:off x="8458200" y="3840479"/>
            <a:ext cx="82296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8" name="TextBox 147"/>
          <p:cNvSpPr txBox="1"/>
          <p:nvPr/>
        </p:nvSpPr>
        <p:spPr>
          <a:xfrm>
            <a:off x="8476488" y="3840479"/>
            <a:ext cx="786384" cy="329184"/>
          </a:xfrm>
          <a:prstGeom prst="rect">
            <a:avLst/>
          </a:prstGeom>
          <a:noFill/>
        </p:spPr>
        <p:txBody>
          <a:bodyPr wrap="square" anchor="ctr" lIns="45720" rIns="45720" tIns="9144" bIns="9144">
            <a:spAutoFit/>
          </a:bodyPr>
          <a:lstStyle/>
          <a:p>
            <a:pPr algn="ctr"/>
            <a:r>
              <a:rPr sz="1050" b="0" i="0">
                <a:solidFill>
                  <a:srgbClr val="334155"/>
                </a:solidFill>
                <a:latin typeface="Calibri"/>
              </a:rPr>
              <a:t>5 %</a:t>
            </a:r>
          </a:p>
        </p:txBody>
      </p:sp>
      <p:sp>
        <p:nvSpPr>
          <p:cNvPr id="149" name="Rectangle 148"/>
          <p:cNvSpPr/>
          <p:nvPr/>
        </p:nvSpPr>
        <p:spPr>
          <a:xfrm>
            <a:off x="9281160" y="3840479"/>
            <a:ext cx="123444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TextBox 149"/>
          <p:cNvSpPr txBox="1"/>
          <p:nvPr/>
        </p:nvSpPr>
        <p:spPr>
          <a:xfrm>
            <a:off x="9299448" y="3840479"/>
            <a:ext cx="1197864" cy="329184"/>
          </a:xfrm>
          <a:prstGeom prst="rect">
            <a:avLst/>
          </a:prstGeom>
          <a:noFill/>
        </p:spPr>
        <p:txBody>
          <a:bodyPr wrap="square" anchor="ctr" lIns="45720" rIns="45720" tIns="9144" bIns="9144">
            <a:spAutoFit/>
          </a:bodyPr>
          <a:lstStyle/>
          <a:p>
            <a:pPr algn="ctr"/>
            <a:r>
              <a:rPr sz="1050" b="0" i="0">
                <a:solidFill>
                  <a:srgbClr val="334155"/>
                </a:solidFill>
                <a:latin typeface="Calibri"/>
              </a:rPr>
              <a:t>2 / 0.10</a:t>
            </a:r>
          </a:p>
        </p:txBody>
      </p:sp>
      <p:sp>
        <p:nvSpPr>
          <p:cNvPr id="151" name="Rectangle 150"/>
          <p:cNvSpPr/>
          <p:nvPr/>
        </p:nvSpPr>
        <p:spPr>
          <a:xfrm>
            <a:off x="10515600" y="3840479"/>
            <a:ext cx="123444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2" name="TextBox 151"/>
          <p:cNvSpPr txBox="1"/>
          <p:nvPr/>
        </p:nvSpPr>
        <p:spPr>
          <a:xfrm>
            <a:off x="10533888" y="3840479"/>
            <a:ext cx="1197864" cy="329184"/>
          </a:xfrm>
          <a:prstGeom prst="rect">
            <a:avLst/>
          </a:prstGeom>
          <a:noFill/>
        </p:spPr>
        <p:txBody>
          <a:bodyPr wrap="square" anchor="ctr" lIns="45720" rIns="45720" tIns="9144" bIns="9144">
            <a:spAutoFit/>
          </a:bodyPr>
          <a:lstStyle/>
          <a:p>
            <a:pPr algn="ctr"/>
            <a:r>
              <a:rPr sz="1050" b="0" i="0">
                <a:solidFill>
                  <a:srgbClr val="334155"/>
                </a:solidFill>
                <a:latin typeface="Calibri"/>
              </a:rPr>
              <a:t>2 / 0.10</a:t>
            </a:r>
          </a:p>
        </p:txBody>
      </p:sp>
      <p:sp>
        <p:nvSpPr>
          <p:cNvPr id="153" name="Rectangle 152"/>
          <p:cNvSpPr/>
          <p:nvPr/>
        </p:nvSpPr>
        <p:spPr>
          <a:xfrm>
            <a:off x="5943600" y="4169663"/>
            <a:ext cx="251460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 name="TextBox 153"/>
          <p:cNvSpPr txBox="1"/>
          <p:nvPr/>
        </p:nvSpPr>
        <p:spPr>
          <a:xfrm>
            <a:off x="5961888" y="4169663"/>
            <a:ext cx="2478024" cy="329184"/>
          </a:xfrm>
          <a:prstGeom prst="rect">
            <a:avLst/>
          </a:prstGeom>
          <a:noFill/>
        </p:spPr>
        <p:txBody>
          <a:bodyPr wrap="square" anchor="ctr" lIns="45720" rIns="45720" tIns="9144" bIns="9144">
            <a:spAutoFit/>
          </a:bodyPr>
          <a:lstStyle/>
          <a:p>
            <a:pPr algn="l"/>
            <a:r>
              <a:rPr sz="1050" b="0" i="0">
                <a:solidFill>
                  <a:srgbClr val="334155"/>
                </a:solidFill>
                <a:latin typeface="Calibri"/>
              </a:rPr>
              <a:t>Acceso a materia prima</a:t>
            </a:r>
          </a:p>
        </p:txBody>
      </p:sp>
      <p:sp>
        <p:nvSpPr>
          <p:cNvPr id="155" name="Rectangle 154"/>
          <p:cNvSpPr/>
          <p:nvPr/>
        </p:nvSpPr>
        <p:spPr>
          <a:xfrm>
            <a:off x="8458200" y="4169663"/>
            <a:ext cx="82296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TextBox 155"/>
          <p:cNvSpPr txBox="1"/>
          <p:nvPr/>
        </p:nvSpPr>
        <p:spPr>
          <a:xfrm>
            <a:off x="8476488" y="4169663"/>
            <a:ext cx="786384" cy="329184"/>
          </a:xfrm>
          <a:prstGeom prst="rect">
            <a:avLst/>
          </a:prstGeom>
          <a:noFill/>
        </p:spPr>
        <p:txBody>
          <a:bodyPr wrap="square" anchor="ctr" lIns="45720" rIns="45720" tIns="9144" bIns="9144">
            <a:spAutoFit/>
          </a:bodyPr>
          <a:lstStyle/>
          <a:p>
            <a:pPr algn="ctr"/>
            <a:r>
              <a:rPr sz="1050" b="0" i="0">
                <a:solidFill>
                  <a:srgbClr val="334155"/>
                </a:solidFill>
                <a:latin typeface="Calibri"/>
              </a:rPr>
              <a:t>20 %</a:t>
            </a:r>
          </a:p>
        </p:txBody>
      </p:sp>
      <p:sp>
        <p:nvSpPr>
          <p:cNvPr id="157" name="Rectangle 156"/>
          <p:cNvSpPr/>
          <p:nvPr/>
        </p:nvSpPr>
        <p:spPr>
          <a:xfrm>
            <a:off x="9281160" y="4169663"/>
            <a:ext cx="123444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TextBox 157"/>
          <p:cNvSpPr txBox="1"/>
          <p:nvPr/>
        </p:nvSpPr>
        <p:spPr>
          <a:xfrm>
            <a:off x="9299448" y="4169663"/>
            <a:ext cx="1197864" cy="329184"/>
          </a:xfrm>
          <a:prstGeom prst="rect">
            <a:avLst/>
          </a:prstGeom>
          <a:noFill/>
        </p:spPr>
        <p:txBody>
          <a:bodyPr wrap="square" anchor="ctr" lIns="45720" rIns="45720" tIns="9144" bIns="9144">
            <a:spAutoFit/>
          </a:bodyPr>
          <a:lstStyle/>
          <a:p>
            <a:pPr algn="ctr"/>
            <a:r>
              <a:rPr sz="1050" b="0" i="0">
                <a:solidFill>
                  <a:srgbClr val="334155"/>
                </a:solidFill>
                <a:latin typeface="Calibri"/>
              </a:rPr>
              <a:t>3 / 0.60</a:t>
            </a:r>
          </a:p>
        </p:txBody>
      </p:sp>
      <p:sp>
        <p:nvSpPr>
          <p:cNvPr id="159" name="Rectangle 158"/>
          <p:cNvSpPr/>
          <p:nvPr/>
        </p:nvSpPr>
        <p:spPr>
          <a:xfrm>
            <a:off x="10515600" y="4169663"/>
            <a:ext cx="123444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0" name="TextBox 159"/>
          <p:cNvSpPr txBox="1"/>
          <p:nvPr/>
        </p:nvSpPr>
        <p:spPr>
          <a:xfrm>
            <a:off x="10533888" y="4169663"/>
            <a:ext cx="1197864" cy="329184"/>
          </a:xfrm>
          <a:prstGeom prst="rect">
            <a:avLst/>
          </a:prstGeom>
          <a:noFill/>
        </p:spPr>
        <p:txBody>
          <a:bodyPr wrap="square" anchor="ctr" lIns="45720" rIns="45720" tIns="9144" bIns="9144">
            <a:spAutoFit/>
          </a:bodyPr>
          <a:lstStyle/>
          <a:p>
            <a:pPr algn="ctr"/>
            <a:r>
              <a:rPr sz="1050" b="0" i="0">
                <a:solidFill>
                  <a:srgbClr val="334155"/>
                </a:solidFill>
                <a:latin typeface="Calibri"/>
              </a:rPr>
              <a:t>1 / 0.20</a:t>
            </a:r>
          </a:p>
        </p:txBody>
      </p:sp>
      <p:sp>
        <p:nvSpPr>
          <p:cNvPr id="161" name="Rectangle 160"/>
          <p:cNvSpPr/>
          <p:nvPr/>
        </p:nvSpPr>
        <p:spPr>
          <a:xfrm>
            <a:off x="5943600" y="4498848"/>
            <a:ext cx="251460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TextBox 161"/>
          <p:cNvSpPr txBox="1"/>
          <p:nvPr/>
        </p:nvSpPr>
        <p:spPr>
          <a:xfrm>
            <a:off x="5961888" y="4498848"/>
            <a:ext cx="2478024" cy="329184"/>
          </a:xfrm>
          <a:prstGeom prst="rect">
            <a:avLst/>
          </a:prstGeom>
          <a:noFill/>
        </p:spPr>
        <p:txBody>
          <a:bodyPr wrap="square" anchor="ctr" lIns="45720" rIns="45720" tIns="9144" bIns="9144">
            <a:spAutoFit/>
          </a:bodyPr>
          <a:lstStyle/>
          <a:p>
            <a:pPr algn="l"/>
            <a:r>
              <a:rPr sz="1050" b="0" i="0">
                <a:solidFill>
                  <a:srgbClr val="334155"/>
                </a:solidFill>
                <a:latin typeface="Calibri"/>
              </a:rPr>
              <a:t>Impuestos</a:t>
            </a:r>
          </a:p>
        </p:txBody>
      </p:sp>
      <p:sp>
        <p:nvSpPr>
          <p:cNvPr id="163" name="Rectangle 162"/>
          <p:cNvSpPr/>
          <p:nvPr/>
        </p:nvSpPr>
        <p:spPr>
          <a:xfrm>
            <a:off x="8458200" y="4498848"/>
            <a:ext cx="82296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4" name="TextBox 163"/>
          <p:cNvSpPr txBox="1"/>
          <p:nvPr/>
        </p:nvSpPr>
        <p:spPr>
          <a:xfrm>
            <a:off x="8476488" y="4498848"/>
            <a:ext cx="786384" cy="329184"/>
          </a:xfrm>
          <a:prstGeom prst="rect">
            <a:avLst/>
          </a:prstGeom>
          <a:noFill/>
        </p:spPr>
        <p:txBody>
          <a:bodyPr wrap="square" anchor="ctr" lIns="45720" rIns="45720" tIns="9144" bIns="9144">
            <a:spAutoFit/>
          </a:bodyPr>
          <a:lstStyle/>
          <a:p>
            <a:pPr algn="ctr"/>
            <a:r>
              <a:rPr sz="1050" b="0" i="0">
                <a:solidFill>
                  <a:srgbClr val="334155"/>
                </a:solidFill>
                <a:latin typeface="Calibri"/>
              </a:rPr>
              <a:t>5 %</a:t>
            </a:r>
          </a:p>
        </p:txBody>
      </p:sp>
      <p:sp>
        <p:nvSpPr>
          <p:cNvPr id="165" name="Rectangle 164"/>
          <p:cNvSpPr/>
          <p:nvPr/>
        </p:nvSpPr>
        <p:spPr>
          <a:xfrm>
            <a:off x="9281160" y="4498848"/>
            <a:ext cx="123444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6" name="TextBox 165"/>
          <p:cNvSpPr txBox="1"/>
          <p:nvPr/>
        </p:nvSpPr>
        <p:spPr>
          <a:xfrm>
            <a:off x="9299448" y="4498848"/>
            <a:ext cx="1197864" cy="329184"/>
          </a:xfrm>
          <a:prstGeom prst="rect">
            <a:avLst/>
          </a:prstGeom>
          <a:noFill/>
        </p:spPr>
        <p:txBody>
          <a:bodyPr wrap="square" anchor="ctr" lIns="45720" rIns="45720" tIns="9144" bIns="9144">
            <a:spAutoFit/>
          </a:bodyPr>
          <a:lstStyle/>
          <a:p>
            <a:pPr algn="ctr"/>
            <a:r>
              <a:rPr sz="1050" b="0" i="0">
                <a:solidFill>
                  <a:srgbClr val="334155"/>
                </a:solidFill>
                <a:latin typeface="Calibri"/>
              </a:rPr>
              <a:t>2 / 0.10</a:t>
            </a:r>
          </a:p>
        </p:txBody>
      </p:sp>
      <p:sp>
        <p:nvSpPr>
          <p:cNvPr id="167" name="Rectangle 166"/>
          <p:cNvSpPr/>
          <p:nvPr/>
        </p:nvSpPr>
        <p:spPr>
          <a:xfrm>
            <a:off x="10515600" y="4498848"/>
            <a:ext cx="123444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8" name="TextBox 167"/>
          <p:cNvSpPr txBox="1"/>
          <p:nvPr/>
        </p:nvSpPr>
        <p:spPr>
          <a:xfrm>
            <a:off x="10533888" y="4498848"/>
            <a:ext cx="1197864" cy="329184"/>
          </a:xfrm>
          <a:prstGeom prst="rect">
            <a:avLst/>
          </a:prstGeom>
          <a:noFill/>
        </p:spPr>
        <p:txBody>
          <a:bodyPr wrap="square" anchor="ctr" lIns="45720" rIns="45720" tIns="9144" bIns="9144">
            <a:spAutoFit/>
          </a:bodyPr>
          <a:lstStyle/>
          <a:p>
            <a:pPr algn="ctr"/>
            <a:r>
              <a:rPr sz="1050" b="0" i="0">
                <a:solidFill>
                  <a:srgbClr val="334155"/>
                </a:solidFill>
                <a:latin typeface="Calibri"/>
              </a:rPr>
              <a:t>2 / 0.10</a:t>
            </a:r>
          </a:p>
        </p:txBody>
      </p:sp>
      <p:sp>
        <p:nvSpPr>
          <p:cNvPr id="169" name="Rectangle 168"/>
          <p:cNvSpPr/>
          <p:nvPr/>
        </p:nvSpPr>
        <p:spPr>
          <a:xfrm>
            <a:off x="5943600" y="4828032"/>
            <a:ext cx="251460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0" name="TextBox 169"/>
          <p:cNvSpPr txBox="1"/>
          <p:nvPr/>
        </p:nvSpPr>
        <p:spPr>
          <a:xfrm>
            <a:off x="5961888" y="4828032"/>
            <a:ext cx="2478024" cy="329184"/>
          </a:xfrm>
          <a:prstGeom prst="rect">
            <a:avLst/>
          </a:prstGeom>
          <a:noFill/>
        </p:spPr>
        <p:txBody>
          <a:bodyPr wrap="square" anchor="ctr" lIns="45720" rIns="45720" tIns="9144" bIns="9144">
            <a:spAutoFit/>
          </a:bodyPr>
          <a:lstStyle/>
          <a:p>
            <a:pPr algn="l"/>
            <a:r>
              <a:rPr sz="1050" b="0" i="0">
                <a:solidFill>
                  <a:srgbClr val="334155"/>
                </a:solidFill>
                <a:latin typeface="Calibri"/>
              </a:rPr>
              <a:t>Permisos</a:t>
            </a:r>
          </a:p>
        </p:txBody>
      </p:sp>
      <p:sp>
        <p:nvSpPr>
          <p:cNvPr id="171" name="Rectangle 170"/>
          <p:cNvSpPr/>
          <p:nvPr/>
        </p:nvSpPr>
        <p:spPr>
          <a:xfrm>
            <a:off x="8458200" y="4828032"/>
            <a:ext cx="82296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2" name="TextBox 171"/>
          <p:cNvSpPr txBox="1"/>
          <p:nvPr/>
        </p:nvSpPr>
        <p:spPr>
          <a:xfrm>
            <a:off x="8476488" y="4828032"/>
            <a:ext cx="786384" cy="329184"/>
          </a:xfrm>
          <a:prstGeom prst="rect">
            <a:avLst/>
          </a:prstGeom>
          <a:noFill/>
        </p:spPr>
        <p:txBody>
          <a:bodyPr wrap="square" anchor="ctr" lIns="45720" rIns="45720" tIns="9144" bIns="9144">
            <a:spAutoFit/>
          </a:bodyPr>
          <a:lstStyle/>
          <a:p>
            <a:pPr algn="ctr"/>
            <a:r>
              <a:rPr sz="1050" b="0" i="0">
                <a:solidFill>
                  <a:srgbClr val="334155"/>
                </a:solidFill>
                <a:latin typeface="Calibri"/>
              </a:rPr>
              <a:t>5 %</a:t>
            </a:r>
          </a:p>
        </p:txBody>
      </p:sp>
      <p:sp>
        <p:nvSpPr>
          <p:cNvPr id="173" name="Rectangle 172"/>
          <p:cNvSpPr/>
          <p:nvPr/>
        </p:nvSpPr>
        <p:spPr>
          <a:xfrm>
            <a:off x="9281160" y="4828032"/>
            <a:ext cx="123444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 name="TextBox 173"/>
          <p:cNvSpPr txBox="1"/>
          <p:nvPr/>
        </p:nvSpPr>
        <p:spPr>
          <a:xfrm>
            <a:off x="9299448" y="4828032"/>
            <a:ext cx="1197864" cy="329184"/>
          </a:xfrm>
          <a:prstGeom prst="rect">
            <a:avLst/>
          </a:prstGeom>
          <a:noFill/>
        </p:spPr>
        <p:txBody>
          <a:bodyPr wrap="square" anchor="ctr" lIns="45720" rIns="45720" tIns="9144" bIns="9144">
            <a:spAutoFit/>
          </a:bodyPr>
          <a:lstStyle/>
          <a:p>
            <a:pPr algn="ctr"/>
            <a:r>
              <a:rPr sz="1050" b="0" i="0">
                <a:solidFill>
                  <a:srgbClr val="334155"/>
                </a:solidFill>
                <a:latin typeface="Calibri"/>
              </a:rPr>
              <a:t>2 / 0.10</a:t>
            </a:r>
          </a:p>
        </p:txBody>
      </p:sp>
      <p:sp>
        <p:nvSpPr>
          <p:cNvPr id="175" name="Rectangle 174"/>
          <p:cNvSpPr/>
          <p:nvPr/>
        </p:nvSpPr>
        <p:spPr>
          <a:xfrm>
            <a:off x="10515600" y="4828032"/>
            <a:ext cx="123444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6" name="TextBox 175"/>
          <p:cNvSpPr txBox="1"/>
          <p:nvPr/>
        </p:nvSpPr>
        <p:spPr>
          <a:xfrm>
            <a:off x="10533888" y="4828032"/>
            <a:ext cx="1197864" cy="329184"/>
          </a:xfrm>
          <a:prstGeom prst="rect">
            <a:avLst/>
          </a:prstGeom>
          <a:noFill/>
        </p:spPr>
        <p:txBody>
          <a:bodyPr wrap="square" anchor="ctr" lIns="45720" rIns="45720" tIns="9144" bIns="9144">
            <a:spAutoFit/>
          </a:bodyPr>
          <a:lstStyle/>
          <a:p>
            <a:pPr algn="ctr"/>
            <a:r>
              <a:rPr sz="1050" b="0" i="0">
                <a:solidFill>
                  <a:srgbClr val="334155"/>
                </a:solidFill>
                <a:latin typeface="Calibri"/>
              </a:rPr>
              <a:t>2 / 0.10</a:t>
            </a:r>
          </a:p>
        </p:txBody>
      </p:sp>
      <p:sp>
        <p:nvSpPr>
          <p:cNvPr id="177" name="Rectangle 176"/>
          <p:cNvSpPr/>
          <p:nvPr/>
        </p:nvSpPr>
        <p:spPr>
          <a:xfrm>
            <a:off x="5943600" y="5157216"/>
            <a:ext cx="2514600" cy="329184"/>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8" name="TextBox 177"/>
          <p:cNvSpPr txBox="1"/>
          <p:nvPr/>
        </p:nvSpPr>
        <p:spPr>
          <a:xfrm>
            <a:off x="5961888" y="5157216"/>
            <a:ext cx="2478024" cy="329184"/>
          </a:xfrm>
          <a:prstGeom prst="rect">
            <a:avLst/>
          </a:prstGeom>
          <a:noFill/>
        </p:spPr>
        <p:txBody>
          <a:bodyPr wrap="square" anchor="ctr" lIns="45720" rIns="45720" tIns="9144" bIns="9144">
            <a:spAutoFit/>
          </a:bodyPr>
          <a:lstStyle/>
          <a:p>
            <a:pPr algn="l"/>
            <a:r>
              <a:rPr sz="1050" b="1" i="0">
                <a:solidFill>
                  <a:srgbClr val="0D2341"/>
                </a:solidFill>
                <a:latin typeface="Calibri"/>
              </a:rPr>
              <a:t>TOTAL</a:t>
            </a:r>
          </a:p>
        </p:txBody>
      </p:sp>
      <p:sp>
        <p:nvSpPr>
          <p:cNvPr id="179" name="Rectangle 178"/>
          <p:cNvSpPr/>
          <p:nvPr/>
        </p:nvSpPr>
        <p:spPr>
          <a:xfrm>
            <a:off x="8458200" y="5157216"/>
            <a:ext cx="822960" cy="329184"/>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0" name="TextBox 179"/>
          <p:cNvSpPr txBox="1"/>
          <p:nvPr/>
        </p:nvSpPr>
        <p:spPr>
          <a:xfrm>
            <a:off x="8476488" y="5157216"/>
            <a:ext cx="786384" cy="329184"/>
          </a:xfrm>
          <a:prstGeom prst="rect">
            <a:avLst/>
          </a:prstGeom>
          <a:noFill/>
        </p:spPr>
        <p:txBody>
          <a:bodyPr wrap="square" anchor="ctr" lIns="45720" rIns="45720" tIns="9144" bIns="9144">
            <a:spAutoFit/>
          </a:bodyPr>
          <a:lstStyle/>
          <a:p>
            <a:pPr algn="ctr"/>
            <a:r>
              <a:rPr sz="1050" b="1" i="0">
                <a:solidFill>
                  <a:srgbClr val="0D2341"/>
                </a:solidFill>
                <a:latin typeface="Calibri"/>
              </a:rPr>
              <a:t>100 %</a:t>
            </a:r>
          </a:p>
        </p:txBody>
      </p:sp>
      <p:sp>
        <p:nvSpPr>
          <p:cNvPr id="181" name="Rectangle 180"/>
          <p:cNvSpPr/>
          <p:nvPr/>
        </p:nvSpPr>
        <p:spPr>
          <a:xfrm>
            <a:off x="9281160" y="5157216"/>
            <a:ext cx="1234440" cy="329184"/>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2" name="TextBox 181"/>
          <p:cNvSpPr txBox="1"/>
          <p:nvPr/>
        </p:nvSpPr>
        <p:spPr>
          <a:xfrm>
            <a:off x="9299448" y="5157216"/>
            <a:ext cx="1197864" cy="329184"/>
          </a:xfrm>
          <a:prstGeom prst="rect">
            <a:avLst/>
          </a:prstGeom>
          <a:noFill/>
        </p:spPr>
        <p:txBody>
          <a:bodyPr wrap="square" anchor="ctr" lIns="45720" rIns="45720" tIns="9144" bIns="9144">
            <a:spAutoFit/>
          </a:bodyPr>
          <a:lstStyle/>
          <a:p>
            <a:pPr algn="ctr"/>
            <a:r>
              <a:rPr sz="1050" b="1" i="0">
                <a:solidFill>
                  <a:srgbClr val="0D2341"/>
                </a:solidFill>
                <a:latin typeface="Calibri"/>
              </a:rPr>
              <a:t>2.50</a:t>
            </a:r>
          </a:p>
        </p:txBody>
      </p:sp>
      <p:sp>
        <p:nvSpPr>
          <p:cNvPr id="183" name="Rectangle 182"/>
          <p:cNvSpPr/>
          <p:nvPr/>
        </p:nvSpPr>
        <p:spPr>
          <a:xfrm>
            <a:off x="10515600" y="5157216"/>
            <a:ext cx="1234440" cy="329184"/>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4" name="TextBox 183"/>
          <p:cNvSpPr txBox="1"/>
          <p:nvPr/>
        </p:nvSpPr>
        <p:spPr>
          <a:xfrm>
            <a:off x="10533888" y="5157216"/>
            <a:ext cx="1197864" cy="329184"/>
          </a:xfrm>
          <a:prstGeom prst="rect">
            <a:avLst/>
          </a:prstGeom>
          <a:noFill/>
        </p:spPr>
        <p:txBody>
          <a:bodyPr wrap="square" anchor="ctr" lIns="45720" rIns="45720" tIns="9144" bIns="9144">
            <a:spAutoFit/>
          </a:bodyPr>
          <a:lstStyle/>
          <a:p>
            <a:pPr algn="ctr"/>
            <a:r>
              <a:rPr sz="1050" b="1" i="0">
                <a:solidFill>
                  <a:srgbClr val="0D2341"/>
                </a:solidFill>
                <a:latin typeface="Calibri"/>
              </a:rPr>
              <a:t>1.60</a:t>
            </a:r>
          </a:p>
        </p:txBody>
      </p:sp>
      <p:sp>
        <p:nvSpPr>
          <p:cNvPr id="185" name="TextBox 184"/>
          <p:cNvSpPr txBox="1"/>
          <p:nvPr/>
        </p:nvSpPr>
        <p:spPr>
          <a:xfrm>
            <a:off x="5943600" y="5577840"/>
            <a:ext cx="5806440" cy="365760"/>
          </a:xfrm>
          <a:prstGeom prst="rect">
            <a:avLst/>
          </a:prstGeom>
          <a:noFill/>
        </p:spPr>
        <p:txBody>
          <a:bodyPr wrap="square" anchor="ctr">
            <a:spAutoFit/>
          </a:bodyPr>
          <a:lstStyle/>
          <a:p>
            <a:pPr algn="l"/>
            <a:r>
              <a:rPr sz="950" b="0" i="1">
                <a:solidFill>
                  <a:srgbClr val="64748B"/>
                </a:solidFill>
                <a:latin typeface="Calibri"/>
              </a:rPr>
              <a:t>Escala: 1 = bajo, 2 = medio, 3 = alto. Cada celda muestra puntaje / puntaje ponderado.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320040" y="201168"/>
            <a:ext cx="1828800" cy="256032"/>
          </a:xfrm>
          <a:prstGeom prst="rect">
            <a:avLst/>
          </a:prstGeom>
          <a:noFill/>
          <a:ln/>
        </p:spPr>
        <p:txBody>
          <a:bodyPr wrap="square" rtlCol="0" anchor="ctr"/>
          <a:lstStyle/>
          <a:p>
            <a:pPr marL="0" indent="0" algn="l">
              <a:buNone/>
            </a:pPr>
            <a:r>
              <a:rPr lang="en-US" sz="900" b="1" kern="0" spc="100" dirty="0">
                <a:solidFill>
                  <a:srgbClr val="1A7A8A"/>
                </a:solidFill>
                <a:latin typeface="Calibri" pitchFamily="34" charset="0"/>
                <a:ea typeface="Calibri" pitchFamily="34" charset="-122"/>
                <a:cs typeface="Calibri" pitchFamily="34" charset="-120"/>
              </a:rPr>
              <a:t>TÉCNICO</a:t>
            </a:r>
            <a:endParaRPr lang="en-US" sz="900" dirty="0"/>
          </a:p>
        </p:txBody>
      </p:sp>
      <p:sp>
        <p:nvSpPr>
          <p:cNvPr id="3" name="Text 1"/>
          <p:cNvSpPr txBox="1"/>
          <p:nvPr/>
        </p:nvSpPr>
        <p:spPr>
          <a:xfrm>
            <a:off x="320040" y="475488"/>
            <a:ext cx="11521440" cy="502920"/>
          </a:xfrm>
          <a:prstGeom prst="rect">
            <a:avLst/>
          </a:prstGeom>
          <a:noFill/>
          <a:ln/>
        </p:spPr>
        <p:txBody>
          <a:bodyPr wrap="square" rtlCol="0" anchor="ctr"/>
          <a:lstStyle/>
          <a:p>
            <a:pPr marL="0" indent="0">
              <a:buNone/>
            </a:pPr>
            <a:r>
              <a:rPr lang="en-US" sz="2600" b="1" dirty="0">
                <a:solidFill>
                  <a:srgbClr val="0D2341"/>
                </a:solidFill>
                <a:latin typeface="Calibri" pitchFamily="34" charset="0"/>
                <a:ea typeface="Calibri" pitchFamily="34" charset="-122"/>
                <a:cs typeface="Calibri" pitchFamily="34" charset="-120"/>
              </a:rPr>
              <a:t>Proceso Productivo · HTST y Capacidad Instalada</a:t>
            </a:r>
            <a:endParaRPr lang="en-US" sz="2600" dirty="0"/>
          </a:p>
        </p:txBody>
      </p:sp>
      <p:sp>
        <p:nvSpPr>
          <p:cNvPr id="4" name="Shape 2"/>
          <p:cNvSpPr/>
          <p:nvPr/>
        </p:nvSpPr>
        <p:spPr>
          <a:xfrm>
            <a:off x="320040" y="1005840"/>
            <a:ext cx="11430000" cy="18288"/>
          </a:xfrm>
          <a:prstGeom prst="rect">
            <a:avLst/>
          </a:prstGeom>
          <a:solidFill>
            <a:srgbClr val="1A7A8A"/>
          </a:solidFill>
          <a:ln w="12700">
            <a:solidFill>
              <a:srgbClr val="1A7A8A"/>
            </a:solidFill>
            <a:prstDash val="solid"/>
          </a:ln>
        </p:spPr>
        <p:txBody>
          <a:bodyPr/>
          <a:lstStyle/>
          <a:p>
            <a:endParaRPr lang="es-CO"/>
          </a:p>
        </p:txBody>
      </p:sp>
      <p:sp>
        <p:nvSpPr>
          <p:cNvPr id="5" name="Shape 3"/>
          <p:cNvSpPr/>
          <p:nvPr/>
        </p:nvSpPr>
        <p:spPr>
          <a:xfrm>
            <a:off x="914400" y="1143000"/>
            <a:ext cx="566928" cy="566928"/>
          </a:xfrm>
          <a:prstGeom prst="ellipse">
            <a:avLst/>
          </a:prstGeom>
          <a:solidFill>
            <a:srgbClr val="1A7A8A"/>
          </a:solidFill>
          <a:ln w="12700">
            <a:solidFill>
              <a:srgbClr val="1A7A8A"/>
            </a:solidFill>
            <a:prstDash val="solid"/>
          </a:ln>
        </p:spPr>
        <p:txBody>
          <a:bodyPr/>
          <a:lstStyle/>
          <a:p>
            <a:endParaRPr lang="es-CO"/>
          </a:p>
        </p:txBody>
      </p:sp>
      <p:sp>
        <p:nvSpPr>
          <p:cNvPr id="6" name="Text 4"/>
          <p:cNvSpPr txBox="1"/>
          <p:nvPr/>
        </p:nvSpPr>
        <p:spPr>
          <a:xfrm>
            <a:off x="914400" y="1143000"/>
            <a:ext cx="566928" cy="56692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Shape 5"/>
          <p:cNvSpPr/>
          <p:nvPr/>
        </p:nvSpPr>
        <p:spPr>
          <a:xfrm>
            <a:off x="2148840" y="1362456"/>
            <a:ext cx="137160" cy="128016"/>
          </a:xfrm>
          <a:prstGeom prst="rightArrow">
            <a:avLst/>
          </a:prstGeom>
          <a:solidFill>
            <a:srgbClr val="CBD5E1"/>
          </a:solidFill>
          <a:ln w="12700">
            <a:solidFill>
              <a:srgbClr val="CBD5E1"/>
            </a:solidFill>
            <a:prstDash val="solid"/>
          </a:ln>
        </p:spPr>
        <p:txBody>
          <a:bodyPr/>
          <a:lstStyle/>
          <a:p>
            <a:endParaRPr lang="es-CO"/>
          </a:p>
        </p:txBody>
      </p:sp>
      <p:sp>
        <p:nvSpPr>
          <p:cNvPr id="8" name="Shape 6"/>
          <p:cNvSpPr/>
          <p:nvPr/>
        </p:nvSpPr>
        <p:spPr>
          <a:xfrm>
            <a:off x="320040" y="1828800"/>
            <a:ext cx="1755648" cy="1143000"/>
          </a:xfrm>
          <a:prstGeom prst="rect">
            <a:avLst/>
          </a:prstGeom>
          <a:solidFill>
            <a:srgbClr val="F1F5F9"/>
          </a:solidFill>
          <a:ln w="12700">
            <a:solidFill>
              <a:srgbClr val="CBD5E1"/>
            </a:solidFill>
            <a:prstDash val="solid"/>
          </a:ln>
        </p:spPr>
        <p:txBody>
          <a:bodyPr/>
          <a:lstStyle/>
          <a:p>
            <a:endParaRPr lang="es-CO"/>
          </a:p>
        </p:txBody>
      </p:sp>
      <p:sp>
        <p:nvSpPr>
          <p:cNvPr id="9" name="Text 7"/>
          <p:cNvSpPr txBox="1"/>
          <p:nvPr/>
        </p:nvSpPr>
        <p:spPr>
          <a:xfrm>
            <a:off x="393192" y="1920240"/>
            <a:ext cx="1627632" cy="475488"/>
          </a:xfrm>
          <a:prstGeom prst="rect">
            <a:avLst/>
          </a:prstGeom>
          <a:noFill/>
          <a:ln/>
        </p:spPr>
        <p:txBody>
          <a:bodyPr wrap="square" rtlCol="0" anchor="ctr"/>
          <a:lstStyle/>
          <a:p>
            <a:pPr marL="0" indent="0" algn="ctr">
              <a:buNone/>
            </a:pPr>
            <a:r>
              <a:rPr lang="en-US" sz="1250" b="1" dirty="0">
                <a:solidFill>
                  <a:srgbClr val="1B3A5C"/>
                </a:solidFill>
                <a:latin typeface="Calibri" pitchFamily="34" charset="0"/>
                <a:ea typeface="Calibri" pitchFamily="34" charset="-122"/>
                <a:cs typeface="Calibri" pitchFamily="34" charset="-120"/>
              </a:rPr>
              <a:t>Recibo de</a:t>
            </a:r>
            <a:endParaRPr lang="en-US" sz="1250" dirty="0"/>
          </a:p>
          <a:p>
            <a:pPr marL="0" indent="0" algn="ctr">
              <a:buNone/>
            </a:pPr>
            <a:r>
              <a:rPr lang="en-US" sz="1250" b="1" dirty="0">
                <a:solidFill>
                  <a:srgbClr val="1B3A5C"/>
                </a:solidFill>
                <a:latin typeface="Calibri" pitchFamily="34" charset="0"/>
                <a:ea typeface="Calibri" pitchFamily="34" charset="-122"/>
                <a:cs typeface="Calibri" pitchFamily="34" charset="-120"/>
              </a:rPr>
              <a:t>Leche Cruda</a:t>
            </a:r>
            <a:endParaRPr lang="en-US" sz="1250" dirty="0"/>
          </a:p>
        </p:txBody>
      </p:sp>
      <p:sp>
        <p:nvSpPr>
          <p:cNvPr id="10" name="Text 8"/>
          <p:cNvSpPr txBox="1"/>
          <p:nvPr/>
        </p:nvSpPr>
        <p:spPr>
          <a:xfrm>
            <a:off x="393192" y="2423160"/>
            <a:ext cx="1627632" cy="411480"/>
          </a:xfrm>
          <a:prstGeom prst="rect">
            <a:avLst/>
          </a:prstGeom>
          <a:noFill/>
          <a:ln/>
        </p:spPr>
        <p:txBody>
          <a:bodyPr wrap="square" rtlCol="0" anchor="ctr"/>
          <a:lstStyle/>
          <a:p>
            <a:pPr marL="0" indent="0" algn="ctr">
              <a:buNone/>
            </a:pPr>
            <a:r>
              <a:rPr lang="en-US" sz="1150" dirty="0">
                <a:solidFill>
                  <a:srgbClr val="334155"/>
                </a:solidFill>
                <a:latin typeface="Calibri" pitchFamily="34" charset="0"/>
                <a:ea typeface="Calibri" pitchFamily="34" charset="-122"/>
                <a:cs typeface="Calibri" pitchFamily="34" charset="-120"/>
              </a:rPr>
              <a:t>Plataforma de recibo</a:t>
            </a:r>
            <a:endParaRPr lang="en-US" sz="1150" dirty="0"/>
          </a:p>
          <a:p>
            <a:pPr marL="0" indent="0" algn="ctr">
              <a:buNone/>
            </a:pPr>
            <a:r>
              <a:rPr lang="en-US" sz="1150" dirty="0">
                <a:solidFill>
                  <a:srgbClr val="334155"/>
                </a:solidFill>
                <a:latin typeface="Calibri" pitchFamily="34" charset="0"/>
                <a:ea typeface="Calibri" pitchFamily="34" charset="-122"/>
                <a:cs typeface="Calibri" pitchFamily="34" charset="-120"/>
              </a:rPr>
              <a:t>Control calidad SENASA</a:t>
            </a:r>
            <a:endParaRPr lang="en-US" sz="1150" dirty="0"/>
          </a:p>
        </p:txBody>
      </p:sp>
      <p:sp>
        <p:nvSpPr>
          <p:cNvPr id="11" name="Shape 9"/>
          <p:cNvSpPr/>
          <p:nvPr/>
        </p:nvSpPr>
        <p:spPr>
          <a:xfrm>
            <a:off x="2880360" y="1143000"/>
            <a:ext cx="566928" cy="566928"/>
          </a:xfrm>
          <a:prstGeom prst="ellipse">
            <a:avLst/>
          </a:prstGeom>
          <a:solidFill>
            <a:srgbClr val="1A7A8A"/>
          </a:solidFill>
          <a:ln w="12700">
            <a:solidFill>
              <a:srgbClr val="1A7A8A"/>
            </a:solidFill>
            <a:prstDash val="solid"/>
          </a:ln>
        </p:spPr>
        <p:txBody>
          <a:bodyPr/>
          <a:lstStyle/>
          <a:p>
            <a:endParaRPr lang="es-CO"/>
          </a:p>
        </p:txBody>
      </p:sp>
      <p:sp>
        <p:nvSpPr>
          <p:cNvPr id="12" name="Text 10"/>
          <p:cNvSpPr txBox="1"/>
          <p:nvPr/>
        </p:nvSpPr>
        <p:spPr>
          <a:xfrm>
            <a:off x="2880360" y="1143000"/>
            <a:ext cx="566928" cy="56692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Shape 11"/>
          <p:cNvSpPr/>
          <p:nvPr/>
        </p:nvSpPr>
        <p:spPr>
          <a:xfrm>
            <a:off x="4114800" y="1362456"/>
            <a:ext cx="137160" cy="128016"/>
          </a:xfrm>
          <a:prstGeom prst="rightArrow">
            <a:avLst/>
          </a:prstGeom>
          <a:solidFill>
            <a:srgbClr val="CBD5E1"/>
          </a:solidFill>
          <a:ln w="12700">
            <a:solidFill>
              <a:srgbClr val="CBD5E1"/>
            </a:solidFill>
            <a:prstDash val="solid"/>
          </a:ln>
        </p:spPr>
        <p:txBody>
          <a:bodyPr/>
          <a:lstStyle/>
          <a:p>
            <a:endParaRPr lang="es-CO"/>
          </a:p>
        </p:txBody>
      </p:sp>
      <p:sp>
        <p:nvSpPr>
          <p:cNvPr id="14" name="Shape 12"/>
          <p:cNvSpPr/>
          <p:nvPr/>
        </p:nvSpPr>
        <p:spPr>
          <a:xfrm>
            <a:off x="2286000" y="1828800"/>
            <a:ext cx="1755648" cy="1143000"/>
          </a:xfrm>
          <a:prstGeom prst="rect">
            <a:avLst/>
          </a:prstGeom>
          <a:solidFill>
            <a:srgbClr val="F1F5F9"/>
          </a:solidFill>
          <a:ln w="12700">
            <a:solidFill>
              <a:srgbClr val="CBD5E1"/>
            </a:solidFill>
            <a:prstDash val="solid"/>
          </a:ln>
        </p:spPr>
        <p:txBody>
          <a:bodyPr/>
          <a:lstStyle/>
          <a:p>
            <a:endParaRPr lang="es-CO"/>
          </a:p>
        </p:txBody>
      </p:sp>
      <p:sp>
        <p:nvSpPr>
          <p:cNvPr id="15" name="Text 13"/>
          <p:cNvSpPr txBox="1"/>
          <p:nvPr/>
        </p:nvSpPr>
        <p:spPr>
          <a:xfrm>
            <a:off x="2359152" y="1920240"/>
            <a:ext cx="1627632" cy="475488"/>
          </a:xfrm>
          <a:prstGeom prst="rect">
            <a:avLst/>
          </a:prstGeom>
          <a:noFill/>
          <a:ln/>
        </p:spPr>
        <p:txBody>
          <a:bodyPr wrap="square" rtlCol="0" anchor="ctr"/>
          <a:lstStyle/>
          <a:p>
            <a:pPr marL="0" indent="0" algn="ctr">
              <a:buNone/>
            </a:pPr>
            <a:r>
              <a:rPr lang="en-US" sz="1250" b="1" dirty="0">
                <a:solidFill>
                  <a:srgbClr val="1B3A5C"/>
                </a:solidFill>
                <a:latin typeface="Calibri" pitchFamily="34" charset="0"/>
                <a:ea typeface="Calibri" pitchFamily="34" charset="-122"/>
                <a:cs typeface="Calibri" pitchFamily="34" charset="-120"/>
              </a:rPr>
              <a:t>Enfriamiento</a:t>
            </a:r>
            <a:endParaRPr lang="en-US" sz="1250" dirty="0"/>
          </a:p>
          <a:p>
            <a:pPr marL="0" indent="0" algn="ctr">
              <a:buNone/>
            </a:pPr>
            <a:r>
              <a:rPr lang="en-US" sz="1250" b="1" dirty="0">
                <a:solidFill>
                  <a:srgbClr val="1B3A5C"/>
                </a:solidFill>
                <a:latin typeface="Calibri" pitchFamily="34" charset="0"/>
                <a:ea typeface="Calibri" pitchFamily="34" charset="-122"/>
                <a:cs typeface="Calibri" pitchFamily="34" charset="-120"/>
              </a:rPr>
              <a:t>Previo</a:t>
            </a:r>
            <a:endParaRPr lang="en-US" sz="1250" dirty="0"/>
          </a:p>
        </p:txBody>
      </p:sp>
      <p:sp>
        <p:nvSpPr>
          <p:cNvPr id="16" name="Text 14"/>
          <p:cNvSpPr txBox="1"/>
          <p:nvPr/>
        </p:nvSpPr>
        <p:spPr>
          <a:xfrm>
            <a:off x="2359152" y="2423160"/>
            <a:ext cx="1627632" cy="411480"/>
          </a:xfrm>
          <a:prstGeom prst="rect">
            <a:avLst/>
          </a:prstGeom>
          <a:noFill/>
          <a:ln/>
        </p:spPr>
        <p:txBody>
          <a:bodyPr wrap="square" rtlCol="0" anchor="ctr"/>
          <a:lstStyle/>
          <a:p>
            <a:pPr marL="0" indent="0" algn="ctr">
              <a:buNone/>
            </a:pPr>
            <a:r>
              <a:rPr lang="en-US" sz="1150" dirty="0">
                <a:solidFill>
                  <a:srgbClr val="334155"/>
                </a:solidFill>
                <a:latin typeface="Calibri" pitchFamily="34" charset="0"/>
                <a:ea typeface="Calibri" pitchFamily="34" charset="-122"/>
                <a:cs typeface="Calibri" pitchFamily="34" charset="-120"/>
              </a:rPr>
              <a:t>Tanque 4 °C</a:t>
            </a:r>
            <a:endParaRPr lang="en-US" sz="1150" dirty="0"/>
          </a:p>
          <a:p>
            <a:pPr marL="0" indent="0" algn="ctr">
              <a:buNone/>
            </a:pPr>
            <a:r>
              <a:rPr lang="en-US" sz="1150" dirty="0">
                <a:solidFill>
                  <a:srgbClr val="334155"/>
                </a:solidFill>
                <a:latin typeface="Calibri" pitchFamily="34" charset="0"/>
                <a:ea typeface="Calibri" pitchFamily="34" charset="-122"/>
                <a:cs typeface="Calibri" pitchFamily="34" charset="-120"/>
              </a:rPr>
              <a:t>Medición volumen</a:t>
            </a:r>
            <a:endParaRPr lang="en-US" sz="1150" dirty="0"/>
          </a:p>
        </p:txBody>
      </p:sp>
      <p:sp>
        <p:nvSpPr>
          <p:cNvPr id="17" name="Shape 15"/>
          <p:cNvSpPr/>
          <p:nvPr/>
        </p:nvSpPr>
        <p:spPr>
          <a:xfrm>
            <a:off x="4846320" y="1143000"/>
            <a:ext cx="566928" cy="566928"/>
          </a:xfrm>
          <a:prstGeom prst="ellipse">
            <a:avLst/>
          </a:prstGeom>
          <a:solidFill>
            <a:srgbClr val="1A7A8A"/>
          </a:solidFill>
          <a:ln w="12700">
            <a:solidFill>
              <a:srgbClr val="1A7A8A"/>
            </a:solidFill>
            <a:prstDash val="solid"/>
          </a:ln>
        </p:spPr>
        <p:txBody>
          <a:bodyPr/>
          <a:lstStyle/>
          <a:p>
            <a:endParaRPr lang="es-CO"/>
          </a:p>
        </p:txBody>
      </p:sp>
      <p:sp>
        <p:nvSpPr>
          <p:cNvPr id="18" name="Text 16"/>
          <p:cNvSpPr txBox="1"/>
          <p:nvPr/>
        </p:nvSpPr>
        <p:spPr>
          <a:xfrm>
            <a:off x="4846320" y="1143000"/>
            <a:ext cx="566928" cy="56692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9" name="Shape 17"/>
          <p:cNvSpPr/>
          <p:nvPr/>
        </p:nvSpPr>
        <p:spPr>
          <a:xfrm>
            <a:off x="6080760" y="1362456"/>
            <a:ext cx="137160" cy="128016"/>
          </a:xfrm>
          <a:prstGeom prst="rightArrow">
            <a:avLst/>
          </a:prstGeom>
          <a:solidFill>
            <a:srgbClr val="CBD5E1"/>
          </a:solidFill>
          <a:ln w="12700">
            <a:solidFill>
              <a:srgbClr val="CBD5E1"/>
            </a:solidFill>
            <a:prstDash val="solid"/>
          </a:ln>
        </p:spPr>
        <p:txBody>
          <a:bodyPr/>
          <a:lstStyle/>
          <a:p>
            <a:endParaRPr lang="es-CO"/>
          </a:p>
        </p:txBody>
      </p:sp>
      <p:sp>
        <p:nvSpPr>
          <p:cNvPr id="20" name="Shape 18"/>
          <p:cNvSpPr/>
          <p:nvPr/>
        </p:nvSpPr>
        <p:spPr>
          <a:xfrm>
            <a:off x="4251960" y="1828800"/>
            <a:ext cx="1755648" cy="1143000"/>
          </a:xfrm>
          <a:prstGeom prst="rect">
            <a:avLst/>
          </a:prstGeom>
          <a:solidFill>
            <a:srgbClr val="F1F5F9"/>
          </a:solidFill>
          <a:ln w="12700">
            <a:solidFill>
              <a:srgbClr val="CBD5E1"/>
            </a:solidFill>
            <a:prstDash val="solid"/>
          </a:ln>
        </p:spPr>
        <p:txBody>
          <a:bodyPr/>
          <a:lstStyle/>
          <a:p>
            <a:endParaRPr lang="es-CO"/>
          </a:p>
        </p:txBody>
      </p:sp>
      <p:sp>
        <p:nvSpPr>
          <p:cNvPr id="21" name="Text 19"/>
          <p:cNvSpPr txBox="1"/>
          <p:nvPr/>
        </p:nvSpPr>
        <p:spPr>
          <a:xfrm>
            <a:off x="4325112" y="1920240"/>
            <a:ext cx="1627632" cy="475488"/>
          </a:xfrm>
          <a:prstGeom prst="rect">
            <a:avLst/>
          </a:prstGeom>
          <a:noFill/>
          <a:ln/>
        </p:spPr>
        <p:txBody>
          <a:bodyPr wrap="square" rtlCol="0" anchor="ctr"/>
          <a:lstStyle/>
          <a:p>
            <a:pPr marL="0" indent="0" algn="ctr">
              <a:buNone/>
            </a:pPr>
            <a:r>
              <a:rPr lang="en-US" sz="1250" b="1" dirty="0">
                <a:solidFill>
                  <a:srgbClr val="1B3A5C"/>
                </a:solidFill>
                <a:latin typeface="Calibri" pitchFamily="34" charset="0"/>
                <a:ea typeface="Calibri" pitchFamily="34" charset="-122"/>
                <a:cs typeface="Calibri" pitchFamily="34" charset="-120"/>
              </a:rPr>
              <a:t>Pasteurización</a:t>
            </a:r>
            <a:endParaRPr lang="en-US" sz="1250" dirty="0"/>
          </a:p>
          <a:p>
            <a:pPr marL="0" indent="0" algn="ctr">
              <a:buNone/>
            </a:pPr>
            <a:r>
              <a:rPr lang="en-US" sz="1250" b="1" dirty="0">
                <a:solidFill>
                  <a:srgbClr val="1B3A5C"/>
                </a:solidFill>
                <a:latin typeface="Calibri" pitchFamily="34" charset="0"/>
                <a:ea typeface="Calibri" pitchFamily="34" charset="-122"/>
                <a:cs typeface="Calibri" pitchFamily="34" charset="-120"/>
              </a:rPr>
              <a:t>HTST</a:t>
            </a:r>
            <a:endParaRPr lang="en-US" sz="1250" dirty="0"/>
          </a:p>
        </p:txBody>
      </p:sp>
      <p:sp>
        <p:nvSpPr>
          <p:cNvPr id="22" name="Text 20"/>
          <p:cNvSpPr txBox="1"/>
          <p:nvPr/>
        </p:nvSpPr>
        <p:spPr>
          <a:xfrm>
            <a:off x="4325112" y="2423160"/>
            <a:ext cx="1627632" cy="411480"/>
          </a:xfrm>
          <a:prstGeom prst="rect">
            <a:avLst/>
          </a:prstGeom>
          <a:noFill/>
          <a:ln/>
        </p:spPr>
        <p:txBody>
          <a:bodyPr wrap="square" rtlCol="0" anchor="ctr"/>
          <a:lstStyle/>
          <a:p>
            <a:pPr marL="0" indent="0" algn="ctr">
              <a:buNone/>
            </a:pPr>
            <a:r>
              <a:rPr lang="en-US" sz="1150" dirty="0">
                <a:solidFill>
                  <a:srgbClr val="334155"/>
                </a:solidFill>
                <a:latin typeface="Calibri" pitchFamily="34" charset="0"/>
                <a:ea typeface="Calibri" pitchFamily="34" charset="-122"/>
                <a:cs typeface="Calibri" pitchFamily="34" charset="-120"/>
              </a:rPr>
              <a:t>72–75 °C / 15 s</a:t>
            </a:r>
            <a:endParaRPr lang="en-US" sz="1150" dirty="0"/>
          </a:p>
          <a:p>
            <a:pPr marL="0" indent="0" algn="ctr">
              <a:buNone/>
            </a:pPr>
            <a:r>
              <a:rPr lang="en-US" sz="1150" dirty="0">
                <a:solidFill>
                  <a:srgbClr val="334155"/>
                </a:solidFill>
                <a:latin typeface="Calibri" pitchFamily="34" charset="0"/>
                <a:ea typeface="Calibri" pitchFamily="34" charset="-122"/>
                <a:cs typeface="Calibri" pitchFamily="34" charset="-120"/>
              </a:rPr>
              <a:t>Placas de intercambio</a:t>
            </a:r>
            <a:endParaRPr lang="en-US" sz="1150" dirty="0"/>
          </a:p>
        </p:txBody>
      </p:sp>
      <p:sp>
        <p:nvSpPr>
          <p:cNvPr id="23" name="Shape 21"/>
          <p:cNvSpPr/>
          <p:nvPr/>
        </p:nvSpPr>
        <p:spPr>
          <a:xfrm>
            <a:off x="6812280" y="1143000"/>
            <a:ext cx="566928" cy="566928"/>
          </a:xfrm>
          <a:prstGeom prst="ellipse">
            <a:avLst/>
          </a:prstGeom>
          <a:solidFill>
            <a:srgbClr val="1A7A8A"/>
          </a:solidFill>
          <a:ln w="12700">
            <a:solidFill>
              <a:srgbClr val="1A7A8A"/>
            </a:solidFill>
            <a:prstDash val="solid"/>
          </a:ln>
        </p:spPr>
        <p:txBody>
          <a:bodyPr/>
          <a:lstStyle/>
          <a:p>
            <a:endParaRPr lang="es-CO"/>
          </a:p>
        </p:txBody>
      </p:sp>
      <p:sp>
        <p:nvSpPr>
          <p:cNvPr id="24" name="Text 22"/>
          <p:cNvSpPr txBox="1"/>
          <p:nvPr/>
        </p:nvSpPr>
        <p:spPr>
          <a:xfrm>
            <a:off x="6812280" y="1143000"/>
            <a:ext cx="566928" cy="56692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5" name="Shape 23"/>
          <p:cNvSpPr/>
          <p:nvPr/>
        </p:nvSpPr>
        <p:spPr>
          <a:xfrm>
            <a:off x="8046720" y="1362456"/>
            <a:ext cx="137160" cy="128016"/>
          </a:xfrm>
          <a:prstGeom prst="rightArrow">
            <a:avLst/>
          </a:prstGeom>
          <a:solidFill>
            <a:srgbClr val="CBD5E1"/>
          </a:solidFill>
          <a:ln w="12700">
            <a:solidFill>
              <a:srgbClr val="CBD5E1"/>
            </a:solidFill>
            <a:prstDash val="solid"/>
          </a:ln>
        </p:spPr>
        <p:txBody>
          <a:bodyPr/>
          <a:lstStyle/>
          <a:p>
            <a:endParaRPr lang="es-CO"/>
          </a:p>
        </p:txBody>
      </p:sp>
      <p:sp>
        <p:nvSpPr>
          <p:cNvPr id="26" name="Shape 24"/>
          <p:cNvSpPr/>
          <p:nvPr/>
        </p:nvSpPr>
        <p:spPr>
          <a:xfrm>
            <a:off x="6217920" y="1828800"/>
            <a:ext cx="1755648" cy="1143000"/>
          </a:xfrm>
          <a:prstGeom prst="rect">
            <a:avLst/>
          </a:prstGeom>
          <a:solidFill>
            <a:srgbClr val="F1F5F9"/>
          </a:solidFill>
          <a:ln w="12700">
            <a:solidFill>
              <a:srgbClr val="CBD5E1"/>
            </a:solidFill>
            <a:prstDash val="solid"/>
          </a:ln>
        </p:spPr>
        <p:txBody>
          <a:bodyPr/>
          <a:lstStyle/>
          <a:p>
            <a:endParaRPr lang="es-CO"/>
          </a:p>
        </p:txBody>
      </p:sp>
      <p:sp>
        <p:nvSpPr>
          <p:cNvPr id="27" name="Text 25"/>
          <p:cNvSpPr txBox="1"/>
          <p:nvPr/>
        </p:nvSpPr>
        <p:spPr>
          <a:xfrm>
            <a:off x="6291072" y="1920240"/>
            <a:ext cx="1627632" cy="475488"/>
          </a:xfrm>
          <a:prstGeom prst="rect">
            <a:avLst/>
          </a:prstGeom>
          <a:noFill/>
          <a:ln/>
        </p:spPr>
        <p:txBody>
          <a:bodyPr wrap="square" rtlCol="0" anchor="ctr"/>
          <a:lstStyle/>
          <a:p>
            <a:pPr marL="0" indent="0" algn="ctr">
              <a:buNone/>
            </a:pPr>
            <a:r>
              <a:rPr lang="en-US" sz="1250" b="1" dirty="0">
                <a:solidFill>
                  <a:srgbClr val="1B3A5C"/>
                </a:solidFill>
                <a:latin typeface="Calibri" pitchFamily="34" charset="0"/>
                <a:ea typeface="Calibri" pitchFamily="34" charset="-122"/>
                <a:cs typeface="Calibri" pitchFamily="34" charset="-120"/>
              </a:rPr>
              <a:t>Enfriamiento</a:t>
            </a:r>
            <a:endParaRPr lang="en-US" sz="1250" dirty="0"/>
          </a:p>
          <a:p>
            <a:pPr marL="0" indent="0" algn="ctr">
              <a:buNone/>
            </a:pPr>
            <a:r>
              <a:rPr lang="en-US" sz="1250" b="1" dirty="0">
                <a:solidFill>
                  <a:srgbClr val="1B3A5C"/>
                </a:solidFill>
                <a:latin typeface="Calibri" pitchFamily="34" charset="0"/>
                <a:ea typeface="Calibri" pitchFamily="34" charset="-122"/>
                <a:cs typeface="Calibri" pitchFamily="34" charset="-120"/>
              </a:rPr>
              <a:t>Final</a:t>
            </a:r>
            <a:endParaRPr lang="en-US" sz="1250" dirty="0"/>
          </a:p>
        </p:txBody>
      </p:sp>
      <p:sp>
        <p:nvSpPr>
          <p:cNvPr id="28" name="Text 26"/>
          <p:cNvSpPr txBox="1"/>
          <p:nvPr/>
        </p:nvSpPr>
        <p:spPr>
          <a:xfrm>
            <a:off x="6291072" y="2423160"/>
            <a:ext cx="1627632" cy="411480"/>
          </a:xfrm>
          <a:prstGeom prst="rect">
            <a:avLst/>
          </a:prstGeom>
          <a:noFill/>
          <a:ln/>
        </p:spPr>
        <p:txBody>
          <a:bodyPr wrap="square" rtlCol="0" anchor="ctr"/>
          <a:lstStyle/>
          <a:p>
            <a:pPr marL="0" indent="0" algn="ctr">
              <a:buNone/>
            </a:pPr>
            <a:r>
              <a:rPr lang="en-US" sz="1150" dirty="0">
                <a:solidFill>
                  <a:srgbClr val="334155"/>
                </a:solidFill>
                <a:latin typeface="Calibri" pitchFamily="34" charset="0"/>
                <a:ea typeface="Calibri" pitchFamily="34" charset="-122"/>
                <a:cs typeface="Calibri" pitchFamily="34" charset="-120"/>
              </a:rPr>
              <a:t>Reducción a 4 °C</a:t>
            </a:r>
            <a:endParaRPr lang="en-US" sz="1150" dirty="0"/>
          </a:p>
          <a:p>
            <a:pPr marL="0" indent="0" algn="ctr">
              <a:buNone/>
            </a:pPr>
            <a:r>
              <a:rPr lang="en-US" sz="1150" dirty="0">
                <a:solidFill>
                  <a:srgbClr val="334155"/>
                </a:solidFill>
                <a:latin typeface="Calibri" pitchFamily="34" charset="0"/>
                <a:ea typeface="Calibri" pitchFamily="34" charset="-122"/>
                <a:cs typeface="Calibri" pitchFamily="34" charset="-120"/>
              </a:rPr>
              <a:t>Equipo intercamb.</a:t>
            </a:r>
            <a:endParaRPr lang="en-US" sz="1150" dirty="0"/>
          </a:p>
        </p:txBody>
      </p:sp>
      <p:sp>
        <p:nvSpPr>
          <p:cNvPr id="29" name="Shape 27"/>
          <p:cNvSpPr/>
          <p:nvPr/>
        </p:nvSpPr>
        <p:spPr>
          <a:xfrm>
            <a:off x="8778240" y="1143000"/>
            <a:ext cx="566928" cy="566928"/>
          </a:xfrm>
          <a:prstGeom prst="ellipse">
            <a:avLst/>
          </a:prstGeom>
          <a:solidFill>
            <a:srgbClr val="1A7A8A"/>
          </a:solidFill>
          <a:ln w="12700">
            <a:solidFill>
              <a:srgbClr val="1A7A8A"/>
            </a:solidFill>
            <a:prstDash val="solid"/>
          </a:ln>
        </p:spPr>
        <p:txBody>
          <a:bodyPr/>
          <a:lstStyle/>
          <a:p>
            <a:endParaRPr lang="es-CO"/>
          </a:p>
        </p:txBody>
      </p:sp>
      <p:sp>
        <p:nvSpPr>
          <p:cNvPr id="30" name="Text 28"/>
          <p:cNvSpPr txBox="1"/>
          <p:nvPr/>
        </p:nvSpPr>
        <p:spPr>
          <a:xfrm>
            <a:off x="8778240" y="1143000"/>
            <a:ext cx="566928" cy="56692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1" name="Shape 29"/>
          <p:cNvSpPr/>
          <p:nvPr/>
        </p:nvSpPr>
        <p:spPr>
          <a:xfrm>
            <a:off x="10012680" y="1362456"/>
            <a:ext cx="137160" cy="128016"/>
          </a:xfrm>
          <a:prstGeom prst="rightArrow">
            <a:avLst/>
          </a:prstGeom>
          <a:solidFill>
            <a:srgbClr val="CBD5E1"/>
          </a:solidFill>
          <a:ln w="12700">
            <a:solidFill>
              <a:srgbClr val="CBD5E1"/>
            </a:solidFill>
            <a:prstDash val="solid"/>
          </a:ln>
        </p:spPr>
        <p:txBody>
          <a:bodyPr/>
          <a:lstStyle/>
          <a:p>
            <a:endParaRPr lang="es-CO"/>
          </a:p>
        </p:txBody>
      </p:sp>
      <p:sp>
        <p:nvSpPr>
          <p:cNvPr id="32" name="Shape 30"/>
          <p:cNvSpPr/>
          <p:nvPr/>
        </p:nvSpPr>
        <p:spPr>
          <a:xfrm>
            <a:off x="8183880" y="1828800"/>
            <a:ext cx="1755648" cy="1143000"/>
          </a:xfrm>
          <a:prstGeom prst="rect">
            <a:avLst/>
          </a:prstGeom>
          <a:solidFill>
            <a:srgbClr val="F1F5F9"/>
          </a:solidFill>
          <a:ln w="12700">
            <a:solidFill>
              <a:srgbClr val="CBD5E1"/>
            </a:solidFill>
            <a:prstDash val="solid"/>
          </a:ln>
        </p:spPr>
        <p:txBody>
          <a:bodyPr/>
          <a:lstStyle/>
          <a:p>
            <a:endParaRPr lang="es-CO"/>
          </a:p>
        </p:txBody>
      </p:sp>
      <p:sp>
        <p:nvSpPr>
          <p:cNvPr id="33" name="Text 31"/>
          <p:cNvSpPr txBox="1"/>
          <p:nvPr/>
        </p:nvSpPr>
        <p:spPr>
          <a:xfrm>
            <a:off x="8257032" y="1920240"/>
            <a:ext cx="1627632" cy="475488"/>
          </a:xfrm>
          <a:prstGeom prst="rect">
            <a:avLst/>
          </a:prstGeom>
          <a:noFill/>
          <a:ln/>
        </p:spPr>
        <p:txBody>
          <a:bodyPr wrap="square" rtlCol="0" anchor="ctr"/>
          <a:lstStyle/>
          <a:p>
            <a:pPr marL="0" indent="0" algn="ctr">
              <a:buNone/>
            </a:pPr>
            <a:r>
              <a:rPr lang="en-US" sz="1250" b="1" dirty="0">
                <a:solidFill>
                  <a:srgbClr val="1B3A5C"/>
                </a:solidFill>
                <a:latin typeface="Calibri" pitchFamily="34" charset="0"/>
                <a:ea typeface="Calibri" pitchFamily="34" charset="-122"/>
                <a:cs typeface="Calibri" pitchFamily="34" charset="-120"/>
              </a:rPr>
              <a:t>Envasado</a:t>
            </a:r>
            <a:endParaRPr lang="en-US" sz="1250" dirty="0"/>
          </a:p>
          <a:p>
            <a:pPr marL="0" indent="0" algn="ctr">
              <a:buNone/>
            </a:pPr>
            <a:r>
              <a:rPr lang="en-US" sz="1250" b="1" dirty="0">
                <a:solidFill>
                  <a:srgbClr val="1B3A5C"/>
                </a:solidFill>
                <a:latin typeface="Calibri" pitchFamily="34" charset="0"/>
                <a:ea typeface="Calibri" pitchFamily="34" charset="-122"/>
                <a:cs typeface="Calibri" pitchFamily="34" charset="-120"/>
              </a:rPr>
              <a:t>en Bolsa</a:t>
            </a:r>
            <a:endParaRPr lang="en-US" sz="1250" dirty="0"/>
          </a:p>
        </p:txBody>
      </p:sp>
      <p:sp>
        <p:nvSpPr>
          <p:cNvPr id="34" name="Text 32"/>
          <p:cNvSpPr txBox="1"/>
          <p:nvPr/>
        </p:nvSpPr>
        <p:spPr>
          <a:xfrm>
            <a:off x="8257032" y="2423160"/>
            <a:ext cx="1627632" cy="411480"/>
          </a:xfrm>
          <a:prstGeom prst="rect">
            <a:avLst/>
          </a:prstGeom>
          <a:noFill/>
          <a:ln/>
        </p:spPr>
        <p:txBody>
          <a:bodyPr wrap="square" rtlCol="0" anchor="ctr"/>
          <a:lstStyle/>
          <a:p>
            <a:pPr marL="0" indent="0" algn="ctr">
              <a:buNone/>
            </a:pPr>
            <a:r>
              <a:rPr lang="en-US" sz="1150" dirty="0">
                <a:solidFill>
                  <a:srgbClr val="334155"/>
                </a:solidFill>
                <a:latin typeface="Calibri" pitchFamily="34" charset="0"/>
                <a:ea typeface="Calibri" pitchFamily="34" charset="-122"/>
                <a:cs typeface="Calibri" pitchFamily="34" charset="-120"/>
              </a:rPr>
              <a:t>Bolsa polietileno</a:t>
            </a:r>
            <a:endParaRPr lang="en-US" sz="1150" dirty="0"/>
          </a:p>
          <a:p>
            <a:pPr marL="0" indent="0" algn="ctr">
              <a:buNone/>
            </a:pPr>
            <a:r>
              <a:rPr lang="en-US" sz="1150" dirty="0">
                <a:solidFill>
                  <a:srgbClr val="334155"/>
                </a:solidFill>
                <a:latin typeface="Calibri" pitchFamily="34" charset="0"/>
                <a:ea typeface="Calibri" pitchFamily="34" charset="-122"/>
                <a:cs typeface="Calibri" pitchFamily="34" charset="-120"/>
              </a:rPr>
              <a:t>1 L (500 ml en 2.ª etapa)</a:t>
            </a:r>
            <a:endParaRPr lang="en-US" sz="1150" dirty="0"/>
          </a:p>
        </p:txBody>
      </p:sp>
      <p:sp>
        <p:nvSpPr>
          <p:cNvPr id="35" name="Shape 33"/>
          <p:cNvSpPr/>
          <p:nvPr/>
        </p:nvSpPr>
        <p:spPr>
          <a:xfrm>
            <a:off x="10744200" y="1143000"/>
            <a:ext cx="566928" cy="566928"/>
          </a:xfrm>
          <a:prstGeom prst="ellipse">
            <a:avLst/>
          </a:prstGeom>
          <a:solidFill>
            <a:srgbClr val="1A7A8A"/>
          </a:solidFill>
          <a:ln w="12700">
            <a:solidFill>
              <a:srgbClr val="1A7A8A"/>
            </a:solidFill>
            <a:prstDash val="solid"/>
          </a:ln>
        </p:spPr>
        <p:txBody>
          <a:bodyPr/>
          <a:lstStyle/>
          <a:p>
            <a:endParaRPr lang="es-CO"/>
          </a:p>
        </p:txBody>
      </p:sp>
      <p:sp>
        <p:nvSpPr>
          <p:cNvPr id="36" name="Text 34"/>
          <p:cNvSpPr txBox="1"/>
          <p:nvPr/>
        </p:nvSpPr>
        <p:spPr>
          <a:xfrm>
            <a:off x="10744200" y="1143000"/>
            <a:ext cx="566928" cy="56692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37" name="Shape 35"/>
          <p:cNvSpPr/>
          <p:nvPr/>
        </p:nvSpPr>
        <p:spPr>
          <a:xfrm>
            <a:off x="10149840" y="1828800"/>
            <a:ext cx="1755648" cy="1143000"/>
          </a:xfrm>
          <a:prstGeom prst="rect">
            <a:avLst/>
          </a:prstGeom>
          <a:solidFill>
            <a:srgbClr val="F1F5F9"/>
          </a:solidFill>
          <a:ln w="12700">
            <a:solidFill>
              <a:srgbClr val="CBD5E1"/>
            </a:solidFill>
            <a:prstDash val="solid"/>
          </a:ln>
        </p:spPr>
        <p:txBody>
          <a:bodyPr/>
          <a:lstStyle/>
          <a:p>
            <a:endParaRPr lang="es-CO"/>
          </a:p>
        </p:txBody>
      </p:sp>
      <p:sp>
        <p:nvSpPr>
          <p:cNvPr id="38" name="Text 36"/>
          <p:cNvSpPr txBox="1"/>
          <p:nvPr/>
        </p:nvSpPr>
        <p:spPr>
          <a:xfrm>
            <a:off x="10222992" y="1920240"/>
            <a:ext cx="1627632" cy="475488"/>
          </a:xfrm>
          <a:prstGeom prst="rect">
            <a:avLst/>
          </a:prstGeom>
          <a:noFill/>
          <a:ln/>
        </p:spPr>
        <p:txBody>
          <a:bodyPr wrap="square" rtlCol="0" anchor="ctr"/>
          <a:lstStyle/>
          <a:p>
            <a:pPr marL="0" indent="0" algn="ctr">
              <a:buNone/>
            </a:pPr>
            <a:r>
              <a:rPr lang="en-US" sz="1250" b="1" dirty="0">
                <a:solidFill>
                  <a:srgbClr val="1B3A5C"/>
                </a:solidFill>
                <a:latin typeface="Calibri" pitchFamily="34" charset="0"/>
                <a:ea typeface="Calibri" pitchFamily="34" charset="-122"/>
                <a:cs typeface="Calibri" pitchFamily="34" charset="-120"/>
              </a:rPr>
              <a:t>Distribución</a:t>
            </a:r>
            <a:endParaRPr lang="en-US" sz="1250" dirty="0"/>
          </a:p>
          <a:p>
            <a:pPr marL="0" indent="0" algn="ctr">
              <a:buNone/>
            </a:pPr>
            <a:r>
              <a:rPr lang="en-US" sz="1250" b="1" dirty="0">
                <a:solidFill>
                  <a:srgbClr val="1B3A5C"/>
                </a:solidFill>
                <a:latin typeface="Calibri" pitchFamily="34" charset="0"/>
                <a:ea typeface="Calibri" pitchFamily="34" charset="-122"/>
                <a:cs typeface="Calibri" pitchFamily="34" charset="-120"/>
              </a:rPr>
              <a:t>Cadena Frío</a:t>
            </a:r>
            <a:endParaRPr lang="en-US" sz="1250" dirty="0"/>
          </a:p>
        </p:txBody>
      </p:sp>
      <p:sp>
        <p:nvSpPr>
          <p:cNvPr id="39" name="Text 37"/>
          <p:cNvSpPr txBox="1"/>
          <p:nvPr/>
        </p:nvSpPr>
        <p:spPr>
          <a:xfrm>
            <a:off x="10222992" y="2423160"/>
            <a:ext cx="1627632" cy="411480"/>
          </a:xfrm>
          <a:prstGeom prst="rect">
            <a:avLst/>
          </a:prstGeom>
          <a:noFill/>
          <a:ln/>
        </p:spPr>
        <p:txBody>
          <a:bodyPr wrap="square" rtlCol="0" anchor="ctr"/>
          <a:lstStyle/>
          <a:p>
            <a:pPr marL="0" indent="0" algn="ctr">
              <a:buNone/>
            </a:pPr>
            <a:r>
              <a:rPr lang="en-US" sz="1150" dirty="0">
                <a:solidFill>
                  <a:srgbClr val="334155"/>
                </a:solidFill>
                <a:latin typeface="Calibri" pitchFamily="34" charset="0"/>
                <a:ea typeface="Calibri" pitchFamily="34" charset="-122"/>
                <a:cs typeface="Calibri" pitchFamily="34" charset="-120"/>
              </a:rPr>
              <a:t>Camión refrigerado</a:t>
            </a:r>
            <a:endParaRPr lang="en-US" sz="1150" dirty="0"/>
          </a:p>
          <a:p>
            <a:pPr marL="0" indent="0" algn="ctr">
              <a:buNone/>
            </a:pPr>
            <a:r>
              <a:rPr lang="en-US" sz="1150" dirty="0">
                <a:solidFill>
                  <a:srgbClr val="334155"/>
                </a:solidFill>
                <a:latin typeface="Calibri" pitchFamily="34" charset="0"/>
                <a:ea typeface="Calibri" pitchFamily="34" charset="-122"/>
                <a:cs typeface="Calibri" pitchFamily="34" charset="-120"/>
              </a:rPr>
              <a:t>4 °C constante</a:t>
            </a:r>
            <a:endParaRPr lang="en-US" sz="1150" dirty="0"/>
          </a:p>
        </p:txBody>
      </p:sp>
      <p:sp>
        <p:nvSpPr>
          <p:cNvPr id="40" name="Shape 38"/>
          <p:cNvSpPr/>
          <p:nvPr/>
        </p:nvSpPr>
        <p:spPr>
          <a:xfrm>
            <a:off x="320040" y="4572000"/>
            <a:ext cx="2651760" cy="960120"/>
          </a:xfrm>
          <a:prstGeom prst="rect">
            <a:avLst/>
          </a:prstGeom>
          <a:solidFill>
            <a:srgbClr val="E6F4F6"/>
          </a:solidFill>
          <a:ln w="12700">
            <a:solidFill>
              <a:srgbClr val="1A7A8A"/>
            </a:solidFill>
            <a:prstDash val="solid"/>
          </a:ln>
        </p:spPr>
        <p:txBody>
          <a:bodyPr/>
          <a:lstStyle/>
          <a:p>
            <a:endParaRPr lang="es-CO"/>
          </a:p>
        </p:txBody>
      </p:sp>
      <p:sp>
        <p:nvSpPr>
          <p:cNvPr id="41" name="Text 39"/>
          <p:cNvSpPr txBox="1"/>
          <p:nvPr/>
        </p:nvSpPr>
        <p:spPr>
          <a:xfrm>
            <a:off x="411480" y="4645152"/>
            <a:ext cx="2468880" cy="438912"/>
          </a:xfrm>
          <a:prstGeom prst="rect">
            <a:avLst/>
          </a:prstGeom>
          <a:noFill/>
          <a:ln/>
        </p:spPr>
        <p:txBody>
          <a:bodyPr wrap="square" rtlCol="0" anchor="ctr"/>
          <a:lstStyle/>
          <a:p>
            <a:pPr marL="0" indent="0" algn="ctr">
              <a:buNone/>
            </a:pPr>
            <a:r>
              <a:rPr lang="en-US" sz="2000" b="1" dirty="0">
                <a:solidFill>
                  <a:srgbClr val="1A7A8A"/>
                </a:solidFill>
                <a:latin typeface="Calibri" pitchFamily="34" charset="0"/>
                <a:ea typeface="Calibri" pitchFamily="34" charset="-122"/>
                <a:cs typeface="Calibri" pitchFamily="34" charset="-120"/>
              </a:rPr>
              <a:t>1,000 L/día</a:t>
            </a:r>
            <a:endParaRPr lang="en-US" sz="2000" dirty="0"/>
          </a:p>
        </p:txBody>
      </p:sp>
      <p:sp>
        <p:nvSpPr>
          <p:cNvPr id="42" name="Text 40"/>
          <p:cNvSpPr txBox="1"/>
          <p:nvPr/>
        </p:nvSpPr>
        <p:spPr>
          <a:xfrm>
            <a:off x="411480" y="5074920"/>
            <a:ext cx="2468880" cy="347472"/>
          </a:xfrm>
          <a:prstGeom prst="rect">
            <a:avLst/>
          </a:prstGeom>
          <a:noFill/>
          <a:ln/>
        </p:spPr>
        <p:txBody>
          <a:bodyPr wrap="square" rtlCol="0" anchor="ctr"/>
          <a:lstStyle/>
          <a:p>
            <a:pPr marL="0" indent="0" algn="ctr">
              <a:buNone/>
            </a:pPr>
            <a:r>
              <a:rPr lang="en-US" sz="1150" dirty="0">
                <a:solidFill>
                  <a:srgbClr val="334155"/>
                </a:solidFill>
                <a:latin typeface="Calibri" pitchFamily="34" charset="0"/>
                <a:ea typeface="Calibri" pitchFamily="34" charset="-122"/>
                <a:cs typeface="Calibri" pitchFamily="34" charset="-120"/>
              </a:rPr>
              <a:t>Capacidad inicial</a:t>
            </a:r>
            <a:endParaRPr lang="en-US" sz="1150" dirty="0"/>
          </a:p>
        </p:txBody>
      </p:sp>
      <p:sp>
        <p:nvSpPr>
          <p:cNvPr id="43" name="Shape 41"/>
          <p:cNvSpPr/>
          <p:nvPr/>
        </p:nvSpPr>
        <p:spPr>
          <a:xfrm>
            <a:off x="3227832" y="4572000"/>
            <a:ext cx="2651760" cy="960120"/>
          </a:xfrm>
          <a:prstGeom prst="rect">
            <a:avLst/>
          </a:prstGeom>
          <a:solidFill>
            <a:srgbClr val="E6F4F6"/>
          </a:solidFill>
          <a:ln w="12700">
            <a:solidFill>
              <a:srgbClr val="1A7A8A"/>
            </a:solidFill>
            <a:prstDash val="solid"/>
          </a:ln>
        </p:spPr>
        <p:txBody>
          <a:bodyPr/>
          <a:lstStyle/>
          <a:p>
            <a:endParaRPr lang="es-CO"/>
          </a:p>
        </p:txBody>
      </p:sp>
      <p:sp>
        <p:nvSpPr>
          <p:cNvPr id="44" name="Text 42"/>
          <p:cNvSpPr txBox="1"/>
          <p:nvPr/>
        </p:nvSpPr>
        <p:spPr>
          <a:xfrm>
            <a:off x="3319272" y="4645152"/>
            <a:ext cx="2468880" cy="438912"/>
          </a:xfrm>
          <a:prstGeom prst="rect">
            <a:avLst/>
          </a:prstGeom>
          <a:noFill/>
          <a:ln/>
        </p:spPr>
        <p:txBody>
          <a:bodyPr wrap="square" rtlCol="0" anchor="ctr"/>
          <a:lstStyle/>
          <a:p>
            <a:pPr marL="0" indent="0" algn="ctr">
              <a:buNone/>
            </a:pPr>
            <a:r>
              <a:rPr lang="en-US" sz="2000" b="1" dirty="0">
                <a:solidFill>
                  <a:srgbClr val="1A7A8A"/>
                </a:solidFill>
                <a:latin typeface="Calibri" pitchFamily="34" charset="0"/>
                <a:ea typeface="Calibri" pitchFamily="34" charset="-122"/>
                <a:cs typeface="Calibri" pitchFamily="34" charset="-120"/>
              </a:rPr>
              <a:t>5,000 L/día</a:t>
            </a:r>
            <a:endParaRPr lang="en-US" sz="2000" dirty="0"/>
          </a:p>
        </p:txBody>
      </p:sp>
      <p:sp>
        <p:nvSpPr>
          <p:cNvPr id="45" name="Text 43"/>
          <p:cNvSpPr txBox="1"/>
          <p:nvPr/>
        </p:nvSpPr>
        <p:spPr>
          <a:xfrm>
            <a:off x="3319272" y="5074920"/>
            <a:ext cx="2468880" cy="347472"/>
          </a:xfrm>
          <a:prstGeom prst="rect">
            <a:avLst/>
          </a:prstGeom>
          <a:noFill/>
          <a:ln/>
        </p:spPr>
        <p:txBody>
          <a:bodyPr wrap="square" rtlCol="0" anchor="ctr"/>
          <a:lstStyle/>
          <a:p>
            <a:pPr marL="0" indent="0" algn="ctr">
              <a:buNone/>
            </a:pPr>
            <a:r>
              <a:rPr lang="en-US" sz="1150" dirty="0">
                <a:solidFill>
                  <a:srgbClr val="334155"/>
                </a:solidFill>
                <a:latin typeface="Calibri" pitchFamily="34" charset="0"/>
                <a:ea typeface="Calibri" pitchFamily="34" charset="-122"/>
                <a:cs typeface="Calibri" pitchFamily="34" charset="-120"/>
              </a:rPr>
              <a:t>Capacidad máxima (escalable)</a:t>
            </a:r>
            <a:endParaRPr lang="en-US" sz="1150" dirty="0"/>
          </a:p>
        </p:txBody>
      </p:sp>
      <p:sp>
        <p:nvSpPr>
          <p:cNvPr id="46" name="Shape 44"/>
          <p:cNvSpPr/>
          <p:nvPr/>
        </p:nvSpPr>
        <p:spPr>
          <a:xfrm>
            <a:off x="6135624" y="4572000"/>
            <a:ext cx="2651760" cy="960120"/>
          </a:xfrm>
          <a:prstGeom prst="rect">
            <a:avLst/>
          </a:prstGeom>
          <a:solidFill>
            <a:srgbClr val="E6F4F6"/>
          </a:solidFill>
          <a:ln w="12700">
            <a:solidFill>
              <a:srgbClr val="1A7A8A"/>
            </a:solidFill>
            <a:prstDash val="solid"/>
          </a:ln>
        </p:spPr>
        <p:txBody>
          <a:bodyPr/>
          <a:lstStyle/>
          <a:p>
            <a:endParaRPr lang="es-CO"/>
          </a:p>
        </p:txBody>
      </p:sp>
      <p:sp>
        <p:nvSpPr>
          <p:cNvPr id="47" name="Text 45"/>
          <p:cNvSpPr txBox="1"/>
          <p:nvPr/>
        </p:nvSpPr>
        <p:spPr>
          <a:xfrm>
            <a:off x="6227064" y="4645152"/>
            <a:ext cx="2468880" cy="438912"/>
          </a:xfrm>
          <a:prstGeom prst="rect">
            <a:avLst/>
          </a:prstGeom>
          <a:noFill/>
          <a:ln/>
        </p:spPr>
        <p:txBody>
          <a:bodyPr wrap="square" rtlCol="0" anchor="ctr"/>
          <a:lstStyle/>
          <a:p>
            <a:pPr marL="0" indent="0" algn="ctr">
              <a:buNone/>
            </a:pPr>
            <a:r>
              <a:rPr lang="en-US" sz="2000" b="1" dirty="0">
                <a:solidFill>
                  <a:srgbClr val="1A7A8A"/>
                </a:solidFill>
                <a:latin typeface="Calibri" pitchFamily="34" charset="0"/>
                <a:ea typeface="Calibri" pitchFamily="34" charset="-122"/>
                <a:cs typeface="Calibri" pitchFamily="34" charset="-120"/>
              </a:rPr>
              <a:t>72–75 °C / 15 s</a:t>
            </a:r>
            <a:endParaRPr lang="en-US" sz="2000" dirty="0"/>
          </a:p>
        </p:txBody>
      </p:sp>
      <p:sp>
        <p:nvSpPr>
          <p:cNvPr id="48" name="Text 46"/>
          <p:cNvSpPr txBox="1"/>
          <p:nvPr/>
        </p:nvSpPr>
        <p:spPr>
          <a:xfrm>
            <a:off x="6227064" y="5074920"/>
            <a:ext cx="2468880" cy="347472"/>
          </a:xfrm>
          <a:prstGeom prst="rect">
            <a:avLst/>
          </a:prstGeom>
          <a:noFill/>
          <a:ln/>
        </p:spPr>
        <p:txBody>
          <a:bodyPr wrap="square" rtlCol="0" anchor="ctr"/>
          <a:lstStyle/>
          <a:p>
            <a:pPr marL="0" indent="0" algn="ctr">
              <a:buNone/>
            </a:pPr>
            <a:r>
              <a:rPr lang="en-US" sz="1150" dirty="0">
                <a:solidFill>
                  <a:srgbClr val="334155"/>
                </a:solidFill>
                <a:latin typeface="Calibri" pitchFamily="34" charset="0"/>
                <a:ea typeface="Calibri" pitchFamily="34" charset="-122"/>
                <a:cs typeface="Calibri" pitchFamily="34" charset="-120"/>
              </a:rPr>
              <a:t>Parámetro HTST</a:t>
            </a:r>
            <a:endParaRPr lang="en-US" sz="1150" dirty="0"/>
          </a:p>
        </p:txBody>
      </p:sp>
      <p:sp>
        <p:nvSpPr>
          <p:cNvPr id="49" name="Shape 47"/>
          <p:cNvSpPr/>
          <p:nvPr/>
        </p:nvSpPr>
        <p:spPr>
          <a:xfrm>
            <a:off x="9043416" y="4572000"/>
            <a:ext cx="2651760" cy="960120"/>
          </a:xfrm>
          <a:prstGeom prst="rect">
            <a:avLst/>
          </a:prstGeom>
          <a:solidFill>
            <a:srgbClr val="E6F4F6"/>
          </a:solidFill>
          <a:ln w="12700">
            <a:solidFill>
              <a:srgbClr val="1A7A8A"/>
            </a:solidFill>
            <a:prstDash val="solid"/>
          </a:ln>
        </p:spPr>
        <p:txBody>
          <a:bodyPr/>
          <a:lstStyle/>
          <a:p>
            <a:endParaRPr lang="es-CO"/>
          </a:p>
        </p:txBody>
      </p:sp>
      <p:sp>
        <p:nvSpPr>
          <p:cNvPr id="50" name="Text 48"/>
          <p:cNvSpPr txBox="1"/>
          <p:nvPr/>
        </p:nvSpPr>
        <p:spPr>
          <a:xfrm>
            <a:off x="9134856" y="4645152"/>
            <a:ext cx="2468880" cy="438912"/>
          </a:xfrm>
          <a:prstGeom prst="rect">
            <a:avLst/>
          </a:prstGeom>
          <a:noFill/>
          <a:ln/>
        </p:spPr>
        <p:txBody>
          <a:bodyPr wrap="square" rtlCol="0" anchor="ctr"/>
          <a:lstStyle/>
          <a:p>
            <a:pPr marL="0" indent="0" algn="ctr">
              <a:buNone/>
            </a:pPr>
            <a:r>
              <a:rPr lang="en-US" sz="2000" b="1" dirty="0">
                <a:solidFill>
                  <a:srgbClr val="1A7A8A"/>
                </a:solidFill>
                <a:latin typeface="Calibri" pitchFamily="34" charset="0"/>
                <a:ea typeface="Calibri" pitchFamily="34" charset="-122"/>
                <a:cs typeface="Calibri" pitchFamily="34" charset="-120"/>
              </a:rPr>
              <a:t>4 °C</a:t>
            </a:r>
            <a:endParaRPr lang="en-US" sz="2000" dirty="0"/>
          </a:p>
        </p:txBody>
      </p:sp>
      <p:sp>
        <p:nvSpPr>
          <p:cNvPr id="51" name="Text 49"/>
          <p:cNvSpPr txBox="1"/>
          <p:nvPr/>
        </p:nvSpPr>
        <p:spPr>
          <a:xfrm>
            <a:off x="9134856" y="5074920"/>
            <a:ext cx="2468880" cy="347472"/>
          </a:xfrm>
          <a:prstGeom prst="rect">
            <a:avLst/>
          </a:prstGeom>
          <a:noFill/>
          <a:ln/>
        </p:spPr>
        <p:txBody>
          <a:bodyPr wrap="square" rtlCol="0" anchor="ctr"/>
          <a:lstStyle/>
          <a:p>
            <a:pPr marL="0" indent="0" algn="ctr">
              <a:buNone/>
            </a:pPr>
            <a:r>
              <a:rPr lang="en-US" sz="1150" dirty="0">
                <a:solidFill>
                  <a:srgbClr val="334155"/>
                </a:solidFill>
                <a:latin typeface="Calibri" pitchFamily="34" charset="0"/>
                <a:ea typeface="Calibri" pitchFamily="34" charset="-122"/>
                <a:cs typeface="Calibri" pitchFamily="34" charset="-120"/>
              </a:rPr>
              <a:t>Temperatura cadena de frío</a:t>
            </a:r>
            <a:endParaRPr lang="en-US" sz="1150" dirty="0"/>
          </a:p>
        </p:txBody>
      </p:sp>
      <p:sp>
        <p:nvSpPr>
          <p:cNvPr id="52" name="Shape 50"/>
          <p:cNvSpPr/>
          <p:nvPr/>
        </p:nvSpPr>
        <p:spPr>
          <a:xfrm>
            <a:off x="320040" y="5623560"/>
            <a:ext cx="11430000" cy="640080"/>
          </a:xfrm>
          <a:prstGeom prst="rect">
            <a:avLst/>
          </a:prstGeom>
          <a:solidFill>
            <a:srgbClr val="1B3A5C"/>
          </a:solidFill>
          <a:ln w="12700">
            <a:solidFill>
              <a:srgbClr val="1B3A5C"/>
            </a:solidFill>
            <a:prstDash val="solid"/>
          </a:ln>
        </p:spPr>
        <p:txBody>
          <a:bodyPr/>
          <a:lstStyle/>
          <a:p>
            <a:endParaRPr lang="es-CO"/>
          </a:p>
        </p:txBody>
      </p:sp>
      <p:sp>
        <p:nvSpPr>
          <p:cNvPr id="53" name="Text 51"/>
          <p:cNvSpPr txBox="1"/>
          <p:nvPr/>
        </p:nvSpPr>
        <p:spPr>
          <a:xfrm>
            <a:off x="457200" y="5742432"/>
            <a:ext cx="11155680" cy="36576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Sistema HACCP implementable desde inicio · Control microbiológico diario · Trazabilidad completa del lote · BPM y POES</a:t>
            </a:r>
            <a:endParaRPr lang="en-US" sz="1200" dirty="0"/>
          </a:p>
        </p:txBody>
      </p:sp>
      <p:sp>
        <p:nvSpPr>
          <p:cNvPr id="54" name="Text 52"/>
          <p:cNvSpPr txBox="1"/>
          <p:nvPr/>
        </p:nvSpPr>
        <p:spPr>
          <a:xfrm>
            <a:off x="320040" y="6583680"/>
            <a:ext cx="11521440" cy="201168"/>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Maestría en Agronegocios · Universidad EAFIT · Zamorano · 2026   |   Caballero · Valladares · Medal</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320040" y="201168"/>
            <a:ext cx="1828800" cy="256032"/>
          </a:xfrm>
          <a:prstGeom prst="rect">
            <a:avLst/>
          </a:prstGeom>
          <a:noFill/>
          <a:ln/>
        </p:spPr>
        <p:txBody>
          <a:bodyPr wrap="square" rtlCol="0" anchor="ctr"/>
          <a:lstStyle/>
          <a:p>
            <a:pPr marL="0" indent="0" algn="l">
              <a:buNone/>
            </a:pPr>
            <a:r>
              <a:rPr lang="en-US" sz="900" b="1" kern="0" spc="100" dirty="0">
                <a:solidFill>
                  <a:srgbClr val="1A7A8A"/>
                </a:solidFill>
                <a:latin typeface="Calibri" pitchFamily="34" charset="0"/>
                <a:ea typeface="Calibri" pitchFamily="34" charset="-122"/>
                <a:cs typeface="Calibri" pitchFamily="34" charset="-120"/>
              </a:rPr>
              <a:t>LEGAL</a:t>
            </a:r>
            <a:endParaRPr lang="en-US" sz="900" dirty="0"/>
          </a:p>
        </p:txBody>
      </p:sp>
      <p:sp>
        <p:nvSpPr>
          <p:cNvPr id="3" name="Text 1"/>
          <p:cNvSpPr txBox="1"/>
          <p:nvPr/>
        </p:nvSpPr>
        <p:spPr>
          <a:xfrm>
            <a:off x="320040" y="475488"/>
            <a:ext cx="11521440" cy="502920"/>
          </a:xfrm>
          <a:prstGeom prst="rect">
            <a:avLst/>
          </a:prstGeom>
          <a:noFill/>
          <a:ln/>
        </p:spPr>
        <p:txBody>
          <a:bodyPr wrap="square" rtlCol="0" anchor="ctr"/>
          <a:lstStyle/>
          <a:p>
            <a:pPr marL="0" indent="0">
              <a:buNone/>
            </a:pPr>
            <a:r>
              <a:rPr lang="en-US" sz="2800" b="1" dirty="0">
                <a:solidFill>
                  <a:srgbClr val="0D2341"/>
                </a:solidFill>
                <a:latin typeface="Calibri" pitchFamily="34" charset="0"/>
                <a:ea typeface="Calibri" pitchFamily="34" charset="-122"/>
                <a:cs typeface="Calibri" pitchFamily="34" charset="-120"/>
              </a:rPr>
              <a:t>Estudio Legal</a:t>
            </a:r>
            <a:endParaRPr lang="en-US" sz="2800" dirty="0"/>
          </a:p>
        </p:txBody>
      </p:sp>
      <p:sp>
        <p:nvSpPr>
          <p:cNvPr id="4" name="Shape 2"/>
          <p:cNvSpPr/>
          <p:nvPr/>
        </p:nvSpPr>
        <p:spPr>
          <a:xfrm>
            <a:off x="320040" y="1005840"/>
            <a:ext cx="11430000" cy="18288"/>
          </a:xfrm>
          <a:prstGeom prst="rect">
            <a:avLst/>
          </a:prstGeom>
          <a:solidFill>
            <a:srgbClr val="1A7A8A"/>
          </a:solidFill>
          <a:ln w="12700">
            <a:solidFill>
              <a:srgbClr val="1A7A8A"/>
            </a:solidFill>
            <a:prstDash val="solid"/>
          </a:ln>
        </p:spPr>
        <p:txBody>
          <a:bodyPr/>
          <a:lstStyle/>
          <a:p>
            <a:endParaRPr lang="es-CO"/>
          </a:p>
        </p:txBody>
      </p:sp>
      <p:sp>
        <p:nvSpPr>
          <p:cNvPr id="5" name="Shape 3"/>
          <p:cNvSpPr/>
          <p:nvPr/>
        </p:nvSpPr>
        <p:spPr>
          <a:xfrm>
            <a:off x="320040" y="1143000"/>
            <a:ext cx="5349240" cy="2286000"/>
          </a:xfrm>
          <a:prstGeom prst="rect">
            <a:avLst/>
          </a:prstGeom>
          <a:solidFill>
            <a:srgbClr val="FFFFFF"/>
          </a:solidFill>
          <a:ln w="12700">
            <a:solidFill>
              <a:srgbClr val="CBD5E1"/>
            </a:solidFill>
            <a:prstDash val="solid"/>
          </a:ln>
        </p:spPr>
        <p:txBody>
          <a:bodyPr/>
          <a:lstStyle/>
          <a:p>
            <a:endParaRPr lang="es-CO"/>
          </a:p>
        </p:txBody>
      </p:sp>
      <p:sp>
        <p:nvSpPr>
          <p:cNvPr id="6" name="Shape 4"/>
          <p:cNvSpPr/>
          <p:nvPr/>
        </p:nvSpPr>
        <p:spPr>
          <a:xfrm>
            <a:off x="320040" y="1143000"/>
            <a:ext cx="5349240" cy="475488"/>
          </a:xfrm>
          <a:prstGeom prst="rect">
            <a:avLst/>
          </a:prstGeom>
          <a:solidFill>
            <a:srgbClr val="1A7A8A"/>
          </a:solidFill>
          <a:ln w="12700">
            <a:solidFill>
              <a:srgbClr val="1A7A8A"/>
            </a:solidFill>
            <a:prstDash val="solid"/>
          </a:ln>
        </p:spPr>
        <p:txBody>
          <a:bodyPr/>
          <a:lstStyle/>
          <a:p>
            <a:endParaRPr lang="es-CO"/>
          </a:p>
        </p:txBody>
      </p:sp>
      <p:sp>
        <p:nvSpPr>
          <p:cNvPr id="7" name="Text 5"/>
          <p:cNvSpPr txBox="1"/>
          <p:nvPr/>
        </p:nvSpPr>
        <p:spPr>
          <a:xfrm>
            <a:off x="429768" y="1207008"/>
            <a:ext cx="1280160" cy="329184"/>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ARSA</a:t>
            </a:r>
            <a:endParaRPr lang="en-US" sz="1600" dirty="0"/>
          </a:p>
        </p:txBody>
      </p:sp>
      <p:sp>
        <p:nvSpPr>
          <p:cNvPr id="8" name="Text 6"/>
          <p:cNvSpPr txBox="1"/>
          <p:nvPr/>
        </p:nvSpPr>
        <p:spPr>
          <a:xfrm>
            <a:off x="1737360" y="1271016"/>
            <a:ext cx="3840480" cy="25603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Agencia de Regulación Sanitaria</a:t>
            </a:r>
            <a:endParaRPr lang="en-US" sz="1100" dirty="0"/>
          </a:p>
        </p:txBody>
      </p:sp>
      <p:sp>
        <p:nvSpPr>
          <p:cNvPr id="9" name="Text 7"/>
          <p:cNvSpPr txBox="1"/>
          <p:nvPr/>
        </p:nvSpPr>
        <p:spPr>
          <a:xfrm>
            <a:off x="429768" y="1737360"/>
            <a:ext cx="164592" cy="320040"/>
          </a:xfrm>
          <a:prstGeom prst="rect">
            <a:avLst/>
          </a:prstGeom>
          <a:noFill/>
          <a:ln/>
        </p:spPr>
        <p:txBody>
          <a:bodyPr wrap="square" rtlCol="0" anchor="ctr"/>
          <a:lstStyle/>
          <a:p>
            <a:pPr marL="0" indent="0">
              <a:buNone/>
            </a:pPr>
            <a:r>
              <a:rPr lang="en-US" sz="1400" b="1" dirty="0">
                <a:solidFill>
                  <a:srgbClr val="1A7A8A"/>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594360" y="1737360"/>
            <a:ext cx="4965192" cy="320040"/>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Licencia sanitaria de establecimiento procesador</a:t>
            </a:r>
            <a:endParaRPr lang="en-US" sz="1150" dirty="0"/>
          </a:p>
        </p:txBody>
      </p:sp>
      <p:sp>
        <p:nvSpPr>
          <p:cNvPr id="11" name="Text 9"/>
          <p:cNvSpPr txBox="1"/>
          <p:nvPr/>
        </p:nvSpPr>
        <p:spPr>
          <a:xfrm>
            <a:off x="429768" y="2240280"/>
            <a:ext cx="164592" cy="320040"/>
          </a:xfrm>
          <a:prstGeom prst="rect">
            <a:avLst/>
          </a:prstGeom>
          <a:noFill/>
          <a:ln/>
        </p:spPr>
        <p:txBody>
          <a:bodyPr wrap="square" rtlCol="0" anchor="ctr"/>
          <a:lstStyle/>
          <a:p>
            <a:pPr marL="0" indent="0">
              <a:buNone/>
            </a:pPr>
            <a:r>
              <a:rPr lang="en-US" sz="1400" b="1" dirty="0">
                <a:solidFill>
                  <a:srgbClr val="1A7A8A"/>
                </a:solidFill>
                <a:latin typeface="Calibri" pitchFamily="34" charset="0"/>
                <a:ea typeface="Calibri" pitchFamily="34" charset="-122"/>
                <a:cs typeface="Calibri" pitchFamily="34" charset="-120"/>
              </a:rPr>
              <a:t>·</a:t>
            </a:r>
            <a:endParaRPr lang="en-US" sz="1400" dirty="0"/>
          </a:p>
        </p:txBody>
      </p:sp>
      <p:sp>
        <p:nvSpPr>
          <p:cNvPr id="12" name="Text 10"/>
          <p:cNvSpPr txBox="1"/>
          <p:nvPr/>
        </p:nvSpPr>
        <p:spPr>
          <a:xfrm>
            <a:off x="594360" y="2240280"/>
            <a:ext cx="4965192" cy="320040"/>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Registro sanitario del producto (leche pasteurizada)</a:t>
            </a:r>
            <a:endParaRPr lang="en-US" sz="1150" dirty="0"/>
          </a:p>
        </p:txBody>
      </p:sp>
      <p:sp>
        <p:nvSpPr>
          <p:cNvPr id="13" name="Text 11"/>
          <p:cNvSpPr txBox="1"/>
          <p:nvPr/>
        </p:nvSpPr>
        <p:spPr>
          <a:xfrm>
            <a:off x="429768" y="2743200"/>
            <a:ext cx="164592" cy="320040"/>
          </a:xfrm>
          <a:prstGeom prst="rect">
            <a:avLst/>
          </a:prstGeom>
          <a:noFill/>
          <a:ln/>
        </p:spPr>
        <p:txBody>
          <a:bodyPr wrap="square" rtlCol="0" anchor="ctr"/>
          <a:lstStyle/>
          <a:p>
            <a:pPr marL="0" indent="0">
              <a:buNone/>
            </a:pPr>
            <a:r>
              <a:rPr lang="en-US" sz="1400" b="1" dirty="0">
                <a:solidFill>
                  <a:srgbClr val="1A7A8A"/>
                </a:solidFill>
                <a:latin typeface="Calibri" pitchFamily="34" charset="0"/>
                <a:ea typeface="Calibri" pitchFamily="34" charset="-122"/>
                <a:cs typeface="Calibri" pitchFamily="34" charset="-120"/>
              </a:rPr>
              <a:t>·</a:t>
            </a:r>
            <a:endParaRPr lang="en-US" sz="1400" dirty="0"/>
          </a:p>
        </p:txBody>
      </p:sp>
      <p:sp>
        <p:nvSpPr>
          <p:cNvPr id="14" name="Text 12"/>
          <p:cNvSpPr txBox="1"/>
          <p:nvPr/>
        </p:nvSpPr>
        <p:spPr>
          <a:xfrm>
            <a:off x="594360" y="2743200"/>
            <a:ext cx="4965192" cy="320040"/>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Análisis de laboratorio y etiqueta del producto</a:t>
            </a:r>
            <a:endParaRPr lang="en-US" sz="1150" dirty="0"/>
          </a:p>
        </p:txBody>
      </p:sp>
      <p:sp>
        <p:nvSpPr>
          <p:cNvPr id="15" name="Shape 13"/>
          <p:cNvSpPr/>
          <p:nvPr/>
        </p:nvSpPr>
        <p:spPr>
          <a:xfrm>
            <a:off x="6355080" y="1143000"/>
            <a:ext cx="5349240" cy="2286000"/>
          </a:xfrm>
          <a:prstGeom prst="rect">
            <a:avLst/>
          </a:prstGeom>
          <a:solidFill>
            <a:srgbClr val="FFFFFF"/>
          </a:solidFill>
          <a:ln w="12700">
            <a:solidFill>
              <a:srgbClr val="CBD5E1"/>
            </a:solidFill>
            <a:prstDash val="solid"/>
          </a:ln>
        </p:spPr>
        <p:txBody>
          <a:bodyPr/>
          <a:lstStyle/>
          <a:p>
            <a:endParaRPr lang="es-CO"/>
          </a:p>
        </p:txBody>
      </p:sp>
      <p:sp>
        <p:nvSpPr>
          <p:cNvPr id="16" name="Shape 14"/>
          <p:cNvSpPr/>
          <p:nvPr/>
        </p:nvSpPr>
        <p:spPr>
          <a:xfrm>
            <a:off x="6355080" y="1143000"/>
            <a:ext cx="5349240" cy="475488"/>
          </a:xfrm>
          <a:prstGeom prst="rect">
            <a:avLst/>
          </a:prstGeom>
          <a:solidFill>
            <a:srgbClr val="1B3A5C"/>
          </a:solidFill>
          <a:ln w="12700">
            <a:solidFill>
              <a:srgbClr val="1B3A5C"/>
            </a:solidFill>
            <a:prstDash val="solid"/>
          </a:ln>
        </p:spPr>
        <p:txBody>
          <a:bodyPr/>
          <a:lstStyle/>
          <a:p>
            <a:endParaRPr lang="es-CO"/>
          </a:p>
        </p:txBody>
      </p:sp>
      <p:sp>
        <p:nvSpPr>
          <p:cNvPr id="17" name="Text 15"/>
          <p:cNvSpPr txBox="1"/>
          <p:nvPr/>
        </p:nvSpPr>
        <p:spPr>
          <a:xfrm>
            <a:off x="6464808" y="1207008"/>
            <a:ext cx="1280160" cy="329184"/>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SENASA</a:t>
            </a:r>
            <a:endParaRPr lang="en-US" sz="1600" dirty="0"/>
          </a:p>
        </p:txBody>
      </p:sp>
      <p:sp>
        <p:nvSpPr>
          <p:cNvPr id="18" name="Text 16"/>
          <p:cNvSpPr txBox="1"/>
          <p:nvPr/>
        </p:nvSpPr>
        <p:spPr>
          <a:xfrm>
            <a:off x="7772400" y="1271016"/>
            <a:ext cx="3840480" cy="25603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Servicio Nacional de Sanidad e Inocuidad Agroalimentaria</a:t>
            </a:r>
            <a:endParaRPr lang="en-US" sz="1100" dirty="0"/>
          </a:p>
        </p:txBody>
      </p:sp>
      <p:sp>
        <p:nvSpPr>
          <p:cNvPr id="19" name="Text 17"/>
          <p:cNvSpPr txBox="1"/>
          <p:nvPr/>
        </p:nvSpPr>
        <p:spPr>
          <a:xfrm>
            <a:off x="6464808" y="1737360"/>
            <a:ext cx="164592" cy="320040"/>
          </a:xfrm>
          <a:prstGeom prst="rect">
            <a:avLst/>
          </a:prstGeom>
          <a:noFill/>
          <a:ln/>
        </p:spPr>
        <p:txBody>
          <a:bodyPr wrap="square" rtlCol="0" anchor="ctr"/>
          <a:lstStyle/>
          <a:p>
            <a:pPr marL="0" indent="0">
              <a:buNone/>
            </a:pPr>
            <a:r>
              <a:rPr lang="en-US" sz="1400" b="1" dirty="0">
                <a:solidFill>
                  <a:srgbClr val="1B3A5C"/>
                </a:solidFill>
                <a:latin typeface="Calibri" pitchFamily="34" charset="0"/>
                <a:ea typeface="Calibri" pitchFamily="34" charset="-122"/>
                <a:cs typeface="Calibri" pitchFamily="34" charset="-120"/>
              </a:rPr>
              <a:t>·</a:t>
            </a:r>
            <a:endParaRPr lang="en-US" sz="1400" dirty="0"/>
          </a:p>
        </p:txBody>
      </p:sp>
      <p:sp>
        <p:nvSpPr>
          <p:cNvPr id="20" name="Text 18"/>
          <p:cNvSpPr txBox="1"/>
          <p:nvPr/>
        </p:nvSpPr>
        <p:spPr>
          <a:xfrm>
            <a:off x="6629400" y="1737360"/>
            <a:ext cx="4965192" cy="320040"/>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Permiso de funcionamiento como planta procesadora</a:t>
            </a:r>
            <a:endParaRPr lang="en-US" sz="1150" dirty="0"/>
          </a:p>
        </p:txBody>
      </p:sp>
      <p:sp>
        <p:nvSpPr>
          <p:cNvPr id="21" name="Text 19"/>
          <p:cNvSpPr txBox="1"/>
          <p:nvPr/>
        </p:nvSpPr>
        <p:spPr>
          <a:xfrm>
            <a:off x="6464808" y="2240280"/>
            <a:ext cx="164592" cy="320040"/>
          </a:xfrm>
          <a:prstGeom prst="rect">
            <a:avLst/>
          </a:prstGeom>
          <a:noFill/>
          <a:ln/>
        </p:spPr>
        <p:txBody>
          <a:bodyPr wrap="square" rtlCol="0" anchor="ctr"/>
          <a:lstStyle/>
          <a:p>
            <a:pPr marL="0" indent="0">
              <a:buNone/>
            </a:pPr>
            <a:r>
              <a:rPr lang="en-US" sz="1400" b="1" dirty="0">
                <a:solidFill>
                  <a:srgbClr val="1B3A5C"/>
                </a:solidFill>
                <a:latin typeface="Calibri" pitchFamily="34" charset="0"/>
                <a:ea typeface="Calibri" pitchFamily="34" charset="-122"/>
                <a:cs typeface="Calibri" pitchFamily="34" charset="-120"/>
              </a:rPr>
              <a:t>·</a:t>
            </a:r>
            <a:endParaRPr lang="en-US" sz="1400" dirty="0"/>
          </a:p>
        </p:txBody>
      </p:sp>
      <p:sp>
        <p:nvSpPr>
          <p:cNvPr id="22" name="Text 20"/>
          <p:cNvSpPr txBox="1"/>
          <p:nvPr/>
        </p:nvSpPr>
        <p:spPr>
          <a:xfrm>
            <a:off x="6629400" y="2240280"/>
            <a:ext cx="4965192" cy="320040"/>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Registro de establecimiento procesador de origen animal</a:t>
            </a:r>
            <a:endParaRPr lang="en-US" sz="1150" dirty="0"/>
          </a:p>
        </p:txBody>
      </p:sp>
      <p:sp>
        <p:nvSpPr>
          <p:cNvPr id="23" name="Text 21"/>
          <p:cNvSpPr txBox="1"/>
          <p:nvPr/>
        </p:nvSpPr>
        <p:spPr>
          <a:xfrm>
            <a:off x="6464808" y="2743200"/>
            <a:ext cx="164592" cy="320040"/>
          </a:xfrm>
          <a:prstGeom prst="rect">
            <a:avLst/>
          </a:prstGeom>
          <a:noFill/>
          <a:ln/>
        </p:spPr>
        <p:txBody>
          <a:bodyPr wrap="square" rtlCol="0" anchor="ctr"/>
          <a:lstStyle/>
          <a:p>
            <a:pPr marL="0" indent="0">
              <a:buNone/>
            </a:pPr>
            <a:r>
              <a:rPr lang="en-US" sz="1400" b="1" dirty="0">
                <a:solidFill>
                  <a:srgbClr val="1B3A5C"/>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6629400" y="2743200"/>
            <a:ext cx="4965192" cy="320040"/>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Inspección de planta y plan de BPM y POES</a:t>
            </a:r>
            <a:endParaRPr lang="en-US" sz="1150" dirty="0"/>
          </a:p>
        </p:txBody>
      </p:sp>
      <p:sp>
        <p:nvSpPr>
          <p:cNvPr id="25" name="Shape 23"/>
          <p:cNvSpPr/>
          <p:nvPr/>
        </p:nvSpPr>
        <p:spPr>
          <a:xfrm>
            <a:off x="320040" y="3611880"/>
            <a:ext cx="5349240" cy="2286000"/>
          </a:xfrm>
          <a:prstGeom prst="rect">
            <a:avLst/>
          </a:prstGeom>
          <a:solidFill>
            <a:srgbClr val="FFFFFF"/>
          </a:solidFill>
          <a:ln w="12700">
            <a:solidFill>
              <a:srgbClr val="CBD5E1"/>
            </a:solidFill>
            <a:prstDash val="solid"/>
          </a:ln>
        </p:spPr>
        <p:txBody>
          <a:bodyPr/>
          <a:lstStyle/>
          <a:p>
            <a:endParaRPr lang="es-CO"/>
          </a:p>
        </p:txBody>
      </p:sp>
      <p:sp>
        <p:nvSpPr>
          <p:cNvPr id="26" name="Shape 24"/>
          <p:cNvSpPr/>
          <p:nvPr/>
        </p:nvSpPr>
        <p:spPr>
          <a:xfrm>
            <a:off x="320040" y="3611880"/>
            <a:ext cx="5349240" cy="475488"/>
          </a:xfrm>
          <a:prstGeom prst="rect">
            <a:avLst/>
          </a:prstGeom>
          <a:solidFill>
            <a:srgbClr val="B5862A"/>
          </a:solidFill>
          <a:ln w="12700">
            <a:solidFill>
              <a:srgbClr val="B5862A"/>
            </a:solidFill>
            <a:prstDash val="solid"/>
          </a:ln>
        </p:spPr>
        <p:txBody>
          <a:bodyPr/>
          <a:lstStyle/>
          <a:p>
            <a:endParaRPr lang="es-CO"/>
          </a:p>
        </p:txBody>
      </p:sp>
      <p:sp>
        <p:nvSpPr>
          <p:cNvPr id="27" name="Text 25"/>
          <p:cNvSpPr txBox="1"/>
          <p:nvPr/>
        </p:nvSpPr>
        <p:spPr>
          <a:xfrm>
            <a:off x="429768" y="3675888"/>
            <a:ext cx="1280160" cy="329184"/>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SAG</a:t>
            </a:r>
            <a:endParaRPr lang="en-US" sz="1600" dirty="0"/>
          </a:p>
        </p:txBody>
      </p:sp>
      <p:sp>
        <p:nvSpPr>
          <p:cNvPr id="28" name="Text 26"/>
          <p:cNvSpPr txBox="1"/>
          <p:nvPr/>
        </p:nvSpPr>
        <p:spPr>
          <a:xfrm>
            <a:off x="1737360" y="3739896"/>
            <a:ext cx="3840480" cy="25603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Secretaría de Agricultura y Ganadería</a:t>
            </a:r>
            <a:endParaRPr lang="en-US" sz="1100" dirty="0"/>
          </a:p>
        </p:txBody>
      </p:sp>
      <p:sp>
        <p:nvSpPr>
          <p:cNvPr id="29" name="Text 27"/>
          <p:cNvSpPr txBox="1"/>
          <p:nvPr/>
        </p:nvSpPr>
        <p:spPr>
          <a:xfrm>
            <a:off x="429768" y="4206240"/>
            <a:ext cx="164592" cy="320040"/>
          </a:xfrm>
          <a:prstGeom prst="rect">
            <a:avLst/>
          </a:prstGeom>
          <a:noFill/>
          <a:ln/>
        </p:spPr>
        <p:txBody>
          <a:bodyPr wrap="square" rtlCol="0" anchor="ctr"/>
          <a:lstStyle/>
          <a:p>
            <a:pPr marL="0" indent="0">
              <a:buNone/>
            </a:pPr>
            <a:r>
              <a:rPr lang="en-US" sz="1400" b="1" dirty="0">
                <a:solidFill>
                  <a:srgbClr val="B5862A"/>
                </a:solidFill>
                <a:latin typeface="Calibri" pitchFamily="34" charset="0"/>
                <a:ea typeface="Calibri" pitchFamily="34" charset="-122"/>
                <a:cs typeface="Calibri" pitchFamily="34" charset="-120"/>
              </a:rPr>
              <a:t>·</a:t>
            </a:r>
            <a:endParaRPr lang="en-US" sz="1400" dirty="0"/>
          </a:p>
        </p:txBody>
      </p:sp>
      <p:sp>
        <p:nvSpPr>
          <p:cNvPr id="30" name="Text 28"/>
          <p:cNvSpPr txBox="1"/>
          <p:nvPr/>
        </p:nvSpPr>
        <p:spPr>
          <a:xfrm>
            <a:off x="594360" y="4206240"/>
            <a:ext cx="4965192" cy="320040"/>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Rectoría sanitaria del sector lácteo a través de SENASA</a:t>
            </a:r>
            <a:endParaRPr lang="en-US" sz="1150" dirty="0"/>
          </a:p>
        </p:txBody>
      </p:sp>
      <p:sp>
        <p:nvSpPr>
          <p:cNvPr id="31" name="Text 29"/>
          <p:cNvSpPr txBox="1"/>
          <p:nvPr/>
        </p:nvSpPr>
        <p:spPr>
          <a:xfrm>
            <a:off x="429768" y="4709160"/>
            <a:ext cx="164592" cy="320040"/>
          </a:xfrm>
          <a:prstGeom prst="rect">
            <a:avLst/>
          </a:prstGeom>
          <a:noFill/>
          <a:ln/>
        </p:spPr>
        <p:txBody>
          <a:bodyPr wrap="square" rtlCol="0" anchor="ctr"/>
          <a:lstStyle/>
          <a:p>
            <a:pPr marL="0" indent="0">
              <a:buNone/>
            </a:pPr>
            <a:r>
              <a:rPr lang="en-US" sz="1400" b="1" dirty="0">
                <a:solidFill>
                  <a:srgbClr val="B5862A"/>
                </a:solidFill>
                <a:latin typeface="Calibri" pitchFamily="34" charset="0"/>
                <a:ea typeface="Calibri" pitchFamily="34" charset="-122"/>
                <a:cs typeface="Calibri" pitchFamily="34" charset="-120"/>
              </a:rPr>
              <a:t>·</a:t>
            </a:r>
            <a:endParaRPr lang="en-US" sz="1400" dirty="0"/>
          </a:p>
        </p:txBody>
      </p:sp>
      <p:sp>
        <p:nvSpPr>
          <p:cNvPr id="32" name="Text 30"/>
          <p:cNvSpPr txBox="1"/>
          <p:nvPr/>
        </p:nvSpPr>
        <p:spPr>
          <a:xfrm>
            <a:off x="594360" y="4709160"/>
            <a:ext cx="4965192" cy="320040"/>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Reglamento de Inspección y Certificación Sanitaria de la Leche</a:t>
            </a:r>
            <a:endParaRPr lang="en-US" sz="1150" dirty="0"/>
          </a:p>
        </p:txBody>
      </p:sp>
      <p:sp>
        <p:nvSpPr>
          <p:cNvPr id="33" name="Text 31"/>
          <p:cNvSpPr txBox="1"/>
          <p:nvPr/>
        </p:nvSpPr>
        <p:spPr>
          <a:xfrm>
            <a:off x="429768" y="5212080"/>
            <a:ext cx="164592" cy="320040"/>
          </a:xfrm>
          <a:prstGeom prst="rect">
            <a:avLst/>
          </a:prstGeom>
          <a:noFill/>
          <a:ln/>
        </p:spPr>
        <p:txBody>
          <a:bodyPr wrap="square" rtlCol="0" anchor="ctr"/>
          <a:lstStyle/>
          <a:p>
            <a:pPr marL="0" indent="0">
              <a:buNone/>
            </a:pPr>
            <a:r>
              <a:rPr lang="en-US" sz="1400" b="1" dirty="0">
                <a:solidFill>
                  <a:srgbClr val="B5862A"/>
                </a:solidFill>
                <a:latin typeface="Calibri" pitchFamily="34" charset="0"/>
                <a:ea typeface="Calibri" pitchFamily="34" charset="-122"/>
                <a:cs typeface="Calibri" pitchFamily="34" charset="-120"/>
              </a:rPr>
              <a:t>·</a:t>
            </a:r>
            <a:endParaRPr lang="en-US" sz="1400" dirty="0"/>
          </a:p>
        </p:txBody>
      </p:sp>
      <p:sp>
        <p:nvSpPr>
          <p:cNvPr id="34" name="Text 32"/>
          <p:cNvSpPr txBox="1"/>
          <p:nvPr/>
        </p:nvSpPr>
        <p:spPr>
          <a:xfrm>
            <a:off x="594360" y="5212080"/>
            <a:ext cx="4965192" cy="320040"/>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RTCA 67.04.66:12 (leche pasteurizada) y 67.04.50:17</a:t>
            </a:r>
            <a:endParaRPr lang="en-US" sz="1150" dirty="0"/>
          </a:p>
        </p:txBody>
      </p:sp>
      <p:sp>
        <p:nvSpPr>
          <p:cNvPr id="35" name="Shape 33"/>
          <p:cNvSpPr/>
          <p:nvPr/>
        </p:nvSpPr>
        <p:spPr>
          <a:xfrm>
            <a:off x="6355080" y="3611880"/>
            <a:ext cx="5349240" cy="2286000"/>
          </a:xfrm>
          <a:prstGeom prst="rect">
            <a:avLst/>
          </a:prstGeom>
          <a:solidFill>
            <a:srgbClr val="FFFFFF"/>
          </a:solidFill>
          <a:ln w="12700">
            <a:solidFill>
              <a:srgbClr val="CBD5E1"/>
            </a:solidFill>
            <a:prstDash val="solid"/>
          </a:ln>
        </p:spPr>
        <p:txBody>
          <a:bodyPr/>
          <a:lstStyle/>
          <a:p>
            <a:endParaRPr lang="es-CO"/>
          </a:p>
        </p:txBody>
      </p:sp>
      <p:sp>
        <p:nvSpPr>
          <p:cNvPr id="36" name="Shape 34"/>
          <p:cNvSpPr/>
          <p:nvPr/>
        </p:nvSpPr>
        <p:spPr>
          <a:xfrm>
            <a:off x="6355080" y="3611880"/>
            <a:ext cx="5349240" cy="475488"/>
          </a:xfrm>
          <a:prstGeom prst="rect">
            <a:avLst/>
          </a:prstGeom>
          <a:solidFill>
            <a:srgbClr val="C0392B"/>
          </a:solidFill>
          <a:ln w="12700">
            <a:solidFill>
              <a:srgbClr val="C0392B"/>
            </a:solidFill>
            <a:prstDash val="solid"/>
          </a:ln>
        </p:spPr>
        <p:txBody>
          <a:bodyPr/>
          <a:lstStyle/>
          <a:p>
            <a:endParaRPr lang="es-CO"/>
          </a:p>
        </p:txBody>
      </p:sp>
      <p:sp>
        <p:nvSpPr>
          <p:cNvPr id="37" name="Text 35"/>
          <p:cNvSpPr txBox="1"/>
          <p:nvPr/>
        </p:nvSpPr>
        <p:spPr>
          <a:xfrm>
            <a:off x="6464807" y="3675888"/>
            <a:ext cx="1444361" cy="329184"/>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MIAMBIENTE</a:t>
            </a:r>
            <a:endParaRPr lang="en-US" sz="1600" dirty="0"/>
          </a:p>
        </p:txBody>
      </p:sp>
      <p:sp>
        <p:nvSpPr>
          <p:cNvPr id="38" name="Text 36"/>
          <p:cNvSpPr txBox="1"/>
          <p:nvPr/>
        </p:nvSpPr>
        <p:spPr>
          <a:xfrm>
            <a:off x="7772400" y="3739896"/>
            <a:ext cx="3840480" cy="25603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Secretaría de Recursos Naturales y Ambiente</a:t>
            </a:r>
            <a:endParaRPr lang="en-US" sz="1100" dirty="0"/>
          </a:p>
        </p:txBody>
      </p:sp>
      <p:sp>
        <p:nvSpPr>
          <p:cNvPr id="39" name="Text 37"/>
          <p:cNvSpPr txBox="1"/>
          <p:nvPr/>
        </p:nvSpPr>
        <p:spPr>
          <a:xfrm>
            <a:off x="6464808" y="4206240"/>
            <a:ext cx="164592" cy="320040"/>
          </a:xfrm>
          <a:prstGeom prst="rect">
            <a:avLst/>
          </a:prstGeom>
          <a:noFill/>
          <a:ln/>
        </p:spPr>
        <p:txBody>
          <a:bodyPr wrap="square" rtlCol="0" anchor="ctr"/>
          <a:lstStyle/>
          <a:p>
            <a:pPr marL="0" indent="0">
              <a:buNone/>
            </a:pPr>
            <a:r>
              <a:rPr lang="en-US" sz="1400" b="1" dirty="0">
                <a:solidFill>
                  <a:srgbClr val="C0392B"/>
                </a:solidFill>
                <a:latin typeface="Calibri" pitchFamily="34" charset="0"/>
                <a:ea typeface="Calibri" pitchFamily="34" charset="-122"/>
                <a:cs typeface="Calibri" pitchFamily="34" charset="-120"/>
              </a:rPr>
              <a:t>·</a:t>
            </a:r>
            <a:endParaRPr lang="en-US" sz="1400" dirty="0"/>
          </a:p>
        </p:txBody>
      </p:sp>
      <p:sp>
        <p:nvSpPr>
          <p:cNvPr id="40" name="Text 38"/>
          <p:cNvSpPr txBox="1"/>
          <p:nvPr/>
        </p:nvSpPr>
        <p:spPr>
          <a:xfrm>
            <a:off x="6629400" y="4206240"/>
            <a:ext cx="4965192" cy="320040"/>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Evaluación de Impacto Ambiental (EIA) preoperacional</a:t>
            </a:r>
            <a:endParaRPr lang="en-US" sz="1150" dirty="0"/>
          </a:p>
        </p:txBody>
      </p:sp>
      <p:sp>
        <p:nvSpPr>
          <p:cNvPr id="41" name="Text 39"/>
          <p:cNvSpPr txBox="1"/>
          <p:nvPr/>
        </p:nvSpPr>
        <p:spPr>
          <a:xfrm>
            <a:off x="6464808" y="4709160"/>
            <a:ext cx="164592" cy="320040"/>
          </a:xfrm>
          <a:prstGeom prst="rect">
            <a:avLst/>
          </a:prstGeom>
          <a:noFill/>
          <a:ln/>
        </p:spPr>
        <p:txBody>
          <a:bodyPr wrap="square" rtlCol="0" anchor="ctr"/>
          <a:lstStyle/>
          <a:p>
            <a:pPr marL="0" indent="0">
              <a:buNone/>
            </a:pPr>
            <a:r>
              <a:rPr lang="en-US" sz="1400" b="1" dirty="0">
                <a:solidFill>
                  <a:srgbClr val="C0392B"/>
                </a:solidFill>
                <a:latin typeface="Calibri" pitchFamily="34" charset="0"/>
                <a:ea typeface="Calibri" pitchFamily="34" charset="-122"/>
                <a:cs typeface="Calibri" pitchFamily="34" charset="-120"/>
              </a:rPr>
              <a:t>·</a:t>
            </a:r>
            <a:endParaRPr lang="en-US" sz="1400" dirty="0"/>
          </a:p>
        </p:txBody>
      </p:sp>
      <p:sp>
        <p:nvSpPr>
          <p:cNvPr id="42" name="Text 40"/>
          <p:cNvSpPr txBox="1"/>
          <p:nvPr/>
        </p:nvSpPr>
        <p:spPr>
          <a:xfrm>
            <a:off x="6629400" y="4709160"/>
            <a:ext cx="4965192" cy="320040"/>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Licencia ambiental</a:t>
            </a:r>
            <a:endParaRPr lang="en-US" sz="1150" dirty="0"/>
          </a:p>
        </p:txBody>
      </p:sp>
      <p:sp>
        <p:nvSpPr>
          <p:cNvPr id="43" name="Text 41"/>
          <p:cNvSpPr txBox="1"/>
          <p:nvPr/>
        </p:nvSpPr>
        <p:spPr>
          <a:xfrm>
            <a:off x="6464808" y="5212080"/>
            <a:ext cx="164592" cy="320040"/>
          </a:xfrm>
          <a:prstGeom prst="rect">
            <a:avLst/>
          </a:prstGeom>
          <a:noFill/>
          <a:ln/>
        </p:spPr>
        <p:txBody>
          <a:bodyPr wrap="square" rtlCol="0" anchor="ctr"/>
          <a:lstStyle/>
          <a:p>
            <a:pPr marL="0" indent="0">
              <a:buNone/>
            </a:pPr>
            <a:r>
              <a:rPr lang="en-US" sz="1400" b="1" dirty="0">
                <a:solidFill>
                  <a:srgbClr val="C0392B"/>
                </a:solidFill>
                <a:latin typeface="Calibri" pitchFamily="34" charset="0"/>
                <a:ea typeface="Calibri" pitchFamily="34" charset="-122"/>
                <a:cs typeface="Calibri" pitchFamily="34" charset="-120"/>
              </a:rPr>
              <a:t>·</a:t>
            </a:r>
            <a:endParaRPr lang="en-US" sz="1400" dirty="0"/>
          </a:p>
        </p:txBody>
      </p:sp>
      <p:sp>
        <p:nvSpPr>
          <p:cNvPr id="44" name="Text 42"/>
          <p:cNvSpPr txBox="1"/>
          <p:nvPr/>
        </p:nvSpPr>
        <p:spPr>
          <a:xfrm>
            <a:off x="6629400" y="5212080"/>
            <a:ext cx="4965192" cy="320040"/>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Autorización de manejo y descarga de efluentes</a:t>
            </a:r>
            <a:endParaRPr lang="en-US" sz="1150" dirty="0"/>
          </a:p>
        </p:txBody>
      </p:sp>
      <p:sp>
        <p:nvSpPr>
          <p:cNvPr id="45" name="Text 43"/>
          <p:cNvSpPr txBox="1"/>
          <p:nvPr/>
        </p:nvSpPr>
        <p:spPr>
          <a:xfrm>
            <a:off x="320040" y="6583680"/>
            <a:ext cx="11521440" cy="201168"/>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Maestría en Agronegocios · Universidad EAFIT · Zamorano · 2026   |   Caballero · Valladares · Medal</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320040" y="201168"/>
            <a:ext cx="1828800" cy="256032"/>
          </a:xfrm>
          <a:prstGeom prst="rect">
            <a:avLst/>
          </a:prstGeom>
          <a:noFill/>
          <a:ln/>
        </p:spPr>
        <p:txBody>
          <a:bodyPr wrap="square" rtlCol="0" anchor="ctr"/>
          <a:lstStyle/>
          <a:p>
            <a:pPr marL="0" indent="0" algn="l">
              <a:buNone/>
            </a:pPr>
            <a:r>
              <a:rPr lang="en-US" sz="900" b="1" kern="0" spc="100" dirty="0">
                <a:solidFill>
                  <a:srgbClr val="1A7A8A"/>
                </a:solidFill>
                <a:latin typeface="Calibri" pitchFamily="34" charset="0"/>
                <a:ea typeface="Calibri" pitchFamily="34" charset="-122"/>
                <a:cs typeface="Calibri" pitchFamily="34" charset="-120"/>
              </a:rPr>
              <a:t>ADMINISTRATIVO</a:t>
            </a:r>
            <a:endParaRPr lang="en-US" sz="900" dirty="0"/>
          </a:p>
        </p:txBody>
      </p:sp>
      <p:sp>
        <p:nvSpPr>
          <p:cNvPr id="3" name="Text 1"/>
          <p:cNvSpPr txBox="1"/>
          <p:nvPr/>
        </p:nvSpPr>
        <p:spPr>
          <a:xfrm>
            <a:off x="320040" y="475488"/>
            <a:ext cx="11521440" cy="502920"/>
          </a:xfrm>
          <a:prstGeom prst="rect">
            <a:avLst/>
          </a:prstGeom>
          <a:noFill/>
          <a:ln/>
        </p:spPr>
        <p:txBody>
          <a:bodyPr wrap="square" rtlCol="0" anchor="ctr"/>
          <a:lstStyle/>
          <a:p>
            <a:pPr marL="0" indent="0">
              <a:buNone/>
            </a:pPr>
            <a:r>
              <a:rPr lang="en-US" sz="2400" b="1" dirty="0">
                <a:solidFill>
                  <a:srgbClr val="0D2341"/>
                </a:solidFill>
                <a:latin typeface="Calibri" pitchFamily="34" charset="0"/>
                <a:ea typeface="Calibri" pitchFamily="34" charset="-122"/>
                <a:cs typeface="Calibri" pitchFamily="34" charset="-120"/>
              </a:rPr>
              <a:t>Estudio Administrativo · Estructura Organizacional</a:t>
            </a:r>
            <a:endParaRPr lang="en-US" sz="2400" dirty="0"/>
          </a:p>
        </p:txBody>
      </p:sp>
      <p:sp>
        <p:nvSpPr>
          <p:cNvPr id="4" name="Shape 2"/>
          <p:cNvSpPr/>
          <p:nvPr/>
        </p:nvSpPr>
        <p:spPr>
          <a:xfrm>
            <a:off x="320040" y="1005840"/>
            <a:ext cx="11430000" cy="18288"/>
          </a:xfrm>
          <a:prstGeom prst="rect">
            <a:avLst/>
          </a:prstGeom>
          <a:solidFill>
            <a:srgbClr val="1A7A8A"/>
          </a:solidFill>
          <a:ln w="12700">
            <a:solidFill>
              <a:srgbClr val="1A7A8A"/>
            </a:solidFill>
            <a:prstDash val="solid"/>
          </a:ln>
        </p:spPr>
        <p:txBody>
          <a:bodyPr/>
          <a:lstStyle/>
          <a:p>
            <a:endParaRPr lang="es-CO"/>
          </a:p>
        </p:txBody>
      </p:sp>
      <p:sp>
        <p:nvSpPr>
          <p:cNvPr id="56" name="Text 54"/>
          <p:cNvSpPr txBox="1"/>
          <p:nvPr/>
        </p:nvSpPr>
        <p:spPr>
          <a:xfrm>
            <a:off x="320040" y="6583680"/>
            <a:ext cx="11521440" cy="201168"/>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Maestría en Agronegocios · Universidad EAFIT · Zamorano · 2026   |   Caballero · Valladares · Medal</a:t>
            </a:r>
            <a:endParaRPr lang="en-US" sz="800" dirty="0"/>
          </a:p>
        </p:txBody>
      </p:sp>
      <p:sp>
        <p:nvSpPr>
          <p:cNvPr id="57" name="Rectangle 56"/>
          <p:cNvSpPr/>
          <p:nvPr/>
        </p:nvSpPr>
        <p:spPr>
          <a:xfrm>
            <a:off x="4480560" y="1234440"/>
            <a:ext cx="3200400" cy="50292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4480560" y="1234440"/>
            <a:ext cx="3200400" cy="502920"/>
          </a:xfrm>
          <a:prstGeom prst="rect">
            <a:avLst/>
          </a:prstGeom>
          <a:noFill/>
        </p:spPr>
        <p:txBody>
          <a:bodyPr wrap="square" anchor="ctr">
            <a:spAutoFit/>
          </a:bodyPr>
          <a:lstStyle/>
          <a:p>
            <a:pPr algn="ctr"/>
            <a:r>
              <a:rPr sz="1300" b="1" i="0">
                <a:solidFill>
                  <a:srgbClr val="FFFFFF"/>
                </a:solidFill>
                <a:latin typeface="Calibri"/>
              </a:rPr>
              <a:t>Gerente de Operaciones</a:t>
            </a:r>
          </a:p>
        </p:txBody>
      </p:sp>
      <p:sp>
        <p:nvSpPr>
          <p:cNvPr id="59" name="Rectangle 58"/>
          <p:cNvSpPr/>
          <p:nvPr/>
        </p:nvSpPr>
        <p:spPr>
          <a:xfrm>
            <a:off x="6071616" y="1737360"/>
            <a:ext cx="27432" cy="502920"/>
          </a:xfrm>
          <a:prstGeom prst="rect">
            <a:avLst/>
          </a:prstGeom>
          <a:solidFill>
            <a:srgbClr val="CBD5E1"/>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ectangle 59"/>
          <p:cNvSpPr/>
          <p:nvPr/>
        </p:nvSpPr>
        <p:spPr>
          <a:xfrm>
            <a:off x="1481328" y="2231136"/>
            <a:ext cx="8622792" cy="27432"/>
          </a:xfrm>
          <a:prstGeom prst="rect">
            <a:avLst/>
          </a:prstGeom>
          <a:solidFill>
            <a:srgbClr val="CBD5E1"/>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ectangle 60"/>
          <p:cNvSpPr/>
          <p:nvPr/>
        </p:nvSpPr>
        <p:spPr>
          <a:xfrm>
            <a:off x="1481328" y="2231136"/>
            <a:ext cx="27432" cy="320040"/>
          </a:xfrm>
          <a:prstGeom prst="rect">
            <a:avLst/>
          </a:prstGeom>
          <a:solidFill>
            <a:srgbClr val="CBD5E1"/>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548640" y="2542032"/>
            <a:ext cx="1892807" cy="603504"/>
          </a:xfrm>
          <a:prstGeom prst="rect">
            <a:avLst/>
          </a:prstGeom>
          <a:solidFill>
            <a:srgbClr val="1A7A8A"/>
          </a:solidFill>
          <a:ln w="12700">
            <a:solidFill>
              <a:srgbClr val="1A7A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548640" y="2542032"/>
            <a:ext cx="1892807" cy="603504"/>
          </a:xfrm>
          <a:prstGeom prst="rect">
            <a:avLst/>
          </a:prstGeom>
          <a:noFill/>
        </p:spPr>
        <p:txBody>
          <a:bodyPr wrap="square" anchor="ctr">
            <a:spAutoFit/>
          </a:bodyPr>
          <a:lstStyle/>
          <a:p>
            <a:pPr algn="ctr"/>
            <a:r>
              <a:rPr sz="1050" b="1" i="0">
                <a:solidFill>
                  <a:srgbClr val="FFFFFF"/>
                </a:solidFill>
                <a:latin typeface="Calibri"/>
              </a:rPr>
              <a:t>Asistente de televenta</a:t>
            </a:r>
          </a:p>
          <a:p>
            <a:pPr algn="ctr"/>
            <a:r>
              <a:rPr sz="1050" b="1" i="0">
                <a:solidFill>
                  <a:srgbClr val="FFFFFF"/>
                </a:solidFill>
                <a:latin typeface="Calibri"/>
              </a:rPr>
              <a:t>y facturación</a:t>
            </a:r>
          </a:p>
        </p:txBody>
      </p:sp>
      <p:sp>
        <p:nvSpPr>
          <p:cNvPr id="64" name="Rectangle 63"/>
          <p:cNvSpPr/>
          <p:nvPr/>
        </p:nvSpPr>
        <p:spPr>
          <a:xfrm>
            <a:off x="548640" y="3200400"/>
            <a:ext cx="1892807" cy="301752"/>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548640" y="3200400"/>
            <a:ext cx="1892807" cy="301752"/>
          </a:xfrm>
          <a:prstGeom prst="rect">
            <a:avLst/>
          </a:prstGeom>
          <a:noFill/>
        </p:spPr>
        <p:txBody>
          <a:bodyPr wrap="square" anchor="ctr">
            <a:spAutoFit/>
          </a:bodyPr>
          <a:lstStyle/>
          <a:p>
            <a:pPr algn="ctr"/>
            <a:r>
              <a:rPr sz="950" b="0" i="0">
                <a:solidFill>
                  <a:srgbClr val="334155"/>
                </a:solidFill>
                <a:latin typeface="Calibri"/>
              </a:rPr>
              <a:t>Pedidos y cartera</a:t>
            </a:r>
          </a:p>
        </p:txBody>
      </p:sp>
      <p:sp>
        <p:nvSpPr>
          <p:cNvPr id="66" name="Rectangle 65"/>
          <p:cNvSpPr/>
          <p:nvPr/>
        </p:nvSpPr>
        <p:spPr>
          <a:xfrm>
            <a:off x="548640" y="3547872"/>
            <a:ext cx="1892807" cy="301752"/>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548640" y="3547872"/>
            <a:ext cx="1892807" cy="301752"/>
          </a:xfrm>
          <a:prstGeom prst="rect">
            <a:avLst/>
          </a:prstGeom>
          <a:noFill/>
        </p:spPr>
        <p:txBody>
          <a:bodyPr wrap="square" anchor="ctr">
            <a:spAutoFit/>
          </a:bodyPr>
          <a:lstStyle/>
          <a:p>
            <a:pPr algn="ctr"/>
            <a:r>
              <a:rPr sz="950" b="0" i="0">
                <a:solidFill>
                  <a:srgbClr val="334155"/>
                </a:solidFill>
                <a:latin typeface="Calibri"/>
              </a:rPr>
              <a:t>Facturación</a:t>
            </a:r>
          </a:p>
        </p:txBody>
      </p:sp>
      <p:sp>
        <p:nvSpPr>
          <p:cNvPr id="68" name="Rectangle 67"/>
          <p:cNvSpPr/>
          <p:nvPr/>
        </p:nvSpPr>
        <p:spPr>
          <a:xfrm>
            <a:off x="548640" y="3895344"/>
            <a:ext cx="1892807" cy="301752"/>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548640" y="3895344"/>
            <a:ext cx="1892807" cy="301752"/>
          </a:xfrm>
          <a:prstGeom prst="rect">
            <a:avLst/>
          </a:prstGeom>
          <a:noFill/>
        </p:spPr>
        <p:txBody>
          <a:bodyPr wrap="square" anchor="ctr">
            <a:spAutoFit/>
          </a:bodyPr>
          <a:lstStyle/>
          <a:p>
            <a:pPr algn="ctr"/>
            <a:r>
              <a:rPr sz="950" b="0" i="0">
                <a:solidFill>
                  <a:srgbClr val="334155"/>
                </a:solidFill>
                <a:latin typeface="Calibri"/>
              </a:rPr>
              <a:t>Reportes de ventas</a:t>
            </a:r>
          </a:p>
        </p:txBody>
      </p:sp>
      <p:sp>
        <p:nvSpPr>
          <p:cNvPr id="70" name="Rectangle 69"/>
          <p:cNvSpPr/>
          <p:nvPr/>
        </p:nvSpPr>
        <p:spPr>
          <a:xfrm>
            <a:off x="3630168" y="2231136"/>
            <a:ext cx="27432" cy="320040"/>
          </a:xfrm>
          <a:prstGeom prst="rect">
            <a:avLst/>
          </a:prstGeom>
          <a:solidFill>
            <a:srgbClr val="CBD5E1"/>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70"/>
          <p:cNvSpPr/>
          <p:nvPr/>
        </p:nvSpPr>
        <p:spPr>
          <a:xfrm>
            <a:off x="2697480" y="2542032"/>
            <a:ext cx="1892807" cy="603504"/>
          </a:xfrm>
          <a:prstGeom prst="rect">
            <a:avLst/>
          </a:prstGeom>
          <a:solidFill>
            <a:srgbClr val="1B3A5C"/>
          </a:solidFill>
          <a:ln w="12700">
            <a:solidFill>
              <a:srgbClr val="1B3A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2697480" y="2542032"/>
            <a:ext cx="1892807" cy="603504"/>
          </a:xfrm>
          <a:prstGeom prst="rect">
            <a:avLst/>
          </a:prstGeom>
          <a:noFill/>
        </p:spPr>
        <p:txBody>
          <a:bodyPr wrap="square" anchor="ctr">
            <a:spAutoFit/>
          </a:bodyPr>
          <a:lstStyle/>
          <a:p>
            <a:pPr algn="ctr"/>
            <a:r>
              <a:rPr sz="1050" b="1" i="0">
                <a:solidFill>
                  <a:srgbClr val="FFFFFF"/>
                </a:solidFill>
                <a:latin typeface="Calibri"/>
              </a:rPr>
              <a:t>Operador de recibo</a:t>
            </a:r>
          </a:p>
          <a:p>
            <a:pPr algn="ctr"/>
            <a:r>
              <a:rPr sz="1050" b="1" i="0">
                <a:solidFill>
                  <a:srgbClr val="FFFFFF"/>
                </a:solidFill>
                <a:latin typeface="Calibri"/>
              </a:rPr>
              <a:t>y despacho</a:t>
            </a:r>
          </a:p>
        </p:txBody>
      </p:sp>
      <p:sp>
        <p:nvSpPr>
          <p:cNvPr id="73" name="Rectangle 72"/>
          <p:cNvSpPr/>
          <p:nvPr/>
        </p:nvSpPr>
        <p:spPr>
          <a:xfrm>
            <a:off x="2697480" y="3200400"/>
            <a:ext cx="1892807" cy="301752"/>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Box 73"/>
          <p:cNvSpPr txBox="1"/>
          <p:nvPr/>
        </p:nvSpPr>
        <p:spPr>
          <a:xfrm>
            <a:off x="2697480" y="3200400"/>
            <a:ext cx="1892807" cy="301752"/>
          </a:xfrm>
          <a:prstGeom prst="rect">
            <a:avLst/>
          </a:prstGeom>
          <a:noFill/>
        </p:spPr>
        <p:txBody>
          <a:bodyPr wrap="square" anchor="ctr">
            <a:spAutoFit/>
          </a:bodyPr>
          <a:lstStyle/>
          <a:p>
            <a:pPr algn="ctr"/>
            <a:r>
              <a:rPr sz="950" b="0" i="0">
                <a:solidFill>
                  <a:srgbClr val="334155"/>
                </a:solidFill>
                <a:latin typeface="Calibri"/>
              </a:rPr>
              <a:t>Recepción y temperatura</a:t>
            </a:r>
          </a:p>
        </p:txBody>
      </p:sp>
      <p:sp>
        <p:nvSpPr>
          <p:cNvPr id="75" name="Rectangle 74"/>
          <p:cNvSpPr/>
          <p:nvPr/>
        </p:nvSpPr>
        <p:spPr>
          <a:xfrm>
            <a:off x="2697480" y="3547872"/>
            <a:ext cx="1892807" cy="301752"/>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Box 75"/>
          <p:cNvSpPr txBox="1"/>
          <p:nvPr/>
        </p:nvSpPr>
        <p:spPr>
          <a:xfrm>
            <a:off x="2697480" y="3547872"/>
            <a:ext cx="1892807" cy="301752"/>
          </a:xfrm>
          <a:prstGeom prst="rect">
            <a:avLst/>
          </a:prstGeom>
          <a:noFill/>
        </p:spPr>
        <p:txBody>
          <a:bodyPr wrap="square" anchor="ctr">
            <a:spAutoFit/>
          </a:bodyPr>
          <a:lstStyle/>
          <a:p>
            <a:pPr algn="ctr"/>
            <a:r>
              <a:rPr sz="950" b="0" i="0">
                <a:solidFill>
                  <a:srgbClr val="334155"/>
                </a:solidFill>
                <a:latin typeface="Calibri"/>
              </a:rPr>
              <a:t>Carga y descarga</a:t>
            </a:r>
          </a:p>
        </p:txBody>
      </p:sp>
      <p:sp>
        <p:nvSpPr>
          <p:cNvPr id="77" name="Rectangle 76"/>
          <p:cNvSpPr/>
          <p:nvPr/>
        </p:nvSpPr>
        <p:spPr>
          <a:xfrm>
            <a:off x="2697480" y="3895344"/>
            <a:ext cx="1892807" cy="301752"/>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2697480" y="3895344"/>
            <a:ext cx="1892807" cy="301752"/>
          </a:xfrm>
          <a:prstGeom prst="rect">
            <a:avLst/>
          </a:prstGeom>
          <a:noFill/>
        </p:spPr>
        <p:txBody>
          <a:bodyPr wrap="square" anchor="ctr">
            <a:spAutoFit/>
          </a:bodyPr>
          <a:lstStyle/>
          <a:p>
            <a:pPr algn="ctr"/>
            <a:r>
              <a:rPr sz="950" b="0" i="0">
                <a:solidFill>
                  <a:srgbClr val="334155"/>
                </a:solidFill>
                <a:latin typeface="Calibri"/>
              </a:rPr>
              <a:t>Trazabilidad</a:t>
            </a:r>
          </a:p>
        </p:txBody>
      </p:sp>
      <p:sp>
        <p:nvSpPr>
          <p:cNvPr id="79" name="Rectangle 78"/>
          <p:cNvSpPr/>
          <p:nvPr/>
        </p:nvSpPr>
        <p:spPr>
          <a:xfrm>
            <a:off x="5779008" y="2231136"/>
            <a:ext cx="27432" cy="320040"/>
          </a:xfrm>
          <a:prstGeom prst="rect">
            <a:avLst/>
          </a:prstGeom>
          <a:solidFill>
            <a:srgbClr val="CBD5E1"/>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ectangle 79"/>
          <p:cNvSpPr/>
          <p:nvPr/>
        </p:nvSpPr>
        <p:spPr>
          <a:xfrm>
            <a:off x="4846320" y="2542032"/>
            <a:ext cx="1892807" cy="603504"/>
          </a:xfrm>
          <a:prstGeom prst="rect">
            <a:avLst/>
          </a:prstGeom>
          <a:solidFill>
            <a:srgbClr val="1A7A8A"/>
          </a:solidFill>
          <a:ln w="12700">
            <a:solidFill>
              <a:srgbClr val="1A7A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Box 80"/>
          <p:cNvSpPr txBox="1"/>
          <p:nvPr/>
        </p:nvSpPr>
        <p:spPr>
          <a:xfrm>
            <a:off x="4846320" y="2542032"/>
            <a:ext cx="1892807" cy="603504"/>
          </a:xfrm>
          <a:prstGeom prst="rect">
            <a:avLst/>
          </a:prstGeom>
          <a:noFill/>
        </p:spPr>
        <p:txBody>
          <a:bodyPr wrap="square" anchor="ctr">
            <a:spAutoFit/>
          </a:bodyPr>
          <a:lstStyle/>
          <a:p>
            <a:pPr algn="ctr"/>
            <a:r>
              <a:rPr sz="1050" b="1" i="0">
                <a:solidFill>
                  <a:srgbClr val="FFFFFF"/>
                </a:solidFill>
                <a:latin typeface="Calibri"/>
              </a:rPr>
              <a:t>Operador de pasteuri-</a:t>
            </a:r>
          </a:p>
          <a:p>
            <a:pPr algn="ctr"/>
            <a:r>
              <a:rPr sz="1050" b="1" i="0">
                <a:solidFill>
                  <a:srgbClr val="FFFFFF"/>
                </a:solidFill>
                <a:latin typeface="Calibri"/>
              </a:rPr>
              <a:t>zación y empaque</a:t>
            </a:r>
          </a:p>
        </p:txBody>
      </p:sp>
      <p:sp>
        <p:nvSpPr>
          <p:cNvPr id="82" name="Rectangle 81"/>
          <p:cNvSpPr/>
          <p:nvPr/>
        </p:nvSpPr>
        <p:spPr>
          <a:xfrm>
            <a:off x="4846320" y="3200400"/>
            <a:ext cx="1892807" cy="301752"/>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4846320" y="3200400"/>
            <a:ext cx="1892807" cy="301752"/>
          </a:xfrm>
          <a:prstGeom prst="rect">
            <a:avLst/>
          </a:prstGeom>
          <a:noFill/>
        </p:spPr>
        <p:txBody>
          <a:bodyPr wrap="square" anchor="ctr">
            <a:spAutoFit/>
          </a:bodyPr>
          <a:lstStyle/>
          <a:p>
            <a:pPr algn="ctr"/>
            <a:r>
              <a:rPr sz="950" b="0" i="0">
                <a:solidFill>
                  <a:srgbClr val="334155"/>
                </a:solidFill>
                <a:latin typeface="Calibri"/>
              </a:rPr>
              <a:t>Pasteurización HTST</a:t>
            </a:r>
          </a:p>
        </p:txBody>
      </p:sp>
      <p:sp>
        <p:nvSpPr>
          <p:cNvPr id="84" name="Rectangle 83"/>
          <p:cNvSpPr/>
          <p:nvPr/>
        </p:nvSpPr>
        <p:spPr>
          <a:xfrm>
            <a:off x="4846320" y="3547872"/>
            <a:ext cx="1892807" cy="301752"/>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Box 84"/>
          <p:cNvSpPr txBox="1"/>
          <p:nvPr/>
        </p:nvSpPr>
        <p:spPr>
          <a:xfrm>
            <a:off x="4846320" y="3547872"/>
            <a:ext cx="1892807" cy="301752"/>
          </a:xfrm>
          <a:prstGeom prst="rect">
            <a:avLst/>
          </a:prstGeom>
          <a:noFill/>
        </p:spPr>
        <p:txBody>
          <a:bodyPr wrap="square" anchor="ctr">
            <a:spAutoFit/>
          </a:bodyPr>
          <a:lstStyle/>
          <a:p>
            <a:pPr algn="ctr"/>
            <a:r>
              <a:rPr sz="950" b="0" i="0">
                <a:solidFill>
                  <a:srgbClr val="334155"/>
                </a:solidFill>
                <a:latin typeface="Calibri"/>
              </a:rPr>
              <a:t>Envasado</a:t>
            </a:r>
          </a:p>
        </p:txBody>
      </p:sp>
      <p:sp>
        <p:nvSpPr>
          <p:cNvPr id="86" name="Rectangle 85"/>
          <p:cNvSpPr/>
          <p:nvPr/>
        </p:nvSpPr>
        <p:spPr>
          <a:xfrm>
            <a:off x="4846320" y="3895344"/>
            <a:ext cx="1892807" cy="301752"/>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Box 86"/>
          <p:cNvSpPr txBox="1"/>
          <p:nvPr/>
        </p:nvSpPr>
        <p:spPr>
          <a:xfrm>
            <a:off x="4846320" y="3895344"/>
            <a:ext cx="1892807" cy="301752"/>
          </a:xfrm>
          <a:prstGeom prst="rect">
            <a:avLst/>
          </a:prstGeom>
          <a:noFill/>
        </p:spPr>
        <p:txBody>
          <a:bodyPr wrap="square" anchor="ctr">
            <a:spAutoFit/>
          </a:bodyPr>
          <a:lstStyle/>
          <a:p>
            <a:pPr algn="ctr"/>
            <a:r>
              <a:rPr sz="950" b="0" i="0">
                <a:solidFill>
                  <a:srgbClr val="334155"/>
                </a:solidFill>
                <a:latin typeface="Calibri"/>
              </a:rPr>
              <a:t>Control de parámetros</a:t>
            </a:r>
          </a:p>
        </p:txBody>
      </p:sp>
      <p:sp>
        <p:nvSpPr>
          <p:cNvPr id="88" name="Rectangle 87"/>
          <p:cNvSpPr/>
          <p:nvPr/>
        </p:nvSpPr>
        <p:spPr>
          <a:xfrm>
            <a:off x="7927848" y="2231136"/>
            <a:ext cx="27432" cy="320040"/>
          </a:xfrm>
          <a:prstGeom prst="rect">
            <a:avLst/>
          </a:prstGeom>
          <a:solidFill>
            <a:srgbClr val="CBD5E1"/>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ectangle 88"/>
          <p:cNvSpPr/>
          <p:nvPr/>
        </p:nvSpPr>
        <p:spPr>
          <a:xfrm>
            <a:off x="6995160" y="2542032"/>
            <a:ext cx="1892807" cy="603504"/>
          </a:xfrm>
          <a:prstGeom prst="rect">
            <a:avLst/>
          </a:prstGeom>
          <a:solidFill>
            <a:srgbClr val="1B3A5C"/>
          </a:solidFill>
          <a:ln w="12700">
            <a:solidFill>
              <a:srgbClr val="1B3A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TextBox 89"/>
          <p:cNvSpPr txBox="1"/>
          <p:nvPr/>
        </p:nvSpPr>
        <p:spPr>
          <a:xfrm>
            <a:off x="6995160" y="2542032"/>
            <a:ext cx="1892807" cy="603504"/>
          </a:xfrm>
          <a:prstGeom prst="rect">
            <a:avLst/>
          </a:prstGeom>
          <a:noFill/>
        </p:spPr>
        <p:txBody>
          <a:bodyPr wrap="square" anchor="ctr">
            <a:spAutoFit/>
          </a:bodyPr>
          <a:lstStyle/>
          <a:p>
            <a:pPr algn="ctr"/>
            <a:r>
              <a:rPr sz="1050" b="1" i="0">
                <a:solidFill>
                  <a:srgbClr val="FFFFFF"/>
                </a:solidFill>
                <a:latin typeface="Calibri"/>
              </a:rPr>
              <a:t>Operador de mante-</a:t>
            </a:r>
          </a:p>
          <a:p>
            <a:pPr algn="ctr"/>
            <a:r>
              <a:rPr sz="1050" b="1" i="0">
                <a:solidFill>
                  <a:srgbClr val="FFFFFF"/>
                </a:solidFill>
                <a:latin typeface="Calibri"/>
              </a:rPr>
              <a:t>nimiento y aseo</a:t>
            </a:r>
          </a:p>
        </p:txBody>
      </p:sp>
      <p:sp>
        <p:nvSpPr>
          <p:cNvPr id="91" name="Rectangle 90"/>
          <p:cNvSpPr/>
          <p:nvPr/>
        </p:nvSpPr>
        <p:spPr>
          <a:xfrm>
            <a:off x="6995160" y="3200400"/>
            <a:ext cx="1892807" cy="301752"/>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TextBox 91"/>
          <p:cNvSpPr txBox="1"/>
          <p:nvPr/>
        </p:nvSpPr>
        <p:spPr>
          <a:xfrm>
            <a:off x="6995160" y="3200400"/>
            <a:ext cx="1892807" cy="301752"/>
          </a:xfrm>
          <a:prstGeom prst="rect">
            <a:avLst/>
          </a:prstGeom>
          <a:noFill/>
        </p:spPr>
        <p:txBody>
          <a:bodyPr wrap="square" anchor="ctr">
            <a:spAutoFit/>
          </a:bodyPr>
          <a:lstStyle/>
          <a:p>
            <a:pPr algn="ctr"/>
            <a:r>
              <a:rPr sz="950" b="0" i="0">
                <a:solidFill>
                  <a:srgbClr val="334155"/>
                </a:solidFill>
                <a:latin typeface="Calibri"/>
              </a:rPr>
              <a:t>Mantenimiento</a:t>
            </a:r>
          </a:p>
        </p:txBody>
      </p:sp>
      <p:sp>
        <p:nvSpPr>
          <p:cNvPr id="93" name="Rectangle 92"/>
          <p:cNvSpPr/>
          <p:nvPr/>
        </p:nvSpPr>
        <p:spPr>
          <a:xfrm>
            <a:off x="6995160" y="3547872"/>
            <a:ext cx="1892807" cy="301752"/>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TextBox 93"/>
          <p:cNvSpPr txBox="1"/>
          <p:nvPr/>
        </p:nvSpPr>
        <p:spPr>
          <a:xfrm>
            <a:off x="6995160" y="3547872"/>
            <a:ext cx="1892807" cy="301752"/>
          </a:xfrm>
          <a:prstGeom prst="rect">
            <a:avLst/>
          </a:prstGeom>
          <a:noFill/>
        </p:spPr>
        <p:txBody>
          <a:bodyPr wrap="square" anchor="ctr">
            <a:spAutoFit/>
          </a:bodyPr>
          <a:lstStyle/>
          <a:p>
            <a:pPr algn="ctr"/>
            <a:r>
              <a:rPr sz="950" b="0" i="0">
                <a:solidFill>
                  <a:srgbClr val="334155"/>
                </a:solidFill>
                <a:latin typeface="Calibri"/>
              </a:rPr>
              <a:t>Limpieza CIP</a:t>
            </a:r>
          </a:p>
        </p:txBody>
      </p:sp>
      <p:sp>
        <p:nvSpPr>
          <p:cNvPr id="95" name="Rectangle 94"/>
          <p:cNvSpPr/>
          <p:nvPr/>
        </p:nvSpPr>
        <p:spPr>
          <a:xfrm>
            <a:off x="6995160" y="3895344"/>
            <a:ext cx="1892807" cy="301752"/>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TextBox 95"/>
          <p:cNvSpPr txBox="1"/>
          <p:nvPr/>
        </p:nvSpPr>
        <p:spPr>
          <a:xfrm>
            <a:off x="6995160" y="3895344"/>
            <a:ext cx="1892807" cy="301752"/>
          </a:xfrm>
          <a:prstGeom prst="rect">
            <a:avLst/>
          </a:prstGeom>
          <a:noFill/>
        </p:spPr>
        <p:txBody>
          <a:bodyPr wrap="square" anchor="ctr">
            <a:spAutoFit/>
          </a:bodyPr>
          <a:lstStyle/>
          <a:p>
            <a:pPr algn="ctr"/>
            <a:r>
              <a:rPr sz="950" b="0" i="0">
                <a:solidFill>
                  <a:srgbClr val="334155"/>
                </a:solidFill>
                <a:latin typeface="Calibri"/>
              </a:rPr>
              <a:t>Seguridad e higiene</a:t>
            </a:r>
          </a:p>
        </p:txBody>
      </p:sp>
      <p:sp>
        <p:nvSpPr>
          <p:cNvPr id="97" name="Rectangle 96"/>
          <p:cNvSpPr/>
          <p:nvPr/>
        </p:nvSpPr>
        <p:spPr>
          <a:xfrm>
            <a:off x="10076688" y="2231136"/>
            <a:ext cx="27432" cy="320040"/>
          </a:xfrm>
          <a:prstGeom prst="rect">
            <a:avLst/>
          </a:prstGeom>
          <a:solidFill>
            <a:srgbClr val="CBD5E1"/>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ectangle 97"/>
          <p:cNvSpPr/>
          <p:nvPr/>
        </p:nvSpPr>
        <p:spPr>
          <a:xfrm>
            <a:off x="9144000" y="2542032"/>
            <a:ext cx="1892807" cy="603504"/>
          </a:xfrm>
          <a:prstGeom prst="rect">
            <a:avLst/>
          </a:prstGeom>
          <a:solidFill>
            <a:srgbClr val="1A7A8A"/>
          </a:solidFill>
          <a:ln w="12700">
            <a:solidFill>
              <a:srgbClr val="1A7A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TextBox 98"/>
          <p:cNvSpPr txBox="1"/>
          <p:nvPr/>
        </p:nvSpPr>
        <p:spPr>
          <a:xfrm>
            <a:off x="9144000" y="2542032"/>
            <a:ext cx="1892807" cy="603504"/>
          </a:xfrm>
          <a:prstGeom prst="rect">
            <a:avLst/>
          </a:prstGeom>
          <a:noFill/>
        </p:spPr>
        <p:txBody>
          <a:bodyPr wrap="square" anchor="ctr">
            <a:spAutoFit/>
          </a:bodyPr>
          <a:lstStyle/>
          <a:p>
            <a:pPr algn="ctr"/>
            <a:r>
              <a:rPr sz="1050" b="1" i="0">
                <a:solidFill>
                  <a:srgbClr val="FFFFFF"/>
                </a:solidFill>
                <a:latin typeface="Calibri"/>
              </a:rPr>
              <a:t>Entregador</a:t>
            </a:r>
          </a:p>
        </p:txBody>
      </p:sp>
      <p:sp>
        <p:nvSpPr>
          <p:cNvPr id="100" name="Rectangle 99"/>
          <p:cNvSpPr/>
          <p:nvPr/>
        </p:nvSpPr>
        <p:spPr>
          <a:xfrm>
            <a:off x="9144000" y="3200400"/>
            <a:ext cx="1892807" cy="301752"/>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TextBox 100"/>
          <p:cNvSpPr txBox="1"/>
          <p:nvPr/>
        </p:nvSpPr>
        <p:spPr>
          <a:xfrm>
            <a:off x="9144000" y="3200400"/>
            <a:ext cx="1892807" cy="301752"/>
          </a:xfrm>
          <a:prstGeom prst="rect">
            <a:avLst/>
          </a:prstGeom>
          <a:noFill/>
        </p:spPr>
        <p:txBody>
          <a:bodyPr wrap="square" anchor="ctr">
            <a:spAutoFit/>
          </a:bodyPr>
          <a:lstStyle/>
          <a:p>
            <a:pPr algn="ctr"/>
            <a:r>
              <a:rPr sz="950" b="0" i="0">
                <a:solidFill>
                  <a:srgbClr val="334155"/>
                </a:solidFill>
                <a:latin typeface="Calibri"/>
              </a:rPr>
              <a:t>Distribución</a:t>
            </a:r>
          </a:p>
        </p:txBody>
      </p:sp>
      <p:sp>
        <p:nvSpPr>
          <p:cNvPr id="102" name="Rectangle 101"/>
          <p:cNvSpPr/>
          <p:nvPr/>
        </p:nvSpPr>
        <p:spPr>
          <a:xfrm>
            <a:off x="9144000" y="3547872"/>
            <a:ext cx="1892807" cy="301752"/>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TextBox 102"/>
          <p:cNvSpPr txBox="1"/>
          <p:nvPr/>
        </p:nvSpPr>
        <p:spPr>
          <a:xfrm>
            <a:off x="9144000" y="3547872"/>
            <a:ext cx="1892807" cy="301752"/>
          </a:xfrm>
          <a:prstGeom prst="rect">
            <a:avLst/>
          </a:prstGeom>
          <a:noFill/>
        </p:spPr>
        <p:txBody>
          <a:bodyPr wrap="square" anchor="ctr">
            <a:spAutoFit/>
          </a:bodyPr>
          <a:lstStyle/>
          <a:p>
            <a:pPr algn="ctr"/>
            <a:r>
              <a:rPr sz="950" b="0" i="0">
                <a:solidFill>
                  <a:srgbClr val="334155"/>
                </a:solidFill>
                <a:latin typeface="Calibri"/>
              </a:rPr>
              <a:t>Cobranza</a:t>
            </a:r>
          </a:p>
        </p:txBody>
      </p:sp>
      <p:sp>
        <p:nvSpPr>
          <p:cNvPr id="104" name="Rectangle 103"/>
          <p:cNvSpPr/>
          <p:nvPr/>
        </p:nvSpPr>
        <p:spPr>
          <a:xfrm>
            <a:off x="9144000" y="3895344"/>
            <a:ext cx="1892807" cy="301752"/>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TextBox 104"/>
          <p:cNvSpPr txBox="1"/>
          <p:nvPr/>
        </p:nvSpPr>
        <p:spPr>
          <a:xfrm>
            <a:off x="9144000" y="3895344"/>
            <a:ext cx="1892807" cy="301752"/>
          </a:xfrm>
          <a:prstGeom prst="rect">
            <a:avLst/>
          </a:prstGeom>
          <a:noFill/>
        </p:spPr>
        <p:txBody>
          <a:bodyPr wrap="square" anchor="ctr">
            <a:spAutoFit/>
          </a:bodyPr>
          <a:lstStyle/>
          <a:p>
            <a:pPr algn="ctr"/>
            <a:r>
              <a:rPr sz="950" b="0" i="0">
                <a:solidFill>
                  <a:srgbClr val="334155"/>
                </a:solidFill>
                <a:latin typeface="Calibri"/>
              </a:rPr>
              <a:t>Retroalimentación</a:t>
            </a:r>
          </a:p>
        </p:txBody>
      </p:sp>
      <p:sp>
        <p:nvSpPr>
          <p:cNvPr id="106" name="Rectangle 105"/>
          <p:cNvSpPr/>
          <p:nvPr/>
        </p:nvSpPr>
        <p:spPr>
          <a:xfrm>
            <a:off x="502920" y="4434840"/>
            <a:ext cx="11064240" cy="868680"/>
          </a:xfrm>
          <a:prstGeom prst="rect">
            <a:avLst/>
          </a:prstGeom>
          <a:solidFill>
            <a:srgbClr val="E6F4F6"/>
          </a:solidFill>
          <a:ln w="12700">
            <a:solidFill>
              <a:srgbClr val="1A7A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TextBox 106"/>
          <p:cNvSpPr txBox="1"/>
          <p:nvPr/>
        </p:nvSpPr>
        <p:spPr>
          <a:xfrm>
            <a:off x="685800" y="4434840"/>
            <a:ext cx="10698480" cy="868680"/>
          </a:xfrm>
          <a:prstGeom prst="rect">
            <a:avLst/>
          </a:prstGeom>
          <a:noFill/>
        </p:spPr>
        <p:txBody>
          <a:bodyPr wrap="square" anchor="ctr">
            <a:spAutoFit/>
          </a:bodyPr>
          <a:lstStyle/>
          <a:p>
            <a:pPr algn="l"/>
            <a:r>
              <a:rPr sz="1200" b="1" i="0">
                <a:solidFill>
                  <a:srgbClr val="1B3A5C"/>
                </a:solidFill>
                <a:latin typeface="Calibri"/>
              </a:rPr>
              <a:t>6 cargos · Planilla L 92,600/mes</a:t>
            </a:r>
          </a:p>
          <a:p>
            <a:pPr algn="l"/>
            <a:r>
              <a:rPr sz="1200" b="1" i="0">
                <a:solidFill>
                  <a:srgbClr val="1B3A5C"/>
                </a:solidFill>
                <a:latin typeface="Calibri"/>
              </a:rPr>
              <a:t>Crecimiento: </a:t>
            </a:r>
            <a:r>
              <a:rPr sz="1200" b="0" i="0">
                <a:solidFill>
                  <a:srgbClr val="1B3A5C"/>
                </a:solidFill>
                <a:latin typeface="Calibri"/>
              </a:rPr>
              <a:t>ventas, contador, supervisor, calidad y logística.</a:t>
            </a:r>
          </a:p>
        </p:txBody>
      </p:sp>
      <p:sp>
        <p:nvSpPr>
          <p:cNvPr id="108" name="TextBox 107"/>
          <p:cNvSpPr txBox="1"/>
          <p:nvPr/>
        </p:nvSpPr>
        <p:spPr>
          <a:xfrm>
            <a:off x="320040" y="6583680"/>
            <a:ext cx="11521440" cy="201168"/>
          </a:xfrm>
          <a:prstGeom prst="rect">
            <a:avLst/>
          </a:prstGeom>
          <a:noFill/>
        </p:spPr>
        <p:txBody>
          <a:bodyPr wrap="square" anchor="ctr">
            <a:spAutoFit/>
          </a:bodyPr>
          <a:lstStyle/>
          <a:p>
            <a:pPr algn="ctr"/>
            <a:r>
              <a:rPr sz="800" b="0" i="0">
                <a:solidFill>
                  <a:srgbClr val="64748B"/>
                </a:solidFill>
                <a:latin typeface="Calibri"/>
              </a:rPr>
              <a:t>Maestría en Agronegocios · Universidad EAFIT · Zamorano · 2026   |   Caballero · Valladares · Medal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320040" y="201168"/>
            <a:ext cx="1828800" cy="256032"/>
          </a:xfrm>
          <a:prstGeom prst="rect">
            <a:avLst/>
          </a:prstGeom>
          <a:noFill/>
          <a:ln/>
        </p:spPr>
        <p:txBody>
          <a:bodyPr wrap="square" rtlCol="0" anchor="ctr"/>
          <a:lstStyle/>
          <a:p>
            <a:pPr marL="0" indent="0" algn="l">
              <a:buNone/>
            </a:pPr>
            <a:r>
              <a:rPr lang="en-US" sz="900" b="1" kern="0" spc="100" dirty="0">
                <a:solidFill>
                  <a:srgbClr val="1A7A8A"/>
                </a:solidFill>
                <a:latin typeface="Calibri" pitchFamily="34" charset="0"/>
                <a:ea typeface="Calibri" pitchFamily="34" charset="-122"/>
                <a:cs typeface="Calibri" pitchFamily="34" charset="-120"/>
              </a:rPr>
              <a:t>AMBIENTAL</a:t>
            </a:r>
            <a:endParaRPr lang="en-US" sz="900" dirty="0"/>
          </a:p>
        </p:txBody>
      </p:sp>
      <p:sp>
        <p:nvSpPr>
          <p:cNvPr id="3" name="Text 1"/>
          <p:cNvSpPr txBox="1"/>
          <p:nvPr/>
        </p:nvSpPr>
        <p:spPr>
          <a:xfrm>
            <a:off x="320040" y="475488"/>
            <a:ext cx="11521440" cy="502920"/>
          </a:xfrm>
          <a:prstGeom prst="rect">
            <a:avLst/>
          </a:prstGeom>
          <a:noFill/>
          <a:ln/>
        </p:spPr>
        <p:txBody>
          <a:bodyPr wrap="square" rtlCol="0" anchor="ctr"/>
          <a:lstStyle/>
          <a:p>
            <a:pPr marL="0" indent="0">
              <a:buNone/>
            </a:pPr>
            <a:r>
              <a:rPr lang="en-US" sz="2800" b="1" dirty="0">
                <a:solidFill>
                  <a:srgbClr val="0D2341"/>
                </a:solidFill>
                <a:latin typeface="Calibri" pitchFamily="34" charset="0"/>
                <a:ea typeface="Calibri" pitchFamily="34" charset="-122"/>
                <a:cs typeface="Calibri" pitchFamily="34" charset="-120"/>
              </a:rPr>
              <a:t>Estudio Ambiental</a:t>
            </a:r>
            <a:endParaRPr lang="en-US" sz="2800" dirty="0"/>
          </a:p>
        </p:txBody>
      </p:sp>
      <p:sp>
        <p:nvSpPr>
          <p:cNvPr id="4" name="Shape 2"/>
          <p:cNvSpPr/>
          <p:nvPr/>
        </p:nvSpPr>
        <p:spPr>
          <a:xfrm>
            <a:off x="320040" y="1005840"/>
            <a:ext cx="11430000" cy="18288"/>
          </a:xfrm>
          <a:prstGeom prst="rect">
            <a:avLst/>
          </a:prstGeom>
          <a:solidFill>
            <a:srgbClr val="1A7A8A"/>
          </a:solidFill>
          <a:ln w="12700">
            <a:solidFill>
              <a:srgbClr val="1A7A8A"/>
            </a:solidFill>
            <a:prstDash val="solid"/>
          </a:ln>
        </p:spPr>
        <p:txBody>
          <a:bodyPr/>
          <a:lstStyle/>
          <a:p>
            <a:endParaRPr lang="es-CO"/>
          </a:p>
        </p:txBody>
      </p:sp>
      <p:sp>
        <p:nvSpPr>
          <p:cNvPr id="5" name="Shape 3"/>
          <p:cNvSpPr/>
          <p:nvPr/>
        </p:nvSpPr>
        <p:spPr>
          <a:xfrm>
            <a:off x="320040" y="1115568"/>
            <a:ext cx="5349240" cy="1645920"/>
          </a:xfrm>
          <a:prstGeom prst="rect">
            <a:avLst/>
          </a:prstGeom>
          <a:solidFill>
            <a:srgbClr val="E6F4F6"/>
          </a:solidFill>
          <a:ln w="12700">
            <a:solidFill>
              <a:srgbClr val="CBD5E1"/>
            </a:solidFill>
            <a:prstDash val="solid"/>
          </a:ln>
        </p:spPr>
        <p:txBody>
          <a:bodyPr/>
          <a:lstStyle/>
          <a:p>
            <a:endParaRPr lang="es-CO"/>
          </a:p>
        </p:txBody>
      </p:sp>
      <p:sp>
        <p:nvSpPr>
          <p:cNvPr id="6" name="Shape 4"/>
          <p:cNvSpPr/>
          <p:nvPr/>
        </p:nvSpPr>
        <p:spPr>
          <a:xfrm>
            <a:off x="320040" y="1115568"/>
            <a:ext cx="54864" cy="1645920"/>
          </a:xfrm>
          <a:prstGeom prst="rect">
            <a:avLst/>
          </a:prstGeom>
          <a:solidFill>
            <a:srgbClr val="1A7A8A"/>
          </a:solidFill>
          <a:ln w="12700">
            <a:solidFill>
              <a:srgbClr val="1A7A8A"/>
            </a:solidFill>
            <a:prstDash val="solid"/>
          </a:ln>
        </p:spPr>
        <p:txBody>
          <a:bodyPr/>
          <a:lstStyle/>
          <a:p>
            <a:endParaRPr lang="es-CO"/>
          </a:p>
        </p:txBody>
      </p:sp>
      <p:sp>
        <p:nvSpPr>
          <p:cNvPr id="7" name="Text 5"/>
          <p:cNvSpPr txBox="1"/>
          <p:nvPr/>
        </p:nvSpPr>
        <p:spPr>
          <a:xfrm>
            <a:off x="484632" y="1207008"/>
            <a:ext cx="5093208" cy="292608"/>
          </a:xfrm>
          <a:prstGeom prst="rect">
            <a:avLst/>
          </a:prstGeom>
          <a:noFill/>
          <a:ln/>
        </p:spPr>
        <p:txBody>
          <a:bodyPr wrap="square" rtlCol="0" anchor="ctr"/>
          <a:lstStyle/>
          <a:p>
            <a:pPr marL="0" indent="0">
              <a:buNone/>
            </a:pPr>
            <a:r>
              <a:rPr lang="en-US" sz="1300" b="1" dirty="0">
                <a:solidFill>
                  <a:srgbClr val="1A7A8A"/>
                </a:solidFill>
                <a:latin typeface="Calibri" pitchFamily="34" charset="0"/>
                <a:ea typeface="Calibri" pitchFamily="34" charset="-122"/>
                <a:cs typeface="Calibri" pitchFamily="34" charset="-120"/>
              </a:rPr>
              <a:t>Marco Normativo</a:t>
            </a:r>
            <a:endParaRPr lang="en-US" sz="1300" dirty="0"/>
          </a:p>
        </p:txBody>
      </p:sp>
      <p:sp>
        <p:nvSpPr>
          <p:cNvPr id="8" name="Text 6"/>
          <p:cNvSpPr txBox="1"/>
          <p:nvPr/>
        </p:nvSpPr>
        <p:spPr>
          <a:xfrm>
            <a:off x="484632" y="1536192"/>
            <a:ext cx="5093208" cy="1133856"/>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Ley General del Ambiente, Reglamento de Salud Ambiental y requisitos SENASA; EIA previa a operar.</a:t>
            </a:r>
            <a:endParaRPr lang="en-US" sz="1100" dirty="0"/>
          </a:p>
        </p:txBody>
      </p:sp>
      <p:sp>
        <p:nvSpPr>
          <p:cNvPr id="9" name="Shape 7"/>
          <p:cNvSpPr/>
          <p:nvPr/>
        </p:nvSpPr>
        <p:spPr>
          <a:xfrm>
            <a:off x="6355080" y="1115568"/>
            <a:ext cx="5349240" cy="1645920"/>
          </a:xfrm>
          <a:prstGeom prst="rect">
            <a:avLst/>
          </a:prstGeom>
          <a:solidFill>
            <a:srgbClr val="F1F5F9"/>
          </a:solidFill>
          <a:ln w="12700">
            <a:solidFill>
              <a:srgbClr val="CBD5E1"/>
            </a:solidFill>
            <a:prstDash val="solid"/>
          </a:ln>
        </p:spPr>
        <p:txBody>
          <a:bodyPr/>
          <a:lstStyle/>
          <a:p>
            <a:endParaRPr lang="es-CO"/>
          </a:p>
        </p:txBody>
      </p:sp>
      <p:sp>
        <p:nvSpPr>
          <p:cNvPr id="10" name="Shape 8"/>
          <p:cNvSpPr/>
          <p:nvPr/>
        </p:nvSpPr>
        <p:spPr>
          <a:xfrm>
            <a:off x="6355080" y="1115568"/>
            <a:ext cx="54864" cy="1645920"/>
          </a:xfrm>
          <a:prstGeom prst="rect">
            <a:avLst/>
          </a:prstGeom>
          <a:solidFill>
            <a:srgbClr val="1B3A5C"/>
          </a:solidFill>
          <a:ln w="12700">
            <a:solidFill>
              <a:srgbClr val="1B3A5C"/>
            </a:solidFill>
            <a:prstDash val="solid"/>
          </a:ln>
        </p:spPr>
        <p:txBody>
          <a:bodyPr/>
          <a:lstStyle/>
          <a:p>
            <a:endParaRPr lang="es-CO"/>
          </a:p>
        </p:txBody>
      </p:sp>
      <p:sp>
        <p:nvSpPr>
          <p:cNvPr id="11" name="Text 9"/>
          <p:cNvSpPr txBox="1"/>
          <p:nvPr/>
        </p:nvSpPr>
        <p:spPr>
          <a:xfrm>
            <a:off x="6519672" y="1207008"/>
            <a:ext cx="5093208" cy="292608"/>
          </a:xfrm>
          <a:prstGeom prst="rect">
            <a:avLst/>
          </a:prstGeom>
          <a:noFill/>
          <a:ln/>
        </p:spPr>
        <p:txBody>
          <a:bodyPr wrap="square" rtlCol="0" anchor="ctr"/>
          <a:lstStyle/>
          <a:p>
            <a:pPr marL="0" indent="0">
              <a:buNone/>
            </a:pPr>
            <a:r>
              <a:rPr lang="en-US" sz="1300" b="1" dirty="0">
                <a:solidFill>
                  <a:srgbClr val="1B3A5C"/>
                </a:solidFill>
                <a:latin typeface="Calibri" pitchFamily="34" charset="0"/>
                <a:ea typeface="Calibri" pitchFamily="34" charset="-122"/>
                <a:cs typeface="Calibri" pitchFamily="34" charset="-120"/>
              </a:rPr>
              <a:t>Gestión de Efluentes</a:t>
            </a:r>
            <a:endParaRPr lang="en-US" sz="1300" dirty="0"/>
          </a:p>
        </p:txBody>
      </p:sp>
      <p:sp>
        <p:nvSpPr>
          <p:cNvPr id="12" name="Text 10"/>
          <p:cNvSpPr txBox="1"/>
          <p:nvPr/>
        </p:nvSpPr>
        <p:spPr>
          <a:xfrm>
            <a:off x="6519672" y="1536192"/>
            <a:ext cx="5093208" cy="1133856"/>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Alta carga orgánica: trampa de grasas y tratamiento biológico; límites de DBO y DQO de MiAmbiente.</a:t>
            </a:r>
            <a:endParaRPr lang="en-US" sz="1100" dirty="0"/>
          </a:p>
        </p:txBody>
      </p:sp>
      <p:sp>
        <p:nvSpPr>
          <p:cNvPr id="13" name="Shape 11"/>
          <p:cNvSpPr/>
          <p:nvPr/>
        </p:nvSpPr>
        <p:spPr>
          <a:xfrm>
            <a:off x="320040" y="2889504"/>
            <a:ext cx="5349240" cy="1645920"/>
          </a:xfrm>
          <a:prstGeom prst="rect">
            <a:avLst/>
          </a:prstGeom>
          <a:solidFill>
            <a:srgbClr val="E6F4F6"/>
          </a:solidFill>
          <a:ln w="12700">
            <a:solidFill>
              <a:srgbClr val="CBD5E1"/>
            </a:solidFill>
            <a:prstDash val="solid"/>
          </a:ln>
        </p:spPr>
        <p:txBody>
          <a:bodyPr/>
          <a:lstStyle/>
          <a:p>
            <a:endParaRPr lang="es-CO"/>
          </a:p>
        </p:txBody>
      </p:sp>
      <p:sp>
        <p:nvSpPr>
          <p:cNvPr id="14" name="Shape 12"/>
          <p:cNvSpPr/>
          <p:nvPr/>
        </p:nvSpPr>
        <p:spPr>
          <a:xfrm>
            <a:off x="320040" y="2889504"/>
            <a:ext cx="54864" cy="1645920"/>
          </a:xfrm>
          <a:prstGeom prst="rect">
            <a:avLst/>
          </a:prstGeom>
          <a:solidFill>
            <a:srgbClr val="1A7A8A"/>
          </a:solidFill>
          <a:ln w="12700">
            <a:solidFill>
              <a:srgbClr val="1A7A8A"/>
            </a:solidFill>
            <a:prstDash val="solid"/>
          </a:ln>
        </p:spPr>
        <p:txBody>
          <a:bodyPr/>
          <a:lstStyle/>
          <a:p>
            <a:endParaRPr lang="es-CO"/>
          </a:p>
        </p:txBody>
      </p:sp>
      <p:sp>
        <p:nvSpPr>
          <p:cNvPr id="15" name="Text 13"/>
          <p:cNvSpPr txBox="1"/>
          <p:nvPr/>
        </p:nvSpPr>
        <p:spPr>
          <a:xfrm>
            <a:off x="484632" y="2980944"/>
            <a:ext cx="5093208" cy="292608"/>
          </a:xfrm>
          <a:prstGeom prst="rect">
            <a:avLst/>
          </a:prstGeom>
          <a:noFill/>
          <a:ln/>
        </p:spPr>
        <p:txBody>
          <a:bodyPr wrap="square" rtlCol="0" anchor="ctr"/>
          <a:lstStyle/>
          <a:p>
            <a:pPr marL="0" indent="0">
              <a:buNone/>
            </a:pPr>
            <a:r>
              <a:rPr lang="en-US" sz="1300" b="1" dirty="0">
                <a:solidFill>
                  <a:srgbClr val="1A7A8A"/>
                </a:solidFill>
                <a:latin typeface="Calibri" pitchFamily="34" charset="0"/>
                <a:ea typeface="Calibri" pitchFamily="34" charset="-122"/>
                <a:cs typeface="Calibri" pitchFamily="34" charset="-120"/>
              </a:rPr>
              <a:t>Residuos Sólidos</a:t>
            </a:r>
            <a:endParaRPr lang="en-US" sz="1300" dirty="0"/>
          </a:p>
        </p:txBody>
      </p:sp>
      <p:sp>
        <p:nvSpPr>
          <p:cNvPr id="16" name="Text 14"/>
          <p:cNvSpPr txBox="1"/>
          <p:nvPr/>
        </p:nvSpPr>
        <p:spPr>
          <a:xfrm>
            <a:off x="484632" y="3310128"/>
            <a:ext cx="5093208" cy="1133856"/>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Envases, plásticos y orgánicos: segregación, reciclaje y gestor autorizado.</a:t>
            </a:r>
            <a:endParaRPr lang="en-US" sz="1100" dirty="0"/>
          </a:p>
        </p:txBody>
      </p:sp>
      <p:sp>
        <p:nvSpPr>
          <p:cNvPr id="17" name="Shape 15"/>
          <p:cNvSpPr/>
          <p:nvPr/>
        </p:nvSpPr>
        <p:spPr>
          <a:xfrm>
            <a:off x="6355080" y="2889504"/>
            <a:ext cx="5349240" cy="1645920"/>
          </a:xfrm>
          <a:prstGeom prst="rect">
            <a:avLst/>
          </a:prstGeom>
          <a:solidFill>
            <a:srgbClr val="F1F5F9"/>
          </a:solidFill>
          <a:ln w="12700">
            <a:solidFill>
              <a:srgbClr val="CBD5E1"/>
            </a:solidFill>
            <a:prstDash val="solid"/>
          </a:ln>
        </p:spPr>
        <p:txBody>
          <a:bodyPr/>
          <a:lstStyle/>
          <a:p>
            <a:endParaRPr lang="es-CO"/>
          </a:p>
        </p:txBody>
      </p:sp>
      <p:sp>
        <p:nvSpPr>
          <p:cNvPr id="18" name="Shape 16"/>
          <p:cNvSpPr/>
          <p:nvPr/>
        </p:nvSpPr>
        <p:spPr>
          <a:xfrm>
            <a:off x="6355080" y="2889504"/>
            <a:ext cx="54864" cy="1645920"/>
          </a:xfrm>
          <a:prstGeom prst="rect">
            <a:avLst/>
          </a:prstGeom>
          <a:solidFill>
            <a:srgbClr val="1B3A5C"/>
          </a:solidFill>
          <a:ln w="12700">
            <a:solidFill>
              <a:srgbClr val="1B3A5C"/>
            </a:solidFill>
            <a:prstDash val="solid"/>
          </a:ln>
        </p:spPr>
        <p:txBody>
          <a:bodyPr/>
          <a:lstStyle/>
          <a:p>
            <a:endParaRPr lang="es-CO"/>
          </a:p>
        </p:txBody>
      </p:sp>
      <p:sp>
        <p:nvSpPr>
          <p:cNvPr id="19" name="Text 17"/>
          <p:cNvSpPr txBox="1"/>
          <p:nvPr/>
        </p:nvSpPr>
        <p:spPr>
          <a:xfrm>
            <a:off x="6519672" y="2980944"/>
            <a:ext cx="5093208" cy="292608"/>
          </a:xfrm>
          <a:prstGeom prst="rect">
            <a:avLst/>
          </a:prstGeom>
          <a:noFill/>
          <a:ln/>
        </p:spPr>
        <p:txBody>
          <a:bodyPr wrap="square" rtlCol="0" anchor="ctr"/>
          <a:lstStyle/>
          <a:p>
            <a:pPr marL="0" indent="0">
              <a:buNone/>
            </a:pPr>
            <a:r>
              <a:rPr lang="en-US" sz="1300" b="1" dirty="0">
                <a:solidFill>
                  <a:srgbClr val="1B3A5C"/>
                </a:solidFill>
                <a:latin typeface="Calibri" pitchFamily="34" charset="0"/>
                <a:ea typeface="Calibri" pitchFamily="34" charset="-122"/>
                <a:cs typeface="Calibri" pitchFamily="34" charset="-120"/>
              </a:rPr>
              <a:t>Cadena de Frío</a:t>
            </a:r>
            <a:endParaRPr lang="en-US" sz="1300" dirty="0"/>
          </a:p>
        </p:txBody>
      </p:sp>
      <p:sp>
        <p:nvSpPr>
          <p:cNvPr id="20" name="Text 18"/>
          <p:cNvSpPr txBox="1"/>
          <p:nvPr/>
        </p:nvSpPr>
        <p:spPr>
          <a:xfrm>
            <a:off x="6519672" y="3310128"/>
            <a:ext cx="5093208" cy="1133856"/>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Refrigeración continua: equipos eficientes, mantenimiento preventivo y respaldo eléctrico.</a:t>
            </a:r>
            <a:endParaRPr lang="en-US" sz="1100" dirty="0"/>
          </a:p>
        </p:txBody>
      </p:sp>
      <p:sp>
        <p:nvSpPr>
          <p:cNvPr id="21" name="Shape 19"/>
          <p:cNvSpPr/>
          <p:nvPr/>
        </p:nvSpPr>
        <p:spPr>
          <a:xfrm>
            <a:off x="320040" y="4663440"/>
            <a:ext cx="5349240" cy="1645920"/>
          </a:xfrm>
          <a:prstGeom prst="rect">
            <a:avLst/>
          </a:prstGeom>
          <a:solidFill>
            <a:srgbClr val="E6F4F6"/>
          </a:solidFill>
          <a:ln w="12700">
            <a:solidFill>
              <a:srgbClr val="CBD5E1"/>
            </a:solidFill>
            <a:prstDash val="solid"/>
          </a:ln>
        </p:spPr>
        <p:txBody>
          <a:bodyPr/>
          <a:lstStyle/>
          <a:p>
            <a:endParaRPr lang="es-CO"/>
          </a:p>
        </p:txBody>
      </p:sp>
      <p:sp>
        <p:nvSpPr>
          <p:cNvPr id="22" name="Shape 20"/>
          <p:cNvSpPr/>
          <p:nvPr/>
        </p:nvSpPr>
        <p:spPr>
          <a:xfrm>
            <a:off x="320040" y="4663440"/>
            <a:ext cx="54864" cy="1645920"/>
          </a:xfrm>
          <a:prstGeom prst="rect">
            <a:avLst/>
          </a:prstGeom>
          <a:solidFill>
            <a:srgbClr val="1A7A8A"/>
          </a:solidFill>
          <a:ln w="12700">
            <a:solidFill>
              <a:srgbClr val="1A7A8A"/>
            </a:solidFill>
            <a:prstDash val="solid"/>
          </a:ln>
        </p:spPr>
        <p:txBody>
          <a:bodyPr/>
          <a:lstStyle/>
          <a:p>
            <a:endParaRPr lang="es-CO"/>
          </a:p>
        </p:txBody>
      </p:sp>
      <p:sp>
        <p:nvSpPr>
          <p:cNvPr id="23" name="Text 21"/>
          <p:cNvSpPr txBox="1"/>
          <p:nvPr/>
        </p:nvSpPr>
        <p:spPr>
          <a:xfrm>
            <a:off x="484632" y="4754880"/>
            <a:ext cx="5093208" cy="292608"/>
          </a:xfrm>
          <a:prstGeom prst="rect">
            <a:avLst/>
          </a:prstGeom>
          <a:noFill/>
          <a:ln/>
        </p:spPr>
        <p:txBody>
          <a:bodyPr wrap="square" rtlCol="0" anchor="ctr"/>
          <a:lstStyle/>
          <a:p>
            <a:pPr marL="0" indent="0">
              <a:buNone/>
            </a:pPr>
            <a:r>
              <a:rPr lang="en-US" sz="1300" b="1" dirty="0">
                <a:solidFill>
                  <a:srgbClr val="1A7A8A"/>
                </a:solidFill>
                <a:latin typeface="Calibri" pitchFamily="34" charset="0"/>
                <a:ea typeface="Calibri" pitchFamily="34" charset="-122"/>
                <a:cs typeface="Calibri" pitchFamily="34" charset="-120"/>
              </a:rPr>
              <a:t>Medidas de Mitigación</a:t>
            </a:r>
            <a:endParaRPr lang="en-US" sz="1300" dirty="0"/>
          </a:p>
        </p:txBody>
      </p:sp>
      <p:sp>
        <p:nvSpPr>
          <p:cNvPr id="24" name="Text 22"/>
          <p:cNvSpPr txBox="1"/>
          <p:nvPr/>
        </p:nvSpPr>
        <p:spPr>
          <a:xfrm>
            <a:off x="484632" y="5084064"/>
            <a:ext cx="5093208" cy="1133856"/>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BPM y POES desde el inicio, plan ante derrames y capacitación continua.</a:t>
            </a:r>
            <a:endParaRPr lang="en-US" sz="1100" dirty="0"/>
          </a:p>
        </p:txBody>
      </p:sp>
      <p:sp>
        <p:nvSpPr>
          <p:cNvPr id="25" name="Shape 23"/>
          <p:cNvSpPr/>
          <p:nvPr/>
        </p:nvSpPr>
        <p:spPr>
          <a:xfrm>
            <a:off x="6355080" y="4663440"/>
            <a:ext cx="5349240" cy="1645920"/>
          </a:xfrm>
          <a:prstGeom prst="rect">
            <a:avLst/>
          </a:prstGeom>
          <a:solidFill>
            <a:srgbClr val="F1F5F9"/>
          </a:solidFill>
          <a:ln w="12700">
            <a:solidFill>
              <a:srgbClr val="CBD5E1"/>
            </a:solidFill>
            <a:prstDash val="solid"/>
          </a:ln>
        </p:spPr>
        <p:txBody>
          <a:bodyPr/>
          <a:lstStyle/>
          <a:p>
            <a:endParaRPr lang="es-CO"/>
          </a:p>
        </p:txBody>
      </p:sp>
      <p:sp>
        <p:nvSpPr>
          <p:cNvPr id="26" name="Shape 24"/>
          <p:cNvSpPr/>
          <p:nvPr/>
        </p:nvSpPr>
        <p:spPr>
          <a:xfrm>
            <a:off x="6355080" y="4663440"/>
            <a:ext cx="54864" cy="1645920"/>
          </a:xfrm>
          <a:prstGeom prst="rect">
            <a:avLst/>
          </a:prstGeom>
          <a:solidFill>
            <a:srgbClr val="1B3A5C"/>
          </a:solidFill>
          <a:ln w="12700">
            <a:solidFill>
              <a:srgbClr val="1B3A5C"/>
            </a:solidFill>
            <a:prstDash val="solid"/>
          </a:ln>
        </p:spPr>
        <p:txBody>
          <a:bodyPr/>
          <a:lstStyle/>
          <a:p>
            <a:endParaRPr lang="es-CO"/>
          </a:p>
        </p:txBody>
      </p:sp>
      <p:sp>
        <p:nvSpPr>
          <p:cNvPr id="27" name="Text 25"/>
          <p:cNvSpPr txBox="1"/>
          <p:nvPr/>
        </p:nvSpPr>
        <p:spPr>
          <a:xfrm>
            <a:off x="6519672" y="4754880"/>
            <a:ext cx="5093208" cy="292608"/>
          </a:xfrm>
          <a:prstGeom prst="rect">
            <a:avLst/>
          </a:prstGeom>
          <a:noFill/>
          <a:ln/>
        </p:spPr>
        <p:txBody>
          <a:bodyPr wrap="square" rtlCol="0" anchor="ctr"/>
          <a:lstStyle/>
          <a:p>
            <a:pPr marL="0" indent="0">
              <a:buNone/>
            </a:pPr>
            <a:r>
              <a:rPr lang="en-US" sz="1300" b="1" dirty="0">
                <a:solidFill>
                  <a:srgbClr val="1B3A5C"/>
                </a:solidFill>
                <a:latin typeface="Calibri" pitchFamily="34" charset="0"/>
                <a:ea typeface="Calibri" pitchFamily="34" charset="-122"/>
                <a:cs typeface="Calibri" pitchFamily="34" charset="-120"/>
              </a:rPr>
              <a:t>Plan de Monitoreo</a:t>
            </a:r>
            <a:endParaRPr lang="en-US" sz="1300" dirty="0"/>
          </a:p>
        </p:txBody>
      </p:sp>
      <p:sp>
        <p:nvSpPr>
          <p:cNvPr id="28" name="Text 26"/>
          <p:cNvSpPr txBox="1"/>
          <p:nvPr/>
        </p:nvSpPr>
        <p:spPr>
          <a:xfrm>
            <a:off x="6519672" y="5084064"/>
            <a:ext cx="5093208" cy="1133856"/>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DBO, DQO y pH mensuales; agua y energía por litro; auditoría trimestral.</a:t>
            </a:r>
            <a:endParaRPr lang="en-US" sz="1100" dirty="0"/>
          </a:p>
        </p:txBody>
      </p:sp>
      <p:sp>
        <p:nvSpPr>
          <p:cNvPr id="29" name="Text 27"/>
          <p:cNvSpPr txBox="1"/>
          <p:nvPr/>
        </p:nvSpPr>
        <p:spPr>
          <a:xfrm>
            <a:off x="320040" y="6583680"/>
            <a:ext cx="11521440" cy="201168"/>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Maestría en Agronegocios · Universidad EAFIT · Zamorano · 2026   |   Caballero · Valladares · Medal</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320040" y="201168"/>
            <a:ext cx="1828800" cy="256032"/>
          </a:xfrm>
          <a:prstGeom prst="rect">
            <a:avLst/>
          </a:prstGeom>
          <a:noFill/>
          <a:ln/>
        </p:spPr>
        <p:txBody>
          <a:bodyPr wrap="square" rtlCol="0" anchor="ctr"/>
          <a:lstStyle/>
          <a:p>
            <a:pPr marL="0" indent="0" algn="l">
              <a:buNone/>
            </a:pPr>
            <a:r>
              <a:rPr lang="en-US" sz="900" b="1" kern="0" spc="100" dirty="0">
                <a:solidFill>
                  <a:srgbClr val="1A7A8A"/>
                </a:solidFill>
                <a:latin typeface="Calibri" pitchFamily="34" charset="0"/>
                <a:ea typeface="Calibri" pitchFamily="34" charset="-122"/>
                <a:cs typeface="Calibri" pitchFamily="34" charset="-120"/>
              </a:rPr>
              <a:t>FINANCIERO</a:t>
            </a:r>
            <a:endParaRPr lang="en-US" sz="900" dirty="0"/>
          </a:p>
        </p:txBody>
      </p:sp>
      <p:sp>
        <p:nvSpPr>
          <p:cNvPr id="3" name="Text 1"/>
          <p:cNvSpPr txBox="1"/>
          <p:nvPr/>
        </p:nvSpPr>
        <p:spPr>
          <a:xfrm>
            <a:off x="320040" y="475488"/>
            <a:ext cx="11521440" cy="502920"/>
          </a:xfrm>
          <a:prstGeom prst="rect">
            <a:avLst/>
          </a:prstGeom>
          <a:noFill/>
          <a:ln/>
        </p:spPr>
        <p:txBody>
          <a:bodyPr wrap="square" rtlCol="0" anchor="ctr"/>
          <a:lstStyle/>
          <a:p>
            <a:pPr marL="0" indent="0">
              <a:buNone/>
            </a:pPr>
            <a:r>
              <a:rPr lang="en-US" sz="2600" b="1" dirty="0">
                <a:solidFill>
                  <a:srgbClr val="0D2341"/>
                </a:solidFill>
                <a:latin typeface="Calibri" pitchFamily="34" charset="0"/>
                <a:ea typeface="Calibri" pitchFamily="34" charset="-122"/>
                <a:cs typeface="Calibri" pitchFamily="34" charset="-120"/>
              </a:rPr>
              <a:t>Estudio Financiero · Plan de Inversión y Supuestos</a:t>
            </a:r>
            <a:endParaRPr lang="en-US" sz="2600" dirty="0"/>
          </a:p>
        </p:txBody>
      </p:sp>
      <p:sp>
        <p:nvSpPr>
          <p:cNvPr id="4" name="Shape 2"/>
          <p:cNvSpPr/>
          <p:nvPr/>
        </p:nvSpPr>
        <p:spPr>
          <a:xfrm>
            <a:off x="320040" y="1005840"/>
            <a:ext cx="11430000" cy="18288"/>
          </a:xfrm>
          <a:prstGeom prst="rect">
            <a:avLst/>
          </a:prstGeom>
          <a:solidFill>
            <a:srgbClr val="1A7A8A"/>
          </a:solidFill>
          <a:ln w="12700">
            <a:solidFill>
              <a:srgbClr val="1A7A8A"/>
            </a:solidFill>
            <a:prstDash val="solid"/>
          </a:ln>
        </p:spPr>
        <p:txBody>
          <a:bodyPr/>
          <a:lstStyle/>
          <a:p>
            <a:endParaRPr lang="es-CO"/>
          </a:p>
        </p:txBody>
      </p:sp>
      <p:sp>
        <p:nvSpPr>
          <p:cNvPr id="64" name="Text 62"/>
          <p:cNvSpPr txBox="1"/>
          <p:nvPr/>
        </p:nvSpPr>
        <p:spPr>
          <a:xfrm>
            <a:off x="320040" y="6583680"/>
            <a:ext cx="11521440" cy="201168"/>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Maestría en Agronegocios · Universidad EAFIT · Zamorano · 2026   |   Caballero · Valladares · Medal</a:t>
            </a:r>
            <a:endParaRPr lang="en-US" sz="800" dirty="0"/>
          </a:p>
        </p:txBody>
      </p:sp>
      <p:sp>
        <p:nvSpPr>
          <p:cNvPr id="65" name="TextBox 64"/>
          <p:cNvSpPr txBox="1"/>
          <p:nvPr/>
        </p:nvSpPr>
        <p:spPr>
          <a:xfrm>
            <a:off x="320040" y="1097280"/>
            <a:ext cx="5577840" cy="310896"/>
          </a:xfrm>
          <a:prstGeom prst="rect">
            <a:avLst/>
          </a:prstGeom>
          <a:noFill/>
        </p:spPr>
        <p:txBody>
          <a:bodyPr wrap="square" anchor="ctr">
            <a:spAutoFit/>
          </a:bodyPr>
          <a:lstStyle/>
          <a:p>
            <a:pPr algn="l"/>
            <a:r>
              <a:rPr sz="1300" b="1" i="0">
                <a:solidFill>
                  <a:srgbClr val="1B3A5C"/>
                </a:solidFill>
                <a:latin typeface="Calibri"/>
              </a:rPr>
              <a:t>Desglose de la inversión inicial (Tabla 16)</a:t>
            </a:r>
          </a:p>
        </p:txBody>
      </p:sp>
      <p:sp>
        <p:nvSpPr>
          <p:cNvPr id="66" name="Rectangle 65"/>
          <p:cNvSpPr/>
          <p:nvPr/>
        </p:nvSpPr>
        <p:spPr>
          <a:xfrm>
            <a:off x="320040" y="1444752"/>
            <a:ext cx="3383280" cy="310896"/>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338328" y="1444752"/>
            <a:ext cx="3346704" cy="310896"/>
          </a:xfrm>
          <a:prstGeom prst="rect">
            <a:avLst/>
          </a:prstGeom>
          <a:noFill/>
        </p:spPr>
        <p:txBody>
          <a:bodyPr wrap="square" anchor="ctr" lIns="45720" rIns="45720" tIns="9144" bIns="9144">
            <a:spAutoFit/>
          </a:bodyPr>
          <a:lstStyle/>
          <a:p>
            <a:pPr algn="l"/>
            <a:r>
              <a:rPr sz="1050" b="1" i="0">
                <a:solidFill>
                  <a:srgbClr val="FFFFFF"/>
                </a:solidFill>
                <a:latin typeface="Calibri"/>
              </a:rPr>
              <a:t>Rubro</a:t>
            </a:r>
          </a:p>
        </p:txBody>
      </p:sp>
      <p:sp>
        <p:nvSpPr>
          <p:cNvPr id="68" name="Rectangle 67"/>
          <p:cNvSpPr/>
          <p:nvPr/>
        </p:nvSpPr>
        <p:spPr>
          <a:xfrm>
            <a:off x="3703320" y="1444752"/>
            <a:ext cx="1325880" cy="310896"/>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3721607" y="1444752"/>
            <a:ext cx="1289304" cy="310896"/>
          </a:xfrm>
          <a:prstGeom prst="rect">
            <a:avLst/>
          </a:prstGeom>
          <a:noFill/>
        </p:spPr>
        <p:txBody>
          <a:bodyPr wrap="square" anchor="ctr" lIns="45720" rIns="45720" tIns="9144" bIns="9144">
            <a:spAutoFit/>
          </a:bodyPr>
          <a:lstStyle/>
          <a:p>
            <a:pPr algn="ctr"/>
            <a:r>
              <a:rPr sz="1050" b="1" i="0">
                <a:solidFill>
                  <a:srgbClr val="FFFFFF"/>
                </a:solidFill>
                <a:latin typeface="Calibri"/>
              </a:rPr>
              <a:t>Monto (L)</a:t>
            </a:r>
          </a:p>
        </p:txBody>
      </p:sp>
      <p:sp>
        <p:nvSpPr>
          <p:cNvPr id="70" name="Rectangle 69"/>
          <p:cNvSpPr/>
          <p:nvPr/>
        </p:nvSpPr>
        <p:spPr>
          <a:xfrm>
            <a:off x="5029200" y="1444752"/>
            <a:ext cx="868680" cy="310896"/>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Box 70"/>
          <p:cNvSpPr txBox="1"/>
          <p:nvPr/>
        </p:nvSpPr>
        <p:spPr>
          <a:xfrm>
            <a:off x="5047488" y="1444752"/>
            <a:ext cx="832103" cy="310896"/>
          </a:xfrm>
          <a:prstGeom prst="rect">
            <a:avLst/>
          </a:prstGeom>
          <a:noFill/>
        </p:spPr>
        <p:txBody>
          <a:bodyPr wrap="square" anchor="ctr" lIns="45720" rIns="45720" tIns="9144" bIns="9144">
            <a:spAutoFit/>
          </a:bodyPr>
          <a:lstStyle/>
          <a:p>
            <a:pPr algn="ctr"/>
            <a:r>
              <a:rPr sz="1050" b="1" i="0">
                <a:solidFill>
                  <a:srgbClr val="FFFFFF"/>
                </a:solidFill>
                <a:latin typeface="Calibri"/>
              </a:rPr>
              <a:t>%</a:t>
            </a:r>
          </a:p>
        </p:txBody>
      </p:sp>
      <p:sp>
        <p:nvSpPr>
          <p:cNvPr id="72" name="Rectangle 71"/>
          <p:cNvSpPr/>
          <p:nvPr/>
        </p:nvSpPr>
        <p:spPr>
          <a:xfrm>
            <a:off x="320040" y="1755648"/>
            <a:ext cx="338328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338328" y="1755648"/>
            <a:ext cx="3346704" cy="310896"/>
          </a:xfrm>
          <a:prstGeom prst="rect">
            <a:avLst/>
          </a:prstGeom>
          <a:noFill/>
        </p:spPr>
        <p:txBody>
          <a:bodyPr wrap="square" anchor="ctr" lIns="45720" rIns="45720" tIns="9144" bIns="9144">
            <a:spAutoFit/>
          </a:bodyPr>
          <a:lstStyle/>
          <a:p>
            <a:pPr algn="l"/>
            <a:r>
              <a:rPr sz="1050" b="0" i="0">
                <a:solidFill>
                  <a:srgbClr val="334155"/>
                </a:solidFill>
                <a:latin typeface="Calibri"/>
              </a:rPr>
              <a:t>Tanques (recibo y almacenamiento)</a:t>
            </a:r>
          </a:p>
        </p:txBody>
      </p:sp>
      <p:sp>
        <p:nvSpPr>
          <p:cNvPr id="74" name="Rectangle 73"/>
          <p:cNvSpPr/>
          <p:nvPr/>
        </p:nvSpPr>
        <p:spPr>
          <a:xfrm>
            <a:off x="3703320" y="1755648"/>
            <a:ext cx="132588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3721607" y="1755648"/>
            <a:ext cx="1289304" cy="310896"/>
          </a:xfrm>
          <a:prstGeom prst="rect">
            <a:avLst/>
          </a:prstGeom>
          <a:noFill/>
        </p:spPr>
        <p:txBody>
          <a:bodyPr wrap="square" anchor="ctr" lIns="45720" rIns="45720" tIns="9144" bIns="9144">
            <a:spAutoFit/>
          </a:bodyPr>
          <a:lstStyle/>
          <a:p>
            <a:pPr algn="r"/>
            <a:r>
              <a:rPr sz="1050" b="0" i="0">
                <a:solidFill>
                  <a:srgbClr val="334155"/>
                </a:solidFill>
                <a:latin typeface="Calibri"/>
              </a:rPr>
              <a:t>360,000</a:t>
            </a:r>
          </a:p>
        </p:txBody>
      </p:sp>
      <p:sp>
        <p:nvSpPr>
          <p:cNvPr id="76" name="Rectangle 75"/>
          <p:cNvSpPr/>
          <p:nvPr/>
        </p:nvSpPr>
        <p:spPr>
          <a:xfrm>
            <a:off x="5029200" y="1755648"/>
            <a:ext cx="86868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5047488" y="1755648"/>
            <a:ext cx="832103" cy="310896"/>
          </a:xfrm>
          <a:prstGeom prst="rect">
            <a:avLst/>
          </a:prstGeom>
          <a:noFill/>
        </p:spPr>
        <p:txBody>
          <a:bodyPr wrap="square" anchor="ctr" lIns="45720" rIns="45720" tIns="9144" bIns="9144">
            <a:spAutoFit/>
          </a:bodyPr>
          <a:lstStyle/>
          <a:p>
            <a:pPr algn="r"/>
            <a:r>
              <a:rPr sz="1050" b="0" i="0">
                <a:solidFill>
                  <a:srgbClr val="334155"/>
                </a:solidFill>
                <a:latin typeface="Calibri"/>
              </a:rPr>
              <a:t/>
            </a:r>
          </a:p>
        </p:txBody>
      </p:sp>
      <p:sp>
        <p:nvSpPr>
          <p:cNvPr id="78" name="Rectangle 77"/>
          <p:cNvSpPr/>
          <p:nvPr/>
        </p:nvSpPr>
        <p:spPr>
          <a:xfrm>
            <a:off x="320040" y="2066544"/>
            <a:ext cx="338328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338328" y="2066544"/>
            <a:ext cx="3346704" cy="310896"/>
          </a:xfrm>
          <a:prstGeom prst="rect">
            <a:avLst/>
          </a:prstGeom>
          <a:noFill/>
        </p:spPr>
        <p:txBody>
          <a:bodyPr wrap="square" anchor="ctr" lIns="45720" rIns="45720" tIns="9144" bIns="9144">
            <a:spAutoFit/>
          </a:bodyPr>
          <a:lstStyle/>
          <a:p>
            <a:pPr algn="l"/>
            <a:r>
              <a:rPr sz="1050" b="0" i="0">
                <a:solidFill>
                  <a:srgbClr val="334155"/>
                </a:solidFill>
                <a:latin typeface="Calibri"/>
              </a:rPr>
              <a:t>Pasteurizador HTST</a:t>
            </a:r>
          </a:p>
        </p:txBody>
      </p:sp>
      <p:sp>
        <p:nvSpPr>
          <p:cNvPr id="80" name="Rectangle 79"/>
          <p:cNvSpPr/>
          <p:nvPr/>
        </p:nvSpPr>
        <p:spPr>
          <a:xfrm>
            <a:off x="3703320" y="2066544"/>
            <a:ext cx="132588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Box 80"/>
          <p:cNvSpPr txBox="1"/>
          <p:nvPr/>
        </p:nvSpPr>
        <p:spPr>
          <a:xfrm>
            <a:off x="3721607" y="2066544"/>
            <a:ext cx="1289304" cy="310896"/>
          </a:xfrm>
          <a:prstGeom prst="rect">
            <a:avLst/>
          </a:prstGeom>
          <a:noFill/>
        </p:spPr>
        <p:txBody>
          <a:bodyPr wrap="square" anchor="ctr" lIns="45720" rIns="45720" tIns="9144" bIns="9144">
            <a:spAutoFit/>
          </a:bodyPr>
          <a:lstStyle/>
          <a:p>
            <a:pPr algn="r"/>
            <a:r>
              <a:rPr sz="1050" b="0" i="0">
                <a:solidFill>
                  <a:srgbClr val="334155"/>
                </a:solidFill>
                <a:latin typeface="Calibri"/>
              </a:rPr>
              <a:t>150,000</a:t>
            </a:r>
          </a:p>
        </p:txBody>
      </p:sp>
      <p:sp>
        <p:nvSpPr>
          <p:cNvPr id="82" name="Rectangle 81"/>
          <p:cNvSpPr/>
          <p:nvPr/>
        </p:nvSpPr>
        <p:spPr>
          <a:xfrm>
            <a:off x="5029200" y="2066544"/>
            <a:ext cx="86868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5047488" y="2066544"/>
            <a:ext cx="832103" cy="310896"/>
          </a:xfrm>
          <a:prstGeom prst="rect">
            <a:avLst/>
          </a:prstGeom>
          <a:noFill/>
        </p:spPr>
        <p:txBody>
          <a:bodyPr wrap="square" anchor="ctr" lIns="45720" rIns="45720" tIns="9144" bIns="9144">
            <a:spAutoFit/>
          </a:bodyPr>
          <a:lstStyle/>
          <a:p>
            <a:pPr algn="r"/>
            <a:r>
              <a:rPr sz="1050" b="0" i="0">
                <a:solidFill>
                  <a:srgbClr val="334155"/>
                </a:solidFill>
                <a:latin typeface="Calibri"/>
              </a:rPr>
              <a:t/>
            </a:r>
          </a:p>
        </p:txBody>
      </p:sp>
      <p:sp>
        <p:nvSpPr>
          <p:cNvPr id="84" name="Rectangle 83"/>
          <p:cNvSpPr/>
          <p:nvPr/>
        </p:nvSpPr>
        <p:spPr>
          <a:xfrm>
            <a:off x="320040" y="2377440"/>
            <a:ext cx="338328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Box 84"/>
          <p:cNvSpPr txBox="1"/>
          <p:nvPr/>
        </p:nvSpPr>
        <p:spPr>
          <a:xfrm>
            <a:off x="338328" y="2377440"/>
            <a:ext cx="3346704" cy="310896"/>
          </a:xfrm>
          <a:prstGeom prst="rect">
            <a:avLst/>
          </a:prstGeom>
          <a:noFill/>
        </p:spPr>
        <p:txBody>
          <a:bodyPr wrap="square" anchor="ctr" lIns="45720" rIns="45720" tIns="9144" bIns="9144">
            <a:spAutoFit/>
          </a:bodyPr>
          <a:lstStyle/>
          <a:p>
            <a:pPr algn="l"/>
            <a:r>
              <a:rPr sz="1050" b="0" i="0">
                <a:solidFill>
                  <a:srgbClr val="334155"/>
                </a:solidFill>
                <a:latin typeface="Calibri"/>
              </a:rPr>
              <a:t>Envasadora automática</a:t>
            </a:r>
          </a:p>
        </p:txBody>
      </p:sp>
      <p:sp>
        <p:nvSpPr>
          <p:cNvPr id="86" name="Rectangle 85"/>
          <p:cNvSpPr/>
          <p:nvPr/>
        </p:nvSpPr>
        <p:spPr>
          <a:xfrm>
            <a:off x="3703320" y="2377440"/>
            <a:ext cx="132588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Box 86"/>
          <p:cNvSpPr txBox="1"/>
          <p:nvPr/>
        </p:nvSpPr>
        <p:spPr>
          <a:xfrm>
            <a:off x="3721607" y="2377440"/>
            <a:ext cx="1289304" cy="310896"/>
          </a:xfrm>
          <a:prstGeom prst="rect">
            <a:avLst/>
          </a:prstGeom>
          <a:noFill/>
        </p:spPr>
        <p:txBody>
          <a:bodyPr wrap="square" anchor="ctr" lIns="45720" rIns="45720" tIns="9144" bIns="9144">
            <a:spAutoFit/>
          </a:bodyPr>
          <a:lstStyle/>
          <a:p>
            <a:pPr algn="r"/>
            <a:r>
              <a:rPr sz="1050" b="0" i="0">
                <a:solidFill>
                  <a:srgbClr val="334155"/>
                </a:solidFill>
                <a:latin typeface="Calibri"/>
              </a:rPr>
              <a:t>260,000</a:t>
            </a:r>
          </a:p>
        </p:txBody>
      </p:sp>
      <p:sp>
        <p:nvSpPr>
          <p:cNvPr id="88" name="Rectangle 87"/>
          <p:cNvSpPr/>
          <p:nvPr/>
        </p:nvSpPr>
        <p:spPr>
          <a:xfrm>
            <a:off x="5029200" y="2377440"/>
            <a:ext cx="86868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Box 88"/>
          <p:cNvSpPr txBox="1"/>
          <p:nvPr/>
        </p:nvSpPr>
        <p:spPr>
          <a:xfrm>
            <a:off x="5047488" y="2377440"/>
            <a:ext cx="832103" cy="310896"/>
          </a:xfrm>
          <a:prstGeom prst="rect">
            <a:avLst/>
          </a:prstGeom>
          <a:noFill/>
        </p:spPr>
        <p:txBody>
          <a:bodyPr wrap="square" anchor="ctr" lIns="45720" rIns="45720" tIns="9144" bIns="9144">
            <a:spAutoFit/>
          </a:bodyPr>
          <a:lstStyle/>
          <a:p>
            <a:pPr algn="r"/>
            <a:r>
              <a:rPr sz="1050" b="0" i="0">
                <a:solidFill>
                  <a:srgbClr val="334155"/>
                </a:solidFill>
                <a:latin typeface="Calibri"/>
              </a:rPr>
              <a:t/>
            </a:r>
          </a:p>
        </p:txBody>
      </p:sp>
      <p:sp>
        <p:nvSpPr>
          <p:cNvPr id="90" name="Rectangle 89"/>
          <p:cNvSpPr/>
          <p:nvPr/>
        </p:nvSpPr>
        <p:spPr>
          <a:xfrm>
            <a:off x="320040" y="2688336"/>
            <a:ext cx="338328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Box 90"/>
          <p:cNvSpPr txBox="1"/>
          <p:nvPr/>
        </p:nvSpPr>
        <p:spPr>
          <a:xfrm>
            <a:off x="338328" y="2688336"/>
            <a:ext cx="3346704" cy="310896"/>
          </a:xfrm>
          <a:prstGeom prst="rect">
            <a:avLst/>
          </a:prstGeom>
          <a:noFill/>
        </p:spPr>
        <p:txBody>
          <a:bodyPr wrap="square" anchor="ctr" lIns="45720" rIns="45720" tIns="9144" bIns="9144">
            <a:spAutoFit/>
          </a:bodyPr>
          <a:lstStyle/>
          <a:p>
            <a:pPr algn="l"/>
            <a:r>
              <a:rPr sz="1050" b="0" i="0">
                <a:solidFill>
                  <a:srgbClr val="334155"/>
                </a:solidFill>
                <a:latin typeface="Calibri"/>
              </a:rPr>
              <a:t>Sistema de enfriamiento</a:t>
            </a:r>
          </a:p>
        </p:txBody>
      </p:sp>
      <p:sp>
        <p:nvSpPr>
          <p:cNvPr id="92" name="Rectangle 91"/>
          <p:cNvSpPr/>
          <p:nvPr/>
        </p:nvSpPr>
        <p:spPr>
          <a:xfrm>
            <a:off x="3703320" y="2688336"/>
            <a:ext cx="132588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Box 92"/>
          <p:cNvSpPr txBox="1"/>
          <p:nvPr/>
        </p:nvSpPr>
        <p:spPr>
          <a:xfrm>
            <a:off x="3721607" y="2688336"/>
            <a:ext cx="1289304" cy="310896"/>
          </a:xfrm>
          <a:prstGeom prst="rect">
            <a:avLst/>
          </a:prstGeom>
          <a:noFill/>
        </p:spPr>
        <p:txBody>
          <a:bodyPr wrap="square" anchor="ctr" lIns="45720" rIns="45720" tIns="9144" bIns="9144">
            <a:spAutoFit/>
          </a:bodyPr>
          <a:lstStyle/>
          <a:p>
            <a:pPr algn="r"/>
            <a:r>
              <a:rPr sz="1050" b="0" i="0">
                <a:solidFill>
                  <a:srgbClr val="334155"/>
                </a:solidFill>
                <a:latin typeface="Calibri"/>
              </a:rPr>
              <a:t>125,000</a:t>
            </a:r>
          </a:p>
        </p:txBody>
      </p:sp>
      <p:sp>
        <p:nvSpPr>
          <p:cNvPr id="94" name="Rectangle 93"/>
          <p:cNvSpPr/>
          <p:nvPr/>
        </p:nvSpPr>
        <p:spPr>
          <a:xfrm>
            <a:off x="5029200" y="2688336"/>
            <a:ext cx="86868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Box 94"/>
          <p:cNvSpPr txBox="1"/>
          <p:nvPr/>
        </p:nvSpPr>
        <p:spPr>
          <a:xfrm>
            <a:off x="5047488" y="2688336"/>
            <a:ext cx="832103" cy="310896"/>
          </a:xfrm>
          <a:prstGeom prst="rect">
            <a:avLst/>
          </a:prstGeom>
          <a:noFill/>
        </p:spPr>
        <p:txBody>
          <a:bodyPr wrap="square" anchor="ctr" lIns="45720" rIns="45720" tIns="9144" bIns="9144">
            <a:spAutoFit/>
          </a:bodyPr>
          <a:lstStyle/>
          <a:p>
            <a:pPr algn="r"/>
            <a:r>
              <a:rPr sz="1050" b="0" i="0">
                <a:solidFill>
                  <a:srgbClr val="334155"/>
                </a:solidFill>
                <a:latin typeface="Calibri"/>
              </a:rPr>
              <a:t/>
            </a:r>
          </a:p>
        </p:txBody>
      </p:sp>
      <p:sp>
        <p:nvSpPr>
          <p:cNvPr id="96" name="Rectangle 95"/>
          <p:cNvSpPr/>
          <p:nvPr/>
        </p:nvSpPr>
        <p:spPr>
          <a:xfrm>
            <a:off x="320040" y="2999232"/>
            <a:ext cx="338328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TextBox 96"/>
          <p:cNvSpPr txBox="1"/>
          <p:nvPr/>
        </p:nvSpPr>
        <p:spPr>
          <a:xfrm>
            <a:off x="338328" y="2999232"/>
            <a:ext cx="3346704" cy="310896"/>
          </a:xfrm>
          <a:prstGeom prst="rect">
            <a:avLst/>
          </a:prstGeom>
          <a:noFill/>
        </p:spPr>
        <p:txBody>
          <a:bodyPr wrap="square" anchor="ctr" lIns="45720" rIns="45720" tIns="9144" bIns="9144">
            <a:spAutoFit/>
          </a:bodyPr>
          <a:lstStyle/>
          <a:p>
            <a:pPr algn="l"/>
            <a:r>
              <a:rPr sz="1050" b="0" i="0">
                <a:solidFill>
                  <a:srgbClr val="334155"/>
                </a:solidFill>
                <a:latin typeface="Calibri"/>
              </a:rPr>
              <a:t>Camión de distribución</a:t>
            </a:r>
          </a:p>
        </p:txBody>
      </p:sp>
      <p:sp>
        <p:nvSpPr>
          <p:cNvPr id="98" name="Rectangle 97"/>
          <p:cNvSpPr/>
          <p:nvPr/>
        </p:nvSpPr>
        <p:spPr>
          <a:xfrm>
            <a:off x="3703320" y="2999232"/>
            <a:ext cx="132588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TextBox 98"/>
          <p:cNvSpPr txBox="1"/>
          <p:nvPr/>
        </p:nvSpPr>
        <p:spPr>
          <a:xfrm>
            <a:off x="3721607" y="2999232"/>
            <a:ext cx="1289304" cy="310896"/>
          </a:xfrm>
          <a:prstGeom prst="rect">
            <a:avLst/>
          </a:prstGeom>
          <a:noFill/>
        </p:spPr>
        <p:txBody>
          <a:bodyPr wrap="square" anchor="ctr" lIns="45720" rIns="45720" tIns="9144" bIns="9144">
            <a:spAutoFit/>
          </a:bodyPr>
          <a:lstStyle/>
          <a:p>
            <a:pPr algn="r"/>
            <a:r>
              <a:rPr sz="1050" b="0" i="0">
                <a:solidFill>
                  <a:srgbClr val="334155"/>
                </a:solidFill>
                <a:latin typeface="Calibri"/>
              </a:rPr>
              <a:t>500,000</a:t>
            </a:r>
          </a:p>
        </p:txBody>
      </p:sp>
      <p:sp>
        <p:nvSpPr>
          <p:cNvPr id="100" name="Rectangle 99"/>
          <p:cNvSpPr/>
          <p:nvPr/>
        </p:nvSpPr>
        <p:spPr>
          <a:xfrm>
            <a:off x="5029200" y="2999232"/>
            <a:ext cx="86868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TextBox 100"/>
          <p:cNvSpPr txBox="1"/>
          <p:nvPr/>
        </p:nvSpPr>
        <p:spPr>
          <a:xfrm>
            <a:off x="5047488" y="2999232"/>
            <a:ext cx="832103" cy="310896"/>
          </a:xfrm>
          <a:prstGeom prst="rect">
            <a:avLst/>
          </a:prstGeom>
          <a:noFill/>
        </p:spPr>
        <p:txBody>
          <a:bodyPr wrap="square" anchor="ctr" lIns="45720" rIns="45720" tIns="9144" bIns="9144">
            <a:spAutoFit/>
          </a:bodyPr>
          <a:lstStyle/>
          <a:p>
            <a:pPr algn="r"/>
            <a:r>
              <a:rPr sz="1050" b="0" i="0">
                <a:solidFill>
                  <a:srgbClr val="334155"/>
                </a:solidFill>
                <a:latin typeface="Calibri"/>
              </a:rPr>
              <a:t/>
            </a:r>
          </a:p>
        </p:txBody>
      </p:sp>
      <p:sp>
        <p:nvSpPr>
          <p:cNvPr id="102" name="Rectangle 101"/>
          <p:cNvSpPr/>
          <p:nvPr/>
        </p:nvSpPr>
        <p:spPr>
          <a:xfrm>
            <a:off x="320040" y="3310127"/>
            <a:ext cx="3383280" cy="310896"/>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TextBox 102"/>
          <p:cNvSpPr txBox="1"/>
          <p:nvPr/>
        </p:nvSpPr>
        <p:spPr>
          <a:xfrm>
            <a:off x="338328" y="3310127"/>
            <a:ext cx="3346704" cy="310896"/>
          </a:xfrm>
          <a:prstGeom prst="rect">
            <a:avLst/>
          </a:prstGeom>
          <a:noFill/>
        </p:spPr>
        <p:txBody>
          <a:bodyPr wrap="square" anchor="ctr" lIns="45720" rIns="45720" tIns="9144" bIns="9144">
            <a:spAutoFit/>
          </a:bodyPr>
          <a:lstStyle/>
          <a:p>
            <a:pPr algn="l"/>
            <a:r>
              <a:rPr sz="1050" b="1" i="0">
                <a:solidFill>
                  <a:srgbClr val="0D2341"/>
                </a:solidFill>
                <a:latin typeface="Calibri"/>
              </a:rPr>
              <a:t>Activos fijos</a:t>
            </a:r>
          </a:p>
        </p:txBody>
      </p:sp>
      <p:sp>
        <p:nvSpPr>
          <p:cNvPr id="104" name="Rectangle 103"/>
          <p:cNvSpPr/>
          <p:nvPr/>
        </p:nvSpPr>
        <p:spPr>
          <a:xfrm>
            <a:off x="3703320" y="3310127"/>
            <a:ext cx="1325880" cy="310896"/>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TextBox 104"/>
          <p:cNvSpPr txBox="1"/>
          <p:nvPr/>
        </p:nvSpPr>
        <p:spPr>
          <a:xfrm>
            <a:off x="3721607" y="3310127"/>
            <a:ext cx="1289304" cy="310896"/>
          </a:xfrm>
          <a:prstGeom prst="rect">
            <a:avLst/>
          </a:prstGeom>
          <a:noFill/>
        </p:spPr>
        <p:txBody>
          <a:bodyPr wrap="square" anchor="ctr" lIns="45720" rIns="45720" tIns="9144" bIns="9144">
            <a:spAutoFit/>
          </a:bodyPr>
          <a:lstStyle/>
          <a:p>
            <a:pPr algn="r"/>
            <a:r>
              <a:rPr sz="1050" b="1" i="0">
                <a:solidFill>
                  <a:srgbClr val="0D2341"/>
                </a:solidFill>
                <a:latin typeface="Calibri"/>
              </a:rPr>
              <a:t>1,395,000</a:t>
            </a:r>
          </a:p>
        </p:txBody>
      </p:sp>
      <p:sp>
        <p:nvSpPr>
          <p:cNvPr id="106" name="Rectangle 105"/>
          <p:cNvSpPr/>
          <p:nvPr/>
        </p:nvSpPr>
        <p:spPr>
          <a:xfrm>
            <a:off x="5029200" y="3310127"/>
            <a:ext cx="868680" cy="310896"/>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TextBox 106"/>
          <p:cNvSpPr txBox="1"/>
          <p:nvPr/>
        </p:nvSpPr>
        <p:spPr>
          <a:xfrm>
            <a:off x="5047488" y="3310127"/>
            <a:ext cx="832103" cy="310896"/>
          </a:xfrm>
          <a:prstGeom prst="rect">
            <a:avLst/>
          </a:prstGeom>
          <a:noFill/>
        </p:spPr>
        <p:txBody>
          <a:bodyPr wrap="square" anchor="ctr" lIns="45720" rIns="45720" tIns="9144" bIns="9144">
            <a:spAutoFit/>
          </a:bodyPr>
          <a:lstStyle/>
          <a:p>
            <a:pPr algn="r"/>
            <a:r>
              <a:rPr sz="1050" b="1" i="0">
                <a:solidFill>
                  <a:srgbClr val="0D2341"/>
                </a:solidFill>
                <a:latin typeface="Calibri"/>
              </a:rPr>
              <a:t>78.2 %</a:t>
            </a:r>
          </a:p>
        </p:txBody>
      </p:sp>
      <p:sp>
        <p:nvSpPr>
          <p:cNvPr id="108" name="Rectangle 107"/>
          <p:cNvSpPr/>
          <p:nvPr/>
        </p:nvSpPr>
        <p:spPr>
          <a:xfrm>
            <a:off x="320040" y="3621023"/>
            <a:ext cx="3383280" cy="310896"/>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TextBox 108"/>
          <p:cNvSpPr txBox="1"/>
          <p:nvPr/>
        </p:nvSpPr>
        <p:spPr>
          <a:xfrm>
            <a:off x="338328" y="3621023"/>
            <a:ext cx="3346704" cy="310896"/>
          </a:xfrm>
          <a:prstGeom prst="rect">
            <a:avLst/>
          </a:prstGeom>
          <a:noFill/>
        </p:spPr>
        <p:txBody>
          <a:bodyPr wrap="square" anchor="ctr" lIns="45720" rIns="45720" tIns="9144" bIns="9144">
            <a:spAutoFit/>
          </a:bodyPr>
          <a:lstStyle/>
          <a:p>
            <a:pPr algn="l"/>
            <a:r>
              <a:rPr sz="1050" b="1" i="0">
                <a:solidFill>
                  <a:srgbClr val="0D2341"/>
                </a:solidFill>
                <a:latin typeface="Calibri"/>
              </a:rPr>
              <a:t>Gastos diferidos preoperativos y legales</a:t>
            </a:r>
          </a:p>
        </p:txBody>
      </p:sp>
      <p:sp>
        <p:nvSpPr>
          <p:cNvPr id="110" name="Rectangle 109"/>
          <p:cNvSpPr/>
          <p:nvPr/>
        </p:nvSpPr>
        <p:spPr>
          <a:xfrm>
            <a:off x="3703320" y="3621023"/>
            <a:ext cx="1325880" cy="310896"/>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TextBox 110"/>
          <p:cNvSpPr txBox="1"/>
          <p:nvPr/>
        </p:nvSpPr>
        <p:spPr>
          <a:xfrm>
            <a:off x="3721607" y="3621023"/>
            <a:ext cx="1289304" cy="310896"/>
          </a:xfrm>
          <a:prstGeom prst="rect">
            <a:avLst/>
          </a:prstGeom>
          <a:noFill/>
        </p:spPr>
        <p:txBody>
          <a:bodyPr wrap="square" anchor="ctr" lIns="45720" rIns="45720" tIns="9144" bIns="9144">
            <a:spAutoFit/>
          </a:bodyPr>
          <a:lstStyle/>
          <a:p>
            <a:pPr algn="r"/>
            <a:r>
              <a:rPr sz="1050" b="1" i="0">
                <a:solidFill>
                  <a:srgbClr val="0D2341"/>
                </a:solidFill>
                <a:latin typeface="Calibri"/>
              </a:rPr>
              <a:t>76,000</a:t>
            </a:r>
          </a:p>
        </p:txBody>
      </p:sp>
      <p:sp>
        <p:nvSpPr>
          <p:cNvPr id="112" name="Rectangle 111"/>
          <p:cNvSpPr/>
          <p:nvPr/>
        </p:nvSpPr>
        <p:spPr>
          <a:xfrm>
            <a:off x="5029200" y="3621023"/>
            <a:ext cx="868680" cy="310896"/>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TextBox 112"/>
          <p:cNvSpPr txBox="1"/>
          <p:nvPr/>
        </p:nvSpPr>
        <p:spPr>
          <a:xfrm>
            <a:off x="5047488" y="3621023"/>
            <a:ext cx="832103" cy="310896"/>
          </a:xfrm>
          <a:prstGeom prst="rect">
            <a:avLst/>
          </a:prstGeom>
          <a:noFill/>
        </p:spPr>
        <p:txBody>
          <a:bodyPr wrap="square" anchor="ctr" lIns="45720" rIns="45720" tIns="9144" bIns="9144">
            <a:spAutoFit/>
          </a:bodyPr>
          <a:lstStyle/>
          <a:p>
            <a:pPr algn="r"/>
            <a:r>
              <a:rPr sz="1050" b="1" i="0">
                <a:solidFill>
                  <a:srgbClr val="0D2341"/>
                </a:solidFill>
                <a:latin typeface="Calibri"/>
              </a:rPr>
              <a:t>4.3 %</a:t>
            </a:r>
          </a:p>
        </p:txBody>
      </p:sp>
      <p:sp>
        <p:nvSpPr>
          <p:cNvPr id="114" name="Rectangle 113"/>
          <p:cNvSpPr/>
          <p:nvPr/>
        </p:nvSpPr>
        <p:spPr>
          <a:xfrm>
            <a:off x="320040" y="3931920"/>
            <a:ext cx="3383280" cy="310896"/>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TextBox 114"/>
          <p:cNvSpPr txBox="1"/>
          <p:nvPr/>
        </p:nvSpPr>
        <p:spPr>
          <a:xfrm>
            <a:off x="338328" y="3931920"/>
            <a:ext cx="3346704" cy="310896"/>
          </a:xfrm>
          <a:prstGeom prst="rect">
            <a:avLst/>
          </a:prstGeom>
          <a:noFill/>
        </p:spPr>
        <p:txBody>
          <a:bodyPr wrap="square" anchor="ctr" lIns="45720" rIns="45720" tIns="9144" bIns="9144">
            <a:spAutoFit/>
          </a:bodyPr>
          <a:lstStyle/>
          <a:p>
            <a:pPr algn="l"/>
            <a:r>
              <a:rPr sz="1050" b="1" i="0">
                <a:solidFill>
                  <a:srgbClr val="0D2341"/>
                </a:solidFill>
                <a:latin typeface="Calibri"/>
              </a:rPr>
              <a:t>Capital de trabajo (1 mes de costos)</a:t>
            </a:r>
          </a:p>
        </p:txBody>
      </p:sp>
      <p:sp>
        <p:nvSpPr>
          <p:cNvPr id="116" name="Rectangle 115"/>
          <p:cNvSpPr/>
          <p:nvPr/>
        </p:nvSpPr>
        <p:spPr>
          <a:xfrm>
            <a:off x="3703320" y="3931920"/>
            <a:ext cx="1325880" cy="310896"/>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TextBox 116"/>
          <p:cNvSpPr txBox="1"/>
          <p:nvPr/>
        </p:nvSpPr>
        <p:spPr>
          <a:xfrm>
            <a:off x="3721607" y="3931920"/>
            <a:ext cx="1289304" cy="310896"/>
          </a:xfrm>
          <a:prstGeom prst="rect">
            <a:avLst/>
          </a:prstGeom>
          <a:noFill/>
        </p:spPr>
        <p:txBody>
          <a:bodyPr wrap="square" anchor="ctr" lIns="45720" rIns="45720" tIns="9144" bIns="9144">
            <a:spAutoFit/>
          </a:bodyPr>
          <a:lstStyle/>
          <a:p>
            <a:pPr algn="r"/>
            <a:r>
              <a:rPr sz="1050" b="1" i="0">
                <a:solidFill>
                  <a:srgbClr val="0D2341"/>
                </a:solidFill>
                <a:latin typeface="Calibri"/>
              </a:rPr>
              <a:t>313,058</a:t>
            </a:r>
          </a:p>
        </p:txBody>
      </p:sp>
      <p:sp>
        <p:nvSpPr>
          <p:cNvPr id="118" name="Rectangle 117"/>
          <p:cNvSpPr/>
          <p:nvPr/>
        </p:nvSpPr>
        <p:spPr>
          <a:xfrm>
            <a:off x="5029200" y="3931920"/>
            <a:ext cx="868680" cy="310896"/>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TextBox 118"/>
          <p:cNvSpPr txBox="1"/>
          <p:nvPr/>
        </p:nvSpPr>
        <p:spPr>
          <a:xfrm>
            <a:off x="5047488" y="3931920"/>
            <a:ext cx="832103" cy="310896"/>
          </a:xfrm>
          <a:prstGeom prst="rect">
            <a:avLst/>
          </a:prstGeom>
          <a:noFill/>
        </p:spPr>
        <p:txBody>
          <a:bodyPr wrap="square" anchor="ctr" lIns="45720" rIns="45720" tIns="9144" bIns="9144">
            <a:spAutoFit/>
          </a:bodyPr>
          <a:lstStyle/>
          <a:p>
            <a:pPr algn="r"/>
            <a:r>
              <a:rPr sz="1050" b="1" i="0">
                <a:solidFill>
                  <a:srgbClr val="0D2341"/>
                </a:solidFill>
                <a:latin typeface="Calibri"/>
              </a:rPr>
              <a:t>17.5 %</a:t>
            </a:r>
          </a:p>
        </p:txBody>
      </p:sp>
      <p:sp>
        <p:nvSpPr>
          <p:cNvPr id="120" name="Rectangle 119"/>
          <p:cNvSpPr/>
          <p:nvPr/>
        </p:nvSpPr>
        <p:spPr>
          <a:xfrm>
            <a:off x="320040" y="4242816"/>
            <a:ext cx="3383280" cy="310896"/>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TextBox 120"/>
          <p:cNvSpPr txBox="1"/>
          <p:nvPr/>
        </p:nvSpPr>
        <p:spPr>
          <a:xfrm>
            <a:off x="338328" y="4242816"/>
            <a:ext cx="3346704" cy="310896"/>
          </a:xfrm>
          <a:prstGeom prst="rect">
            <a:avLst/>
          </a:prstGeom>
          <a:noFill/>
        </p:spPr>
        <p:txBody>
          <a:bodyPr wrap="square" anchor="ctr" lIns="45720" rIns="45720" tIns="9144" bIns="9144">
            <a:spAutoFit/>
          </a:bodyPr>
          <a:lstStyle/>
          <a:p>
            <a:pPr algn="l"/>
            <a:r>
              <a:rPr sz="1050" b="1" i="0">
                <a:solidFill>
                  <a:srgbClr val="0D2341"/>
                </a:solidFill>
                <a:latin typeface="Calibri"/>
              </a:rPr>
              <a:t>INVERSIÓN TOTAL</a:t>
            </a:r>
          </a:p>
        </p:txBody>
      </p:sp>
      <p:sp>
        <p:nvSpPr>
          <p:cNvPr id="122" name="Rectangle 121"/>
          <p:cNvSpPr/>
          <p:nvPr/>
        </p:nvSpPr>
        <p:spPr>
          <a:xfrm>
            <a:off x="3703320" y="4242816"/>
            <a:ext cx="1325880" cy="310896"/>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TextBox 122"/>
          <p:cNvSpPr txBox="1"/>
          <p:nvPr/>
        </p:nvSpPr>
        <p:spPr>
          <a:xfrm>
            <a:off x="3721607" y="4242816"/>
            <a:ext cx="1289304" cy="310896"/>
          </a:xfrm>
          <a:prstGeom prst="rect">
            <a:avLst/>
          </a:prstGeom>
          <a:noFill/>
        </p:spPr>
        <p:txBody>
          <a:bodyPr wrap="square" anchor="ctr" lIns="45720" rIns="45720" tIns="9144" bIns="9144">
            <a:spAutoFit/>
          </a:bodyPr>
          <a:lstStyle/>
          <a:p>
            <a:pPr algn="r"/>
            <a:r>
              <a:rPr sz="1050" b="1" i="0">
                <a:solidFill>
                  <a:srgbClr val="0D2341"/>
                </a:solidFill>
                <a:latin typeface="Calibri"/>
              </a:rPr>
              <a:t>1,784,058</a:t>
            </a:r>
          </a:p>
        </p:txBody>
      </p:sp>
      <p:sp>
        <p:nvSpPr>
          <p:cNvPr id="124" name="Rectangle 123"/>
          <p:cNvSpPr/>
          <p:nvPr/>
        </p:nvSpPr>
        <p:spPr>
          <a:xfrm>
            <a:off x="5029200" y="4242816"/>
            <a:ext cx="868680" cy="310896"/>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TextBox 124"/>
          <p:cNvSpPr txBox="1"/>
          <p:nvPr/>
        </p:nvSpPr>
        <p:spPr>
          <a:xfrm>
            <a:off x="5047488" y="4242816"/>
            <a:ext cx="832103" cy="310896"/>
          </a:xfrm>
          <a:prstGeom prst="rect">
            <a:avLst/>
          </a:prstGeom>
          <a:noFill/>
        </p:spPr>
        <p:txBody>
          <a:bodyPr wrap="square" anchor="ctr" lIns="45720" rIns="45720" tIns="9144" bIns="9144">
            <a:spAutoFit/>
          </a:bodyPr>
          <a:lstStyle/>
          <a:p>
            <a:pPr algn="r"/>
            <a:r>
              <a:rPr sz="1050" b="1" i="0">
                <a:solidFill>
                  <a:srgbClr val="0D2341"/>
                </a:solidFill>
                <a:latin typeface="Calibri"/>
              </a:rPr>
              <a:t>100 %</a:t>
            </a:r>
          </a:p>
        </p:txBody>
      </p:sp>
      <p:sp>
        <p:nvSpPr>
          <p:cNvPr id="126" name="TextBox 125"/>
          <p:cNvSpPr txBox="1"/>
          <p:nvPr/>
        </p:nvSpPr>
        <p:spPr>
          <a:xfrm>
            <a:off x="320040" y="4645152"/>
            <a:ext cx="5577840" cy="274320"/>
          </a:xfrm>
          <a:prstGeom prst="rect">
            <a:avLst/>
          </a:prstGeom>
          <a:noFill/>
        </p:spPr>
        <p:txBody>
          <a:bodyPr wrap="square" anchor="ctr">
            <a:spAutoFit/>
          </a:bodyPr>
          <a:lstStyle/>
          <a:p>
            <a:pPr algn="l"/>
            <a:r>
              <a:rPr sz="1200" b="1" i="0">
                <a:solidFill>
                  <a:srgbClr val="1B3A5C"/>
                </a:solidFill>
                <a:latin typeface="Calibri"/>
              </a:rPr>
              <a:t>Supuestos base</a:t>
            </a:r>
          </a:p>
        </p:txBody>
      </p:sp>
      <p:sp>
        <p:nvSpPr>
          <p:cNvPr id="127" name="Rectangle 126"/>
          <p:cNvSpPr/>
          <p:nvPr/>
        </p:nvSpPr>
        <p:spPr>
          <a:xfrm>
            <a:off x="320040" y="4956048"/>
            <a:ext cx="2743200" cy="292608"/>
          </a:xfrm>
          <a:prstGeom prst="rect">
            <a:avLst/>
          </a:prstGeom>
          <a:solidFill>
            <a:srgbClr val="F1F5F9"/>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TextBox 127"/>
          <p:cNvSpPr txBox="1"/>
          <p:nvPr/>
        </p:nvSpPr>
        <p:spPr>
          <a:xfrm>
            <a:off x="365759" y="4956048"/>
            <a:ext cx="1463040" cy="292608"/>
          </a:xfrm>
          <a:prstGeom prst="rect">
            <a:avLst/>
          </a:prstGeom>
          <a:noFill/>
        </p:spPr>
        <p:txBody>
          <a:bodyPr wrap="square" anchor="ctr">
            <a:spAutoFit/>
          </a:bodyPr>
          <a:lstStyle/>
          <a:p>
            <a:pPr algn="l"/>
            <a:r>
              <a:rPr sz="950" b="0" i="0">
                <a:solidFill>
                  <a:srgbClr val="334155"/>
                </a:solidFill>
                <a:latin typeface="Calibri"/>
              </a:rPr>
              <a:t>Horizonte</a:t>
            </a:r>
          </a:p>
        </p:txBody>
      </p:sp>
      <p:sp>
        <p:nvSpPr>
          <p:cNvPr id="129" name="TextBox 128"/>
          <p:cNvSpPr txBox="1"/>
          <p:nvPr/>
        </p:nvSpPr>
        <p:spPr>
          <a:xfrm>
            <a:off x="1737360" y="4956048"/>
            <a:ext cx="1280160" cy="292608"/>
          </a:xfrm>
          <a:prstGeom prst="rect">
            <a:avLst/>
          </a:prstGeom>
          <a:noFill/>
        </p:spPr>
        <p:txBody>
          <a:bodyPr wrap="square" anchor="ctr">
            <a:spAutoFit/>
          </a:bodyPr>
          <a:lstStyle/>
          <a:p>
            <a:pPr algn="r"/>
            <a:r>
              <a:rPr sz="950" b="1" i="0">
                <a:solidFill>
                  <a:srgbClr val="1B3A5C"/>
                </a:solidFill>
                <a:latin typeface="Calibri"/>
              </a:rPr>
              <a:t>10 años</a:t>
            </a:r>
          </a:p>
        </p:txBody>
      </p:sp>
      <p:sp>
        <p:nvSpPr>
          <p:cNvPr id="130" name="Rectangle 129"/>
          <p:cNvSpPr/>
          <p:nvPr/>
        </p:nvSpPr>
        <p:spPr>
          <a:xfrm>
            <a:off x="3127248" y="4956048"/>
            <a:ext cx="2743200" cy="292608"/>
          </a:xfrm>
          <a:prstGeom prst="rect">
            <a:avLst/>
          </a:prstGeom>
          <a:solidFill>
            <a:srgbClr val="F1F5F9"/>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TextBox 130"/>
          <p:cNvSpPr txBox="1"/>
          <p:nvPr/>
        </p:nvSpPr>
        <p:spPr>
          <a:xfrm>
            <a:off x="3172968" y="4956048"/>
            <a:ext cx="1463040" cy="292608"/>
          </a:xfrm>
          <a:prstGeom prst="rect">
            <a:avLst/>
          </a:prstGeom>
          <a:noFill/>
        </p:spPr>
        <p:txBody>
          <a:bodyPr wrap="square" anchor="ctr">
            <a:spAutoFit/>
          </a:bodyPr>
          <a:lstStyle/>
          <a:p>
            <a:pPr algn="l"/>
            <a:r>
              <a:rPr sz="950" b="0" i="0">
                <a:solidFill>
                  <a:srgbClr val="334155"/>
                </a:solidFill>
                <a:latin typeface="Calibri"/>
              </a:rPr>
              <a:t>Precio año 1</a:t>
            </a:r>
          </a:p>
        </p:txBody>
      </p:sp>
      <p:sp>
        <p:nvSpPr>
          <p:cNvPr id="132" name="TextBox 131"/>
          <p:cNvSpPr txBox="1"/>
          <p:nvPr/>
        </p:nvSpPr>
        <p:spPr>
          <a:xfrm>
            <a:off x="4544568" y="4956048"/>
            <a:ext cx="1280160" cy="292608"/>
          </a:xfrm>
          <a:prstGeom prst="rect">
            <a:avLst/>
          </a:prstGeom>
          <a:noFill/>
        </p:spPr>
        <p:txBody>
          <a:bodyPr wrap="square" anchor="ctr">
            <a:spAutoFit/>
          </a:bodyPr>
          <a:lstStyle/>
          <a:p>
            <a:pPr algn="r"/>
            <a:r>
              <a:rPr sz="950" b="1" i="0">
                <a:solidFill>
                  <a:srgbClr val="1B3A5C"/>
                </a:solidFill>
                <a:latin typeface="Calibri"/>
              </a:rPr>
              <a:t>L 28.00/litro</a:t>
            </a:r>
          </a:p>
        </p:txBody>
      </p:sp>
      <p:sp>
        <p:nvSpPr>
          <p:cNvPr id="133" name="Rectangle 132"/>
          <p:cNvSpPr/>
          <p:nvPr/>
        </p:nvSpPr>
        <p:spPr>
          <a:xfrm>
            <a:off x="320040" y="5285232"/>
            <a:ext cx="2743200" cy="292608"/>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4" name="TextBox 133"/>
          <p:cNvSpPr txBox="1"/>
          <p:nvPr/>
        </p:nvSpPr>
        <p:spPr>
          <a:xfrm>
            <a:off x="365759" y="5285232"/>
            <a:ext cx="1463040" cy="292608"/>
          </a:xfrm>
          <a:prstGeom prst="rect">
            <a:avLst/>
          </a:prstGeom>
          <a:noFill/>
        </p:spPr>
        <p:txBody>
          <a:bodyPr wrap="square" anchor="ctr">
            <a:spAutoFit/>
          </a:bodyPr>
          <a:lstStyle/>
          <a:p>
            <a:pPr algn="l"/>
            <a:r>
              <a:rPr sz="950" b="0" i="0">
                <a:solidFill>
                  <a:srgbClr val="334155"/>
                </a:solidFill>
                <a:latin typeface="Calibri"/>
              </a:rPr>
              <a:t>Inflación anual</a:t>
            </a:r>
          </a:p>
        </p:txBody>
      </p:sp>
      <p:sp>
        <p:nvSpPr>
          <p:cNvPr id="135" name="TextBox 134"/>
          <p:cNvSpPr txBox="1"/>
          <p:nvPr/>
        </p:nvSpPr>
        <p:spPr>
          <a:xfrm>
            <a:off x="1737360" y="5285232"/>
            <a:ext cx="1280160" cy="292608"/>
          </a:xfrm>
          <a:prstGeom prst="rect">
            <a:avLst/>
          </a:prstGeom>
          <a:noFill/>
        </p:spPr>
        <p:txBody>
          <a:bodyPr wrap="square" anchor="ctr">
            <a:spAutoFit/>
          </a:bodyPr>
          <a:lstStyle/>
          <a:p>
            <a:pPr algn="r"/>
            <a:r>
              <a:rPr sz="950" b="1" i="0">
                <a:solidFill>
                  <a:srgbClr val="1B3A5C"/>
                </a:solidFill>
                <a:latin typeface="Calibri"/>
              </a:rPr>
              <a:t>4.5 %</a:t>
            </a:r>
          </a:p>
        </p:txBody>
      </p:sp>
      <p:sp>
        <p:nvSpPr>
          <p:cNvPr id="136" name="Rectangle 135"/>
          <p:cNvSpPr/>
          <p:nvPr/>
        </p:nvSpPr>
        <p:spPr>
          <a:xfrm>
            <a:off x="3127248" y="5285232"/>
            <a:ext cx="2743200" cy="292608"/>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TextBox 136"/>
          <p:cNvSpPr txBox="1"/>
          <p:nvPr/>
        </p:nvSpPr>
        <p:spPr>
          <a:xfrm>
            <a:off x="3172968" y="5285232"/>
            <a:ext cx="1463040" cy="292608"/>
          </a:xfrm>
          <a:prstGeom prst="rect">
            <a:avLst/>
          </a:prstGeom>
          <a:noFill/>
        </p:spPr>
        <p:txBody>
          <a:bodyPr wrap="square" anchor="ctr">
            <a:spAutoFit/>
          </a:bodyPr>
          <a:lstStyle/>
          <a:p>
            <a:pPr algn="l"/>
            <a:r>
              <a:rPr sz="950" b="0" i="0">
                <a:solidFill>
                  <a:srgbClr val="334155"/>
                </a:solidFill>
                <a:latin typeface="Calibri"/>
              </a:rPr>
              <a:t>Clientes año 1</a:t>
            </a:r>
          </a:p>
        </p:txBody>
      </p:sp>
      <p:sp>
        <p:nvSpPr>
          <p:cNvPr id="138" name="TextBox 137"/>
          <p:cNvSpPr txBox="1"/>
          <p:nvPr/>
        </p:nvSpPr>
        <p:spPr>
          <a:xfrm>
            <a:off x="4544568" y="5285232"/>
            <a:ext cx="1280160" cy="292608"/>
          </a:xfrm>
          <a:prstGeom prst="rect">
            <a:avLst/>
          </a:prstGeom>
          <a:noFill/>
        </p:spPr>
        <p:txBody>
          <a:bodyPr wrap="square" anchor="ctr">
            <a:spAutoFit/>
          </a:bodyPr>
          <a:lstStyle/>
          <a:p>
            <a:pPr algn="r"/>
            <a:r>
              <a:rPr sz="950" b="1" i="0">
                <a:solidFill>
                  <a:srgbClr val="1B3A5C"/>
                </a:solidFill>
                <a:latin typeface="Calibri"/>
              </a:rPr>
              <a:t>60</a:t>
            </a:r>
          </a:p>
        </p:txBody>
      </p:sp>
      <p:sp>
        <p:nvSpPr>
          <p:cNvPr id="139" name="Rectangle 138"/>
          <p:cNvSpPr/>
          <p:nvPr/>
        </p:nvSpPr>
        <p:spPr>
          <a:xfrm>
            <a:off x="320040" y="5614416"/>
            <a:ext cx="2743200" cy="292608"/>
          </a:xfrm>
          <a:prstGeom prst="rect">
            <a:avLst/>
          </a:prstGeom>
          <a:solidFill>
            <a:srgbClr val="F1F5F9"/>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TextBox 139"/>
          <p:cNvSpPr txBox="1"/>
          <p:nvPr/>
        </p:nvSpPr>
        <p:spPr>
          <a:xfrm>
            <a:off x="365759" y="5614416"/>
            <a:ext cx="1463040" cy="292608"/>
          </a:xfrm>
          <a:prstGeom prst="rect">
            <a:avLst/>
          </a:prstGeom>
          <a:noFill/>
        </p:spPr>
        <p:txBody>
          <a:bodyPr wrap="square" anchor="ctr">
            <a:spAutoFit/>
          </a:bodyPr>
          <a:lstStyle/>
          <a:p>
            <a:pPr algn="l"/>
            <a:r>
              <a:rPr sz="950" b="0" i="0">
                <a:solidFill>
                  <a:srgbClr val="334155"/>
                </a:solidFill>
                <a:latin typeface="Calibri"/>
              </a:rPr>
              <a:t>Consumo por cliente</a:t>
            </a:r>
          </a:p>
        </p:txBody>
      </p:sp>
      <p:sp>
        <p:nvSpPr>
          <p:cNvPr id="141" name="TextBox 140"/>
          <p:cNvSpPr txBox="1"/>
          <p:nvPr/>
        </p:nvSpPr>
        <p:spPr>
          <a:xfrm>
            <a:off x="1737360" y="5614416"/>
            <a:ext cx="1280160" cy="292608"/>
          </a:xfrm>
          <a:prstGeom prst="rect">
            <a:avLst/>
          </a:prstGeom>
          <a:noFill/>
        </p:spPr>
        <p:txBody>
          <a:bodyPr wrap="square" anchor="ctr">
            <a:spAutoFit/>
          </a:bodyPr>
          <a:lstStyle/>
          <a:p>
            <a:pPr algn="r"/>
            <a:r>
              <a:rPr sz="950" b="1" i="0">
                <a:solidFill>
                  <a:srgbClr val="1B3A5C"/>
                </a:solidFill>
                <a:latin typeface="Calibri"/>
              </a:rPr>
              <a:t>150 L/mes</a:t>
            </a:r>
          </a:p>
        </p:txBody>
      </p:sp>
      <p:sp>
        <p:nvSpPr>
          <p:cNvPr id="142" name="Rectangle 141"/>
          <p:cNvSpPr/>
          <p:nvPr/>
        </p:nvSpPr>
        <p:spPr>
          <a:xfrm>
            <a:off x="3127248" y="5614416"/>
            <a:ext cx="2743200" cy="292608"/>
          </a:xfrm>
          <a:prstGeom prst="rect">
            <a:avLst/>
          </a:prstGeom>
          <a:solidFill>
            <a:srgbClr val="F1F5F9"/>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3" name="TextBox 142"/>
          <p:cNvSpPr txBox="1"/>
          <p:nvPr/>
        </p:nvSpPr>
        <p:spPr>
          <a:xfrm>
            <a:off x="3172968" y="5614416"/>
            <a:ext cx="1463040" cy="292608"/>
          </a:xfrm>
          <a:prstGeom prst="rect">
            <a:avLst/>
          </a:prstGeom>
          <a:noFill/>
        </p:spPr>
        <p:txBody>
          <a:bodyPr wrap="square" anchor="ctr">
            <a:spAutoFit/>
          </a:bodyPr>
          <a:lstStyle/>
          <a:p>
            <a:pPr algn="l"/>
            <a:r>
              <a:rPr sz="950" b="0" i="0">
                <a:solidFill>
                  <a:srgbClr val="334155"/>
                </a:solidFill>
                <a:latin typeface="Calibri"/>
              </a:rPr>
              <a:t>Costos fijos operativos</a:t>
            </a:r>
          </a:p>
        </p:txBody>
      </p:sp>
      <p:sp>
        <p:nvSpPr>
          <p:cNvPr id="144" name="TextBox 143"/>
          <p:cNvSpPr txBox="1"/>
          <p:nvPr/>
        </p:nvSpPr>
        <p:spPr>
          <a:xfrm>
            <a:off x="4544568" y="5614416"/>
            <a:ext cx="1280160" cy="292608"/>
          </a:xfrm>
          <a:prstGeom prst="rect">
            <a:avLst/>
          </a:prstGeom>
          <a:noFill/>
        </p:spPr>
        <p:txBody>
          <a:bodyPr wrap="square" anchor="ctr">
            <a:spAutoFit/>
          </a:bodyPr>
          <a:lstStyle/>
          <a:p>
            <a:pPr algn="r"/>
            <a:r>
              <a:rPr sz="950" b="1" i="0">
                <a:solidFill>
                  <a:srgbClr val="1B3A5C"/>
                </a:solidFill>
                <a:latin typeface="Calibri"/>
              </a:rPr>
              <a:t>L 28,000/mes</a:t>
            </a:r>
          </a:p>
        </p:txBody>
      </p:sp>
      <p:sp>
        <p:nvSpPr>
          <p:cNvPr id="145" name="Rectangle 144"/>
          <p:cNvSpPr/>
          <p:nvPr/>
        </p:nvSpPr>
        <p:spPr>
          <a:xfrm>
            <a:off x="320040" y="5943600"/>
            <a:ext cx="2743200" cy="292608"/>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6" name="TextBox 145"/>
          <p:cNvSpPr txBox="1"/>
          <p:nvPr/>
        </p:nvSpPr>
        <p:spPr>
          <a:xfrm>
            <a:off x="365759" y="5943600"/>
            <a:ext cx="1463040" cy="292608"/>
          </a:xfrm>
          <a:prstGeom prst="rect">
            <a:avLst/>
          </a:prstGeom>
          <a:noFill/>
        </p:spPr>
        <p:txBody>
          <a:bodyPr wrap="square" anchor="ctr">
            <a:spAutoFit/>
          </a:bodyPr>
          <a:lstStyle/>
          <a:p>
            <a:pPr algn="l"/>
            <a:r>
              <a:rPr sz="950" b="0" i="0">
                <a:solidFill>
                  <a:srgbClr val="334155"/>
                </a:solidFill>
                <a:latin typeface="Calibri"/>
              </a:rPr>
              <a:t>Gastos administrativos</a:t>
            </a:r>
          </a:p>
        </p:txBody>
      </p:sp>
      <p:sp>
        <p:nvSpPr>
          <p:cNvPr id="147" name="TextBox 146"/>
          <p:cNvSpPr txBox="1"/>
          <p:nvPr/>
        </p:nvSpPr>
        <p:spPr>
          <a:xfrm>
            <a:off x="1737360" y="5943600"/>
            <a:ext cx="1280160" cy="292608"/>
          </a:xfrm>
          <a:prstGeom prst="rect">
            <a:avLst/>
          </a:prstGeom>
          <a:noFill/>
        </p:spPr>
        <p:txBody>
          <a:bodyPr wrap="square" anchor="ctr">
            <a:spAutoFit/>
          </a:bodyPr>
          <a:lstStyle/>
          <a:p>
            <a:pPr algn="r"/>
            <a:r>
              <a:rPr sz="950" b="1" i="0">
                <a:solidFill>
                  <a:srgbClr val="1B3A5C"/>
                </a:solidFill>
                <a:latin typeface="Calibri"/>
              </a:rPr>
              <a:t>L 21,600/mes</a:t>
            </a:r>
          </a:p>
        </p:txBody>
      </p:sp>
      <p:sp>
        <p:nvSpPr>
          <p:cNvPr id="148" name="Rectangle 147"/>
          <p:cNvSpPr/>
          <p:nvPr/>
        </p:nvSpPr>
        <p:spPr>
          <a:xfrm>
            <a:off x="3127248" y="5943600"/>
            <a:ext cx="2743200" cy="292608"/>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9" name="TextBox 148"/>
          <p:cNvSpPr txBox="1"/>
          <p:nvPr/>
        </p:nvSpPr>
        <p:spPr>
          <a:xfrm>
            <a:off x="3172968" y="5943600"/>
            <a:ext cx="1463040" cy="292608"/>
          </a:xfrm>
          <a:prstGeom prst="rect">
            <a:avLst/>
          </a:prstGeom>
          <a:noFill/>
        </p:spPr>
        <p:txBody>
          <a:bodyPr wrap="square" anchor="ctr">
            <a:spAutoFit/>
          </a:bodyPr>
          <a:lstStyle/>
          <a:p>
            <a:pPr algn="l"/>
            <a:r>
              <a:rPr sz="950" b="0" i="0">
                <a:solidFill>
                  <a:srgbClr val="334155"/>
                </a:solidFill>
                <a:latin typeface="Calibri"/>
              </a:rPr>
              <a:t>ISR + aport. solidaria</a:t>
            </a:r>
          </a:p>
        </p:txBody>
      </p:sp>
      <p:sp>
        <p:nvSpPr>
          <p:cNvPr id="150" name="TextBox 149"/>
          <p:cNvSpPr txBox="1"/>
          <p:nvPr/>
        </p:nvSpPr>
        <p:spPr>
          <a:xfrm>
            <a:off x="4544568" y="5943600"/>
            <a:ext cx="1280160" cy="292608"/>
          </a:xfrm>
          <a:prstGeom prst="rect">
            <a:avLst/>
          </a:prstGeom>
          <a:noFill/>
        </p:spPr>
        <p:txBody>
          <a:bodyPr wrap="square" anchor="ctr">
            <a:spAutoFit/>
          </a:bodyPr>
          <a:lstStyle/>
          <a:p>
            <a:pPr algn="r"/>
            <a:r>
              <a:rPr sz="950" b="1" i="0">
                <a:solidFill>
                  <a:srgbClr val="1B3A5C"/>
                </a:solidFill>
                <a:latin typeface="Calibri"/>
              </a:rPr>
              <a:t>25 % + 5 %</a:t>
            </a:r>
          </a:p>
        </p:txBody>
      </p:sp>
      <p:sp>
        <p:nvSpPr>
          <p:cNvPr id="151" name="Rectangle 150"/>
          <p:cNvSpPr/>
          <p:nvPr/>
        </p:nvSpPr>
        <p:spPr>
          <a:xfrm>
            <a:off x="6172200" y="1115568"/>
            <a:ext cx="5577840" cy="91440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2" name="TextBox 151"/>
          <p:cNvSpPr txBox="1"/>
          <p:nvPr/>
        </p:nvSpPr>
        <p:spPr>
          <a:xfrm>
            <a:off x="6309360" y="1152144"/>
            <a:ext cx="5303520" cy="274320"/>
          </a:xfrm>
          <a:prstGeom prst="rect">
            <a:avLst/>
          </a:prstGeom>
          <a:noFill/>
        </p:spPr>
        <p:txBody>
          <a:bodyPr wrap="square" anchor="ctr">
            <a:spAutoFit/>
          </a:bodyPr>
          <a:lstStyle/>
          <a:p>
            <a:pPr algn="l"/>
            <a:r>
              <a:rPr sz="1100" b="1" i="0">
                <a:solidFill>
                  <a:srgbClr val="1A7A8A"/>
                </a:solidFill>
                <a:latin typeface="Calibri"/>
              </a:rPr>
              <a:t>INVERSIÓN TOTAL</a:t>
            </a:r>
          </a:p>
        </p:txBody>
      </p:sp>
      <p:sp>
        <p:nvSpPr>
          <p:cNvPr id="153" name="TextBox 152"/>
          <p:cNvSpPr txBox="1"/>
          <p:nvPr/>
        </p:nvSpPr>
        <p:spPr>
          <a:xfrm>
            <a:off x="6309360" y="1389888"/>
            <a:ext cx="5303520" cy="548640"/>
          </a:xfrm>
          <a:prstGeom prst="rect">
            <a:avLst/>
          </a:prstGeom>
          <a:noFill/>
        </p:spPr>
        <p:txBody>
          <a:bodyPr wrap="square" anchor="ctr">
            <a:spAutoFit/>
          </a:bodyPr>
          <a:lstStyle/>
          <a:p>
            <a:pPr algn="l"/>
            <a:r>
              <a:rPr sz="2800" b="1" i="0">
                <a:solidFill>
                  <a:srgbClr val="FFFFFF"/>
                </a:solidFill>
                <a:latin typeface="Calibri"/>
              </a:rPr>
              <a:t>L 1,784,058</a:t>
            </a:r>
          </a:p>
        </p:txBody>
      </p:sp>
      <p:sp>
        <p:nvSpPr>
          <p:cNvPr id="154" name="Rectangle 153"/>
          <p:cNvSpPr/>
          <p:nvPr/>
        </p:nvSpPr>
        <p:spPr>
          <a:xfrm>
            <a:off x="6172200" y="2121408"/>
            <a:ext cx="2743200" cy="713232"/>
          </a:xfrm>
          <a:prstGeom prst="rect">
            <a:avLst/>
          </a:prstGeom>
          <a:solidFill>
            <a:srgbClr val="E6F4F6"/>
          </a:solidFill>
          <a:ln w="12700">
            <a:solidFill>
              <a:srgbClr val="E6F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Rectangle 154"/>
          <p:cNvSpPr/>
          <p:nvPr/>
        </p:nvSpPr>
        <p:spPr>
          <a:xfrm>
            <a:off x="9006840" y="2121408"/>
            <a:ext cx="2743200" cy="713232"/>
          </a:xfrm>
          <a:prstGeom prst="rect">
            <a:avLst/>
          </a:prstGeom>
          <a:solidFill>
            <a:srgbClr val="F1F5F9"/>
          </a:solidFill>
          <a:ln w="12700">
            <a:solidFill>
              <a:srgbClr val="F1F5F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TextBox 155"/>
          <p:cNvSpPr txBox="1"/>
          <p:nvPr/>
        </p:nvSpPr>
        <p:spPr>
          <a:xfrm>
            <a:off x="6263640" y="2139696"/>
            <a:ext cx="2560320" cy="274320"/>
          </a:xfrm>
          <a:prstGeom prst="rect">
            <a:avLst/>
          </a:prstGeom>
          <a:noFill/>
        </p:spPr>
        <p:txBody>
          <a:bodyPr wrap="square" anchor="ctr">
            <a:spAutoFit/>
          </a:bodyPr>
          <a:lstStyle/>
          <a:p>
            <a:pPr algn="l"/>
            <a:r>
              <a:rPr sz="1050" b="1" i="0">
                <a:solidFill>
                  <a:srgbClr val="1A7A8A"/>
                </a:solidFill>
                <a:latin typeface="Calibri"/>
              </a:rPr>
              <a:t>Recursos propios · 50 %</a:t>
            </a:r>
          </a:p>
        </p:txBody>
      </p:sp>
      <p:sp>
        <p:nvSpPr>
          <p:cNvPr id="157" name="TextBox 156"/>
          <p:cNvSpPr txBox="1"/>
          <p:nvPr/>
        </p:nvSpPr>
        <p:spPr>
          <a:xfrm>
            <a:off x="6263640" y="2414016"/>
            <a:ext cx="2560320" cy="365760"/>
          </a:xfrm>
          <a:prstGeom prst="rect">
            <a:avLst/>
          </a:prstGeom>
          <a:noFill/>
        </p:spPr>
        <p:txBody>
          <a:bodyPr wrap="square" anchor="ctr">
            <a:spAutoFit/>
          </a:bodyPr>
          <a:lstStyle/>
          <a:p>
            <a:pPr algn="l"/>
            <a:r>
              <a:rPr sz="1500" b="1" i="0">
                <a:solidFill>
                  <a:srgbClr val="1A7A8A"/>
                </a:solidFill>
                <a:latin typeface="Calibri"/>
              </a:rPr>
              <a:t>L 892,029</a:t>
            </a:r>
          </a:p>
        </p:txBody>
      </p:sp>
      <p:sp>
        <p:nvSpPr>
          <p:cNvPr id="158" name="TextBox 157"/>
          <p:cNvSpPr txBox="1"/>
          <p:nvPr/>
        </p:nvSpPr>
        <p:spPr>
          <a:xfrm>
            <a:off x="9098280" y="2139696"/>
            <a:ext cx="2560320" cy="274320"/>
          </a:xfrm>
          <a:prstGeom prst="rect">
            <a:avLst/>
          </a:prstGeom>
          <a:noFill/>
        </p:spPr>
        <p:txBody>
          <a:bodyPr wrap="square" anchor="ctr">
            <a:spAutoFit/>
          </a:bodyPr>
          <a:lstStyle/>
          <a:p>
            <a:pPr algn="l"/>
            <a:r>
              <a:rPr sz="1050" b="1" i="0">
                <a:solidFill>
                  <a:srgbClr val="1B3A5C"/>
                </a:solidFill>
                <a:latin typeface="Calibri"/>
              </a:rPr>
              <a:t>Préstamo bancario · 50 %</a:t>
            </a:r>
          </a:p>
        </p:txBody>
      </p:sp>
      <p:sp>
        <p:nvSpPr>
          <p:cNvPr id="159" name="TextBox 158"/>
          <p:cNvSpPr txBox="1"/>
          <p:nvPr/>
        </p:nvSpPr>
        <p:spPr>
          <a:xfrm>
            <a:off x="9098280" y="2414016"/>
            <a:ext cx="2560320" cy="365760"/>
          </a:xfrm>
          <a:prstGeom prst="rect">
            <a:avLst/>
          </a:prstGeom>
          <a:noFill/>
        </p:spPr>
        <p:txBody>
          <a:bodyPr wrap="square" anchor="ctr">
            <a:spAutoFit/>
          </a:bodyPr>
          <a:lstStyle/>
          <a:p>
            <a:pPr algn="l"/>
            <a:r>
              <a:rPr sz="1500" b="1" i="0">
                <a:solidFill>
                  <a:srgbClr val="1B3A5C"/>
                </a:solidFill>
                <a:latin typeface="Calibri"/>
              </a:rPr>
              <a:t>L 892,029</a:t>
            </a:r>
          </a:p>
        </p:txBody>
      </p:sp>
      <p:sp>
        <p:nvSpPr>
          <p:cNvPr id="160" name="TextBox 159"/>
          <p:cNvSpPr txBox="1"/>
          <p:nvPr/>
        </p:nvSpPr>
        <p:spPr>
          <a:xfrm>
            <a:off x="6172200" y="2852928"/>
            <a:ext cx="5577840" cy="256032"/>
          </a:xfrm>
          <a:prstGeom prst="rect">
            <a:avLst/>
          </a:prstGeom>
          <a:noFill/>
        </p:spPr>
        <p:txBody>
          <a:bodyPr wrap="square" anchor="ctr">
            <a:spAutoFit/>
          </a:bodyPr>
          <a:lstStyle/>
          <a:p>
            <a:pPr algn="l"/>
            <a:r>
              <a:rPr sz="1000" b="0" i="1">
                <a:solidFill>
                  <a:srgbClr val="64748B"/>
                </a:solidFill>
                <a:latin typeface="Calibri"/>
              </a:rPr>
              <a:t>Préstamo: 14 % anual · 5 años · cuota constante L 259,833</a:t>
            </a:r>
          </a:p>
        </p:txBody>
      </p:sp>
      <p:sp>
        <p:nvSpPr>
          <p:cNvPr id="161" name="Rectangle 160"/>
          <p:cNvSpPr/>
          <p:nvPr/>
        </p:nvSpPr>
        <p:spPr>
          <a:xfrm>
            <a:off x="6172200" y="3154680"/>
            <a:ext cx="5577840" cy="1417320"/>
          </a:xfrm>
          <a:prstGeom prst="rect">
            <a:avLst/>
          </a:prstGeom>
          <a:solidFill>
            <a:srgbClr val="FFFFFF"/>
          </a:solidFill>
          <a:ln w="12700">
            <a:solidFill>
              <a:srgbClr val="1A7A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TextBox 161"/>
          <p:cNvSpPr txBox="1"/>
          <p:nvPr/>
        </p:nvSpPr>
        <p:spPr>
          <a:xfrm>
            <a:off x="6309360" y="3200400"/>
            <a:ext cx="5349240" cy="1325880"/>
          </a:xfrm>
          <a:prstGeom prst="rect">
            <a:avLst/>
          </a:prstGeom>
          <a:noFill/>
        </p:spPr>
        <p:txBody>
          <a:bodyPr wrap="square" anchor="t">
            <a:spAutoFit/>
          </a:bodyPr>
          <a:lstStyle/>
          <a:p>
            <a:pPr algn="l">
              <a:spcAft>
                <a:spcPts val="400"/>
              </a:spcAft>
            </a:pPr>
            <a:r>
              <a:rPr sz="1300" b="1" i="0">
                <a:solidFill>
                  <a:srgbClr val="0D2341"/>
                </a:solidFill>
                <a:latin typeface="Calibri"/>
              </a:rPr>
              <a:t>Tasa de descuento única: 15 %</a:t>
            </a:r>
          </a:p>
          <a:p>
            <a:pPr algn="l">
              <a:spcAft>
                <a:spcPts val="400"/>
              </a:spcAft>
            </a:pPr>
            <a:r>
              <a:rPr sz="1150" b="0" i="0">
                <a:solidFill>
                  <a:srgbClr val="334155"/>
                </a:solidFill>
                <a:latin typeface="Calibri"/>
              </a:rPr>
              <a:t>Es el rendimiento mínimo que exigen los socios (Ke, costo del capital propio); se usa en ambos flujos.</a:t>
            </a:r>
          </a:p>
          <a:p>
            <a:pPr algn="l">
              <a:spcAft>
                <a:spcPts val="400"/>
              </a:spcAft>
            </a:pPr>
            <a:r>
              <a:rPr sz="1150" b="1" i="0">
                <a:solidFill>
                  <a:srgbClr val="334155"/>
                </a:solidFill>
                <a:latin typeface="Calibri"/>
              </a:rPr>
              <a:t>WACC 12.8 % </a:t>
            </a:r>
            <a:r>
              <a:rPr sz="1150" b="0" i="0">
                <a:solidFill>
                  <a:srgbClr val="334155"/>
                </a:solidFill>
                <a:latin typeface="Calibri"/>
              </a:rPr>
              <a:t>(costo promedio ponderado de deuda y capital): solo referencia.</a:t>
            </a:r>
          </a:p>
        </p:txBody>
      </p:sp>
      <p:sp>
        <p:nvSpPr>
          <p:cNvPr id="163" name="TextBox 162"/>
          <p:cNvSpPr txBox="1"/>
          <p:nvPr/>
        </p:nvSpPr>
        <p:spPr>
          <a:xfrm>
            <a:off x="6172200" y="4645152"/>
            <a:ext cx="5577840" cy="274320"/>
          </a:xfrm>
          <a:prstGeom prst="rect">
            <a:avLst/>
          </a:prstGeom>
          <a:noFill/>
        </p:spPr>
        <p:txBody>
          <a:bodyPr wrap="square" anchor="ctr">
            <a:spAutoFit/>
          </a:bodyPr>
          <a:lstStyle/>
          <a:p>
            <a:pPr algn="l"/>
            <a:r>
              <a:rPr sz="1200" b="1" i="0">
                <a:solidFill>
                  <a:srgbClr val="1B3A5C"/>
                </a:solidFill>
                <a:latin typeface="Calibri"/>
              </a:rPr>
              <a:t>Estructura de costos y gastos operativos, año 1 (L 3,756,698)</a:t>
            </a:r>
          </a:p>
        </p:txBody>
      </p:sp>
      <p:sp>
        <p:nvSpPr>
          <p:cNvPr id="164" name="Rectangle 163"/>
          <p:cNvSpPr/>
          <p:nvPr/>
        </p:nvSpPr>
        <p:spPr>
          <a:xfrm>
            <a:off x="6172200" y="4983480"/>
            <a:ext cx="2247869" cy="457200"/>
          </a:xfrm>
          <a:prstGeom prst="rect">
            <a:avLst/>
          </a:prstGeom>
          <a:solidFill>
            <a:srgbClr val="1A7A8A"/>
          </a:solidFill>
          <a:ln w="12700">
            <a:solidFill>
              <a:srgbClr val="1A7A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5" name="TextBox 164"/>
          <p:cNvSpPr txBox="1"/>
          <p:nvPr/>
        </p:nvSpPr>
        <p:spPr>
          <a:xfrm>
            <a:off x="6172200" y="4983480"/>
            <a:ext cx="2247869" cy="457200"/>
          </a:xfrm>
          <a:prstGeom prst="rect">
            <a:avLst/>
          </a:prstGeom>
          <a:noFill/>
        </p:spPr>
        <p:txBody>
          <a:bodyPr wrap="square" anchor="ctr">
            <a:spAutoFit/>
          </a:bodyPr>
          <a:lstStyle/>
          <a:p>
            <a:pPr algn="ctr"/>
            <a:r>
              <a:rPr sz="1000" b="1" i="0">
                <a:solidFill>
                  <a:srgbClr val="FFFFFF"/>
                </a:solidFill>
                <a:latin typeface="Calibri"/>
              </a:rPr>
              <a:t>40.3 %</a:t>
            </a:r>
          </a:p>
        </p:txBody>
      </p:sp>
      <p:sp>
        <p:nvSpPr>
          <p:cNvPr id="166" name="Rectangle 165"/>
          <p:cNvSpPr/>
          <p:nvPr/>
        </p:nvSpPr>
        <p:spPr>
          <a:xfrm>
            <a:off x="8420069" y="4983480"/>
            <a:ext cx="2119579" cy="457200"/>
          </a:xfrm>
          <a:prstGeom prst="rect">
            <a:avLst/>
          </a:prstGeom>
          <a:solidFill>
            <a:srgbClr val="1B3A5C"/>
          </a:solidFill>
          <a:ln w="12700">
            <a:solidFill>
              <a:srgbClr val="1B3A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7" name="TextBox 166"/>
          <p:cNvSpPr txBox="1"/>
          <p:nvPr/>
        </p:nvSpPr>
        <p:spPr>
          <a:xfrm>
            <a:off x="8420069" y="4983480"/>
            <a:ext cx="2119579" cy="457200"/>
          </a:xfrm>
          <a:prstGeom prst="rect">
            <a:avLst/>
          </a:prstGeom>
          <a:noFill/>
        </p:spPr>
        <p:txBody>
          <a:bodyPr wrap="square" anchor="ctr">
            <a:spAutoFit/>
          </a:bodyPr>
          <a:lstStyle/>
          <a:p>
            <a:pPr algn="ctr"/>
            <a:r>
              <a:rPr sz="1000" b="1" i="0">
                <a:solidFill>
                  <a:srgbClr val="FFFFFF"/>
                </a:solidFill>
                <a:latin typeface="Calibri"/>
              </a:rPr>
              <a:t>38.0 %</a:t>
            </a:r>
          </a:p>
        </p:txBody>
      </p:sp>
      <p:sp>
        <p:nvSpPr>
          <p:cNvPr id="168" name="Rectangle 167"/>
          <p:cNvSpPr/>
          <p:nvPr/>
        </p:nvSpPr>
        <p:spPr>
          <a:xfrm>
            <a:off x="10539648" y="4983480"/>
            <a:ext cx="518739" cy="457200"/>
          </a:xfrm>
          <a:prstGeom prst="rect">
            <a:avLst/>
          </a:prstGeom>
          <a:solidFill>
            <a:srgbClr val="9ECFD5"/>
          </a:solidFill>
          <a:ln w="12700">
            <a:solidFill>
              <a:srgbClr val="9ECF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9" name="TextBox 168"/>
          <p:cNvSpPr txBox="1"/>
          <p:nvPr/>
        </p:nvSpPr>
        <p:spPr>
          <a:xfrm>
            <a:off x="10539648" y="4983480"/>
            <a:ext cx="518739" cy="457200"/>
          </a:xfrm>
          <a:prstGeom prst="rect">
            <a:avLst/>
          </a:prstGeom>
          <a:noFill/>
        </p:spPr>
        <p:txBody>
          <a:bodyPr wrap="square" anchor="ctr">
            <a:spAutoFit/>
          </a:bodyPr>
          <a:lstStyle/>
          <a:p>
            <a:pPr algn="ctr"/>
            <a:r>
              <a:rPr sz="1000" b="1" i="0">
                <a:solidFill>
                  <a:srgbClr val="0D2341"/>
                </a:solidFill>
                <a:latin typeface="Calibri"/>
              </a:rPr>
              <a:t>9.3 %</a:t>
            </a:r>
          </a:p>
        </p:txBody>
      </p:sp>
      <p:sp>
        <p:nvSpPr>
          <p:cNvPr id="170" name="Rectangle 169"/>
          <p:cNvSpPr/>
          <p:nvPr/>
        </p:nvSpPr>
        <p:spPr>
          <a:xfrm>
            <a:off x="11058387" y="4983480"/>
            <a:ext cx="401604" cy="457200"/>
          </a:xfrm>
          <a:prstGeom prst="rect">
            <a:avLst/>
          </a:prstGeom>
          <a:solidFill>
            <a:srgbClr val="B5862A"/>
          </a:solidFill>
          <a:ln w="12700">
            <a:solidFill>
              <a:srgbClr val="B58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1" name="Rectangle 170"/>
          <p:cNvSpPr/>
          <p:nvPr/>
        </p:nvSpPr>
        <p:spPr>
          <a:xfrm>
            <a:off x="11459992" y="4983480"/>
            <a:ext cx="145023" cy="457200"/>
          </a:xfrm>
          <a:prstGeom prst="rect">
            <a:avLst/>
          </a:prstGeom>
          <a:solidFill>
            <a:srgbClr val="CBD5E1"/>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2" name="Rectangle 171"/>
          <p:cNvSpPr/>
          <p:nvPr/>
        </p:nvSpPr>
        <p:spPr>
          <a:xfrm>
            <a:off x="11605016" y="4983480"/>
            <a:ext cx="145023" cy="457200"/>
          </a:xfrm>
          <a:prstGeom prst="rect">
            <a:avLst/>
          </a:prstGeom>
          <a:solidFill>
            <a:srgbClr val="E7EAEE"/>
          </a:solidFill>
          <a:ln w="12700">
            <a:solidFill>
              <a:srgbClr val="E7EA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3" name="Rectangle 172"/>
          <p:cNvSpPr/>
          <p:nvPr/>
        </p:nvSpPr>
        <p:spPr>
          <a:xfrm>
            <a:off x="6172200" y="5586983"/>
            <a:ext cx="146304" cy="146304"/>
          </a:xfrm>
          <a:prstGeom prst="rect">
            <a:avLst/>
          </a:prstGeom>
          <a:solidFill>
            <a:srgbClr val="1A7A8A"/>
          </a:solidFill>
          <a:ln w="12700">
            <a:solidFill>
              <a:srgbClr val="1A7A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 name="TextBox 173"/>
          <p:cNvSpPr txBox="1"/>
          <p:nvPr/>
        </p:nvSpPr>
        <p:spPr>
          <a:xfrm>
            <a:off x="6355080" y="5532120"/>
            <a:ext cx="1691640" cy="256032"/>
          </a:xfrm>
          <a:prstGeom prst="rect">
            <a:avLst/>
          </a:prstGeom>
          <a:noFill/>
        </p:spPr>
        <p:txBody>
          <a:bodyPr wrap="square" anchor="ctr">
            <a:spAutoFit/>
          </a:bodyPr>
          <a:lstStyle/>
          <a:p>
            <a:pPr algn="l"/>
            <a:r>
              <a:rPr sz="950" b="0" i="0">
                <a:solidFill>
                  <a:srgbClr val="334155"/>
                </a:solidFill>
                <a:latin typeface="Calibri"/>
              </a:rPr>
              <a:t>Leche cruda (40.3 %)</a:t>
            </a:r>
          </a:p>
        </p:txBody>
      </p:sp>
      <p:sp>
        <p:nvSpPr>
          <p:cNvPr id="175" name="Rectangle 174"/>
          <p:cNvSpPr/>
          <p:nvPr/>
        </p:nvSpPr>
        <p:spPr>
          <a:xfrm>
            <a:off x="8046720" y="5586983"/>
            <a:ext cx="146304" cy="146304"/>
          </a:xfrm>
          <a:prstGeom prst="rect">
            <a:avLst/>
          </a:prstGeom>
          <a:solidFill>
            <a:srgbClr val="1B3A5C"/>
          </a:solidFill>
          <a:ln w="12700">
            <a:solidFill>
              <a:srgbClr val="1B3A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6" name="TextBox 175"/>
          <p:cNvSpPr txBox="1"/>
          <p:nvPr/>
        </p:nvSpPr>
        <p:spPr>
          <a:xfrm>
            <a:off x="8229600" y="5532120"/>
            <a:ext cx="1691640" cy="256032"/>
          </a:xfrm>
          <a:prstGeom prst="rect">
            <a:avLst/>
          </a:prstGeom>
          <a:noFill/>
        </p:spPr>
        <p:txBody>
          <a:bodyPr wrap="square" anchor="ctr">
            <a:spAutoFit/>
          </a:bodyPr>
          <a:lstStyle/>
          <a:p>
            <a:pPr algn="l"/>
            <a:r>
              <a:rPr sz="950" b="0" i="0">
                <a:solidFill>
                  <a:srgbClr val="334155"/>
                </a:solidFill>
                <a:latin typeface="Calibri"/>
              </a:rPr>
              <a:t>Personal (38.0 %)</a:t>
            </a:r>
          </a:p>
        </p:txBody>
      </p:sp>
      <p:sp>
        <p:nvSpPr>
          <p:cNvPr id="177" name="Rectangle 176"/>
          <p:cNvSpPr/>
          <p:nvPr/>
        </p:nvSpPr>
        <p:spPr>
          <a:xfrm>
            <a:off x="9921240" y="5586983"/>
            <a:ext cx="146304" cy="146304"/>
          </a:xfrm>
          <a:prstGeom prst="rect">
            <a:avLst/>
          </a:prstGeom>
          <a:solidFill>
            <a:srgbClr val="9ECFD5"/>
          </a:solidFill>
          <a:ln w="12700">
            <a:solidFill>
              <a:srgbClr val="9ECF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8" name="TextBox 177"/>
          <p:cNvSpPr txBox="1"/>
          <p:nvPr/>
        </p:nvSpPr>
        <p:spPr>
          <a:xfrm>
            <a:off x="10104119" y="5532120"/>
            <a:ext cx="1691640" cy="256032"/>
          </a:xfrm>
          <a:prstGeom prst="rect">
            <a:avLst/>
          </a:prstGeom>
          <a:noFill/>
        </p:spPr>
        <p:txBody>
          <a:bodyPr wrap="square" anchor="ctr">
            <a:spAutoFit/>
          </a:bodyPr>
          <a:lstStyle/>
          <a:p>
            <a:pPr algn="l"/>
            <a:r>
              <a:rPr sz="950" b="0" i="0">
                <a:solidFill>
                  <a:srgbClr val="334155"/>
                </a:solidFill>
                <a:latin typeface="Calibri"/>
              </a:rPr>
              <a:t>Costos fijos oper. (9.3 %)</a:t>
            </a:r>
          </a:p>
        </p:txBody>
      </p:sp>
      <p:sp>
        <p:nvSpPr>
          <p:cNvPr id="179" name="Rectangle 178"/>
          <p:cNvSpPr/>
          <p:nvPr/>
        </p:nvSpPr>
        <p:spPr>
          <a:xfrm>
            <a:off x="6172200" y="5861303"/>
            <a:ext cx="146304" cy="146304"/>
          </a:xfrm>
          <a:prstGeom prst="rect">
            <a:avLst/>
          </a:prstGeom>
          <a:solidFill>
            <a:srgbClr val="B5862A"/>
          </a:solidFill>
          <a:ln w="12700">
            <a:solidFill>
              <a:srgbClr val="B58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0" name="TextBox 179"/>
          <p:cNvSpPr txBox="1"/>
          <p:nvPr/>
        </p:nvSpPr>
        <p:spPr>
          <a:xfrm>
            <a:off x="6355080" y="5806440"/>
            <a:ext cx="1691640" cy="256032"/>
          </a:xfrm>
          <a:prstGeom prst="rect">
            <a:avLst/>
          </a:prstGeom>
          <a:noFill/>
        </p:spPr>
        <p:txBody>
          <a:bodyPr wrap="square" anchor="ctr">
            <a:spAutoFit/>
          </a:bodyPr>
          <a:lstStyle/>
          <a:p>
            <a:pPr algn="l"/>
            <a:r>
              <a:rPr sz="950" b="0" i="0">
                <a:solidFill>
                  <a:srgbClr val="334155"/>
                </a:solidFill>
                <a:latin typeface="Calibri"/>
              </a:rPr>
              <a:t>Administración (7.2 %)</a:t>
            </a:r>
          </a:p>
        </p:txBody>
      </p:sp>
      <p:sp>
        <p:nvSpPr>
          <p:cNvPr id="181" name="Rectangle 180"/>
          <p:cNvSpPr/>
          <p:nvPr/>
        </p:nvSpPr>
        <p:spPr>
          <a:xfrm>
            <a:off x="8046720" y="5861303"/>
            <a:ext cx="146304" cy="146304"/>
          </a:xfrm>
          <a:prstGeom prst="rect">
            <a:avLst/>
          </a:prstGeom>
          <a:solidFill>
            <a:srgbClr val="CBD5E1"/>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2" name="TextBox 181"/>
          <p:cNvSpPr txBox="1"/>
          <p:nvPr/>
        </p:nvSpPr>
        <p:spPr>
          <a:xfrm>
            <a:off x="8229600" y="5806440"/>
            <a:ext cx="1691640" cy="256032"/>
          </a:xfrm>
          <a:prstGeom prst="rect">
            <a:avLst/>
          </a:prstGeom>
          <a:noFill/>
        </p:spPr>
        <p:txBody>
          <a:bodyPr wrap="square" anchor="ctr">
            <a:spAutoFit/>
          </a:bodyPr>
          <a:lstStyle/>
          <a:p>
            <a:pPr algn="l"/>
            <a:r>
              <a:rPr sz="950" b="0" i="0">
                <a:solidFill>
                  <a:srgbClr val="334155"/>
                </a:solidFill>
                <a:latin typeface="Calibri"/>
              </a:rPr>
              <a:t>Empaque (2.6 %)</a:t>
            </a:r>
          </a:p>
        </p:txBody>
      </p:sp>
      <p:sp>
        <p:nvSpPr>
          <p:cNvPr id="183" name="Rectangle 182"/>
          <p:cNvSpPr/>
          <p:nvPr/>
        </p:nvSpPr>
        <p:spPr>
          <a:xfrm>
            <a:off x="9921240" y="5861303"/>
            <a:ext cx="146304" cy="146304"/>
          </a:xfrm>
          <a:prstGeom prst="rect">
            <a:avLst/>
          </a:prstGeom>
          <a:solidFill>
            <a:srgbClr val="E7EAEE"/>
          </a:solidFill>
          <a:ln w="12700">
            <a:solidFill>
              <a:srgbClr val="E7EA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4" name="TextBox 183"/>
          <p:cNvSpPr txBox="1"/>
          <p:nvPr/>
        </p:nvSpPr>
        <p:spPr>
          <a:xfrm>
            <a:off x="10104119" y="5806440"/>
            <a:ext cx="1691640" cy="256032"/>
          </a:xfrm>
          <a:prstGeom prst="rect">
            <a:avLst/>
          </a:prstGeom>
          <a:noFill/>
        </p:spPr>
        <p:txBody>
          <a:bodyPr wrap="square" anchor="ctr">
            <a:spAutoFit/>
          </a:bodyPr>
          <a:lstStyle/>
          <a:p>
            <a:pPr algn="l"/>
            <a:r>
              <a:rPr sz="950" b="0" i="0">
                <a:solidFill>
                  <a:srgbClr val="334155"/>
                </a:solidFill>
                <a:latin typeface="Calibri"/>
              </a:rPr>
              <a:t>Combustible (2.6 %)</a:t>
            </a:r>
          </a:p>
        </p:txBody>
      </p:sp>
      <p:sp>
        <p:nvSpPr>
          <p:cNvPr id="185" name="TextBox 184"/>
          <p:cNvSpPr txBox="1"/>
          <p:nvPr/>
        </p:nvSpPr>
        <p:spPr>
          <a:xfrm>
            <a:off x="320040" y="6583680"/>
            <a:ext cx="11521440" cy="201168"/>
          </a:xfrm>
          <a:prstGeom prst="rect">
            <a:avLst/>
          </a:prstGeom>
          <a:noFill/>
        </p:spPr>
        <p:txBody>
          <a:bodyPr wrap="square" anchor="ctr">
            <a:spAutoFit/>
          </a:bodyPr>
          <a:lstStyle/>
          <a:p>
            <a:pPr algn="ctr"/>
            <a:r>
              <a:rPr sz="800" b="0" i="0">
                <a:solidFill>
                  <a:srgbClr val="64748B"/>
                </a:solidFill>
                <a:latin typeface="Calibri"/>
              </a:rPr>
              <a:t>Maestría en Agronegocios · Universidad EAFIT · Zamorano · 2026   |   Caballero · Valladares · Medal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320040" y="201168"/>
            <a:ext cx="1828800" cy="256032"/>
          </a:xfrm>
          <a:prstGeom prst="rect">
            <a:avLst/>
          </a:prstGeom>
          <a:noFill/>
          <a:ln/>
        </p:spPr>
        <p:txBody>
          <a:bodyPr wrap="square" rtlCol="0" anchor="ctr"/>
          <a:lstStyle/>
          <a:p>
            <a:pPr marL="0" indent="0" algn="l">
              <a:buNone/>
            </a:pPr>
            <a:r>
              <a:rPr lang="en-US" sz="900" b="1" kern="0" spc="100" dirty="0">
                <a:solidFill>
                  <a:srgbClr val="1A7A8A"/>
                </a:solidFill>
                <a:latin typeface="Calibri" pitchFamily="34" charset="0"/>
                <a:ea typeface="Calibri" pitchFamily="34" charset="-122"/>
                <a:cs typeface="Calibri" pitchFamily="34" charset="-120"/>
              </a:rPr>
              <a:t>INDICADORES</a:t>
            </a:r>
            <a:endParaRPr lang="en-US" sz="900" dirty="0"/>
          </a:p>
        </p:txBody>
      </p:sp>
      <p:sp>
        <p:nvSpPr>
          <p:cNvPr id="3" name="Text 1"/>
          <p:cNvSpPr txBox="1"/>
          <p:nvPr/>
        </p:nvSpPr>
        <p:spPr>
          <a:xfrm>
            <a:off x="320040" y="475488"/>
            <a:ext cx="11521440" cy="502920"/>
          </a:xfrm>
          <a:prstGeom prst="rect">
            <a:avLst/>
          </a:prstGeom>
          <a:noFill/>
          <a:ln/>
        </p:spPr>
        <p:txBody>
          <a:bodyPr wrap="square" rtlCol="0" anchor="ctr"/>
          <a:lstStyle/>
          <a:p>
            <a:pPr marL="0" indent="0">
              <a:buNone/>
            </a:pPr>
            <a:r>
              <a:rPr lang="en-US" sz="2600" b="1" dirty="0">
                <a:solidFill>
                  <a:srgbClr val="0D2341"/>
                </a:solidFill>
                <a:latin typeface="Calibri" pitchFamily="34" charset="0"/>
                <a:ea typeface="Calibri" pitchFamily="34" charset="-122"/>
                <a:cs typeface="Calibri" pitchFamily="34" charset="-120"/>
              </a:rPr>
              <a:t>Indicadores Financieros · VAN, TIR, PRI, IRVA y B/C</a:t>
            </a:r>
            <a:endParaRPr lang="en-US" sz="2600" dirty="0"/>
          </a:p>
        </p:txBody>
      </p:sp>
      <p:sp>
        <p:nvSpPr>
          <p:cNvPr id="4" name="Shape 2"/>
          <p:cNvSpPr/>
          <p:nvPr/>
        </p:nvSpPr>
        <p:spPr>
          <a:xfrm>
            <a:off x="320040" y="1005840"/>
            <a:ext cx="11430000" cy="18288"/>
          </a:xfrm>
          <a:prstGeom prst="rect">
            <a:avLst/>
          </a:prstGeom>
          <a:solidFill>
            <a:srgbClr val="1A7A8A"/>
          </a:solidFill>
          <a:ln w="12700">
            <a:solidFill>
              <a:srgbClr val="1A7A8A"/>
            </a:solidFill>
            <a:prstDash val="solid"/>
          </a:ln>
        </p:spPr>
        <p:txBody>
          <a:bodyPr/>
          <a:lstStyle/>
          <a:p>
            <a:endParaRPr lang="es-CO"/>
          </a:p>
        </p:txBody>
      </p:sp>
      <p:sp>
        <p:nvSpPr>
          <p:cNvPr id="42" name="HeaderBg"/>
          <p:cNvSpPr/>
          <p:nvPr/>
        </p:nvSpPr>
        <p:spPr>
          <a:xfrm>
            <a:off x="320040" y="1115568"/>
            <a:ext cx="5440680" cy="411480"/>
          </a:xfrm>
          <a:prstGeom prst="rect">
            <a:avLst/>
          </a:prstGeom>
          <a:solidFill>
            <a:srgbClr val="0D2341"/>
          </a:solidFill>
          <a:ln w="12700">
            <a:solidFill>
              <a:srgbClr val="0D2341"/>
            </a:solidFill>
            <a:prstDash val="solid"/>
          </a:ln>
        </p:spPr>
        <p:txBody>
          <a:bodyPr/>
          <a:lstStyle/>
          <a:p>
            <a:endParaRPr lang="es-CO"/>
          </a:p>
        </p:txBody>
      </p:sp>
      <p:sp>
        <p:nvSpPr>
          <p:cNvPr id="43" name="HeaderTxt"/>
          <p:cNvSpPr txBox="1"/>
          <p:nvPr/>
        </p:nvSpPr>
        <p:spPr>
          <a:xfrm>
            <a:off x="457200" y="1115568"/>
            <a:ext cx="5166360" cy="411480"/>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SIN FINANCIAMIENTO</a:t>
            </a:r>
            <a:endParaRPr lang="en-US" sz="1100" dirty="0"/>
          </a:p>
        </p:txBody>
      </p:sp>
      <p:sp>
        <p:nvSpPr>
          <p:cNvPr id="44" name="HeaderBg"/>
          <p:cNvSpPr/>
          <p:nvPr/>
        </p:nvSpPr>
        <p:spPr>
          <a:xfrm>
            <a:off x="6126480" y="1115568"/>
            <a:ext cx="5715000" cy="411480"/>
          </a:xfrm>
          <a:prstGeom prst="rect">
            <a:avLst/>
          </a:prstGeom>
          <a:solidFill>
            <a:srgbClr val="1A7A8A"/>
          </a:solidFill>
          <a:ln w="12700">
            <a:solidFill>
              <a:srgbClr val="1A7A8A"/>
            </a:solidFill>
            <a:prstDash val="solid"/>
          </a:ln>
        </p:spPr>
        <p:txBody>
          <a:bodyPr/>
          <a:lstStyle/>
          <a:p>
            <a:endParaRPr lang="es-CO"/>
          </a:p>
        </p:txBody>
      </p:sp>
      <p:sp>
        <p:nvSpPr>
          <p:cNvPr id="45" name="HeaderTxt"/>
          <p:cNvSpPr txBox="1"/>
          <p:nvPr/>
        </p:nvSpPr>
        <p:spPr>
          <a:xfrm>
            <a:off x="6263640" y="1115568"/>
            <a:ext cx="5440680" cy="411480"/>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CON FINANCIAMIENTO (50 % préstamo al 14 % anual)</a:t>
            </a:r>
            <a:endParaRPr lang="en-US" sz="1100" dirty="0"/>
          </a:p>
        </p:txBody>
      </p:sp>
      <p:sp>
        <p:nvSpPr>
          <p:cNvPr id="46" name="CardBg"/>
          <p:cNvSpPr/>
          <p:nvPr/>
        </p:nvSpPr>
        <p:spPr>
          <a:xfrm>
            <a:off x="320040" y="1600200"/>
            <a:ext cx="1752600" cy="1248156"/>
          </a:xfrm>
          <a:prstGeom prst="rect">
            <a:avLst/>
          </a:prstGeom>
          <a:solidFill>
            <a:srgbClr val="F1F5F9"/>
          </a:solidFill>
          <a:ln w="12700">
            <a:solidFill>
              <a:srgbClr val="CBD5E1"/>
            </a:solidFill>
            <a:prstDash val="solid"/>
          </a:ln>
        </p:spPr>
        <p:txBody>
          <a:bodyPr/>
          <a:lstStyle/>
          <a:p>
            <a:endParaRPr lang="es-CO"/>
          </a:p>
        </p:txBody>
      </p:sp>
      <p:sp>
        <p:nvSpPr>
          <p:cNvPr id="47" name="CardVal"/>
          <p:cNvSpPr txBox="1"/>
          <p:nvPr/>
        </p:nvSpPr>
        <p:spPr>
          <a:xfrm>
            <a:off x="320040" y="1645920"/>
            <a:ext cx="1752600" cy="773856"/>
          </a:xfrm>
          <a:prstGeom prst="rect">
            <a:avLst/>
          </a:prstGeom>
          <a:noFill/>
          <a:ln/>
        </p:spPr>
        <p:txBody>
          <a:bodyPr wrap="square" rtlCol="0" anchor="ctr"/>
          <a:lstStyle/>
          <a:p>
            <a:pPr marL="0" indent="0" algn="ctr">
              <a:buNone/>
            </a:pPr>
            <a:r>
              <a:rPr lang="en-US" sz="2000" b="1" dirty="0">
                <a:solidFill>
                  <a:srgbClr val="0D2341"/>
                </a:solidFill>
                <a:latin typeface="Calibri" pitchFamily="34" charset="0"/>
                <a:ea typeface="Calibri" pitchFamily="34" charset="-122"/>
                <a:cs typeface="Calibri" pitchFamily="34" charset="-120"/>
              </a:rPr>
              <a:t>L 15,370,631</a:t>
            </a:r>
            <a:endParaRPr lang="en-US" sz="2000" dirty="0"/>
          </a:p>
        </p:txBody>
      </p:sp>
      <p:sp>
        <p:nvSpPr>
          <p:cNvPr id="48" name="CardLbl"/>
          <p:cNvSpPr txBox="1"/>
          <p:nvPr/>
        </p:nvSpPr>
        <p:spPr>
          <a:xfrm>
            <a:off x="320040" y="2396916"/>
            <a:ext cx="1752600" cy="42858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VAN sin financiamiento</a:t>
            </a:r>
            <a:endParaRPr lang="en-US" sz="1000" dirty="0"/>
          </a:p>
        </p:txBody>
      </p:sp>
      <p:sp>
        <p:nvSpPr>
          <p:cNvPr id="49" name="CardBg"/>
          <p:cNvSpPr/>
          <p:nvPr/>
        </p:nvSpPr>
        <p:spPr>
          <a:xfrm>
            <a:off x="2164080" y="1600200"/>
            <a:ext cx="1752600" cy="1248156"/>
          </a:xfrm>
          <a:prstGeom prst="rect">
            <a:avLst/>
          </a:prstGeom>
          <a:solidFill>
            <a:srgbClr val="F1F5F9"/>
          </a:solidFill>
          <a:ln w="12700">
            <a:solidFill>
              <a:srgbClr val="CBD5E1"/>
            </a:solidFill>
            <a:prstDash val="solid"/>
          </a:ln>
        </p:spPr>
        <p:txBody>
          <a:bodyPr/>
          <a:lstStyle/>
          <a:p>
            <a:endParaRPr lang="es-CO"/>
          </a:p>
        </p:txBody>
      </p:sp>
      <p:sp>
        <p:nvSpPr>
          <p:cNvPr id="50" name="CardVal"/>
          <p:cNvSpPr txBox="1"/>
          <p:nvPr/>
        </p:nvSpPr>
        <p:spPr>
          <a:xfrm>
            <a:off x="2164080" y="1645920"/>
            <a:ext cx="1752600" cy="773856"/>
          </a:xfrm>
          <a:prstGeom prst="rect">
            <a:avLst/>
          </a:prstGeom>
          <a:noFill/>
          <a:ln/>
        </p:spPr>
        <p:txBody>
          <a:bodyPr wrap="square" rtlCol="0" anchor="ctr"/>
          <a:lstStyle/>
          <a:p>
            <a:pPr marL="0" indent="0" algn="ctr">
              <a:buNone/>
            </a:pPr>
            <a:r>
              <a:rPr lang="en-US" sz="2000" b="1" dirty="0">
                <a:solidFill>
                  <a:srgbClr val="0D2341"/>
                </a:solidFill>
                <a:latin typeface="Calibri" pitchFamily="34" charset="0"/>
                <a:ea typeface="Calibri" pitchFamily="34" charset="-122"/>
                <a:cs typeface="Calibri" pitchFamily="34" charset="-120"/>
              </a:rPr>
              <a:t>55.95 %</a:t>
            </a:r>
            <a:endParaRPr lang="en-US" sz="2000" dirty="0"/>
          </a:p>
        </p:txBody>
      </p:sp>
      <p:sp>
        <p:nvSpPr>
          <p:cNvPr id="51" name="CardLbl"/>
          <p:cNvSpPr txBox="1"/>
          <p:nvPr/>
        </p:nvSpPr>
        <p:spPr>
          <a:xfrm>
            <a:off x="2164080" y="2396916"/>
            <a:ext cx="1752600" cy="42858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TIR sin financiamiento</a:t>
            </a:r>
            <a:endParaRPr lang="en-US" sz="1000" dirty="0"/>
          </a:p>
        </p:txBody>
      </p:sp>
      <p:sp>
        <p:nvSpPr>
          <p:cNvPr id="52" name="CardBg"/>
          <p:cNvSpPr/>
          <p:nvPr/>
        </p:nvSpPr>
        <p:spPr>
          <a:xfrm>
            <a:off x="4008120" y="1600200"/>
            <a:ext cx="1752600" cy="1248156"/>
          </a:xfrm>
          <a:prstGeom prst="rect">
            <a:avLst/>
          </a:prstGeom>
          <a:solidFill>
            <a:srgbClr val="F1F5F9"/>
          </a:solidFill>
          <a:ln w="12700">
            <a:solidFill>
              <a:srgbClr val="CBD5E1"/>
            </a:solidFill>
            <a:prstDash val="solid"/>
          </a:ln>
        </p:spPr>
        <p:txBody>
          <a:bodyPr/>
          <a:lstStyle/>
          <a:p>
            <a:endParaRPr lang="es-CO"/>
          </a:p>
        </p:txBody>
      </p:sp>
      <p:sp>
        <p:nvSpPr>
          <p:cNvPr id="53" name="CardVal"/>
          <p:cNvSpPr txBox="1"/>
          <p:nvPr/>
        </p:nvSpPr>
        <p:spPr>
          <a:xfrm>
            <a:off x="4008120" y="1645920"/>
            <a:ext cx="1752600" cy="773856"/>
          </a:xfrm>
          <a:prstGeom prst="rect">
            <a:avLst/>
          </a:prstGeom>
          <a:noFill/>
          <a:ln/>
        </p:spPr>
        <p:txBody>
          <a:bodyPr wrap="square" rtlCol="0" anchor="ctr"/>
          <a:lstStyle/>
          <a:p>
            <a:pPr marL="0" indent="0" algn="ctr">
              <a:buNone/>
            </a:pPr>
            <a:r>
              <a:rPr lang="en-US" sz="2000" b="1" dirty="0">
                <a:solidFill>
                  <a:srgbClr val="0D2341"/>
                </a:solidFill>
                <a:latin typeface="Calibri" pitchFamily="34" charset="0"/>
                <a:ea typeface="Calibri" pitchFamily="34" charset="-122"/>
                <a:cs typeface="Calibri" pitchFamily="34" charset="-120"/>
              </a:rPr>
              <a:t>3.67 años</a:t>
            </a:r>
            <a:endParaRPr lang="en-US" sz="2000" dirty="0"/>
          </a:p>
        </p:txBody>
      </p:sp>
      <p:sp>
        <p:nvSpPr>
          <p:cNvPr id="54" name="CardLbl"/>
          <p:cNvSpPr txBox="1"/>
          <p:nvPr/>
        </p:nvSpPr>
        <p:spPr>
          <a:xfrm>
            <a:off x="4008120" y="2396916"/>
            <a:ext cx="1752600" cy="42858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Período de recuperación</a:t>
            </a:r>
            <a:endParaRPr lang="en-US" sz="1000" dirty="0"/>
          </a:p>
        </p:txBody>
      </p:sp>
      <p:sp>
        <p:nvSpPr>
          <p:cNvPr id="55" name="CardBg"/>
          <p:cNvSpPr/>
          <p:nvPr/>
        </p:nvSpPr>
        <p:spPr>
          <a:xfrm>
            <a:off x="320040" y="2939796"/>
            <a:ext cx="2674620" cy="1248156"/>
          </a:xfrm>
          <a:prstGeom prst="rect">
            <a:avLst/>
          </a:prstGeom>
          <a:solidFill>
            <a:srgbClr val="F1F5F9"/>
          </a:solidFill>
          <a:ln w="12700">
            <a:solidFill>
              <a:srgbClr val="CBD5E1"/>
            </a:solidFill>
            <a:prstDash val="solid"/>
          </a:ln>
        </p:spPr>
        <p:txBody>
          <a:bodyPr/>
          <a:lstStyle/>
          <a:p>
            <a:endParaRPr lang="es-CO"/>
          </a:p>
        </p:txBody>
      </p:sp>
      <p:sp>
        <p:nvSpPr>
          <p:cNvPr id="56" name="CardVal"/>
          <p:cNvSpPr txBox="1"/>
          <p:nvPr/>
        </p:nvSpPr>
        <p:spPr>
          <a:xfrm>
            <a:off x="320040" y="2985516"/>
            <a:ext cx="2674620" cy="773856"/>
          </a:xfrm>
          <a:prstGeom prst="rect">
            <a:avLst/>
          </a:prstGeom>
          <a:noFill/>
          <a:ln/>
        </p:spPr>
        <p:txBody>
          <a:bodyPr wrap="square" rtlCol="0" anchor="ctr"/>
          <a:lstStyle/>
          <a:p>
            <a:pPr marL="0" indent="0" algn="ctr">
              <a:buNone/>
            </a:pPr>
            <a:r>
              <a:rPr lang="en-US" sz="2000" b="1" dirty="0">
                <a:solidFill>
                  <a:srgbClr val="0D2341"/>
                </a:solidFill>
                <a:latin typeface="Calibri" pitchFamily="34" charset="0"/>
                <a:ea typeface="Calibri" pitchFamily="34" charset="-122"/>
                <a:cs typeface="Calibri" pitchFamily="34" charset="-120"/>
              </a:rPr>
              <a:t>8.62</a:t>
            </a:r>
            <a:endParaRPr lang="en-US" sz="2000" dirty="0"/>
          </a:p>
        </p:txBody>
      </p:sp>
      <p:sp>
        <p:nvSpPr>
          <p:cNvPr id="57" name="CardLbl"/>
          <p:cNvSpPr txBox="1"/>
          <p:nvPr/>
        </p:nvSpPr>
        <p:spPr>
          <a:xfrm>
            <a:off x="320040" y="3736512"/>
            <a:ext cx="2674620" cy="42858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Índice de Rentabilidad (IRVA)</a:t>
            </a:r>
            <a:endParaRPr lang="en-US" sz="1000" dirty="0"/>
          </a:p>
        </p:txBody>
      </p:sp>
      <p:sp>
        <p:nvSpPr>
          <p:cNvPr id="58" name="CardBg"/>
          <p:cNvSpPr/>
          <p:nvPr/>
        </p:nvSpPr>
        <p:spPr>
          <a:xfrm>
            <a:off x="3086100" y="2939796"/>
            <a:ext cx="2674620" cy="1248156"/>
          </a:xfrm>
          <a:prstGeom prst="rect">
            <a:avLst/>
          </a:prstGeom>
          <a:solidFill>
            <a:srgbClr val="F1F5F9"/>
          </a:solidFill>
          <a:ln w="12700">
            <a:solidFill>
              <a:srgbClr val="CBD5E1"/>
            </a:solidFill>
            <a:prstDash val="solid"/>
          </a:ln>
        </p:spPr>
        <p:txBody>
          <a:bodyPr/>
          <a:lstStyle/>
          <a:p>
            <a:endParaRPr lang="es-CO"/>
          </a:p>
        </p:txBody>
      </p:sp>
      <p:sp>
        <p:nvSpPr>
          <p:cNvPr id="59" name="CardVal"/>
          <p:cNvSpPr txBox="1"/>
          <p:nvPr/>
        </p:nvSpPr>
        <p:spPr>
          <a:xfrm>
            <a:off x="3086100" y="2985516"/>
            <a:ext cx="2674620" cy="773856"/>
          </a:xfrm>
          <a:prstGeom prst="rect">
            <a:avLst/>
          </a:prstGeom>
          <a:noFill/>
          <a:ln/>
        </p:spPr>
        <p:txBody>
          <a:bodyPr wrap="square" rtlCol="0" anchor="ctr"/>
          <a:lstStyle/>
          <a:p>
            <a:pPr marL="0" indent="0" algn="ctr">
              <a:buNone/>
            </a:pPr>
            <a:r>
              <a:rPr lang="en-US" sz="2000" b="1" dirty="0">
                <a:solidFill>
                  <a:srgbClr val="0D2341"/>
                </a:solidFill>
                <a:latin typeface="Calibri" pitchFamily="34" charset="0"/>
                <a:ea typeface="Calibri" pitchFamily="34" charset="-122"/>
                <a:cs typeface="Calibri" pitchFamily="34" charset="-120"/>
              </a:rPr>
              <a:t>1.24</a:t>
            </a:r>
            <a:endParaRPr lang="en-US" sz="2000" dirty="0"/>
          </a:p>
        </p:txBody>
      </p:sp>
      <p:sp>
        <p:nvSpPr>
          <p:cNvPr id="60" name="CardLbl"/>
          <p:cNvSpPr txBox="1"/>
          <p:nvPr/>
        </p:nvSpPr>
        <p:spPr>
          <a:xfrm>
            <a:off x="3086100" y="3736512"/>
            <a:ext cx="2674620" cy="42858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Relación Beneficio / Costo</a:t>
            </a:r>
            <a:endParaRPr lang="en-US" sz="1000" dirty="0"/>
          </a:p>
        </p:txBody>
      </p:sp>
      <p:sp>
        <p:nvSpPr>
          <p:cNvPr id="61" name="CardBg"/>
          <p:cNvSpPr/>
          <p:nvPr/>
        </p:nvSpPr>
        <p:spPr>
          <a:xfrm>
            <a:off x="6126480" y="1600200"/>
            <a:ext cx="1844040" cy="1248156"/>
          </a:xfrm>
          <a:prstGeom prst="rect">
            <a:avLst/>
          </a:prstGeom>
          <a:solidFill>
            <a:srgbClr val="F1F5F9"/>
          </a:solidFill>
          <a:ln w="12700">
            <a:solidFill>
              <a:srgbClr val="CBD5E1"/>
            </a:solidFill>
            <a:prstDash val="solid"/>
          </a:ln>
        </p:spPr>
        <p:txBody>
          <a:bodyPr/>
          <a:lstStyle/>
          <a:p>
            <a:endParaRPr lang="es-CO"/>
          </a:p>
        </p:txBody>
      </p:sp>
      <p:sp>
        <p:nvSpPr>
          <p:cNvPr id="62" name="CardVal"/>
          <p:cNvSpPr txBox="1"/>
          <p:nvPr/>
        </p:nvSpPr>
        <p:spPr>
          <a:xfrm>
            <a:off x="6126480" y="1645920"/>
            <a:ext cx="1844040" cy="773856"/>
          </a:xfrm>
          <a:prstGeom prst="rect">
            <a:avLst/>
          </a:prstGeom>
          <a:noFill/>
          <a:ln/>
        </p:spPr>
        <p:txBody>
          <a:bodyPr wrap="square" rtlCol="0" anchor="ctr"/>
          <a:lstStyle/>
          <a:p>
            <a:pPr marL="0" indent="0" algn="ctr">
              <a:buNone/>
            </a:pPr>
            <a:r>
              <a:rPr lang="en-US" sz="2000" b="1" dirty="0">
                <a:solidFill>
                  <a:srgbClr val="0D2341"/>
                </a:solidFill>
                <a:latin typeface="Calibri" pitchFamily="34" charset="0"/>
                <a:ea typeface="Calibri" pitchFamily="34" charset="-122"/>
                <a:cs typeface="Calibri" pitchFamily="34" charset="-120"/>
              </a:rPr>
              <a:t>L 15,459,686</a:t>
            </a:r>
            <a:endParaRPr lang="en-US" sz="2000" dirty="0"/>
          </a:p>
        </p:txBody>
      </p:sp>
      <p:sp>
        <p:nvSpPr>
          <p:cNvPr id="63" name="CardLbl"/>
          <p:cNvSpPr txBox="1"/>
          <p:nvPr/>
        </p:nvSpPr>
        <p:spPr>
          <a:xfrm>
            <a:off x="6126480" y="2396916"/>
            <a:ext cx="1844040" cy="42858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VAN con financiamiento</a:t>
            </a:r>
            <a:endParaRPr lang="en-US" sz="1000" dirty="0"/>
          </a:p>
        </p:txBody>
      </p:sp>
      <p:sp>
        <p:nvSpPr>
          <p:cNvPr id="64" name="CardBg"/>
          <p:cNvSpPr/>
          <p:nvPr/>
        </p:nvSpPr>
        <p:spPr>
          <a:xfrm>
            <a:off x="8061960" y="1600200"/>
            <a:ext cx="1844040" cy="1248156"/>
          </a:xfrm>
          <a:prstGeom prst="rect">
            <a:avLst/>
          </a:prstGeom>
          <a:solidFill>
            <a:srgbClr val="F1F5F9"/>
          </a:solidFill>
          <a:ln w="12700">
            <a:solidFill>
              <a:srgbClr val="CBD5E1"/>
            </a:solidFill>
            <a:prstDash val="solid"/>
          </a:ln>
        </p:spPr>
        <p:txBody>
          <a:bodyPr/>
          <a:lstStyle/>
          <a:p>
            <a:endParaRPr lang="es-CO"/>
          </a:p>
        </p:txBody>
      </p:sp>
      <p:sp>
        <p:nvSpPr>
          <p:cNvPr id="65" name="CardVal"/>
          <p:cNvSpPr txBox="1"/>
          <p:nvPr/>
        </p:nvSpPr>
        <p:spPr>
          <a:xfrm>
            <a:off x="8061960" y="1645920"/>
            <a:ext cx="1844040" cy="773856"/>
          </a:xfrm>
          <a:prstGeom prst="rect">
            <a:avLst/>
          </a:prstGeom>
          <a:noFill/>
          <a:ln/>
        </p:spPr>
        <p:txBody>
          <a:bodyPr wrap="square" rtlCol="0" anchor="ctr"/>
          <a:lstStyle/>
          <a:p>
            <a:pPr marL="0" indent="0" algn="ctr">
              <a:buNone/>
            </a:pPr>
            <a:r>
              <a:rPr lang="en-US" sz="2000" b="1" dirty="0">
                <a:solidFill>
                  <a:srgbClr val="0D2341"/>
                </a:solidFill>
                <a:latin typeface="Calibri" pitchFamily="34" charset="0"/>
                <a:ea typeface="Calibri" pitchFamily="34" charset="-122"/>
                <a:cs typeface="Calibri" pitchFamily="34" charset="-120"/>
              </a:rPr>
              <a:t>63.62 %</a:t>
            </a:r>
            <a:endParaRPr lang="en-US" sz="2000" dirty="0"/>
          </a:p>
        </p:txBody>
      </p:sp>
      <p:sp>
        <p:nvSpPr>
          <p:cNvPr id="66" name="CardLbl"/>
          <p:cNvSpPr txBox="1"/>
          <p:nvPr/>
        </p:nvSpPr>
        <p:spPr>
          <a:xfrm>
            <a:off x="8061960" y="2396916"/>
            <a:ext cx="1844040" cy="42858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TIR con financiamiento</a:t>
            </a:r>
            <a:endParaRPr lang="en-US" sz="1000" dirty="0"/>
          </a:p>
        </p:txBody>
      </p:sp>
      <p:sp>
        <p:nvSpPr>
          <p:cNvPr id="67" name="CardBg"/>
          <p:cNvSpPr/>
          <p:nvPr/>
        </p:nvSpPr>
        <p:spPr>
          <a:xfrm>
            <a:off x="9997440" y="1600200"/>
            <a:ext cx="1844040" cy="1248156"/>
          </a:xfrm>
          <a:prstGeom prst="rect">
            <a:avLst/>
          </a:prstGeom>
          <a:solidFill>
            <a:srgbClr val="F1F5F9"/>
          </a:solidFill>
          <a:ln w="12700">
            <a:solidFill>
              <a:srgbClr val="CBD5E1"/>
            </a:solidFill>
            <a:prstDash val="solid"/>
          </a:ln>
        </p:spPr>
        <p:txBody>
          <a:bodyPr/>
          <a:lstStyle/>
          <a:p>
            <a:endParaRPr lang="es-CO"/>
          </a:p>
        </p:txBody>
      </p:sp>
      <p:sp>
        <p:nvSpPr>
          <p:cNvPr id="68" name="CardVal"/>
          <p:cNvSpPr txBox="1"/>
          <p:nvPr/>
        </p:nvSpPr>
        <p:spPr>
          <a:xfrm>
            <a:off x="9997440" y="1645920"/>
            <a:ext cx="1844040" cy="773856"/>
          </a:xfrm>
          <a:prstGeom prst="rect">
            <a:avLst/>
          </a:prstGeom>
          <a:noFill/>
          <a:ln/>
        </p:spPr>
        <p:txBody>
          <a:bodyPr wrap="square" rtlCol="0" anchor="ctr"/>
          <a:lstStyle/>
          <a:p>
            <a:pPr marL="0" indent="0" algn="ctr">
              <a:buNone/>
            </a:pPr>
            <a:r>
              <a:rPr lang="en-US" sz="2000" b="1" dirty="0">
                <a:solidFill>
                  <a:srgbClr val="0D2341"/>
                </a:solidFill>
                <a:latin typeface="Calibri" pitchFamily="34" charset="0"/>
                <a:ea typeface="Calibri" pitchFamily="34" charset="-122"/>
                <a:cs typeface="Calibri" pitchFamily="34" charset="-120"/>
              </a:rPr>
              <a:t>3.66 años</a:t>
            </a:r>
            <a:endParaRPr lang="en-US" sz="2000" dirty="0"/>
          </a:p>
        </p:txBody>
      </p:sp>
      <p:sp>
        <p:nvSpPr>
          <p:cNvPr id="69" name="CardLbl"/>
          <p:cNvSpPr txBox="1"/>
          <p:nvPr/>
        </p:nvSpPr>
        <p:spPr>
          <a:xfrm>
            <a:off x="9997440" y="2396916"/>
            <a:ext cx="1844040" cy="42858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Período de recuperación</a:t>
            </a:r>
            <a:endParaRPr lang="en-US" sz="1000" dirty="0"/>
          </a:p>
        </p:txBody>
      </p:sp>
      <p:sp>
        <p:nvSpPr>
          <p:cNvPr id="70" name="CardBg"/>
          <p:cNvSpPr/>
          <p:nvPr/>
        </p:nvSpPr>
        <p:spPr>
          <a:xfrm>
            <a:off x="6126480" y="2939796"/>
            <a:ext cx="2811780" cy="1248156"/>
          </a:xfrm>
          <a:prstGeom prst="rect">
            <a:avLst/>
          </a:prstGeom>
          <a:solidFill>
            <a:srgbClr val="F1F5F9"/>
          </a:solidFill>
          <a:ln w="12700">
            <a:solidFill>
              <a:srgbClr val="CBD5E1"/>
            </a:solidFill>
            <a:prstDash val="solid"/>
          </a:ln>
        </p:spPr>
        <p:txBody>
          <a:bodyPr/>
          <a:lstStyle/>
          <a:p>
            <a:endParaRPr lang="es-CO"/>
          </a:p>
        </p:txBody>
      </p:sp>
      <p:sp>
        <p:nvSpPr>
          <p:cNvPr id="71" name="CardVal"/>
          <p:cNvSpPr txBox="1"/>
          <p:nvPr/>
        </p:nvSpPr>
        <p:spPr>
          <a:xfrm>
            <a:off x="6126480" y="2985516"/>
            <a:ext cx="2811780" cy="773856"/>
          </a:xfrm>
          <a:prstGeom prst="rect">
            <a:avLst/>
          </a:prstGeom>
          <a:noFill/>
          <a:ln/>
        </p:spPr>
        <p:txBody>
          <a:bodyPr wrap="square" rtlCol="0" anchor="ctr"/>
          <a:lstStyle/>
          <a:p>
            <a:pPr marL="0" indent="0" algn="ctr">
              <a:buNone/>
            </a:pPr>
            <a:r>
              <a:rPr lang="en-US" sz="2000" b="1" dirty="0">
                <a:solidFill>
                  <a:srgbClr val="0D2341"/>
                </a:solidFill>
                <a:latin typeface="Calibri" pitchFamily="34" charset="0"/>
                <a:ea typeface="Calibri" pitchFamily="34" charset="-122"/>
                <a:cs typeface="Calibri" pitchFamily="34" charset="-120"/>
              </a:rPr>
              <a:t>17.33</a:t>
            </a:r>
            <a:endParaRPr lang="en-US" sz="2000" dirty="0"/>
          </a:p>
        </p:txBody>
      </p:sp>
      <p:sp>
        <p:nvSpPr>
          <p:cNvPr id="72" name="CardLbl"/>
          <p:cNvSpPr txBox="1"/>
          <p:nvPr/>
        </p:nvSpPr>
        <p:spPr>
          <a:xfrm>
            <a:off x="6126480" y="3736512"/>
            <a:ext cx="2811780" cy="42858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Índice de Rentabilidad (IRVA)</a:t>
            </a:r>
            <a:endParaRPr lang="en-US" sz="1000" dirty="0"/>
          </a:p>
        </p:txBody>
      </p:sp>
      <p:sp>
        <p:nvSpPr>
          <p:cNvPr id="73" name="CardBg"/>
          <p:cNvSpPr/>
          <p:nvPr/>
        </p:nvSpPr>
        <p:spPr>
          <a:xfrm>
            <a:off x="9029700" y="2939796"/>
            <a:ext cx="2811780" cy="1248156"/>
          </a:xfrm>
          <a:prstGeom prst="rect">
            <a:avLst/>
          </a:prstGeom>
          <a:solidFill>
            <a:srgbClr val="F1F5F9"/>
          </a:solidFill>
          <a:ln w="12700">
            <a:solidFill>
              <a:srgbClr val="CBD5E1"/>
            </a:solidFill>
            <a:prstDash val="solid"/>
          </a:ln>
        </p:spPr>
        <p:txBody>
          <a:bodyPr/>
          <a:lstStyle/>
          <a:p>
            <a:endParaRPr lang="es-CO"/>
          </a:p>
        </p:txBody>
      </p:sp>
      <p:sp>
        <p:nvSpPr>
          <p:cNvPr id="74" name="CardVal"/>
          <p:cNvSpPr txBox="1"/>
          <p:nvPr/>
        </p:nvSpPr>
        <p:spPr>
          <a:xfrm>
            <a:off x="9029700" y="2985516"/>
            <a:ext cx="2811780" cy="773856"/>
          </a:xfrm>
          <a:prstGeom prst="rect">
            <a:avLst/>
          </a:prstGeom>
          <a:noFill/>
          <a:ln/>
        </p:spPr>
        <p:txBody>
          <a:bodyPr wrap="square" rtlCol="0" anchor="ctr"/>
          <a:lstStyle/>
          <a:p>
            <a:pPr marL="0" indent="0" algn="ctr">
              <a:buNone/>
            </a:pPr>
            <a:r>
              <a:rPr lang="en-US" sz="2000" b="1" dirty="0">
                <a:solidFill>
                  <a:srgbClr val="0D2341"/>
                </a:solidFill>
                <a:latin typeface="Calibri" pitchFamily="34" charset="0"/>
                <a:ea typeface="Calibri" pitchFamily="34" charset="-122"/>
                <a:cs typeface="Calibri" pitchFamily="34" charset="-120"/>
              </a:rPr>
              <a:t>1.24</a:t>
            </a:r>
            <a:endParaRPr lang="en-US" sz="2000" dirty="0"/>
          </a:p>
        </p:txBody>
      </p:sp>
      <p:sp>
        <p:nvSpPr>
          <p:cNvPr id="75" name="CardLbl"/>
          <p:cNvSpPr txBox="1"/>
          <p:nvPr/>
        </p:nvSpPr>
        <p:spPr>
          <a:xfrm>
            <a:off x="9029700" y="3736512"/>
            <a:ext cx="2811780" cy="42858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Relación Beneficio / Costo</a:t>
            </a:r>
            <a:endParaRPr lang="en-US" sz="1000" dirty="0"/>
          </a:p>
        </p:txBody>
      </p:sp>
      <p:sp>
        <p:nvSpPr>
          <p:cNvPr id="33" name="Shape 31"/>
          <p:cNvSpPr/>
          <p:nvPr/>
        </p:nvSpPr>
        <p:spPr>
          <a:xfrm>
            <a:off x="320040" y="4279392"/>
            <a:ext cx="182880" cy="274320"/>
          </a:xfrm>
          <a:prstGeom prst="rect">
            <a:avLst/>
          </a:prstGeom>
          <a:solidFill>
            <a:srgbClr val="1A7A8A"/>
          </a:solidFill>
          <a:ln w="12700">
            <a:solidFill>
              <a:srgbClr val="1A7A8A"/>
            </a:solidFill>
            <a:prstDash val="solid"/>
          </a:ln>
        </p:spPr>
        <p:txBody>
          <a:bodyPr/>
          <a:lstStyle/>
          <a:p>
            <a:endParaRPr lang="es-CO"/>
          </a:p>
        </p:txBody>
      </p:sp>
      <p:sp>
        <p:nvSpPr>
          <p:cNvPr id="34" name="Text 32"/>
          <p:cNvSpPr txBox="1"/>
          <p:nvPr/>
        </p:nvSpPr>
        <p:spPr>
          <a:xfrm>
            <a:off x="594360" y="4297680"/>
            <a:ext cx="11155680" cy="310896"/>
          </a:xfrm>
          <a:prstGeom prst="rect">
            <a:avLst/>
          </a:prstGeom>
          <a:noFill/>
          <a:ln/>
        </p:spPr>
        <p:txBody>
          <a:bodyPr wrap="square" rtlCol="0" anchor="ctr"/>
          <a:lstStyle/>
          <a:p>
            <a:pPr marL="0" indent="0">
              <a:buNone/>
            </a:pPr>
            <a:r>
              <a:rPr lang="en-US" sz="1200" dirty="0">
                <a:solidFill>
                  <a:srgbClr val="334155"/>
                </a:solidFill>
                <a:latin typeface="Calibri" pitchFamily="34" charset="0"/>
                <a:ea typeface="Calibri" pitchFamily="34" charset="-122"/>
                <a:cs typeface="Calibri" pitchFamily="34" charset="-120"/>
              </a:rPr>
              <a:t>IRVA = VAN / inversión aportada; con deuda los socios aportan la mitad, por eso se duplica (8.62 → 17.33).</a:t>
            </a:r>
            <a:endParaRPr lang="en-US" sz="1200" dirty="0"/>
          </a:p>
        </p:txBody>
      </p:sp>
      <p:sp>
        <p:nvSpPr>
          <p:cNvPr id="35" name="Shape 33"/>
          <p:cNvSpPr/>
          <p:nvPr/>
        </p:nvSpPr>
        <p:spPr>
          <a:xfrm>
            <a:off x="320040" y="4663440"/>
            <a:ext cx="182880" cy="274320"/>
          </a:xfrm>
          <a:prstGeom prst="rect">
            <a:avLst/>
          </a:prstGeom>
          <a:solidFill>
            <a:srgbClr val="1A7A8A"/>
          </a:solidFill>
          <a:ln w="12700">
            <a:solidFill>
              <a:srgbClr val="1A7A8A"/>
            </a:solidFill>
            <a:prstDash val="solid"/>
          </a:ln>
        </p:spPr>
        <p:txBody>
          <a:bodyPr/>
          <a:lstStyle/>
          <a:p>
            <a:endParaRPr lang="es-CO"/>
          </a:p>
        </p:txBody>
      </p:sp>
      <p:sp>
        <p:nvSpPr>
          <p:cNvPr id="36" name="Text 34"/>
          <p:cNvSpPr txBox="1"/>
          <p:nvPr/>
        </p:nvSpPr>
        <p:spPr>
          <a:xfrm>
            <a:off x="594360" y="4681728"/>
            <a:ext cx="11155680" cy="310896"/>
          </a:xfrm>
          <a:prstGeom prst="rect">
            <a:avLst/>
          </a:prstGeom>
          <a:noFill/>
          <a:ln/>
        </p:spPr>
        <p:txBody>
          <a:bodyPr wrap="square" rtlCol="0" anchor="ctr"/>
          <a:lstStyle/>
          <a:p>
            <a:pPr marL="0" indent="0">
              <a:buNone/>
            </a:pPr>
            <a:r>
              <a:rPr lang="en-US" sz="1200" dirty="0">
                <a:solidFill>
                  <a:srgbClr val="334155"/>
                </a:solidFill>
                <a:latin typeface="Calibri" pitchFamily="34" charset="0"/>
                <a:ea typeface="Calibri" pitchFamily="34" charset="-122"/>
                <a:cs typeface="Calibri" pitchFamily="34" charset="-120"/>
              </a:rPr>
              <a:t>B/C casi igual (1.239 y 1.241): el VP de intereses y abonos al 15 % casi iguala al préstamo.</a:t>
            </a:r>
            <a:endParaRPr lang="en-US" sz="1200" dirty="0"/>
          </a:p>
        </p:txBody>
      </p:sp>
      <p:sp>
        <p:nvSpPr>
          <p:cNvPr id="37" name="Shape 35"/>
          <p:cNvSpPr/>
          <p:nvPr/>
        </p:nvSpPr>
        <p:spPr>
          <a:xfrm>
            <a:off x="320040" y="5047488"/>
            <a:ext cx="182880" cy="274320"/>
          </a:xfrm>
          <a:prstGeom prst="rect">
            <a:avLst/>
          </a:prstGeom>
          <a:solidFill>
            <a:srgbClr val="1A7A8A"/>
          </a:solidFill>
          <a:ln w="12700">
            <a:solidFill>
              <a:srgbClr val="1A7A8A"/>
            </a:solidFill>
            <a:prstDash val="solid"/>
          </a:ln>
        </p:spPr>
        <p:txBody>
          <a:bodyPr/>
          <a:lstStyle/>
          <a:p>
            <a:endParaRPr lang="es-CO"/>
          </a:p>
        </p:txBody>
      </p:sp>
      <p:sp>
        <p:nvSpPr>
          <p:cNvPr id="38" name="Text 36"/>
          <p:cNvSpPr txBox="1"/>
          <p:nvPr/>
        </p:nvSpPr>
        <p:spPr>
          <a:xfrm>
            <a:off x="594360" y="5065776"/>
            <a:ext cx="11155680" cy="310896"/>
          </a:xfrm>
          <a:prstGeom prst="rect">
            <a:avLst/>
          </a:prstGeom>
          <a:noFill/>
          <a:ln/>
        </p:spPr>
        <p:txBody>
          <a:bodyPr wrap="square" rtlCol="0" anchor="ctr"/>
          <a:lstStyle/>
          <a:p>
            <a:pPr marL="0" indent="0">
              <a:buNone/>
            </a:pPr>
            <a:r>
              <a:rPr lang="en-US" sz="1200" dirty="0">
                <a:solidFill>
                  <a:srgbClr val="334155"/>
                </a:solidFill>
                <a:latin typeface="Calibri" pitchFamily="34" charset="0"/>
                <a:ea typeface="Calibri" pitchFamily="34" charset="-122"/>
                <a:cs typeface="Calibri" pitchFamily="34" charset="-120"/>
              </a:rPr>
              <a:t>Ambos VAN al 15 % (Ke). La TIR con deuda (63.62 %) supera el costo del préstamo (14 %).</a:t>
            </a:r>
            <a:endParaRPr lang="en-US" sz="1200" dirty="0"/>
          </a:p>
        </p:txBody>
      </p:sp>
      <p:sp>
        <p:nvSpPr>
          <p:cNvPr id="39" name="Shape 37"/>
          <p:cNvSpPr/>
          <p:nvPr/>
        </p:nvSpPr>
        <p:spPr>
          <a:xfrm>
            <a:off x="320040" y="5431536"/>
            <a:ext cx="182880" cy="274320"/>
          </a:xfrm>
          <a:prstGeom prst="rect">
            <a:avLst/>
          </a:prstGeom>
          <a:solidFill>
            <a:srgbClr val="1A7A8A"/>
          </a:solidFill>
          <a:ln w="12700">
            <a:solidFill>
              <a:srgbClr val="1A7A8A"/>
            </a:solidFill>
            <a:prstDash val="solid"/>
          </a:ln>
        </p:spPr>
        <p:txBody>
          <a:bodyPr/>
          <a:lstStyle/>
          <a:p>
            <a:endParaRPr lang="es-CO"/>
          </a:p>
        </p:txBody>
      </p:sp>
      <p:sp>
        <p:nvSpPr>
          <p:cNvPr id="40" name="Text 38"/>
          <p:cNvSpPr txBox="1"/>
          <p:nvPr/>
        </p:nvSpPr>
        <p:spPr>
          <a:xfrm>
            <a:off x="594360" y="5449824"/>
            <a:ext cx="11155680" cy="310896"/>
          </a:xfrm>
          <a:prstGeom prst="rect">
            <a:avLst/>
          </a:prstGeom>
          <a:noFill/>
          <a:ln/>
        </p:spPr>
        <p:txBody>
          <a:bodyPr wrap="square" rtlCol="0" anchor="ctr"/>
          <a:lstStyle/>
          <a:p>
            <a:pPr marL="0" indent="0">
              <a:buNone/>
            </a:pPr>
            <a:r>
              <a:rPr lang="en-US" sz="1200" dirty="0">
                <a:solidFill>
                  <a:srgbClr val="334155"/>
                </a:solidFill>
                <a:latin typeface="Calibri" pitchFamily="34" charset="0"/>
                <a:ea typeface="Calibri" pitchFamily="34" charset="-122"/>
                <a:cs typeface="Calibri" pitchFamily="34" charset="-120"/>
              </a:rPr>
              <a:t>VAN determinísticos; el VPN medio de @RISK (L 24.0 M) se concilia en la sección de riesgos.</a:t>
            </a:r>
            <a:endParaRPr lang="en-US" sz="1200" dirty="0"/>
          </a:p>
        </p:txBody>
      </p:sp>
      <p:sp>
        <p:nvSpPr>
          <p:cNvPr id="41" name="Text 39"/>
          <p:cNvSpPr txBox="1"/>
          <p:nvPr/>
        </p:nvSpPr>
        <p:spPr>
          <a:xfrm>
            <a:off x="320040" y="6583680"/>
            <a:ext cx="11521440" cy="201168"/>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Maestría en Agronegocios · Universidad EAFIT · Zamorano · 2026   |   Caballero · Valladares · Medal</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320040" y="201168"/>
            <a:ext cx="1828800" cy="256032"/>
          </a:xfrm>
          <a:prstGeom prst="rect">
            <a:avLst/>
          </a:prstGeom>
          <a:noFill/>
          <a:ln/>
        </p:spPr>
        <p:txBody>
          <a:bodyPr wrap="square" rtlCol="0" anchor="ctr"/>
          <a:lstStyle/>
          <a:p>
            <a:pPr marL="0" indent="0" algn="l">
              <a:buNone/>
            </a:pPr>
            <a:r>
              <a:rPr lang="en-US" sz="900" b="1" kern="0" spc="100" dirty="0">
                <a:solidFill>
                  <a:srgbClr val="1A7A8A"/>
                </a:solidFill>
                <a:latin typeface="Calibri" pitchFamily="34" charset="0"/>
                <a:ea typeface="Calibri" pitchFamily="34" charset="-122"/>
                <a:cs typeface="Calibri" pitchFamily="34" charset="-120"/>
              </a:rPr>
              <a:t>SENSIBILIDAD</a:t>
            </a:r>
            <a:endParaRPr lang="en-US" sz="900" dirty="0"/>
          </a:p>
        </p:txBody>
      </p:sp>
      <p:sp>
        <p:nvSpPr>
          <p:cNvPr id="3" name="Text 1"/>
          <p:cNvSpPr txBox="1"/>
          <p:nvPr/>
        </p:nvSpPr>
        <p:spPr>
          <a:xfrm>
            <a:off x="320040" y="475488"/>
            <a:ext cx="11521440" cy="502920"/>
          </a:xfrm>
          <a:prstGeom prst="rect">
            <a:avLst/>
          </a:prstGeom>
          <a:noFill/>
          <a:ln/>
        </p:spPr>
        <p:txBody>
          <a:bodyPr wrap="square" rtlCol="0" anchor="ctr"/>
          <a:lstStyle/>
          <a:p>
            <a:pPr marL="0" indent="0">
              <a:buNone/>
            </a:pPr>
            <a:r>
              <a:rPr lang="en-US" sz="2400" b="1" dirty="0">
                <a:solidFill>
                  <a:srgbClr val="0D2341"/>
                </a:solidFill>
                <a:latin typeface="Calibri" pitchFamily="34" charset="0"/>
                <a:ea typeface="Calibri" pitchFamily="34" charset="-122"/>
                <a:cs typeface="Calibri" pitchFamily="34" charset="-120"/>
              </a:rPr>
              <a:t>Análisis de Sensibilidad · Variables Críticas</a:t>
            </a:r>
            <a:endParaRPr lang="en-US" sz="2400" dirty="0"/>
          </a:p>
        </p:txBody>
      </p:sp>
      <p:sp>
        <p:nvSpPr>
          <p:cNvPr id="4" name="Shape 2"/>
          <p:cNvSpPr/>
          <p:nvPr/>
        </p:nvSpPr>
        <p:spPr>
          <a:xfrm>
            <a:off x="320040" y="1005840"/>
            <a:ext cx="11430000" cy="18288"/>
          </a:xfrm>
          <a:prstGeom prst="rect">
            <a:avLst/>
          </a:prstGeom>
          <a:solidFill>
            <a:srgbClr val="1A7A8A"/>
          </a:solidFill>
          <a:ln w="12700">
            <a:solidFill>
              <a:srgbClr val="1A7A8A"/>
            </a:solidFill>
            <a:prstDash val="solid"/>
          </a:ln>
        </p:spPr>
        <p:txBody>
          <a:bodyPr/>
          <a:lstStyle/>
          <a:p>
            <a:endParaRPr lang="es-CO"/>
          </a:p>
        </p:txBody>
      </p:sp>
      <p:sp>
        <p:nvSpPr>
          <p:cNvPr id="61" name="Text 59"/>
          <p:cNvSpPr txBox="1"/>
          <p:nvPr/>
        </p:nvSpPr>
        <p:spPr>
          <a:xfrm>
            <a:off x="320040" y="6583680"/>
            <a:ext cx="11521440" cy="201168"/>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Maestría en Agronegocios · Universidad EAFIT · Zamorano · 2026   |   Caballero · Valladares · Medal</a:t>
            </a:r>
            <a:endParaRPr lang="en-US" sz="800" dirty="0"/>
          </a:p>
        </p:txBody>
      </p:sp>
      <p:sp>
        <p:nvSpPr>
          <p:cNvPr id="62" name="TextBox 61"/>
          <p:cNvSpPr txBox="1"/>
          <p:nvPr/>
        </p:nvSpPr>
        <p:spPr>
          <a:xfrm>
            <a:off x="320040" y="1033271"/>
            <a:ext cx="11430000" cy="502920"/>
          </a:xfrm>
          <a:prstGeom prst="rect">
            <a:avLst/>
          </a:prstGeom>
          <a:noFill/>
        </p:spPr>
        <p:txBody>
          <a:bodyPr wrap="square" anchor="t">
            <a:spAutoFit/>
          </a:bodyPr>
          <a:lstStyle/>
          <a:p>
            <a:pPr algn="l"/>
            <a:r>
              <a:rPr sz="1000" b="1" i="0">
                <a:solidFill>
                  <a:srgbClr val="0D2341"/>
                </a:solidFill>
                <a:latin typeface="Calibri"/>
              </a:rPr>
              <a:t>Cómo se lee: </a:t>
            </a:r>
            <a:r>
              <a:rPr sz="1000" b="0" i="0">
                <a:solidFill>
                  <a:srgbClr val="334155"/>
                </a:solidFill>
                <a:latin typeface="Calibri"/>
              </a:rPr>
              <a:t>se mueve una variable a la vez a su mínimo y a su máximo (Tablas 36 y 37). ΔVAN = cuánto cambia el VAN frente al caso base (L 15.37 M); Rango = diferencia entre ambos extremos. Nivel: muy alto &gt; L 5 M; medio de L 0.9 M a L 5 M; bajo &lt; L 0.9 M.</a:t>
            </a:r>
          </a:p>
        </p:txBody>
      </p:sp>
      <p:sp>
        <p:nvSpPr>
          <p:cNvPr id="63" name="Rectangle 62"/>
          <p:cNvSpPr/>
          <p:nvPr/>
        </p:nvSpPr>
        <p:spPr>
          <a:xfrm>
            <a:off x="320040" y="1600200"/>
            <a:ext cx="1188720" cy="365760"/>
          </a:xfrm>
          <a:prstGeom prst="rect">
            <a:avLst/>
          </a:prstGeom>
          <a:solidFill>
            <a:srgbClr val="C0392B"/>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320040" y="1600200"/>
            <a:ext cx="1188720" cy="365760"/>
          </a:xfrm>
          <a:prstGeom prst="rect">
            <a:avLst/>
          </a:prstGeom>
          <a:noFill/>
        </p:spPr>
        <p:txBody>
          <a:bodyPr wrap="square" anchor="ctr">
            <a:spAutoFit/>
          </a:bodyPr>
          <a:lstStyle/>
          <a:p>
            <a:pPr algn="ctr"/>
            <a:r>
              <a:rPr sz="950" b="1" i="0">
                <a:solidFill>
                  <a:srgbClr val="FFFFFF"/>
                </a:solidFill>
                <a:latin typeface="Calibri"/>
              </a:rPr>
              <a:t>MUY ALTO</a:t>
            </a:r>
          </a:p>
        </p:txBody>
      </p:sp>
      <p:sp>
        <p:nvSpPr>
          <p:cNvPr id="65" name="Rectangle 64"/>
          <p:cNvSpPr/>
          <p:nvPr/>
        </p:nvSpPr>
        <p:spPr>
          <a:xfrm>
            <a:off x="1554480" y="1600200"/>
            <a:ext cx="101955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1645920" y="1600200"/>
            <a:ext cx="3657600" cy="365760"/>
          </a:xfrm>
          <a:prstGeom prst="rect">
            <a:avLst/>
          </a:prstGeom>
          <a:noFill/>
        </p:spPr>
        <p:txBody>
          <a:bodyPr wrap="square" anchor="ctr">
            <a:spAutoFit/>
          </a:bodyPr>
          <a:lstStyle/>
          <a:p>
            <a:pPr algn="l"/>
            <a:r>
              <a:rPr sz="1100" b="1" i="0">
                <a:solidFill>
                  <a:srgbClr val="1B3A5C"/>
                </a:solidFill>
                <a:latin typeface="Calibri"/>
              </a:rPr>
              <a:t>Consumo por cliente</a:t>
            </a:r>
          </a:p>
        </p:txBody>
      </p:sp>
      <p:sp>
        <p:nvSpPr>
          <p:cNvPr id="67" name="TextBox 66"/>
          <p:cNvSpPr txBox="1"/>
          <p:nvPr/>
        </p:nvSpPr>
        <p:spPr>
          <a:xfrm>
            <a:off x="4846320" y="1600200"/>
            <a:ext cx="3291840" cy="365760"/>
          </a:xfrm>
          <a:prstGeom prst="rect">
            <a:avLst/>
          </a:prstGeom>
          <a:noFill/>
        </p:spPr>
        <p:txBody>
          <a:bodyPr wrap="square" anchor="ctr">
            <a:spAutoFit/>
          </a:bodyPr>
          <a:lstStyle/>
          <a:p>
            <a:pPr algn="l"/>
            <a:r>
              <a:rPr sz="1000" b="0" i="0">
                <a:solidFill>
                  <a:srgbClr val="334155"/>
                </a:solidFill>
                <a:latin typeface="Calibri"/>
              </a:rPr>
              <a:t>Base 150 L/mes · Mín 127.5 L/mes · Máx 180 L/mes</a:t>
            </a:r>
          </a:p>
        </p:txBody>
      </p:sp>
      <p:sp>
        <p:nvSpPr>
          <p:cNvPr id="68" name="TextBox 67"/>
          <p:cNvSpPr txBox="1"/>
          <p:nvPr/>
        </p:nvSpPr>
        <p:spPr>
          <a:xfrm>
            <a:off x="8138160" y="1600200"/>
            <a:ext cx="3566160" cy="365760"/>
          </a:xfrm>
          <a:prstGeom prst="rect">
            <a:avLst/>
          </a:prstGeom>
          <a:noFill/>
        </p:spPr>
        <p:txBody>
          <a:bodyPr wrap="square" anchor="ctr">
            <a:spAutoFit/>
          </a:bodyPr>
          <a:lstStyle/>
          <a:p>
            <a:pPr algn="r"/>
            <a:r>
              <a:rPr sz="1000" b="0" i="0">
                <a:solidFill>
                  <a:srgbClr val="64748B"/>
                </a:solidFill>
                <a:latin typeface="Calibri"/>
              </a:rPr>
              <a:t>ΔVAN: </a:t>
            </a:r>
            <a:r>
              <a:rPr sz="1000" b="1" i="0">
                <a:solidFill>
                  <a:srgbClr val="334155"/>
                </a:solidFill>
                <a:latin typeface="Calibri"/>
              </a:rPr>
              <a:t>−3.81 M / +5.07 M</a:t>
            </a:r>
            <a:r>
              <a:rPr sz="1000" b="0" i="0">
                <a:solidFill>
                  <a:srgbClr val="64748B"/>
                </a:solidFill>
                <a:latin typeface="Calibri"/>
              </a:rPr>
              <a:t>   Rango: </a:t>
            </a:r>
            <a:r>
              <a:rPr sz="1000" b="1" i="0">
                <a:solidFill>
                  <a:srgbClr val="334155"/>
                </a:solidFill>
                <a:latin typeface="Calibri"/>
              </a:rPr>
              <a:t>L 8.89 M</a:t>
            </a:r>
          </a:p>
        </p:txBody>
      </p:sp>
      <p:sp>
        <p:nvSpPr>
          <p:cNvPr id="69" name="Rectangle 68"/>
          <p:cNvSpPr/>
          <p:nvPr/>
        </p:nvSpPr>
        <p:spPr>
          <a:xfrm>
            <a:off x="320040" y="2002536"/>
            <a:ext cx="1188720" cy="365760"/>
          </a:xfrm>
          <a:prstGeom prst="rect">
            <a:avLst/>
          </a:prstGeom>
          <a:solidFill>
            <a:srgbClr val="C0392B"/>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320040" y="2002536"/>
            <a:ext cx="1188720" cy="365760"/>
          </a:xfrm>
          <a:prstGeom prst="rect">
            <a:avLst/>
          </a:prstGeom>
          <a:noFill/>
        </p:spPr>
        <p:txBody>
          <a:bodyPr wrap="square" anchor="ctr">
            <a:spAutoFit/>
          </a:bodyPr>
          <a:lstStyle/>
          <a:p>
            <a:pPr algn="ctr"/>
            <a:r>
              <a:rPr sz="950" b="1" i="0">
                <a:solidFill>
                  <a:srgbClr val="FFFFFF"/>
                </a:solidFill>
                <a:latin typeface="Calibri"/>
              </a:rPr>
              <a:t>MUY ALTO</a:t>
            </a:r>
          </a:p>
        </p:txBody>
      </p:sp>
      <p:sp>
        <p:nvSpPr>
          <p:cNvPr id="71" name="Rectangle 70"/>
          <p:cNvSpPr/>
          <p:nvPr/>
        </p:nvSpPr>
        <p:spPr>
          <a:xfrm>
            <a:off x="1554480" y="2002536"/>
            <a:ext cx="101955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1645920" y="2002536"/>
            <a:ext cx="3657600" cy="365760"/>
          </a:xfrm>
          <a:prstGeom prst="rect">
            <a:avLst/>
          </a:prstGeom>
          <a:noFill/>
        </p:spPr>
        <p:txBody>
          <a:bodyPr wrap="square" anchor="ctr">
            <a:spAutoFit/>
          </a:bodyPr>
          <a:lstStyle/>
          <a:p>
            <a:pPr algn="l"/>
            <a:r>
              <a:rPr sz="1100" b="1" i="0">
                <a:solidFill>
                  <a:srgbClr val="1B3A5C"/>
                </a:solidFill>
                <a:latin typeface="Calibri"/>
              </a:rPr>
              <a:t>Precio de venta, Año 1</a:t>
            </a:r>
          </a:p>
        </p:txBody>
      </p:sp>
      <p:sp>
        <p:nvSpPr>
          <p:cNvPr id="73" name="TextBox 72"/>
          <p:cNvSpPr txBox="1"/>
          <p:nvPr/>
        </p:nvSpPr>
        <p:spPr>
          <a:xfrm>
            <a:off x="4846320" y="2002536"/>
            <a:ext cx="3291840" cy="365760"/>
          </a:xfrm>
          <a:prstGeom prst="rect">
            <a:avLst/>
          </a:prstGeom>
          <a:noFill/>
        </p:spPr>
        <p:txBody>
          <a:bodyPr wrap="square" anchor="ctr">
            <a:spAutoFit/>
          </a:bodyPr>
          <a:lstStyle/>
          <a:p>
            <a:pPr algn="l"/>
            <a:r>
              <a:rPr sz="1000" b="0" i="0">
                <a:solidFill>
                  <a:srgbClr val="334155"/>
                </a:solidFill>
                <a:latin typeface="Calibri"/>
              </a:rPr>
              <a:t>Base L 28 · Mín L 26 · Máx L 30</a:t>
            </a:r>
          </a:p>
        </p:txBody>
      </p:sp>
      <p:sp>
        <p:nvSpPr>
          <p:cNvPr id="74" name="TextBox 73"/>
          <p:cNvSpPr txBox="1"/>
          <p:nvPr/>
        </p:nvSpPr>
        <p:spPr>
          <a:xfrm>
            <a:off x="8138160" y="2002536"/>
            <a:ext cx="3566160" cy="365760"/>
          </a:xfrm>
          <a:prstGeom prst="rect">
            <a:avLst/>
          </a:prstGeom>
          <a:noFill/>
        </p:spPr>
        <p:txBody>
          <a:bodyPr wrap="square" anchor="ctr">
            <a:spAutoFit/>
          </a:bodyPr>
          <a:lstStyle/>
          <a:p>
            <a:pPr algn="r"/>
            <a:r>
              <a:rPr sz="1000" b="0" i="0">
                <a:solidFill>
                  <a:srgbClr val="64748B"/>
                </a:solidFill>
                <a:latin typeface="Calibri"/>
              </a:rPr>
              <a:t>ΔVAN: </a:t>
            </a:r>
            <a:r>
              <a:rPr sz="1000" b="1" i="0">
                <a:solidFill>
                  <a:srgbClr val="334155"/>
                </a:solidFill>
                <a:latin typeface="Calibri"/>
              </a:rPr>
              <a:t>−4.25 M / +4.24 M</a:t>
            </a:r>
            <a:r>
              <a:rPr sz="1000" b="0" i="0">
                <a:solidFill>
                  <a:srgbClr val="64748B"/>
                </a:solidFill>
                <a:latin typeface="Calibri"/>
              </a:rPr>
              <a:t>   Rango: </a:t>
            </a:r>
            <a:r>
              <a:rPr sz="1000" b="1" i="0">
                <a:solidFill>
                  <a:srgbClr val="334155"/>
                </a:solidFill>
                <a:latin typeface="Calibri"/>
              </a:rPr>
              <a:t>L 8.50 M</a:t>
            </a:r>
          </a:p>
        </p:txBody>
      </p:sp>
      <p:sp>
        <p:nvSpPr>
          <p:cNvPr id="75" name="Rectangle 74"/>
          <p:cNvSpPr/>
          <p:nvPr/>
        </p:nvSpPr>
        <p:spPr>
          <a:xfrm>
            <a:off x="320040" y="2404872"/>
            <a:ext cx="1188720" cy="365760"/>
          </a:xfrm>
          <a:prstGeom prst="rect">
            <a:avLst/>
          </a:prstGeom>
          <a:solidFill>
            <a:srgbClr val="C0392B"/>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Box 75"/>
          <p:cNvSpPr txBox="1"/>
          <p:nvPr/>
        </p:nvSpPr>
        <p:spPr>
          <a:xfrm>
            <a:off x="320040" y="2404872"/>
            <a:ext cx="1188720" cy="365760"/>
          </a:xfrm>
          <a:prstGeom prst="rect">
            <a:avLst/>
          </a:prstGeom>
          <a:noFill/>
        </p:spPr>
        <p:txBody>
          <a:bodyPr wrap="square" anchor="ctr">
            <a:spAutoFit/>
          </a:bodyPr>
          <a:lstStyle/>
          <a:p>
            <a:pPr algn="ctr"/>
            <a:r>
              <a:rPr sz="950" b="1" i="0">
                <a:solidFill>
                  <a:srgbClr val="FFFFFF"/>
                </a:solidFill>
                <a:latin typeface="Calibri"/>
              </a:rPr>
              <a:t>MUY ALTO</a:t>
            </a:r>
          </a:p>
        </p:txBody>
      </p:sp>
      <p:sp>
        <p:nvSpPr>
          <p:cNvPr id="77" name="Rectangle 76"/>
          <p:cNvSpPr/>
          <p:nvPr/>
        </p:nvSpPr>
        <p:spPr>
          <a:xfrm>
            <a:off x="1554480" y="2404872"/>
            <a:ext cx="101955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1645920" y="2404872"/>
            <a:ext cx="3657600" cy="365760"/>
          </a:xfrm>
          <a:prstGeom prst="rect">
            <a:avLst/>
          </a:prstGeom>
          <a:noFill/>
        </p:spPr>
        <p:txBody>
          <a:bodyPr wrap="square" anchor="ctr">
            <a:spAutoFit/>
          </a:bodyPr>
          <a:lstStyle/>
          <a:p>
            <a:pPr algn="l"/>
            <a:r>
              <a:rPr sz="1100" b="1" i="0">
                <a:solidFill>
                  <a:srgbClr val="1B3A5C"/>
                </a:solidFill>
                <a:latin typeface="Calibri"/>
              </a:rPr>
              <a:t>Costo de leche cruda</a:t>
            </a:r>
          </a:p>
        </p:txBody>
      </p:sp>
      <p:sp>
        <p:nvSpPr>
          <p:cNvPr id="79" name="TextBox 78"/>
          <p:cNvSpPr txBox="1"/>
          <p:nvPr/>
        </p:nvSpPr>
        <p:spPr>
          <a:xfrm>
            <a:off x="4846320" y="2404872"/>
            <a:ext cx="3291840" cy="365760"/>
          </a:xfrm>
          <a:prstGeom prst="rect">
            <a:avLst/>
          </a:prstGeom>
          <a:noFill/>
        </p:spPr>
        <p:txBody>
          <a:bodyPr wrap="square" anchor="ctr">
            <a:spAutoFit/>
          </a:bodyPr>
          <a:lstStyle/>
          <a:p>
            <a:pPr algn="l"/>
            <a:r>
              <a:rPr sz="1000" b="0" i="0">
                <a:solidFill>
                  <a:srgbClr val="334155"/>
                </a:solidFill>
                <a:latin typeface="Calibri"/>
              </a:rPr>
              <a:t>Base L 13.00 · Mín L 11.70 · Máx L 14.95</a:t>
            </a:r>
          </a:p>
        </p:txBody>
      </p:sp>
      <p:sp>
        <p:nvSpPr>
          <p:cNvPr id="80" name="TextBox 79"/>
          <p:cNvSpPr txBox="1"/>
          <p:nvPr/>
        </p:nvSpPr>
        <p:spPr>
          <a:xfrm>
            <a:off x="8138160" y="2404872"/>
            <a:ext cx="3566160" cy="365760"/>
          </a:xfrm>
          <a:prstGeom prst="rect">
            <a:avLst/>
          </a:prstGeom>
          <a:noFill/>
        </p:spPr>
        <p:txBody>
          <a:bodyPr wrap="square" anchor="ctr">
            <a:spAutoFit/>
          </a:bodyPr>
          <a:lstStyle/>
          <a:p>
            <a:pPr algn="r"/>
            <a:r>
              <a:rPr sz="1000" b="0" i="0">
                <a:solidFill>
                  <a:srgbClr val="64748B"/>
                </a:solidFill>
                <a:latin typeface="Calibri"/>
              </a:rPr>
              <a:t>ΔVAN: </a:t>
            </a:r>
            <a:r>
              <a:rPr sz="1000" b="1" i="0">
                <a:solidFill>
                  <a:srgbClr val="334155"/>
                </a:solidFill>
                <a:latin typeface="Calibri"/>
              </a:rPr>
              <a:t>+3.02 M / −4.53 M</a:t>
            </a:r>
            <a:r>
              <a:rPr sz="1000" b="0" i="0">
                <a:solidFill>
                  <a:srgbClr val="64748B"/>
                </a:solidFill>
                <a:latin typeface="Calibri"/>
              </a:rPr>
              <a:t>   Rango: </a:t>
            </a:r>
            <a:r>
              <a:rPr sz="1000" b="1" i="0">
                <a:solidFill>
                  <a:srgbClr val="334155"/>
                </a:solidFill>
                <a:latin typeface="Calibri"/>
              </a:rPr>
              <a:t>L 7.55 M</a:t>
            </a:r>
          </a:p>
        </p:txBody>
      </p:sp>
      <p:sp>
        <p:nvSpPr>
          <p:cNvPr id="81" name="Rectangle 80"/>
          <p:cNvSpPr/>
          <p:nvPr/>
        </p:nvSpPr>
        <p:spPr>
          <a:xfrm>
            <a:off x="320040" y="2807208"/>
            <a:ext cx="1188720" cy="365760"/>
          </a:xfrm>
          <a:prstGeom prst="rect">
            <a:avLst/>
          </a:prstGeom>
          <a:solidFill>
            <a:srgbClr val="B5862A"/>
          </a:solidFill>
          <a:ln w="12700">
            <a:solidFill>
              <a:srgbClr val="B58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Box 81"/>
          <p:cNvSpPr txBox="1"/>
          <p:nvPr/>
        </p:nvSpPr>
        <p:spPr>
          <a:xfrm>
            <a:off x="320040" y="2807208"/>
            <a:ext cx="1188720" cy="365760"/>
          </a:xfrm>
          <a:prstGeom prst="rect">
            <a:avLst/>
          </a:prstGeom>
          <a:noFill/>
        </p:spPr>
        <p:txBody>
          <a:bodyPr wrap="square" anchor="ctr">
            <a:spAutoFit/>
          </a:bodyPr>
          <a:lstStyle/>
          <a:p>
            <a:pPr algn="ctr"/>
            <a:r>
              <a:rPr sz="950" b="1" i="0">
                <a:solidFill>
                  <a:srgbClr val="FFFFFF"/>
                </a:solidFill>
                <a:latin typeface="Calibri"/>
              </a:rPr>
              <a:t>MEDIO</a:t>
            </a:r>
          </a:p>
        </p:txBody>
      </p:sp>
      <p:sp>
        <p:nvSpPr>
          <p:cNvPr id="83" name="Rectangle 82"/>
          <p:cNvSpPr/>
          <p:nvPr/>
        </p:nvSpPr>
        <p:spPr>
          <a:xfrm>
            <a:off x="1554480" y="2807208"/>
            <a:ext cx="101955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Box 83"/>
          <p:cNvSpPr txBox="1"/>
          <p:nvPr/>
        </p:nvSpPr>
        <p:spPr>
          <a:xfrm>
            <a:off x="1645920" y="2807208"/>
            <a:ext cx="3657600" cy="365760"/>
          </a:xfrm>
          <a:prstGeom prst="rect">
            <a:avLst/>
          </a:prstGeom>
          <a:noFill/>
        </p:spPr>
        <p:txBody>
          <a:bodyPr wrap="square" anchor="ctr">
            <a:spAutoFit/>
          </a:bodyPr>
          <a:lstStyle/>
          <a:p>
            <a:pPr algn="l"/>
            <a:r>
              <a:rPr sz="1100" b="1" i="0">
                <a:solidFill>
                  <a:srgbClr val="1B3A5C"/>
                </a:solidFill>
                <a:latin typeface="Calibri"/>
              </a:rPr>
              <a:t>Clientes activos, Año 10</a:t>
            </a:r>
          </a:p>
        </p:txBody>
      </p:sp>
      <p:sp>
        <p:nvSpPr>
          <p:cNvPr id="85" name="TextBox 84"/>
          <p:cNvSpPr txBox="1"/>
          <p:nvPr/>
        </p:nvSpPr>
        <p:spPr>
          <a:xfrm>
            <a:off x="4846320" y="2807208"/>
            <a:ext cx="3291840" cy="365760"/>
          </a:xfrm>
          <a:prstGeom prst="rect">
            <a:avLst/>
          </a:prstGeom>
          <a:noFill/>
        </p:spPr>
        <p:txBody>
          <a:bodyPr wrap="square" anchor="ctr">
            <a:spAutoFit/>
          </a:bodyPr>
          <a:lstStyle/>
          <a:p>
            <a:pPr algn="l"/>
            <a:r>
              <a:rPr sz="1000" b="0" i="0">
                <a:solidFill>
                  <a:srgbClr val="334155"/>
                </a:solidFill>
                <a:latin typeface="Calibri"/>
              </a:rPr>
              <a:t>Base 690 · Mín 552 · Máx 828</a:t>
            </a:r>
          </a:p>
        </p:txBody>
      </p:sp>
      <p:sp>
        <p:nvSpPr>
          <p:cNvPr id="86" name="TextBox 85"/>
          <p:cNvSpPr txBox="1"/>
          <p:nvPr/>
        </p:nvSpPr>
        <p:spPr>
          <a:xfrm>
            <a:off x="8138160" y="2807208"/>
            <a:ext cx="3566160" cy="365760"/>
          </a:xfrm>
          <a:prstGeom prst="rect">
            <a:avLst/>
          </a:prstGeom>
          <a:noFill/>
        </p:spPr>
        <p:txBody>
          <a:bodyPr wrap="square" anchor="ctr">
            <a:spAutoFit/>
          </a:bodyPr>
          <a:lstStyle/>
          <a:p>
            <a:pPr algn="r"/>
            <a:r>
              <a:rPr sz="1000" b="0" i="0">
                <a:solidFill>
                  <a:srgbClr val="64748B"/>
                </a:solidFill>
                <a:latin typeface="Calibri"/>
              </a:rPr>
              <a:t>ΔVAN: </a:t>
            </a:r>
            <a:r>
              <a:rPr sz="1000" b="1" i="0">
                <a:solidFill>
                  <a:srgbClr val="334155"/>
                </a:solidFill>
                <a:latin typeface="Calibri"/>
              </a:rPr>
              <a:t>−0.78 M / +0.78 M</a:t>
            </a:r>
            <a:r>
              <a:rPr sz="1000" b="0" i="0">
                <a:solidFill>
                  <a:srgbClr val="64748B"/>
                </a:solidFill>
                <a:latin typeface="Calibri"/>
              </a:rPr>
              <a:t>   Rango: </a:t>
            </a:r>
            <a:r>
              <a:rPr sz="1000" b="1" i="0">
                <a:solidFill>
                  <a:srgbClr val="334155"/>
                </a:solidFill>
                <a:latin typeface="Calibri"/>
              </a:rPr>
              <a:t>L 1.56 M</a:t>
            </a:r>
          </a:p>
        </p:txBody>
      </p:sp>
      <p:sp>
        <p:nvSpPr>
          <p:cNvPr id="87" name="Rectangle 86"/>
          <p:cNvSpPr/>
          <p:nvPr/>
        </p:nvSpPr>
        <p:spPr>
          <a:xfrm>
            <a:off x="320040" y="3209544"/>
            <a:ext cx="1188720" cy="365760"/>
          </a:xfrm>
          <a:prstGeom prst="rect">
            <a:avLst/>
          </a:prstGeom>
          <a:solidFill>
            <a:srgbClr val="B5862A"/>
          </a:solidFill>
          <a:ln w="12700">
            <a:solidFill>
              <a:srgbClr val="B58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Box 87"/>
          <p:cNvSpPr txBox="1"/>
          <p:nvPr/>
        </p:nvSpPr>
        <p:spPr>
          <a:xfrm>
            <a:off x="320040" y="3209544"/>
            <a:ext cx="1188720" cy="365760"/>
          </a:xfrm>
          <a:prstGeom prst="rect">
            <a:avLst/>
          </a:prstGeom>
          <a:noFill/>
        </p:spPr>
        <p:txBody>
          <a:bodyPr wrap="square" anchor="ctr">
            <a:spAutoFit/>
          </a:bodyPr>
          <a:lstStyle/>
          <a:p>
            <a:pPr algn="ctr"/>
            <a:r>
              <a:rPr sz="950" b="1" i="0">
                <a:solidFill>
                  <a:srgbClr val="FFFFFF"/>
                </a:solidFill>
                <a:latin typeface="Calibri"/>
              </a:rPr>
              <a:t>MEDIO</a:t>
            </a:r>
          </a:p>
        </p:txBody>
      </p:sp>
      <p:sp>
        <p:nvSpPr>
          <p:cNvPr id="89" name="Rectangle 88"/>
          <p:cNvSpPr/>
          <p:nvPr/>
        </p:nvSpPr>
        <p:spPr>
          <a:xfrm>
            <a:off x="1554480" y="3209544"/>
            <a:ext cx="101955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TextBox 89"/>
          <p:cNvSpPr txBox="1"/>
          <p:nvPr/>
        </p:nvSpPr>
        <p:spPr>
          <a:xfrm>
            <a:off x="1645920" y="3209544"/>
            <a:ext cx="3657600" cy="365760"/>
          </a:xfrm>
          <a:prstGeom prst="rect">
            <a:avLst/>
          </a:prstGeom>
          <a:noFill/>
        </p:spPr>
        <p:txBody>
          <a:bodyPr wrap="square" anchor="ctr">
            <a:spAutoFit/>
          </a:bodyPr>
          <a:lstStyle/>
          <a:p>
            <a:pPr algn="l"/>
            <a:r>
              <a:rPr sz="1100" b="1" i="0">
                <a:solidFill>
                  <a:srgbClr val="1B3A5C"/>
                </a:solidFill>
                <a:latin typeface="Calibri"/>
              </a:rPr>
              <a:t>Inflación anual</a:t>
            </a:r>
          </a:p>
        </p:txBody>
      </p:sp>
      <p:sp>
        <p:nvSpPr>
          <p:cNvPr id="91" name="TextBox 90"/>
          <p:cNvSpPr txBox="1"/>
          <p:nvPr/>
        </p:nvSpPr>
        <p:spPr>
          <a:xfrm>
            <a:off x="4846320" y="3209544"/>
            <a:ext cx="3291840" cy="365760"/>
          </a:xfrm>
          <a:prstGeom prst="rect">
            <a:avLst/>
          </a:prstGeom>
          <a:noFill/>
        </p:spPr>
        <p:txBody>
          <a:bodyPr wrap="square" anchor="ctr">
            <a:spAutoFit/>
          </a:bodyPr>
          <a:lstStyle/>
          <a:p>
            <a:pPr algn="l"/>
            <a:r>
              <a:rPr sz="1000" b="0" i="0">
                <a:solidFill>
                  <a:srgbClr val="334155"/>
                </a:solidFill>
                <a:latin typeface="Calibri"/>
              </a:rPr>
              <a:t>Base 4.5 % · Mín 3.825 % · Máx 5.4 %</a:t>
            </a:r>
          </a:p>
        </p:txBody>
      </p:sp>
      <p:sp>
        <p:nvSpPr>
          <p:cNvPr id="92" name="TextBox 91"/>
          <p:cNvSpPr txBox="1"/>
          <p:nvPr/>
        </p:nvSpPr>
        <p:spPr>
          <a:xfrm>
            <a:off x="8138160" y="3209544"/>
            <a:ext cx="3566160" cy="365760"/>
          </a:xfrm>
          <a:prstGeom prst="rect">
            <a:avLst/>
          </a:prstGeom>
          <a:noFill/>
        </p:spPr>
        <p:txBody>
          <a:bodyPr wrap="square" anchor="ctr">
            <a:spAutoFit/>
          </a:bodyPr>
          <a:lstStyle/>
          <a:p>
            <a:pPr algn="r"/>
            <a:r>
              <a:rPr sz="1000" b="0" i="0">
                <a:solidFill>
                  <a:srgbClr val="64748B"/>
                </a:solidFill>
                <a:latin typeface="Calibri"/>
              </a:rPr>
              <a:t>ΔVAN: </a:t>
            </a:r>
            <a:r>
              <a:rPr sz="1000" b="1" i="0">
                <a:solidFill>
                  <a:srgbClr val="334155"/>
                </a:solidFill>
                <a:latin typeface="Calibri"/>
              </a:rPr>
              <a:t>−0.43 M / +0.59 M</a:t>
            </a:r>
            <a:r>
              <a:rPr sz="1000" b="0" i="0">
                <a:solidFill>
                  <a:srgbClr val="64748B"/>
                </a:solidFill>
                <a:latin typeface="Calibri"/>
              </a:rPr>
              <a:t>   Rango: </a:t>
            </a:r>
            <a:r>
              <a:rPr sz="1000" b="1" i="0">
                <a:solidFill>
                  <a:srgbClr val="334155"/>
                </a:solidFill>
                <a:latin typeface="Calibri"/>
              </a:rPr>
              <a:t>L 1.01 M</a:t>
            </a:r>
          </a:p>
        </p:txBody>
      </p:sp>
      <p:sp>
        <p:nvSpPr>
          <p:cNvPr id="93" name="Rectangle 92"/>
          <p:cNvSpPr/>
          <p:nvPr/>
        </p:nvSpPr>
        <p:spPr>
          <a:xfrm>
            <a:off x="320040" y="3611880"/>
            <a:ext cx="1188720" cy="365760"/>
          </a:xfrm>
          <a:prstGeom prst="rect">
            <a:avLst/>
          </a:prstGeom>
          <a:solidFill>
            <a:srgbClr val="B5862A"/>
          </a:solidFill>
          <a:ln w="12700">
            <a:solidFill>
              <a:srgbClr val="B58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TextBox 93"/>
          <p:cNvSpPr txBox="1"/>
          <p:nvPr/>
        </p:nvSpPr>
        <p:spPr>
          <a:xfrm>
            <a:off x="320040" y="3611880"/>
            <a:ext cx="1188720" cy="365760"/>
          </a:xfrm>
          <a:prstGeom prst="rect">
            <a:avLst/>
          </a:prstGeom>
          <a:noFill/>
        </p:spPr>
        <p:txBody>
          <a:bodyPr wrap="square" anchor="ctr">
            <a:spAutoFit/>
          </a:bodyPr>
          <a:lstStyle/>
          <a:p>
            <a:pPr algn="ctr"/>
            <a:r>
              <a:rPr sz="950" b="1" i="0">
                <a:solidFill>
                  <a:srgbClr val="FFFFFF"/>
                </a:solidFill>
                <a:latin typeface="Calibri"/>
              </a:rPr>
              <a:t>MEDIO</a:t>
            </a:r>
          </a:p>
        </p:txBody>
      </p:sp>
      <p:sp>
        <p:nvSpPr>
          <p:cNvPr id="95" name="Rectangle 94"/>
          <p:cNvSpPr/>
          <p:nvPr/>
        </p:nvSpPr>
        <p:spPr>
          <a:xfrm>
            <a:off x="1554480" y="3611880"/>
            <a:ext cx="101955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TextBox 95"/>
          <p:cNvSpPr txBox="1"/>
          <p:nvPr/>
        </p:nvSpPr>
        <p:spPr>
          <a:xfrm>
            <a:off x="1645920" y="3611880"/>
            <a:ext cx="3657600" cy="365760"/>
          </a:xfrm>
          <a:prstGeom prst="rect">
            <a:avLst/>
          </a:prstGeom>
          <a:noFill/>
        </p:spPr>
        <p:txBody>
          <a:bodyPr wrap="square" anchor="ctr">
            <a:spAutoFit/>
          </a:bodyPr>
          <a:lstStyle/>
          <a:p>
            <a:pPr algn="l"/>
            <a:r>
              <a:rPr sz="1100" b="1" i="0">
                <a:solidFill>
                  <a:srgbClr val="1B3A5C"/>
                </a:solidFill>
                <a:latin typeface="Calibri"/>
              </a:rPr>
              <a:t>Clientes activos, Año 5</a:t>
            </a:r>
          </a:p>
        </p:txBody>
      </p:sp>
      <p:sp>
        <p:nvSpPr>
          <p:cNvPr id="97" name="TextBox 96"/>
          <p:cNvSpPr txBox="1"/>
          <p:nvPr/>
        </p:nvSpPr>
        <p:spPr>
          <a:xfrm>
            <a:off x="4846320" y="3611880"/>
            <a:ext cx="3291840" cy="365760"/>
          </a:xfrm>
          <a:prstGeom prst="rect">
            <a:avLst/>
          </a:prstGeom>
          <a:noFill/>
        </p:spPr>
        <p:txBody>
          <a:bodyPr wrap="square" anchor="ctr">
            <a:spAutoFit/>
          </a:bodyPr>
          <a:lstStyle/>
          <a:p>
            <a:pPr algn="l"/>
            <a:r>
              <a:rPr sz="1000" b="0" i="0">
                <a:solidFill>
                  <a:srgbClr val="334155"/>
                </a:solidFill>
                <a:latin typeface="Calibri"/>
              </a:rPr>
              <a:t>Base 280 · Mín 224 · Máx 336</a:t>
            </a:r>
          </a:p>
        </p:txBody>
      </p:sp>
      <p:sp>
        <p:nvSpPr>
          <p:cNvPr id="98" name="TextBox 97"/>
          <p:cNvSpPr txBox="1"/>
          <p:nvPr/>
        </p:nvSpPr>
        <p:spPr>
          <a:xfrm>
            <a:off x="8138160" y="3611880"/>
            <a:ext cx="3566160" cy="365760"/>
          </a:xfrm>
          <a:prstGeom prst="rect">
            <a:avLst/>
          </a:prstGeom>
          <a:noFill/>
        </p:spPr>
        <p:txBody>
          <a:bodyPr wrap="square" anchor="ctr">
            <a:spAutoFit/>
          </a:bodyPr>
          <a:lstStyle/>
          <a:p>
            <a:pPr algn="r"/>
            <a:r>
              <a:rPr sz="1000" b="0" i="0">
                <a:solidFill>
                  <a:srgbClr val="64748B"/>
                </a:solidFill>
                <a:latin typeface="Calibri"/>
              </a:rPr>
              <a:t>ΔVAN: </a:t>
            </a:r>
            <a:r>
              <a:rPr sz="1000" b="1" i="0">
                <a:solidFill>
                  <a:srgbClr val="334155"/>
                </a:solidFill>
                <a:latin typeface="Calibri"/>
              </a:rPr>
              <a:t>−0.50 M / +0.50 M</a:t>
            </a:r>
            <a:r>
              <a:rPr sz="1000" b="0" i="0">
                <a:solidFill>
                  <a:srgbClr val="64748B"/>
                </a:solidFill>
                <a:latin typeface="Calibri"/>
              </a:rPr>
              <a:t>   Rango: </a:t>
            </a:r>
            <a:r>
              <a:rPr sz="1000" b="1" i="0">
                <a:solidFill>
                  <a:srgbClr val="334155"/>
                </a:solidFill>
                <a:latin typeface="Calibri"/>
              </a:rPr>
              <a:t>L 1.00 M</a:t>
            </a:r>
          </a:p>
        </p:txBody>
      </p:sp>
      <p:sp>
        <p:nvSpPr>
          <p:cNvPr id="99" name="Rectangle 98"/>
          <p:cNvSpPr/>
          <p:nvPr/>
        </p:nvSpPr>
        <p:spPr>
          <a:xfrm>
            <a:off x="320040" y="4014216"/>
            <a:ext cx="1188720" cy="365760"/>
          </a:xfrm>
          <a:prstGeom prst="rect">
            <a:avLst/>
          </a:prstGeom>
          <a:solidFill>
            <a:srgbClr val="64748B"/>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Box 99"/>
          <p:cNvSpPr txBox="1"/>
          <p:nvPr/>
        </p:nvSpPr>
        <p:spPr>
          <a:xfrm>
            <a:off x="320040" y="4014216"/>
            <a:ext cx="1188720" cy="365760"/>
          </a:xfrm>
          <a:prstGeom prst="rect">
            <a:avLst/>
          </a:prstGeom>
          <a:noFill/>
        </p:spPr>
        <p:txBody>
          <a:bodyPr wrap="square" anchor="ctr">
            <a:spAutoFit/>
          </a:bodyPr>
          <a:lstStyle/>
          <a:p>
            <a:pPr algn="ctr"/>
            <a:r>
              <a:rPr sz="950" b="1" i="0">
                <a:solidFill>
                  <a:srgbClr val="FFFFFF"/>
                </a:solidFill>
                <a:latin typeface="Calibri"/>
              </a:rPr>
              <a:t>BAJO</a:t>
            </a:r>
          </a:p>
        </p:txBody>
      </p:sp>
      <p:sp>
        <p:nvSpPr>
          <p:cNvPr id="101" name="Rectangle 100"/>
          <p:cNvSpPr/>
          <p:nvPr/>
        </p:nvSpPr>
        <p:spPr>
          <a:xfrm>
            <a:off x="1554480" y="4014216"/>
            <a:ext cx="101955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Box 101"/>
          <p:cNvSpPr txBox="1"/>
          <p:nvPr/>
        </p:nvSpPr>
        <p:spPr>
          <a:xfrm>
            <a:off x="1645920" y="4014216"/>
            <a:ext cx="3657600" cy="365760"/>
          </a:xfrm>
          <a:prstGeom prst="rect">
            <a:avLst/>
          </a:prstGeom>
          <a:noFill/>
        </p:spPr>
        <p:txBody>
          <a:bodyPr wrap="square" anchor="ctr">
            <a:spAutoFit/>
          </a:bodyPr>
          <a:lstStyle/>
          <a:p>
            <a:pPr algn="l"/>
            <a:r>
              <a:rPr sz="1100" b="1" i="0">
                <a:solidFill>
                  <a:srgbClr val="1B3A5C"/>
                </a:solidFill>
                <a:latin typeface="Calibri"/>
              </a:rPr>
              <a:t>Merma de proceso</a:t>
            </a:r>
          </a:p>
        </p:txBody>
      </p:sp>
      <p:sp>
        <p:nvSpPr>
          <p:cNvPr id="103" name="TextBox 102"/>
          <p:cNvSpPr txBox="1"/>
          <p:nvPr/>
        </p:nvSpPr>
        <p:spPr>
          <a:xfrm>
            <a:off x="4846320" y="4014216"/>
            <a:ext cx="3291840" cy="365760"/>
          </a:xfrm>
          <a:prstGeom prst="rect">
            <a:avLst/>
          </a:prstGeom>
          <a:noFill/>
        </p:spPr>
        <p:txBody>
          <a:bodyPr wrap="square" anchor="ctr">
            <a:spAutoFit/>
          </a:bodyPr>
          <a:lstStyle/>
          <a:p>
            <a:pPr algn="l"/>
            <a:r>
              <a:rPr sz="1000" b="0" i="0">
                <a:solidFill>
                  <a:srgbClr val="334155"/>
                </a:solidFill>
                <a:latin typeface="Calibri"/>
              </a:rPr>
              <a:t>Base 3 % · Mín 2.4 % · Máx 3.9 %</a:t>
            </a:r>
          </a:p>
        </p:txBody>
      </p:sp>
      <p:sp>
        <p:nvSpPr>
          <p:cNvPr id="104" name="TextBox 103"/>
          <p:cNvSpPr txBox="1"/>
          <p:nvPr/>
        </p:nvSpPr>
        <p:spPr>
          <a:xfrm>
            <a:off x="8138160" y="4014216"/>
            <a:ext cx="3566160" cy="365760"/>
          </a:xfrm>
          <a:prstGeom prst="rect">
            <a:avLst/>
          </a:prstGeom>
          <a:noFill/>
        </p:spPr>
        <p:txBody>
          <a:bodyPr wrap="square" anchor="ctr">
            <a:spAutoFit/>
          </a:bodyPr>
          <a:lstStyle/>
          <a:p>
            <a:pPr algn="r"/>
            <a:r>
              <a:rPr sz="1000" b="0" i="0">
                <a:solidFill>
                  <a:srgbClr val="64748B"/>
                </a:solidFill>
                <a:latin typeface="Calibri"/>
              </a:rPr>
              <a:t>ΔVAN: </a:t>
            </a:r>
            <a:r>
              <a:rPr sz="1000" b="1" i="0">
                <a:solidFill>
                  <a:srgbClr val="334155"/>
                </a:solidFill>
                <a:latin typeface="Calibri"/>
              </a:rPr>
              <a:t>+0.19 M / −0.28 M</a:t>
            </a:r>
            <a:r>
              <a:rPr sz="1000" b="0" i="0">
                <a:solidFill>
                  <a:srgbClr val="64748B"/>
                </a:solidFill>
                <a:latin typeface="Calibri"/>
              </a:rPr>
              <a:t>   Rango: </a:t>
            </a:r>
            <a:r>
              <a:rPr sz="1000" b="1" i="0">
                <a:solidFill>
                  <a:srgbClr val="334155"/>
                </a:solidFill>
                <a:latin typeface="Calibri"/>
              </a:rPr>
              <a:t>L 0.47 M</a:t>
            </a:r>
          </a:p>
        </p:txBody>
      </p:sp>
      <p:sp>
        <p:nvSpPr>
          <p:cNvPr id="105" name="Rectangle 104"/>
          <p:cNvSpPr/>
          <p:nvPr/>
        </p:nvSpPr>
        <p:spPr>
          <a:xfrm>
            <a:off x="320040" y="4416552"/>
            <a:ext cx="1188720" cy="365760"/>
          </a:xfrm>
          <a:prstGeom prst="rect">
            <a:avLst/>
          </a:prstGeom>
          <a:solidFill>
            <a:srgbClr val="64748B"/>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TextBox 105"/>
          <p:cNvSpPr txBox="1"/>
          <p:nvPr/>
        </p:nvSpPr>
        <p:spPr>
          <a:xfrm>
            <a:off x="320040" y="4416552"/>
            <a:ext cx="1188720" cy="365760"/>
          </a:xfrm>
          <a:prstGeom prst="rect">
            <a:avLst/>
          </a:prstGeom>
          <a:noFill/>
        </p:spPr>
        <p:txBody>
          <a:bodyPr wrap="square" anchor="ctr">
            <a:spAutoFit/>
          </a:bodyPr>
          <a:lstStyle/>
          <a:p>
            <a:pPr algn="ctr"/>
            <a:r>
              <a:rPr sz="950" b="1" i="0">
                <a:solidFill>
                  <a:srgbClr val="FFFFFF"/>
                </a:solidFill>
                <a:latin typeface="Calibri"/>
              </a:rPr>
              <a:t>BAJO</a:t>
            </a:r>
          </a:p>
        </p:txBody>
      </p:sp>
      <p:sp>
        <p:nvSpPr>
          <p:cNvPr id="107" name="Rectangle 106"/>
          <p:cNvSpPr/>
          <p:nvPr/>
        </p:nvSpPr>
        <p:spPr>
          <a:xfrm>
            <a:off x="1554480" y="4416552"/>
            <a:ext cx="101955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TextBox 107"/>
          <p:cNvSpPr txBox="1"/>
          <p:nvPr/>
        </p:nvSpPr>
        <p:spPr>
          <a:xfrm>
            <a:off x="1645920" y="4416552"/>
            <a:ext cx="3657600" cy="365760"/>
          </a:xfrm>
          <a:prstGeom prst="rect">
            <a:avLst/>
          </a:prstGeom>
          <a:noFill/>
        </p:spPr>
        <p:txBody>
          <a:bodyPr wrap="square" anchor="ctr">
            <a:spAutoFit/>
          </a:bodyPr>
          <a:lstStyle/>
          <a:p>
            <a:pPr algn="l"/>
            <a:r>
              <a:rPr sz="1100" b="1" i="0">
                <a:solidFill>
                  <a:srgbClr val="1B3A5C"/>
                </a:solidFill>
                <a:latin typeface="Calibri"/>
              </a:rPr>
              <a:t>Clientes activos, Año 1</a:t>
            </a:r>
          </a:p>
        </p:txBody>
      </p:sp>
      <p:sp>
        <p:nvSpPr>
          <p:cNvPr id="109" name="TextBox 108"/>
          <p:cNvSpPr txBox="1"/>
          <p:nvPr/>
        </p:nvSpPr>
        <p:spPr>
          <a:xfrm>
            <a:off x="4846320" y="4416552"/>
            <a:ext cx="3291840" cy="365760"/>
          </a:xfrm>
          <a:prstGeom prst="rect">
            <a:avLst/>
          </a:prstGeom>
          <a:noFill/>
        </p:spPr>
        <p:txBody>
          <a:bodyPr wrap="square" anchor="ctr">
            <a:spAutoFit/>
          </a:bodyPr>
          <a:lstStyle/>
          <a:p>
            <a:pPr algn="l"/>
            <a:r>
              <a:rPr sz="1000" b="0" i="0">
                <a:solidFill>
                  <a:srgbClr val="334155"/>
                </a:solidFill>
                <a:latin typeface="Calibri"/>
              </a:rPr>
              <a:t>Base 60 · Mín 45 · Máx 75</a:t>
            </a:r>
          </a:p>
        </p:txBody>
      </p:sp>
      <p:sp>
        <p:nvSpPr>
          <p:cNvPr id="110" name="TextBox 109"/>
          <p:cNvSpPr txBox="1"/>
          <p:nvPr/>
        </p:nvSpPr>
        <p:spPr>
          <a:xfrm>
            <a:off x="8138160" y="4416552"/>
            <a:ext cx="3566160" cy="365760"/>
          </a:xfrm>
          <a:prstGeom prst="rect">
            <a:avLst/>
          </a:prstGeom>
          <a:noFill/>
        </p:spPr>
        <p:txBody>
          <a:bodyPr wrap="square" anchor="ctr">
            <a:spAutoFit/>
          </a:bodyPr>
          <a:lstStyle/>
          <a:p>
            <a:pPr algn="r"/>
            <a:r>
              <a:rPr sz="1000" b="0" i="0">
                <a:solidFill>
                  <a:srgbClr val="64748B"/>
                </a:solidFill>
                <a:latin typeface="Calibri"/>
              </a:rPr>
              <a:t>ΔVAN: </a:t>
            </a:r>
            <a:r>
              <a:rPr sz="1000" b="1" i="0">
                <a:solidFill>
                  <a:srgbClr val="334155"/>
                </a:solidFill>
                <a:latin typeface="Calibri"/>
              </a:rPr>
              <a:t>−0.22 M / +0.22 M</a:t>
            </a:r>
            <a:r>
              <a:rPr sz="1000" b="0" i="0">
                <a:solidFill>
                  <a:srgbClr val="64748B"/>
                </a:solidFill>
                <a:latin typeface="Calibri"/>
              </a:rPr>
              <a:t>   Rango: </a:t>
            </a:r>
            <a:r>
              <a:rPr sz="1000" b="1" i="0">
                <a:solidFill>
                  <a:srgbClr val="334155"/>
                </a:solidFill>
                <a:latin typeface="Calibri"/>
              </a:rPr>
              <a:t>L 0.44 M</a:t>
            </a:r>
          </a:p>
        </p:txBody>
      </p:sp>
      <p:sp>
        <p:nvSpPr>
          <p:cNvPr id="111" name="Rectangle 110"/>
          <p:cNvSpPr/>
          <p:nvPr/>
        </p:nvSpPr>
        <p:spPr>
          <a:xfrm>
            <a:off x="320040" y="4818888"/>
            <a:ext cx="1188720" cy="365760"/>
          </a:xfrm>
          <a:prstGeom prst="rect">
            <a:avLst/>
          </a:prstGeom>
          <a:solidFill>
            <a:srgbClr val="64748B"/>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TextBox 111"/>
          <p:cNvSpPr txBox="1"/>
          <p:nvPr/>
        </p:nvSpPr>
        <p:spPr>
          <a:xfrm>
            <a:off x="320040" y="4818888"/>
            <a:ext cx="1188720" cy="365760"/>
          </a:xfrm>
          <a:prstGeom prst="rect">
            <a:avLst/>
          </a:prstGeom>
          <a:noFill/>
        </p:spPr>
        <p:txBody>
          <a:bodyPr wrap="square" anchor="ctr">
            <a:spAutoFit/>
          </a:bodyPr>
          <a:lstStyle/>
          <a:p>
            <a:pPr algn="ctr"/>
            <a:r>
              <a:rPr sz="950" b="1" i="0">
                <a:solidFill>
                  <a:srgbClr val="FFFFFF"/>
                </a:solidFill>
                <a:latin typeface="Calibri"/>
              </a:rPr>
              <a:t>BAJO</a:t>
            </a:r>
          </a:p>
        </p:txBody>
      </p:sp>
      <p:sp>
        <p:nvSpPr>
          <p:cNvPr id="113" name="Rectangle 112"/>
          <p:cNvSpPr/>
          <p:nvPr/>
        </p:nvSpPr>
        <p:spPr>
          <a:xfrm>
            <a:off x="1554480" y="4818888"/>
            <a:ext cx="101955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TextBox 113"/>
          <p:cNvSpPr txBox="1"/>
          <p:nvPr/>
        </p:nvSpPr>
        <p:spPr>
          <a:xfrm>
            <a:off x="1645920" y="4818888"/>
            <a:ext cx="3657600" cy="365760"/>
          </a:xfrm>
          <a:prstGeom prst="rect">
            <a:avLst/>
          </a:prstGeom>
          <a:noFill/>
        </p:spPr>
        <p:txBody>
          <a:bodyPr wrap="square" anchor="ctr">
            <a:spAutoFit/>
          </a:bodyPr>
          <a:lstStyle/>
          <a:p>
            <a:pPr algn="l"/>
            <a:r>
              <a:rPr sz="1100" b="1" i="0">
                <a:solidFill>
                  <a:srgbClr val="1B3A5C"/>
                </a:solidFill>
                <a:latin typeface="Calibri"/>
              </a:rPr>
              <a:t>Costo de empaque</a:t>
            </a:r>
          </a:p>
        </p:txBody>
      </p:sp>
      <p:sp>
        <p:nvSpPr>
          <p:cNvPr id="115" name="TextBox 114"/>
          <p:cNvSpPr txBox="1"/>
          <p:nvPr/>
        </p:nvSpPr>
        <p:spPr>
          <a:xfrm>
            <a:off x="4846320" y="4818888"/>
            <a:ext cx="3291840" cy="365760"/>
          </a:xfrm>
          <a:prstGeom prst="rect">
            <a:avLst/>
          </a:prstGeom>
          <a:noFill/>
        </p:spPr>
        <p:txBody>
          <a:bodyPr wrap="square" anchor="ctr">
            <a:spAutoFit/>
          </a:bodyPr>
          <a:lstStyle/>
          <a:p>
            <a:pPr algn="l"/>
            <a:r>
              <a:rPr sz="1000" b="0" i="0">
                <a:solidFill>
                  <a:srgbClr val="334155"/>
                </a:solidFill>
                <a:latin typeface="Calibri"/>
              </a:rPr>
              <a:t>Base L 0.8667 · Mín L 0.78 · Máx L 0.9533</a:t>
            </a:r>
          </a:p>
        </p:txBody>
      </p:sp>
      <p:sp>
        <p:nvSpPr>
          <p:cNvPr id="116" name="TextBox 115"/>
          <p:cNvSpPr txBox="1"/>
          <p:nvPr/>
        </p:nvSpPr>
        <p:spPr>
          <a:xfrm>
            <a:off x="8138160" y="4818888"/>
            <a:ext cx="3566160" cy="365760"/>
          </a:xfrm>
          <a:prstGeom prst="rect">
            <a:avLst/>
          </a:prstGeom>
          <a:noFill/>
        </p:spPr>
        <p:txBody>
          <a:bodyPr wrap="square" anchor="ctr">
            <a:spAutoFit/>
          </a:bodyPr>
          <a:lstStyle/>
          <a:p>
            <a:pPr algn="r"/>
            <a:r>
              <a:rPr sz="1000" b="0" i="0">
                <a:solidFill>
                  <a:srgbClr val="64748B"/>
                </a:solidFill>
                <a:latin typeface="Calibri"/>
              </a:rPr>
              <a:t>ΔVAN: </a:t>
            </a:r>
            <a:r>
              <a:rPr sz="1000" b="1" i="0">
                <a:solidFill>
                  <a:srgbClr val="334155"/>
                </a:solidFill>
                <a:latin typeface="Calibri"/>
              </a:rPr>
              <a:t>+0.20 M / −0.20 M</a:t>
            </a:r>
            <a:r>
              <a:rPr sz="1000" b="0" i="0">
                <a:solidFill>
                  <a:srgbClr val="64748B"/>
                </a:solidFill>
                <a:latin typeface="Calibri"/>
              </a:rPr>
              <a:t>   Rango: </a:t>
            </a:r>
            <a:r>
              <a:rPr sz="1000" b="1" i="0">
                <a:solidFill>
                  <a:srgbClr val="334155"/>
                </a:solidFill>
                <a:latin typeface="Calibri"/>
              </a:rPr>
              <a:t>L 0.39 M</a:t>
            </a:r>
          </a:p>
        </p:txBody>
      </p:sp>
      <p:sp>
        <p:nvSpPr>
          <p:cNvPr id="117" name="Rectangle 116"/>
          <p:cNvSpPr/>
          <p:nvPr/>
        </p:nvSpPr>
        <p:spPr>
          <a:xfrm>
            <a:off x="320040" y="5221224"/>
            <a:ext cx="1188720" cy="365760"/>
          </a:xfrm>
          <a:prstGeom prst="rect">
            <a:avLst/>
          </a:prstGeom>
          <a:solidFill>
            <a:srgbClr val="64748B"/>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TextBox 117"/>
          <p:cNvSpPr txBox="1"/>
          <p:nvPr/>
        </p:nvSpPr>
        <p:spPr>
          <a:xfrm>
            <a:off x="320040" y="5221224"/>
            <a:ext cx="1188720" cy="365760"/>
          </a:xfrm>
          <a:prstGeom prst="rect">
            <a:avLst/>
          </a:prstGeom>
          <a:noFill/>
        </p:spPr>
        <p:txBody>
          <a:bodyPr wrap="square" anchor="ctr">
            <a:spAutoFit/>
          </a:bodyPr>
          <a:lstStyle/>
          <a:p>
            <a:pPr algn="ctr"/>
            <a:r>
              <a:rPr sz="950" b="1" i="0">
                <a:solidFill>
                  <a:srgbClr val="FFFFFF"/>
                </a:solidFill>
                <a:latin typeface="Calibri"/>
              </a:rPr>
              <a:t>BAJO</a:t>
            </a:r>
          </a:p>
        </p:txBody>
      </p:sp>
      <p:sp>
        <p:nvSpPr>
          <p:cNvPr id="119" name="Rectangle 118"/>
          <p:cNvSpPr/>
          <p:nvPr/>
        </p:nvSpPr>
        <p:spPr>
          <a:xfrm>
            <a:off x="1554480" y="5221224"/>
            <a:ext cx="101955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TextBox 119"/>
          <p:cNvSpPr txBox="1"/>
          <p:nvPr/>
        </p:nvSpPr>
        <p:spPr>
          <a:xfrm>
            <a:off x="1645920" y="5221224"/>
            <a:ext cx="3657600" cy="365760"/>
          </a:xfrm>
          <a:prstGeom prst="rect">
            <a:avLst/>
          </a:prstGeom>
          <a:noFill/>
        </p:spPr>
        <p:txBody>
          <a:bodyPr wrap="square" anchor="ctr">
            <a:spAutoFit/>
          </a:bodyPr>
          <a:lstStyle/>
          <a:p>
            <a:pPr algn="l"/>
            <a:r>
              <a:rPr sz="1100" b="1" i="0">
                <a:solidFill>
                  <a:srgbClr val="1B3A5C"/>
                </a:solidFill>
                <a:latin typeface="Calibri"/>
              </a:rPr>
              <a:t>Costos fijos operativos</a:t>
            </a:r>
          </a:p>
        </p:txBody>
      </p:sp>
      <p:sp>
        <p:nvSpPr>
          <p:cNvPr id="121" name="TextBox 120"/>
          <p:cNvSpPr txBox="1"/>
          <p:nvPr/>
        </p:nvSpPr>
        <p:spPr>
          <a:xfrm>
            <a:off x="4846320" y="5221224"/>
            <a:ext cx="3291840" cy="365760"/>
          </a:xfrm>
          <a:prstGeom prst="rect">
            <a:avLst/>
          </a:prstGeom>
          <a:noFill/>
        </p:spPr>
        <p:txBody>
          <a:bodyPr wrap="square" anchor="ctr">
            <a:spAutoFit/>
          </a:bodyPr>
          <a:lstStyle/>
          <a:p>
            <a:pPr algn="l"/>
            <a:r>
              <a:rPr sz="1000" b="0" i="0">
                <a:solidFill>
                  <a:srgbClr val="334155"/>
                </a:solidFill>
                <a:latin typeface="Calibri"/>
              </a:rPr>
              <a:t>Base L 28,000 · Mín L 25,200 · Máx L 32,200</a:t>
            </a:r>
          </a:p>
        </p:txBody>
      </p:sp>
      <p:sp>
        <p:nvSpPr>
          <p:cNvPr id="122" name="TextBox 121"/>
          <p:cNvSpPr txBox="1"/>
          <p:nvPr/>
        </p:nvSpPr>
        <p:spPr>
          <a:xfrm>
            <a:off x="8138160" y="5221224"/>
            <a:ext cx="3566160" cy="365760"/>
          </a:xfrm>
          <a:prstGeom prst="rect">
            <a:avLst/>
          </a:prstGeom>
          <a:noFill/>
        </p:spPr>
        <p:txBody>
          <a:bodyPr wrap="square" anchor="ctr">
            <a:spAutoFit/>
          </a:bodyPr>
          <a:lstStyle/>
          <a:p>
            <a:pPr algn="r"/>
            <a:r>
              <a:rPr sz="1000" b="0" i="0">
                <a:solidFill>
                  <a:srgbClr val="64748B"/>
                </a:solidFill>
                <a:latin typeface="Calibri"/>
              </a:rPr>
              <a:t>ΔVAN: </a:t>
            </a:r>
            <a:r>
              <a:rPr sz="1000" b="1" i="0">
                <a:solidFill>
                  <a:srgbClr val="334155"/>
                </a:solidFill>
                <a:latin typeface="Calibri"/>
              </a:rPr>
              <a:t>+0.15 M / −0.23 M</a:t>
            </a:r>
            <a:r>
              <a:rPr sz="1000" b="0" i="0">
                <a:solidFill>
                  <a:srgbClr val="64748B"/>
                </a:solidFill>
                <a:latin typeface="Calibri"/>
              </a:rPr>
              <a:t>   Rango: </a:t>
            </a:r>
            <a:r>
              <a:rPr sz="1000" b="1" i="0">
                <a:solidFill>
                  <a:srgbClr val="334155"/>
                </a:solidFill>
                <a:latin typeface="Calibri"/>
              </a:rPr>
              <a:t>L 0.38 M</a:t>
            </a:r>
          </a:p>
        </p:txBody>
      </p:sp>
      <p:sp>
        <p:nvSpPr>
          <p:cNvPr id="123" name="Rectangle 122"/>
          <p:cNvSpPr/>
          <p:nvPr/>
        </p:nvSpPr>
        <p:spPr>
          <a:xfrm>
            <a:off x="320040" y="5623560"/>
            <a:ext cx="1188720" cy="365760"/>
          </a:xfrm>
          <a:prstGeom prst="rect">
            <a:avLst/>
          </a:prstGeom>
          <a:solidFill>
            <a:srgbClr val="64748B"/>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TextBox 123"/>
          <p:cNvSpPr txBox="1"/>
          <p:nvPr/>
        </p:nvSpPr>
        <p:spPr>
          <a:xfrm>
            <a:off x="320040" y="5623560"/>
            <a:ext cx="1188720" cy="365760"/>
          </a:xfrm>
          <a:prstGeom prst="rect">
            <a:avLst/>
          </a:prstGeom>
          <a:noFill/>
        </p:spPr>
        <p:txBody>
          <a:bodyPr wrap="square" anchor="ctr">
            <a:spAutoFit/>
          </a:bodyPr>
          <a:lstStyle/>
          <a:p>
            <a:pPr algn="ctr"/>
            <a:r>
              <a:rPr sz="950" b="1" i="0">
                <a:solidFill>
                  <a:srgbClr val="FFFFFF"/>
                </a:solidFill>
                <a:latin typeface="Calibri"/>
              </a:rPr>
              <a:t>BAJO</a:t>
            </a:r>
          </a:p>
        </p:txBody>
      </p:sp>
      <p:sp>
        <p:nvSpPr>
          <p:cNvPr id="125" name="Rectangle 124"/>
          <p:cNvSpPr/>
          <p:nvPr/>
        </p:nvSpPr>
        <p:spPr>
          <a:xfrm>
            <a:off x="1554480" y="5623560"/>
            <a:ext cx="101955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TextBox 125"/>
          <p:cNvSpPr txBox="1"/>
          <p:nvPr/>
        </p:nvSpPr>
        <p:spPr>
          <a:xfrm>
            <a:off x="1645920" y="5623560"/>
            <a:ext cx="3657600" cy="365760"/>
          </a:xfrm>
          <a:prstGeom prst="rect">
            <a:avLst/>
          </a:prstGeom>
          <a:noFill/>
        </p:spPr>
        <p:txBody>
          <a:bodyPr wrap="square" anchor="ctr">
            <a:spAutoFit/>
          </a:bodyPr>
          <a:lstStyle/>
          <a:p>
            <a:pPr algn="l"/>
            <a:r>
              <a:rPr sz="1100" b="1" i="0">
                <a:solidFill>
                  <a:srgbClr val="1B3A5C"/>
                </a:solidFill>
                <a:latin typeface="Calibri"/>
              </a:rPr>
              <a:t>Combustible de reparto</a:t>
            </a:r>
          </a:p>
        </p:txBody>
      </p:sp>
      <p:sp>
        <p:nvSpPr>
          <p:cNvPr id="127" name="TextBox 126"/>
          <p:cNvSpPr txBox="1"/>
          <p:nvPr/>
        </p:nvSpPr>
        <p:spPr>
          <a:xfrm>
            <a:off x="4846320" y="5623560"/>
            <a:ext cx="3291840" cy="365760"/>
          </a:xfrm>
          <a:prstGeom prst="rect">
            <a:avLst/>
          </a:prstGeom>
          <a:noFill/>
        </p:spPr>
        <p:txBody>
          <a:bodyPr wrap="square" anchor="ctr">
            <a:spAutoFit/>
          </a:bodyPr>
          <a:lstStyle/>
          <a:p>
            <a:pPr algn="l"/>
            <a:r>
              <a:rPr sz="1000" b="0" i="0">
                <a:solidFill>
                  <a:srgbClr val="334155"/>
                </a:solidFill>
                <a:latin typeface="Calibri"/>
              </a:rPr>
              <a:t>Base L 0.8667 · Mín L 0.80 · Máx L 0.95</a:t>
            </a:r>
          </a:p>
        </p:txBody>
      </p:sp>
      <p:sp>
        <p:nvSpPr>
          <p:cNvPr id="128" name="TextBox 127"/>
          <p:cNvSpPr txBox="1"/>
          <p:nvPr/>
        </p:nvSpPr>
        <p:spPr>
          <a:xfrm>
            <a:off x="8138160" y="5623560"/>
            <a:ext cx="3566160" cy="365760"/>
          </a:xfrm>
          <a:prstGeom prst="rect">
            <a:avLst/>
          </a:prstGeom>
          <a:noFill/>
        </p:spPr>
        <p:txBody>
          <a:bodyPr wrap="square" anchor="ctr">
            <a:spAutoFit/>
          </a:bodyPr>
          <a:lstStyle/>
          <a:p>
            <a:pPr algn="r"/>
            <a:r>
              <a:rPr sz="1000" b="0" i="0">
                <a:solidFill>
                  <a:srgbClr val="64748B"/>
                </a:solidFill>
                <a:latin typeface="Calibri"/>
              </a:rPr>
              <a:t>ΔVAN: </a:t>
            </a:r>
            <a:r>
              <a:rPr sz="1000" b="1" i="0">
                <a:solidFill>
                  <a:srgbClr val="334155"/>
                </a:solidFill>
                <a:latin typeface="Calibri"/>
              </a:rPr>
              <a:t>+0.15 M / −0.19 M</a:t>
            </a:r>
            <a:r>
              <a:rPr sz="1000" b="0" i="0">
                <a:solidFill>
                  <a:srgbClr val="64748B"/>
                </a:solidFill>
                <a:latin typeface="Calibri"/>
              </a:rPr>
              <a:t>   Rango: </a:t>
            </a:r>
            <a:r>
              <a:rPr sz="1000" b="1" i="0">
                <a:solidFill>
                  <a:srgbClr val="334155"/>
                </a:solidFill>
                <a:latin typeface="Calibri"/>
              </a:rPr>
              <a:t>L 0.34 M</a:t>
            </a:r>
          </a:p>
        </p:txBody>
      </p:sp>
      <p:sp>
        <p:nvSpPr>
          <p:cNvPr id="129" name="TextBox 128"/>
          <p:cNvSpPr txBox="1"/>
          <p:nvPr/>
        </p:nvSpPr>
        <p:spPr>
          <a:xfrm>
            <a:off x="320040" y="6089904"/>
            <a:ext cx="11521440" cy="274320"/>
          </a:xfrm>
          <a:prstGeom prst="rect">
            <a:avLst/>
          </a:prstGeom>
          <a:noFill/>
        </p:spPr>
        <p:txBody>
          <a:bodyPr wrap="square" anchor="ctr">
            <a:spAutoFit/>
          </a:bodyPr>
          <a:lstStyle/>
          <a:p>
            <a:pPr algn="l"/>
            <a:r>
              <a:rPr sz="850" b="0" i="1">
                <a:solidFill>
                  <a:srgbClr val="64748B"/>
                </a:solidFill>
                <a:latin typeface="Calibri"/>
              </a:rPr>
              <a:t>No simuladas: tasa del préstamo, ISR y estructura de financiamiento; el tipo de cambio se trata en Monte Carlo.</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320040" y="201168"/>
            <a:ext cx="1828800" cy="256032"/>
          </a:xfrm>
          <a:prstGeom prst="rect">
            <a:avLst/>
          </a:prstGeom>
          <a:noFill/>
          <a:ln/>
        </p:spPr>
        <p:txBody>
          <a:bodyPr wrap="square" rtlCol="0" anchor="ctr"/>
          <a:lstStyle/>
          <a:p>
            <a:pPr marL="0" indent="0" algn="l">
              <a:buNone/>
            </a:pPr>
            <a:r>
              <a:rPr lang="en-US" sz="900" b="1" kern="0" spc="100" dirty="0">
                <a:solidFill>
                  <a:srgbClr val="1A7A8A"/>
                </a:solidFill>
                <a:latin typeface="Calibri" pitchFamily="34" charset="0"/>
                <a:ea typeface="Calibri" pitchFamily="34" charset="-122"/>
                <a:cs typeface="Calibri" pitchFamily="34" charset="-120"/>
              </a:rPr>
              <a:t>RIESGOS</a:t>
            </a:r>
            <a:endParaRPr lang="en-US" sz="900" dirty="0"/>
          </a:p>
        </p:txBody>
      </p:sp>
      <p:sp>
        <p:nvSpPr>
          <p:cNvPr id="3" name="Text 1"/>
          <p:cNvSpPr txBox="1"/>
          <p:nvPr/>
        </p:nvSpPr>
        <p:spPr>
          <a:xfrm>
            <a:off x="320040" y="475488"/>
            <a:ext cx="11521440" cy="502920"/>
          </a:xfrm>
          <a:prstGeom prst="rect">
            <a:avLst/>
          </a:prstGeom>
          <a:noFill/>
          <a:ln/>
        </p:spPr>
        <p:txBody>
          <a:bodyPr wrap="square" rtlCol="0" anchor="ctr"/>
          <a:lstStyle/>
          <a:p>
            <a:pPr marL="0" indent="0">
              <a:buNone/>
            </a:pPr>
            <a:r>
              <a:rPr lang="en-US" sz="2200" b="1" dirty="0">
                <a:solidFill>
                  <a:srgbClr val="0D2341"/>
                </a:solidFill>
                <a:latin typeface="Calibri" pitchFamily="34" charset="0"/>
                <a:ea typeface="Calibri" pitchFamily="34" charset="-122"/>
                <a:cs typeface="Calibri" pitchFamily="34" charset="-120"/>
              </a:rPr>
              <a:t>Análisis de Riesgos · @RISK Monte Carlo — 11 Eventos</a:t>
            </a:r>
            <a:endParaRPr lang="en-US" sz="2200" dirty="0"/>
          </a:p>
        </p:txBody>
      </p:sp>
      <p:sp>
        <p:nvSpPr>
          <p:cNvPr id="4" name="Shape 2"/>
          <p:cNvSpPr/>
          <p:nvPr/>
        </p:nvSpPr>
        <p:spPr>
          <a:xfrm>
            <a:off x="320040" y="1005840"/>
            <a:ext cx="11430000" cy="18288"/>
          </a:xfrm>
          <a:prstGeom prst="rect">
            <a:avLst/>
          </a:prstGeom>
          <a:solidFill>
            <a:srgbClr val="1A7A8A"/>
          </a:solidFill>
          <a:ln w="12700">
            <a:solidFill>
              <a:srgbClr val="1A7A8A"/>
            </a:solidFill>
            <a:prstDash val="solid"/>
          </a:ln>
        </p:spPr>
        <p:txBody>
          <a:bodyPr/>
          <a:lstStyle/>
          <a:p>
            <a:endParaRPr lang="es-CO"/>
          </a:p>
        </p:txBody>
      </p:sp>
      <p:sp>
        <p:nvSpPr>
          <p:cNvPr id="5" name="Text 3"/>
          <p:cNvSpPr txBox="1"/>
          <p:nvPr/>
        </p:nvSpPr>
        <p:spPr>
          <a:xfrm>
            <a:off x="320040" y="1060704"/>
            <a:ext cx="11430000" cy="256032"/>
          </a:xfrm>
          <a:prstGeom prst="rect">
            <a:avLst/>
          </a:prstGeom>
          <a:noFill/>
          <a:ln/>
        </p:spPr>
        <p:txBody>
          <a:bodyPr wrap="square"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Valor esperado = pérdida promedio del evento en valor presente · Sev. = impacto por evento; Frec. = probabilidad anual (Tabla 40) · Total = 15.06 % del VPN medio</a:t>
            </a:r>
            <a:endParaRPr lang="en-US" sz="1100" dirty="0"/>
          </a:p>
        </p:txBody>
      </p:sp>
      <p:sp>
        <p:nvSpPr>
          <p:cNvPr id="6" name="Shape 4"/>
          <p:cNvSpPr/>
          <p:nvPr/>
        </p:nvSpPr>
        <p:spPr>
          <a:xfrm>
            <a:off x="320040" y="1371600"/>
            <a:ext cx="2926080" cy="347472"/>
          </a:xfrm>
          <a:prstGeom prst="rect">
            <a:avLst/>
          </a:prstGeom>
          <a:solidFill>
            <a:srgbClr val="0D2341"/>
          </a:solidFill>
          <a:ln w="12700">
            <a:solidFill>
              <a:srgbClr val="0D2341"/>
            </a:solidFill>
            <a:prstDash val="solid"/>
          </a:ln>
        </p:spPr>
        <p:txBody>
          <a:bodyPr/>
          <a:lstStyle/>
          <a:p>
            <a:endParaRPr lang="es-CO"/>
          </a:p>
        </p:txBody>
      </p:sp>
      <p:sp>
        <p:nvSpPr>
          <p:cNvPr id="7" name="Text 5"/>
          <p:cNvSpPr txBox="1"/>
          <p:nvPr/>
        </p:nvSpPr>
        <p:spPr>
          <a:xfrm>
            <a:off x="356616" y="1417320"/>
            <a:ext cx="2871216" cy="256032"/>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Evento de Riesgo</a:t>
            </a:r>
            <a:endParaRPr lang="en-US" sz="1100" dirty="0"/>
          </a:p>
        </p:txBody>
      </p:sp>
      <p:sp>
        <p:nvSpPr>
          <p:cNvPr id="8" name="Shape 6"/>
          <p:cNvSpPr/>
          <p:nvPr/>
        </p:nvSpPr>
        <p:spPr>
          <a:xfrm>
            <a:off x="3246120" y="1371600"/>
            <a:ext cx="594360" cy="347472"/>
          </a:xfrm>
          <a:prstGeom prst="rect">
            <a:avLst/>
          </a:prstGeom>
          <a:solidFill>
            <a:srgbClr val="0D2341"/>
          </a:solidFill>
          <a:ln w="12700">
            <a:solidFill>
              <a:srgbClr val="0D2341"/>
            </a:solidFill>
            <a:prstDash val="solid"/>
          </a:ln>
        </p:spPr>
        <p:txBody>
          <a:bodyPr/>
          <a:lstStyle/>
          <a:p>
            <a:endParaRPr lang="es-CO"/>
          </a:p>
        </p:txBody>
      </p:sp>
      <p:sp>
        <p:nvSpPr>
          <p:cNvPr id="9" name="Text 7"/>
          <p:cNvSpPr txBox="1"/>
          <p:nvPr/>
        </p:nvSpPr>
        <p:spPr>
          <a:xfrm>
            <a:off x="3282696" y="1417320"/>
            <a:ext cx="539496"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Sev.</a:t>
            </a:r>
            <a:endParaRPr lang="en-US" sz="1100" dirty="0"/>
          </a:p>
        </p:txBody>
      </p:sp>
      <p:sp>
        <p:nvSpPr>
          <p:cNvPr id="10" name="Shape 8"/>
          <p:cNvSpPr/>
          <p:nvPr/>
        </p:nvSpPr>
        <p:spPr>
          <a:xfrm>
            <a:off x="3840480" y="1371600"/>
            <a:ext cx="594360" cy="347472"/>
          </a:xfrm>
          <a:prstGeom prst="rect">
            <a:avLst/>
          </a:prstGeom>
          <a:solidFill>
            <a:srgbClr val="0D2341"/>
          </a:solidFill>
          <a:ln w="12700">
            <a:solidFill>
              <a:srgbClr val="0D2341"/>
            </a:solidFill>
            <a:prstDash val="solid"/>
          </a:ln>
        </p:spPr>
        <p:txBody>
          <a:bodyPr/>
          <a:lstStyle/>
          <a:p>
            <a:endParaRPr lang="es-CO"/>
          </a:p>
        </p:txBody>
      </p:sp>
      <p:sp>
        <p:nvSpPr>
          <p:cNvPr id="11" name="Text 9"/>
          <p:cNvSpPr txBox="1"/>
          <p:nvPr/>
        </p:nvSpPr>
        <p:spPr>
          <a:xfrm>
            <a:off x="3877056" y="1417320"/>
            <a:ext cx="539496"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Frec.</a:t>
            </a:r>
            <a:endParaRPr lang="en-US" sz="1100" dirty="0"/>
          </a:p>
        </p:txBody>
      </p:sp>
      <p:sp>
        <p:nvSpPr>
          <p:cNvPr id="12" name="Shape 10"/>
          <p:cNvSpPr/>
          <p:nvPr/>
        </p:nvSpPr>
        <p:spPr>
          <a:xfrm>
            <a:off x="4434840" y="1371600"/>
            <a:ext cx="1325880" cy="347472"/>
          </a:xfrm>
          <a:prstGeom prst="rect">
            <a:avLst/>
          </a:prstGeom>
          <a:solidFill>
            <a:srgbClr val="0D2341"/>
          </a:solidFill>
          <a:ln w="12700">
            <a:solidFill>
              <a:srgbClr val="0D2341"/>
            </a:solidFill>
            <a:prstDash val="solid"/>
          </a:ln>
        </p:spPr>
        <p:txBody>
          <a:bodyPr/>
          <a:lstStyle/>
          <a:p>
            <a:endParaRPr lang="es-CO"/>
          </a:p>
        </p:txBody>
      </p:sp>
      <p:sp>
        <p:nvSpPr>
          <p:cNvPr id="13" name="Text 11"/>
          <p:cNvSpPr txBox="1"/>
          <p:nvPr/>
        </p:nvSpPr>
        <p:spPr>
          <a:xfrm>
            <a:off x="4471416" y="1417320"/>
            <a:ext cx="1271016"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Valor Esp. (L)</a:t>
            </a:r>
            <a:endParaRPr lang="en-US" sz="1100" dirty="0"/>
          </a:p>
        </p:txBody>
      </p:sp>
      <p:sp>
        <p:nvSpPr>
          <p:cNvPr id="14" name="Shape 12"/>
          <p:cNvSpPr/>
          <p:nvPr/>
        </p:nvSpPr>
        <p:spPr>
          <a:xfrm>
            <a:off x="5760720" y="1371600"/>
            <a:ext cx="777240" cy="347472"/>
          </a:xfrm>
          <a:prstGeom prst="rect">
            <a:avLst/>
          </a:prstGeom>
          <a:solidFill>
            <a:srgbClr val="0D2341"/>
          </a:solidFill>
          <a:ln w="12700">
            <a:solidFill>
              <a:srgbClr val="0D2341"/>
            </a:solidFill>
            <a:prstDash val="solid"/>
          </a:ln>
        </p:spPr>
        <p:txBody>
          <a:bodyPr/>
          <a:lstStyle/>
          <a:p>
            <a:endParaRPr lang="es-CO"/>
          </a:p>
        </p:txBody>
      </p:sp>
      <p:sp>
        <p:nvSpPr>
          <p:cNvPr id="15" name="Text 13"/>
          <p:cNvSpPr txBox="1"/>
          <p:nvPr/>
        </p:nvSpPr>
        <p:spPr>
          <a:xfrm>
            <a:off x="5797296" y="1417320"/>
            <a:ext cx="722376"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Riesgo</a:t>
            </a:r>
            <a:endParaRPr lang="en-US" sz="1100" dirty="0"/>
          </a:p>
        </p:txBody>
      </p:sp>
      <p:sp>
        <p:nvSpPr>
          <p:cNvPr id="16" name="Shape 14"/>
          <p:cNvSpPr/>
          <p:nvPr/>
        </p:nvSpPr>
        <p:spPr>
          <a:xfrm>
            <a:off x="6537960" y="1371600"/>
            <a:ext cx="4251960" cy="347472"/>
          </a:xfrm>
          <a:prstGeom prst="rect">
            <a:avLst/>
          </a:prstGeom>
          <a:solidFill>
            <a:srgbClr val="0D2341"/>
          </a:solidFill>
          <a:ln w="12700">
            <a:solidFill>
              <a:srgbClr val="0D2341"/>
            </a:solidFill>
            <a:prstDash val="solid"/>
          </a:ln>
        </p:spPr>
        <p:txBody>
          <a:bodyPr/>
          <a:lstStyle/>
          <a:p>
            <a:endParaRPr lang="es-CO"/>
          </a:p>
        </p:txBody>
      </p:sp>
      <p:sp>
        <p:nvSpPr>
          <p:cNvPr id="17" name="Text 15"/>
          <p:cNvSpPr txBox="1"/>
          <p:nvPr/>
        </p:nvSpPr>
        <p:spPr>
          <a:xfrm>
            <a:off x="6574536" y="1417320"/>
            <a:ext cx="4197096" cy="256032"/>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Estrategia de Mitigación</a:t>
            </a:r>
            <a:endParaRPr lang="en-US" sz="1100" dirty="0"/>
          </a:p>
        </p:txBody>
      </p:sp>
      <p:sp>
        <p:nvSpPr>
          <p:cNvPr id="18" name="Shape 16"/>
          <p:cNvSpPr/>
          <p:nvPr/>
        </p:nvSpPr>
        <p:spPr>
          <a:xfrm>
            <a:off x="320040" y="1719072"/>
            <a:ext cx="2926080" cy="384048"/>
          </a:xfrm>
          <a:prstGeom prst="rect">
            <a:avLst/>
          </a:prstGeom>
          <a:solidFill>
            <a:srgbClr val="FFFFFF"/>
          </a:solidFill>
          <a:ln w="12700">
            <a:solidFill>
              <a:srgbClr val="CBD5E1"/>
            </a:solidFill>
            <a:prstDash val="solid"/>
          </a:ln>
        </p:spPr>
        <p:txBody>
          <a:bodyPr/>
          <a:lstStyle/>
          <a:p>
            <a:endParaRPr lang="es-CO"/>
          </a:p>
        </p:txBody>
      </p:sp>
      <p:sp>
        <p:nvSpPr>
          <p:cNvPr id="19" name="Text 17"/>
          <p:cNvSpPr txBox="1"/>
          <p:nvPr/>
        </p:nvSpPr>
        <p:spPr>
          <a:xfrm>
            <a:off x="356616" y="1810512"/>
            <a:ext cx="2871216" cy="237744"/>
          </a:xfrm>
          <a:prstGeom prst="rect">
            <a:avLst/>
          </a:prstGeom>
          <a:noFill/>
          <a:ln/>
        </p:spPr>
        <p:txBody>
          <a:bodyPr wrap="square" rtlCol="0" anchor="ctr"/>
          <a:lstStyle/>
          <a:p>
            <a:pPr marL="0" indent="0" algn="l">
              <a:buNone/>
            </a:pPr>
            <a:r>
              <a:rPr lang="en-US" sz="1100" dirty="0">
                <a:solidFill>
                  <a:srgbClr val="334155"/>
                </a:solidFill>
                <a:latin typeface="Calibri" pitchFamily="34" charset="0"/>
                <a:ea typeface="Calibri" pitchFamily="34" charset="-122"/>
                <a:cs typeface="Calibri" pitchFamily="34" charset="-120"/>
              </a:rPr>
              <a:t>Entrada de nuevo competidor</a:t>
            </a:r>
            <a:endParaRPr lang="en-US" sz="1100" dirty="0"/>
          </a:p>
        </p:txBody>
      </p:sp>
      <p:sp>
        <p:nvSpPr>
          <p:cNvPr id="20" name="Shape 18"/>
          <p:cNvSpPr/>
          <p:nvPr/>
        </p:nvSpPr>
        <p:spPr>
          <a:xfrm>
            <a:off x="3246120" y="1719072"/>
            <a:ext cx="594360" cy="384048"/>
          </a:xfrm>
          <a:prstGeom prst="rect">
            <a:avLst/>
          </a:prstGeom>
          <a:solidFill>
            <a:srgbClr val="FFFFFF"/>
          </a:solidFill>
          <a:ln w="12700">
            <a:solidFill>
              <a:srgbClr val="CBD5E1"/>
            </a:solidFill>
            <a:prstDash val="solid"/>
          </a:ln>
        </p:spPr>
        <p:txBody>
          <a:bodyPr/>
          <a:lstStyle/>
          <a:p>
            <a:endParaRPr lang="es-CO"/>
          </a:p>
        </p:txBody>
      </p:sp>
      <p:sp>
        <p:nvSpPr>
          <p:cNvPr id="21" name="Text 19"/>
          <p:cNvSpPr txBox="1"/>
          <p:nvPr/>
        </p:nvSpPr>
        <p:spPr>
          <a:xfrm>
            <a:off x="3282696" y="1810512"/>
            <a:ext cx="539496" cy="237744"/>
          </a:xfrm>
          <a:prstGeom prst="rect">
            <a:avLst/>
          </a:prstGeom>
          <a:solidFill>
            <a:srgbClr val="FBE4E1"/>
          </a:solidFill>
          <a:ln/>
        </p:spPr>
        <p:txBody>
          <a:bodyPr wrap="square" rtlCol="0" anchor="ctr"/>
          <a:lstStyle/>
          <a:p>
            <a:pPr marL="0" indent="0" algn="ctr">
              <a:buNone/>
            </a:pPr>
            <a:r>
              <a:rPr lang="en-US" sz="1000" dirty="0">
                <a:solidFill>
                  <a:srgbClr val="C0392B"/>
                </a:solidFill>
                <a:latin typeface="Calibri" pitchFamily="34" charset="0"/>
                <a:ea typeface="Calibri" pitchFamily="34" charset="-122"/>
                <a:cs typeface="Calibri" pitchFamily="34" charset="-120"/>
              </a:rPr>
              <a:t>Alta</a:t>
            </a:r>
            <a:endParaRPr lang="en-US" sz="1000" dirty="0"/>
          </a:p>
        </p:txBody>
      </p:sp>
      <p:sp>
        <p:nvSpPr>
          <p:cNvPr id="22" name="Shape 20"/>
          <p:cNvSpPr/>
          <p:nvPr/>
        </p:nvSpPr>
        <p:spPr>
          <a:xfrm>
            <a:off x="3840480" y="1719072"/>
            <a:ext cx="594360" cy="384048"/>
          </a:xfrm>
          <a:prstGeom prst="rect">
            <a:avLst/>
          </a:prstGeom>
          <a:solidFill>
            <a:srgbClr val="FFFFFF"/>
          </a:solidFill>
          <a:ln w="12700">
            <a:solidFill>
              <a:srgbClr val="CBD5E1"/>
            </a:solidFill>
            <a:prstDash val="solid"/>
          </a:ln>
        </p:spPr>
        <p:txBody>
          <a:bodyPr/>
          <a:lstStyle/>
          <a:p>
            <a:endParaRPr lang="es-CO"/>
          </a:p>
        </p:txBody>
      </p:sp>
      <p:sp>
        <p:nvSpPr>
          <p:cNvPr id="23" name="Text 21"/>
          <p:cNvSpPr txBox="1"/>
          <p:nvPr/>
        </p:nvSpPr>
        <p:spPr>
          <a:xfrm>
            <a:off x="3877056" y="1810512"/>
            <a:ext cx="539496" cy="237744"/>
          </a:xfrm>
          <a:prstGeom prst="rect">
            <a:avLst/>
          </a:prstGeom>
          <a:solidFill>
            <a:srgbClr val="E7EAEE"/>
          </a:solid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Baja</a:t>
            </a:r>
            <a:endParaRPr lang="en-US" sz="1000" dirty="0"/>
          </a:p>
        </p:txBody>
      </p:sp>
      <p:sp>
        <p:nvSpPr>
          <p:cNvPr id="24" name="Shape 22"/>
          <p:cNvSpPr/>
          <p:nvPr/>
        </p:nvSpPr>
        <p:spPr>
          <a:xfrm>
            <a:off x="4434840" y="1719072"/>
            <a:ext cx="1325880" cy="384048"/>
          </a:xfrm>
          <a:prstGeom prst="rect">
            <a:avLst/>
          </a:prstGeom>
          <a:solidFill>
            <a:srgbClr val="FFFFFF"/>
          </a:solidFill>
          <a:ln w="12700">
            <a:solidFill>
              <a:srgbClr val="CBD5E1"/>
            </a:solidFill>
            <a:prstDash val="solid"/>
          </a:ln>
        </p:spPr>
        <p:txBody>
          <a:bodyPr/>
          <a:lstStyle/>
          <a:p>
            <a:endParaRPr lang="es-CO"/>
          </a:p>
        </p:txBody>
      </p:sp>
      <p:sp>
        <p:nvSpPr>
          <p:cNvPr id="25" name="Text 23"/>
          <p:cNvSpPr txBox="1"/>
          <p:nvPr/>
        </p:nvSpPr>
        <p:spPr>
          <a:xfrm>
            <a:off x="4471416" y="1810512"/>
            <a:ext cx="1271016" cy="237744"/>
          </a:xfrm>
          <a:prstGeom prst="rect">
            <a:avLst/>
          </a:prstGeom>
          <a:noFill/>
          <a:ln/>
        </p:spPr>
        <p:txBody>
          <a:bodyPr wrap="square" rtlCol="0" anchor="ctr"/>
          <a:lstStyle/>
          <a:p>
            <a:pPr marL="0" indent="0" algn="ctr">
              <a:buNone/>
            </a:pPr>
            <a:r>
              <a:rPr lang="en-US" sz="1100" b="1" dirty="0">
                <a:solidFill>
                  <a:srgbClr val="334155"/>
                </a:solidFill>
                <a:latin typeface="Calibri" pitchFamily="34" charset="0"/>
                <a:ea typeface="Calibri" pitchFamily="34" charset="-122"/>
                <a:cs typeface="Calibri" pitchFamily="34" charset="-120"/>
              </a:rPr>
              <a:t>1,137,757</a:t>
            </a:r>
            <a:endParaRPr lang="en-US" sz="1100" dirty="0"/>
          </a:p>
        </p:txBody>
      </p:sp>
      <p:sp>
        <p:nvSpPr>
          <p:cNvPr id="26" name="Shape 24"/>
          <p:cNvSpPr/>
          <p:nvPr/>
        </p:nvSpPr>
        <p:spPr>
          <a:xfrm>
            <a:off x="5760720" y="1719072"/>
            <a:ext cx="777240" cy="384048"/>
          </a:xfrm>
          <a:prstGeom prst="rect">
            <a:avLst/>
          </a:prstGeom>
          <a:solidFill>
            <a:srgbClr val="FFFFFF"/>
          </a:solidFill>
          <a:ln w="12700">
            <a:solidFill>
              <a:srgbClr val="CBD5E1"/>
            </a:solidFill>
            <a:prstDash val="solid"/>
          </a:ln>
        </p:spPr>
        <p:txBody>
          <a:bodyPr/>
          <a:lstStyle/>
          <a:p>
            <a:endParaRPr lang="es-CO"/>
          </a:p>
        </p:txBody>
      </p:sp>
      <p:sp>
        <p:nvSpPr>
          <p:cNvPr id="27" name="Text 25"/>
          <p:cNvSpPr txBox="1"/>
          <p:nvPr/>
        </p:nvSpPr>
        <p:spPr>
          <a:xfrm>
            <a:off x="5797296" y="1810512"/>
            <a:ext cx="722376" cy="237744"/>
          </a:xfrm>
          <a:prstGeom prst="rect">
            <a:avLst/>
          </a:prstGeom>
          <a:noFill/>
          <a:ln/>
        </p:spPr>
        <p:txBody>
          <a:bodyPr wrap="square"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31.48 %</a:t>
            </a:r>
            <a:endParaRPr lang="en-US" sz="1100" dirty="0"/>
          </a:p>
        </p:txBody>
      </p:sp>
      <p:sp>
        <p:nvSpPr>
          <p:cNvPr id="28" name="Shape 26"/>
          <p:cNvSpPr/>
          <p:nvPr/>
        </p:nvSpPr>
        <p:spPr>
          <a:xfrm>
            <a:off x="6537960" y="1719072"/>
            <a:ext cx="4251960" cy="384048"/>
          </a:xfrm>
          <a:prstGeom prst="rect">
            <a:avLst/>
          </a:prstGeom>
          <a:solidFill>
            <a:srgbClr val="FFFFFF"/>
          </a:solidFill>
          <a:ln w="12700">
            <a:solidFill>
              <a:srgbClr val="CBD5E1"/>
            </a:solidFill>
            <a:prstDash val="solid"/>
          </a:ln>
        </p:spPr>
        <p:txBody>
          <a:bodyPr/>
          <a:lstStyle/>
          <a:p>
            <a:endParaRPr lang="es-CO"/>
          </a:p>
        </p:txBody>
      </p:sp>
      <p:sp>
        <p:nvSpPr>
          <p:cNvPr id="29" name="Text 27"/>
          <p:cNvSpPr txBox="1"/>
          <p:nvPr/>
        </p:nvSpPr>
        <p:spPr>
          <a:xfrm>
            <a:off x="6574536" y="1810512"/>
            <a:ext cx="4197096" cy="237744"/>
          </a:xfrm>
          <a:prstGeom prst="rect">
            <a:avLst/>
          </a:prstGeom>
          <a:noFill/>
          <a:ln/>
        </p:spPr>
        <p:txBody>
          <a:bodyPr wrap="square" rtlCol="0" anchor="ctr"/>
          <a:lstStyle/>
          <a:p>
            <a:pPr marL="0" indent="0" algn="l">
              <a:buNone/>
            </a:pPr>
            <a:r>
              <a:rPr lang="en-US" sz="1100" dirty="0">
                <a:solidFill>
                  <a:srgbClr val="334155"/>
                </a:solidFill>
                <a:latin typeface="Calibri" pitchFamily="34" charset="0"/>
                <a:ea typeface="Calibri" pitchFamily="34" charset="-122"/>
                <a:cs typeface="Calibri" pitchFamily="34" charset="-120"/>
              </a:rPr>
              <a:t>Posicionamiento rápido y contratos con distribuidores</a:t>
            </a:r>
            <a:endParaRPr lang="en-US" sz="1100" dirty="0"/>
          </a:p>
        </p:txBody>
      </p:sp>
      <p:sp>
        <p:nvSpPr>
          <p:cNvPr id="30" name="Shape 28"/>
          <p:cNvSpPr/>
          <p:nvPr/>
        </p:nvSpPr>
        <p:spPr>
          <a:xfrm>
            <a:off x="320040" y="2121408"/>
            <a:ext cx="2926080" cy="384048"/>
          </a:xfrm>
          <a:prstGeom prst="rect">
            <a:avLst/>
          </a:prstGeom>
          <a:solidFill>
            <a:srgbClr val="F1F5F9"/>
          </a:solidFill>
          <a:ln w="12700">
            <a:solidFill>
              <a:srgbClr val="CBD5E1"/>
            </a:solidFill>
            <a:prstDash val="solid"/>
          </a:ln>
        </p:spPr>
        <p:txBody>
          <a:bodyPr/>
          <a:lstStyle/>
          <a:p>
            <a:endParaRPr lang="es-CO"/>
          </a:p>
        </p:txBody>
      </p:sp>
      <p:sp>
        <p:nvSpPr>
          <p:cNvPr id="31" name="Text 29"/>
          <p:cNvSpPr txBox="1"/>
          <p:nvPr/>
        </p:nvSpPr>
        <p:spPr>
          <a:xfrm>
            <a:off x="356616" y="2212848"/>
            <a:ext cx="2871216" cy="237744"/>
          </a:xfrm>
          <a:prstGeom prst="rect">
            <a:avLst/>
          </a:prstGeom>
          <a:noFill/>
          <a:ln/>
        </p:spPr>
        <p:txBody>
          <a:bodyPr wrap="square" rtlCol="0" anchor="ctr"/>
          <a:lstStyle/>
          <a:p>
            <a:pPr marL="0" indent="0" algn="l">
              <a:buNone/>
            </a:pPr>
            <a:r>
              <a:rPr lang="en-US" sz="1100" dirty="0">
                <a:solidFill>
                  <a:srgbClr val="334155"/>
                </a:solidFill>
                <a:latin typeface="Calibri" pitchFamily="34" charset="0"/>
                <a:ea typeface="Calibri" pitchFamily="34" charset="-122"/>
                <a:cs typeface="Calibri" pitchFamily="34" charset="-120"/>
              </a:rPr>
              <a:t>Variación precio leche cruda</a:t>
            </a:r>
            <a:endParaRPr lang="en-US" sz="1100" dirty="0"/>
          </a:p>
        </p:txBody>
      </p:sp>
      <p:sp>
        <p:nvSpPr>
          <p:cNvPr id="32" name="Shape 30"/>
          <p:cNvSpPr/>
          <p:nvPr/>
        </p:nvSpPr>
        <p:spPr>
          <a:xfrm>
            <a:off x="3246120" y="2121408"/>
            <a:ext cx="594360" cy="384048"/>
          </a:xfrm>
          <a:prstGeom prst="rect">
            <a:avLst/>
          </a:prstGeom>
          <a:solidFill>
            <a:srgbClr val="F1F5F9"/>
          </a:solidFill>
          <a:ln w="12700">
            <a:solidFill>
              <a:srgbClr val="CBD5E1"/>
            </a:solidFill>
            <a:prstDash val="solid"/>
          </a:ln>
        </p:spPr>
        <p:txBody>
          <a:bodyPr/>
          <a:lstStyle/>
          <a:p>
            <a:endParaRPr lang="es-CO"/>
          </a:p>
        </p:txBody>
      </p:sp>
      <p:sp>
        <p:nvSpPr>
          <p:cNvPr id="33" name="Text 31"/>
          <p:cNvSpPr txBox="1"/>
          <p:nvPr/>
        </p:nvSpPr>
        <p:spPr>
          <a:xfrm>
            <a:off x="3282696" y="2212848"/>
            <a:ext cx="539496" cy="237744"/>
          </a:xfrm>
          <a:prstGeom prst="rect">
            <a:avLst/>
          </a:prstGeom>
          <a:solidFill>
            <a:srgbClr val="FDEBD5"/>
          </a:solidFill>
          <a:ln/>
        </p:spPr>
        <p:txBody>
          <a:bodyPr wrap="square" rtlCol="0" anchor="ctr"/>
          <a:lstStyle/>
          <a:p>
            <a:pPr marL="0" indent="0" algn="ctr">
              <a:buNone/>
            </a:pPr>
            <a:r>
              <a:rPr lang="en-US" sz="1000" dirty="0">
                <a:solidFill>
                  <a:srgbClr val="E67E22"/>
                </a:solidFill>
                <a:latin typeface="Calibri" pitchFamily="34" charset="0"/>
                <a:ea typeface="Calibri" pitchFamily="34" charset="-122"/>
                <a:cs typeface="Calibri" pitchFamily="34" charset="-120"/>
              </a:rPr>
              <a:t>Media</a:t>
            </a:r>
            <a:endParaRPr lang="en-US" sz="1000" dirty="0"/>
          </a:p>
        </p:txBody>
      </p:sp>
      <p:sp>
        <p:nvSpPr>
          <p:cNvPr id="34" name="Shape 32"/>
          <p:cNvSpPr/>
          <p:nvPr/>
        </p:nvSpPr>
        <p:spPr>
          <a:xfrm>
            <a:off x="3840480" y="2121408"/>
            <a:ext cx="594360" cy="384048"/>
          </a:xfrm>
          <a:prstGeom prst="rect">
            <a:avLst/>
          </a:prstGeom>
          <a:solidFill>
            <a:srgbClr val="F1F5F9"/>
          </a:solidFill>
          <a:ln w="12700">
            <a:solidFill>
              <a:srgbClr val="CBD5E1"/>
            </a:solidFill>
            <a:prstDash val="solid"/>
          </a:ln>
        </p:spPr>
        <p:txBody>
          <a:bodyPr/>
          <a:lstStyle/>
          <a:p>
            <a:endParaRPr lang="es-CO"/>
          </a:p>
        </p:txBody>
      </p:sp>
      <p:sp>
        <p:nvSpPr>
          <p:cNvPr id="35" name="Text 33"/>
          <p:cNvSpPr txBox="1"/>
          <p:nvPr/>
        </p:nvSpPr>
        <p:spPr>
          <a:xfrm>
            <a:off x="3877056" y="2212848"/>
            <a:ext cx="539496" cy="237744"/>
          </a:xfrm>
          <a:prstGeom prst="rect">
            <a:avLst/>
          </a:prstGeom>
          <a:solidFill>
            <a:srgbClr val="FBE4E1"/>
          </a:solidFill>
          <a:ln/>
        </p:spPr>
        <p:txBody>
          <a:bodyPr wrap="square" rtlCol="0" anchor="ctr"/>
          <a:lstStyle/>
          <a:p>
            <a:pPr marL="0" indent="0" algn="ctr">
              <a:buNone/>
            </a:pPr>
            <a:r>
              <a:rPr lang="en-US" sz="1000" dirty="0">
                <a:solidFill>
                  <a:srgbClr val="C0392B"/>
                </a:solidFill>
                <a:latin typeface="Calibri" pitchFamily="34" charset="0"/>
                <a:ea typeface="Calibri" pitchFamily="34" charset="-122"/>
                <a:cs typeface="Calibri" pitchFamily="34" charset="-120"/>
              </a:rPr>
              <a:t>Alta</a:t>
            </a:r>
            <a:endParaRPr lang="en-US" sz="1000" dirty="0"/>
          </a:p>
        </p:txBody>
      </p:sp>
      <p:sp>
        <p:nvSpPr>
          <p:cNvPr id="36" name="Shape 34"/>
          <p:cNvSpPr/>
          <p:nvPr/>
        </p:nvSpPr>
        <p:spPr>
          <a:xfrm>
            <a:off x="4434840" y="2121408"/>
            <a:ext cx="1325880" cy="384048"/>
          </a:xfrm>
          <a:prstGeom prst="rect">
            <a:avLst/>
          </a:prstGeom>
          <a:solidFill>
            <a:srgbClr val="F1F5F9"/>
          </a:solidFill>
          <a:ln w="12700">
            <a:solidFill>
              <a:srgbClr val="CBD5E1"/>
            </a:solidFill>
            <a:prstDash val="solid"/>
          </a:ln>
        </p:spPr>
        <p:txBody>
          <a:bodyPr/>
          <a:lstStyle/>
          <a:p>
            <a:endParaRPr lang="es-CO"/>
          </a:p>
        </p:txBody>
      </p:sp>
      <p:sp>
        <p:nvSpPr>
          <p:cNvPr id="37" name="Text 35"/>
          <p:cNvSpPr txBox="1"/>
          <p:nvPr/>
        </p:nvSpPr>
        <p:spPr>
          <a:xfrm>
            <a:off x="4471416" y="2212848"/>
            <a:ext cx="1271016" cy="237744"/>
          </a:xfrm>
          <a:prstGeom prst="rect">
            <a:avLst/>
          </a:prstGeom>
          <a:noFill/>
          <a:ln/>
        </p:spPr>
        <p:txBody>
          <a:bodyPr wrap="square" rtlCol="0" anchor="ctr"/>
          <a:lstStyle/>
          <a:p>
            <a:pPr marL="0" indent="0" algn="ctr">
              <a:buNone/>
            </a:pPr>
            <a:r>
              <a:rPr lang="en-US" sz="1100" b="1" dirty="0">
                <a:solidFill>
                  <a:srgbClr val="334155"/>
                </a:solidFill>
                <a:latin typeface="Calibri" pitchFamily="34" charset="0"/>
                <a:ea typeface="Calibri" pitchFamily="34" charset="-122"/>
                <a:cs typeface="Calibri" pitchFamily="34" charset="-120"/>
              </a:rPr>
              <a:t>801,253</a:t>
            </a:r>
            <a:endParaRPr lang="en-US" sz="1100" dirty="0"/>
          </a:p>
        </p:txBody>
      </p:sp>
      <p:sp>
        <p:nvSpPr>
          <p:cNvPr id="38" name="Shape 36"/>
          <p:cNvSpPr/>
          <p:nvPr/>
        </p:nvSpPr>
        <p:spPr>
          <a:xfrm>
            <a:off x="5760720" y="2121408"/>
            <a:ext cx="777240" cy="384048"/>
          </a:xfrm>
          <a:prstGeom prst="rect">
            <a:avLst/>
          </a:prstGeom>
          <a:solidFill>
            <a:srgbClr val="F1F5F9"/>
          </a:solidFill>
          <a:ln w="12700">
            <a:solidFill>
              <a:srgbClr val="CBD5E1"/>
            </a:solidFill>
            <a:prstDash val="solid"/>
          </a:ln>
        </p:spPr>
        <p:txBody>
          <a:bodyPr/>
          <a:lstStyle/>
          <a:p>
            <a:endParaRPr lang="es-CO"/>
          </a:p>
        </p:txBody>
      </p:sp>
      <p:sp>
        <p:nvSpPr>
          <p:cNvPr id="39" name="Text 37"/>
          <p:cNvSpPr txBox="1"/>
          <p:nvPr/>
        </p:nvSpPr>
        <p:spPr>
          <a:xfrm>
            <a:off x="5797296" y="2212848"/>
            <a:ext cx="722376" cy="237744"/>
          </a:xfrm>
          <a:prstGeom prst="rect">
            <a:avLst/>
          </a:prstGeom>
          <a:noFill/>
          <a:ln/>
        </p:spPr>
        <p:txBody>
          <a:bodyPr wrap="square"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22.17 %</a:t>
            </a:r>
            <a:endParaRPr lang="en-US" sz="1100" dirty="0"/>
          </a:p>
        </p:txBody>
      </p:sp>
      <p:sp>
        <p:nvSpPr>
          <p:cNvPr id="40" name="Shape 38"/>
          <p:cNvSpPr/>
          <p:nvPr/>
        </p:nvSpPr>
        <p:spPr>
          <a:xfrm>
            <a:off x="6537960" y="2121408"/>
            <a:ext cx="4251960" cy="384048"/>
          </a:xfrm>
          <a:prstGeom prst="rect">
            <a:avLst/>
          </a:prstGeom>
          <a:solidFill>
            <a:srgbClr val="F1F5F9"/>
          </a:solidFill>
          <a:ln w="12700">
            <a:solidFill>
              <a:srgbClr val="CBD5E1"/>
            </a:solidFill>
            <a:prstDash val="solid"/>
          </a:ln>
        </p:spPr>
        <p:txBody>
          <a:bodyPr/>
          <a:lstStyle/>
          <a:p>
            <a:endParaRPr lang="es-CO"/>
          </a:p>
        </p:txBody>
      </p:sp>
      <p:sp>
        <p:nvSpPr>
          <p:cNvPr id="41" name="Text 39"/>
          <p:cNvSpPr txBox="1"/>
          <p:nvPr/>
        </p:nvSpPr>
        <p:spPr>
          <a:xfrm>
            <a:off x="6574536" y="2212848"/>
            <a:ext cx="4197096" cy="237744"/>
          </a:xfrm>
          <a:prstGeom prst="rect">
            <a:avLst/>
          </a:prstGeom>
          <a:noFill/>
          <a:ln/>
        </p:spPr>
        <p:txBody>
          <a:bodyPr wrap="square" rtlCol="0" anchor="ctr"/>
          <a:lstStyle/>
          <a:p>
            <a:pPr marL="0" indent="0" algn="l">
              <a:buNone/>
            </a:pPr>
            <a:r>
              <a:rPr lang="en-US" sz="1100" dirty="0">
                <a:solidFill>
                  <a:srgbClr val="334155"/>
                </a:solidFill>
                <a:latin typeface="Calibri" pitchFamily="34" charset="0"/>
                <a:ea typeface="Calibri" pitchFamily="34" charset="-122"/>
                <a:cs typeface="Calibri" pitchFamily="34" charset="-120"/>
              </a:rPr>
              <a:t>Contratos LP con CREL y ganaderos certificados</a:t>
            </a:r>
            <a:endParaRPr lang="en-US" sz="1100" dirty="0"/>
          </a:p>
        </p:txBody>
      </p:sp>
      <p:sp>
        <p:nvSpPr>
          <p:cNvPr id="42" name="Shape 40"/>
          <p:cNvSpPr/>
          <p:nvPr/>
        </p:nvSpPr>
        <p:spPr>
          <a:xfrm>
            <a:off x="320040" y="2523744"/>
            <a:ext cx="2926080" cy="384048"/>
          </a:xfrm>
          <a:prstGeom prst="rect">
            <a:avLst/>
          </a:prstGeom>
          <a:solidFill>
            <a:srgbClr val="FFFFFF"/>
          </a:solidFill>
          <a:ln w="12700">
            <a:solidFill>
              <a:srgbClr val="CBD5E1"/>
            </a:solidFill>
            <a:prstDash val="solid"/>
          </a:ln>
        </p:spPr>
        <p:txBody>
          <a:bodyPr/>
          <a:lstStyle/>
          <a:p>
            <a:endParaRPr lang="es-CO"/>
          </a:p>
        </p:txBody>
      </p:sp>
      <p:sp>
        <p:nvSpPr>
          <p:cNvPr id="43" name="Text 41"/>
          <p:cNvSpPr txBox="1"/>
          <p:nvPr/>
        </p:nvSpPr>
        <p:spPr>
          <a:xfrm>
            <a:off x="356616" y="2615184"/>
            <a:ext cx="2871216" cy="237744"/>
          </a:xfrm>
          <a:prstGeom prst="rect">
            <a:avLst/>
          </a:prstGeom>
          <a:noFill/>
          <a:ln/>
        </p:spPr>
        <p:txBody>
          <a:bodyPr wrap="square" rtlCol="0" anchor="ctr"/>
          <a:lstStyle/>
          <a:p>
            <a:pPr marL="0" indent="0" algn="l">
              <a:buNone/>
            </a:pPr>
            <a:r>
              <a:rPr lang="en-US" sz="1100" dirty="0">
                <a:solidFill>
                  <a:srgbClr val="334155"/>
                </a:solidFill>
                <a:latin typeface="Calibri" pitchFamily="34" charset="0"/>
                <a:ea typeface="Calibri" pitchFamily="34" charset="-122"/>
                <a:cs typeface="Calibri" pitchFamily="34" charset="-120"/>
              </a:rPr>
              <a:t>Pérdida de clientes clave HoReCa</a:t>
            </a:r>
            <a:endParaRPr lang="en-US" sz="1100" dirty="0"/>
          </a:p>
        </p:txBody>
      </p:sp>
      <p:sp>
        <p:nvSpPr>
          <p:cNvPr id="44" name="Shape 42"/>
          <p:cNvSpPr/>
          <p:nvPr/>
        </p:nvSpPr>
        <p:spPr>
          <a:xfrm>
            <a:off x="3246120" y="2523744"/>
            <a:ext cx="594360" cy="384048"/>
          </a:xfrm>
          <a:prstGeom prst="rect">
            <a:avLst/>
          </a:prstGeom>
          <a:solidFill>
            <a:srgbClr val="FFFFFF"/>
          </a:solidFill>
          <a:ln w="12700">
            <a:solidFill>
              <a:srgbClr val="CBD5E1"/>
            </a:solidFill>
            <a:prstDash val="solid"/>
          </a:ln>
        </p:spPr>
        <p:txBody>
          <a:bodyPr/>
          <a:lstStyle/>
          <a:p>
            <a:endParaRPr lang="es-CO"/>
          </a:p>
        </p:txBody>
      </p:sp>
      <p:sp>
        <p:nvSpPr>
          <p:cNvPr id="45" name="Text 43"/>
          <p:cNvSpPr txBox="1"/>
          <p:nvPr/>
        </p:nvSpPr>
        <p:spPr>
          <a:xfrm>
            <a:off x="3282696" y="2615184"/>
            <a:ext cx="539496" cy="237744"/>
          </a:xfrm>
          <a:prstGeom prst="rect">
            <a:avLst/>
          </a:prstGeom>
          <a:solidFill>
            <a:srgbClr val="FBE4E1"/>
          </a:solidFill>
          <a:ln/>
        </p:spPr>
        <p:txBody>
          <a:bodyPr wrap="square" rtlCol="0" anchor="ctr"/>
          <a:lstStyle/>
          <a:p>
            <a:pPr marL="0" indent="0" algn="ctr">
              <a:buNone/>
            </a:pPr>
            <a:r>
              <a:rPr lang="en-US" sz="1000" dirty="0">
                <a:solidFill>
                  <a:srgbClr val="C0392B"/>
                </a:solidFill>
                <a:latin typeface="Calibri" pitchFamily="34" charset="0"/>
                <a:ea typeface="Calibri" pitchFamily="34" charset="-122"/>
                <a:cs typeface="Calibri" pitchFamily="34" charset="-120"/>
              </a:rPr>
              <a:t>Alta</a:t>
            </a:r>
            <a:endParaRPr lang="en-US" sz="1000" dirty="0"/>
          </a:p>
        </p:txBody>
      </p:sp>
      <p:sp>
        <p:nvSpPr>
          <p:cNvPr id="46" name="Shape 44"/>
          <p:cNvSpPr/>
          <p:nvPr/>
        </p:nvSpPr>
        <p:spPr>
          <a:xfrm>
            <a:off x="3840480" y="2523744"/>
            <a:ext cx="594360" cy="384048"/>
          </a:xfrm>
          <a:prstGeom prst="rect">
            <a:avLst/>
          </a:prstGeom>
          <a:solidFill>
            <a:srgbClr val="FFFFFF"/>
          </a:solidFill>
          <a:ln w="12700">
            <a:solidFill>
              <a:srgbClr val="CBD5E1"/>
            </a:solidFill>
            <a:prstDash val="solid"/>
          </a:ln>
        </p:spPr>
        <p:txBody>
          <a:bodyPr/>
          <a:lstStyle/>
          <a:p>
            <a:endParaRPr lang="es-CO"/>
          </a:p>
        </p:txBody>
      </p:sp>
      <p:sp>
        <p:nvSpPr>
          <p:cNvPr id="47" name="Text 45"/>
          <p:cNvSpPr txBox="1"/>
          <p:nvPr/>
        </p:nvSpPr>
        <p:spPr>
          <a:xfrm>
            <a:off x="3877056" y="2615184"/>
            <a:ext cx="539496" cy="237744"/>
          </a:xfrm>
          <a:prstGeom prst="rect">
            <a:avLst/>
          </a:prstGeom>
          <a:solidFill>
            <a:srgbClr val="FDEBD5"/>
          </a:solidFill>
          <a:ln/>
        </p:spPr>
        <p:txBody>
          <a:bodyPr wrap="square" rtlCol="0" anchor="ctr"/>
          <a:lstStyle/>
          <a:p>
            <a:pPr marL="0" indent="0" algn="ctr">
              <a:buNone/>
            </a:pPr>
            <a:r>
              <a:rPr lang="en-US" sz="1000" dirty="0">
                <a:solidFill>
                  <a:srgbClr val="E67E22"/>
                </a:solidFill>
                <a:latin typeface="Calibri" pitchFamily="34" charset="0"/>
                <a:ea typeface="Calibri" pitchFamily="34" charset="-122"/>
                <a:cs typeface="Calibri" pitchFamily="34" charset="-120"/>
              </a:rPr>
              <a:t>Media</a:t>
            </a:r>
            <a:endParaRPr lang="en-US" sz="1000" dirty="0"/>
          </a:p>
        </p:txBody>
      </p:sp>
      <p:sp>
        <p:nvSpPr>
          <p:cNvPr id="48" name="Shape 46"/>
          <p:cNvSpPr/>
          <p:nvPr/>
        </p:nvSpPr>
        <p:spPr>
          <a:xfrm>
            <a:off x="4434840" y="2523744"/>
            <a:ext cx="1325880" cy="384048"/>
          </a:xfrm>
          <a:prstGeom prst="rect">
            <a:avLst/>
          </a:prstGeom>
          <a:solidFill>
            <a:srgbClr val="FFFFFF"/>
          </a:solidFill>
          <a:ln w="12700">
            <a:solidFill>
              <a:srgbClr val="CBD5E1"/>
            </a:solidFill>
            <a:prstDash val="solid"/>
          </a:ln>
        </p:spPr>
        <p:txBody>
          <a:bodyPr/>
          <a:lstStyle/>
          <a:p>
            <a:endParaRPr lang="es-CO"/>
          </a:p>
        </p:txBody>
      </p:sp>
      <p:sp>
        <p:nvSpPr>
          <p:cNvPr id="49" name="Text 47"/>
          <p:cNvSpPr txBox="1"/>
          <p:nvPr/>
        </p:nvSpPr>
        <p:spPr>
          <a:xfrm>
            <a:off x="4471416" y="2615184"/>
            <a:ext cx="1271016" cy="237744"/>
          </a:xfrm>
          <a:prstGeom prst="rect">
            <a:avLst/>
          </a:prstGeom>
          <a:noFill/>
          <a:ln/>
        </p:spPr>
        <p:txBody>
          <a:bodyPr wrap="square" rtlCol="0" anchor="ctr"/>
          <a:lstStyle/>
          <a:p>
            <a:pPr marL="0" indent="0" algn="ctr">
              <a:buNone/>
            </a:pPr>
            <a:r>
              <a:rPr lang="en-US" sz="1100" b="1" dirty="0">
                <a:solidFill>
                  <a:srgbClr val="334155"/>
                </a:solidFill>
                <a:latin typeface="Calibri" pitchFamily="34" charset="0"/>
                <a:ea typeface="Calibri" pitchFamily="34" charset="-122"/>
                <a:cs typeface="Calibri" pitchFamily="34" charset="-120"/>
              </a:rPr>
              <a:t>684,048</a:t>
            </a:r>
            <a:endParaRPr lang="en-US" sz="1100" dirty="0"/>
          </a:p>
        </p:txBody>
      </p:sp>
      <p:sp>
        <p:nvSpPr>
          <p:cNvPr id="50" name="Shape 48"/>
          <p:cNvSpPr/>
          <p:nvPr/>
        </p:nvSpPr>
        <p:spPr>
          <a:xfrm>
            <a:off x="5760720" y="2523744"/>
            <a:ext cx="777240" cy="384048"/>
          </a:xfrm>
          <a:prstGeom prst="rect">
            <a:avLst/>
          </a:prstGeom>
          <a:solidFill>
            <a:srgbClr val="FFFFFF"/>
          </a:solidFill>
          <a:ln w="12700">
            <a:solidFill>
              <a:srgbClr val="CBD5E1"/>
            </a:solidFill>
            <a:prstDash val="solid"/>
          </a:ln>
        </p:spPr>
        <p:txBody>
          <a:bodyPr/>
          <a:lstStyle/>
          <a:p>
            <a:endParaRPr lang="es-CO"/>
          </a:p>
        </p:txBody>
      </p:sp>
      <p:sp>
        <p:nvSpPr>
          <p:cNvPr id="51" name="Text 49"/>
          <p:cNvSpPr txBox="1"/>
          <p:nvPr/>
        </p:nvSpPr>
        <p:spPr>
          <a:xfrm>
            <a:off x="5797296" y="2615184"/>
            <a:ext cx="722376" cy="237744"/>
          </a:xfrm>
          <a:prstGeom prst="rect">
            <a:avLst/>
          </a:prstGeom>
          <a:noFill/>
          <a:ln/>
        </p:spPr>
        <p:txBody>
          <a:bodyPr wrap="square"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18.92 %</a:t>
            </a:r>
            <a:endParaRPr lang="en-US" sz="1100" dirty="0"/>
          </a:p>
        </p:txBody>
      </p:sp>
      <p:sp>
        <p:nvSpPr>
          <p:cNvPr id="52" name="Shape 50"/>
          <p:cNvSpPr/>
          <p:nvPr/>
        </p:nvSpPr>
        <p:spPr>
          <a:xfrm>
            <a:off x="6537960" y="2523744"/>
            <a:ext cx="4251960" cy="384048"/>
          </a:xfrm>
          <a:prstGeom prst="rect">
            <a:avLst/>
          </a:prstGeom>
          <a:solidFill>
            <a:srgbClr val="FFFFFF"/>
          </a:solidFill>
          <a:ln w="12700">
            <a:solidFill>
              <a:srgbClr val="CBD5E1"/>
            </a:solidFill>
            <a:prstDash val="solid"/>
          </a:ln>
        </p:spPr>
        <p:txBody>
          <a:bodyPr/>
          <a:lstStyle/>
          <a:p>
            <a:endParaRPr lang="es-CO"/>
          </a:p>
        </p:txBody>
      </p:sp>
      <p:sp>
        <p:nvSpPr>
          <p:cNvPr id="53" name="Text 51"/>
          <p:cNvSpPr txBox="1"/>
          <p:nvPr/>
        </p:nvSpPr>
        <p:spPr>
          <a:xfrm>
            <a:off x="6574536" y="2615184"/>
            <a:ext cx="4197096" cy="237744"/>
          </a:xfrm>
          <a:prstGeom prst="rect">
            <a:avLst/>
          </a:prstGeom>
          <a:noFill/>
          <a:ln/>
        </p:spPr>
        <p:txBody>
          <a:bodyPr wrap="square" rtlCol="0" anchor="ctr"/>
          <a:lstStyle/>
          <a:p>
            <a:pPr marL="0" indent="0" algn="l">
              <a:buNone/>
            </a:pPr>
            <a:r>
              <a:rPr lang="en-US" sz="1100" dirty="0">
                <a:solidFill>
                  <a:srgbClr val="334155"/>
                </a:solidFill>
                <a:latin typeface="Calibri" pitchFamily="34" charset="0"/>
                <a:ea typeface="Calibri" pitchFamily="34" charset="-122"/>
                <a:cs typeface="Calibri" pitchFamily="34" charset="-120"/>
              </a:rPr>
              <a:t>Contratos de abastecimiento y política de cambios</a:t>
            </a:r>
            <a:endParaRPr lang="en-US" sz="1100" dirty="0"/>
          </a:p>
        </p:txBody>
      </p:sp>
      <p:sp>
        <p:nvSpPr>
          <p:cNvPr id="54" name="Shape 52"/>
          <p:cNvSpPr/>
          <p:nvPr/>
        </p:nvSpPr>
        <p:spPr>
          <a:xfrm>
            <a:off x="320040" y="2926080"/>
            <a:ext cx="2926080" cy="384048"/>
          </a:xfrm>
          <a:prstGeom prst="rect">
            <a:avLst/>
          </a:prstGeom>
          <a:solidFill>
            <a:srgbClr val="F1F5F9"/>
          </a:solidFill>
          <a:ln w="12700">
            <a:solidFill>
              <a:srgbClr val="CBD5E1"/>
            </a:solidFill>
            <a:prstDash val="solid"/>
          </a:ln>
        </p:spPr>
        <p:txBody>
          <a:bodyPr/>
          <a:lstStyle/>
          <a:p>
            <a:endParaRPr lang="es-CO"/>
          </a:p>
        </p:txBody>
      </p:sp>
      <p:sp>
        <p:nvSpPr>
          <p:cNvPr id="55" name="Text 53"/>
          <p:cNvSpPr txBox="1"/>
          <p:nvPr/>
        </p:nvSpPr>
        <p:spPr>
          <a:xfrm>
            <a:off x="356616" y="3017520"/>
            <a:ext cx="2871216" cy="237744"/>
          </a:xfrm>
          <a:prstGeom prst="rect">
            <a:avLst/>
          </a:prstGeom>
          <a:noFill/>
          <a:ln/>
        </p:spPr>
        <p:txBody>
          <a:bodyPr wrap="square" rtlCol="0" anchor="ctr"/>
          <a:lstStyle/>
          <a:p>
            <a:pPr marL="0" indent="0" algn="l">
              <a:buNone/>
            </a:pPr>
            <a:r>
              <a:rPr lang="en-US" sz="1100" dirty="0">
                <a:solidFill>
                  <a:srgbClr val="334155"/>
                </a:solidFill>
                <a:latin typeface="Calibri" pitchFamily="34" charset="0"/>
                <a:ea typeface="Calibri" pitchFamily="34" charset="-122"/>
                <a:cs typeface="Calibri" pitchFamily="34" charset="-120"/>
              </a:rPr>
              <a:t>Fallo equipo pasteurización</a:t>
            </a:r>
            <a:endParaRPr lang="en-US" sz="1100" dirty="0"/>
          </a:p>
        </p:txBody>
      </p:sp>
      <p:sp>
        <p:nvSpPr>
          <p:cNvPr id="56" name="Shape 54"/>
          <p:cNvSpPr/>
          <p:nvPr/>
        </p:nvSpPr>
        <p:spPr>
          <a:xfrm>
            <a:off x="3246120" y="2926080"/>
            <a:ext cx="594360" cy="384048"/>
          </a:xfrm>
          <a:prstGeom prst="rect">
            <a:avLst/>
          </a:prstGeom>
          <a:solidFill>
            <a:srgbClr val="F1F5F9"/>
          </a:solidFill>
          <a:ln w="12700">
            <a:solidFill>
              <a:srgbClr val="CBD5E1"/>
            </a:solidFill>
            <a:prstDash val="solid"/>
          </a:ln>
        </p:spPr>
        <p:txBody>
          <a:bodyPr/>
          <a:lstStyle/>
          <a:p>
            <a:endParaRPr lang="es-CO"/>
          </a:p>
        </p:txBody>
      </p:sp>
      <p:sp>
        <p:nvSpPr>
          <p:cNvPr id="57" name="Text 55"/>
          <p:cNvSpPr txBox="1"/>
          <p:nvPr/>
        </p:nvSpPr>
        <p:spPr>
          <a:xfrm>
            <a:off x="3282696" y="3017520"/>
            <a:ext cx="539496" cy="237744"/>
          </a:xfrm>
          <a:prstGeom prst="rect">
            <a:avLst/>
          </a:prstGeom>
          <a:solidFill>
            <a:srgbClr val="FDEBD5"/>
          </a:solidFill>
          <a:ln/>
        </p:spPr>
        <p:txBody>
          <a:bodyPr wrap="square" rtlCol="0" anchor="ctr"/>
          <a:lstStyle/>
          <a:p>
            <a:pPr marL="0" indent="0" algn="ctr">
              <a:buNone/>
            </a:pPr>
            <a:r>
              <a:rPr lang="en-US" sz="1000" dirty="0">
                <a:solidFill>
                  <a:srgbClr val="E67E22"/>
                </a:solidFill>
                <a:latin typeface="Calibri" pitchFamily="34" charset="0"/>
                <a:ea typeface="Calibri" pitchFamily="34" charset="-122"/>
                <a:cs typeface="Calibri" pitchFamily="34" charset="-120"/>
              </a:rPr>
              <a:t>Media</a:t>
            </a:r>
            <a:endParaRPr lang="en-US" sz="1000" dirty="0"/>
          </a:p>
        </p:txBody>
      </p:sp>
      <p:sp>
        <p:nvSpPr>
          <p:cNvPr id="58" name="Shape 56"/>
          <p:cNvSpPr/>
          <p:nvPr/>
        </p:nvSpPr>
        <p:spPr>
          <a:xfrm>
            <a:off x="3840480" y="2926080"/>
            <a:ext cx="594360" cy="384048"/>
          </a:xfrm>
          <a:prstGeom prst="rect">
            <a:avLst/>
          </a:prstGeom>
          <a:solidFill>
            <a:srgbClr val="F1F5F9"/>
          </a:solidFill>
          <a:ln w="12700">
            <a:solidFill>
              <a:srgbClr val="CBD5E1"/>
            </a:solidFill>
            <a:prstDash val="solid"/>
          </a:ln>
        </p:spPr>
        <p:txBody>
          <a:bodyPr/>
          <a:lstStyle/>
          <a:p>
            <a:endParaRPr lang="es-CO"/>
          </a:p>
        </p:txBody>
      </p:sp>
      <p:sp>
        <p:nvSpPr>
          <p:cNvPr id="59" name="Text 57"/>
          <p:cNvSpPr txBox="1"/>
          <p:nvPr/>
        </p:nvSpPr>
        <p:spPr>
          <a:xfrm>
            <a:off x="3877056" y="3017520"/>
            <a:ext cx="539496" cy="237744"/>
          </a:xfrm>
          <a:prstGeom prst="rect">
            <a:avLst/>
          </a:prstGeom>
          <a:solidFill>
            <a:srgbClr val="FDEBD5"/>
          </a:solidFill>
          <a:ln/>
        </p:spPr>
        <p:txBody>
          <a:bodyPr wrap="square" rtlCol="0" anchor="ctr"/>
          <a:lstStyle/>
          <a:p>
            <a:pPr marL="0" indent="0" algn="ctr">
              <a:buNone/>
            </a:pPr>
            <a:r>
              <a:rPr lang="en-US" sz="1000" dirty="0">
                <a:solidFill>
                  <a:srgbClr val="E67E22"/>
                </a:solidFill>
                <a:latin typeface="Calibri" pitchFamily="34" charset="0"/>
                <a:ea typeface="Calibri" pitchFamily="34" charset="-122"/>
                <a:cs typeface="Calibri" pitchFamily="34" charset="-120"/>
              </a:rPr>
              <a:t>Media</a:t>
            </a:r>
            <a:endParaRPr lang="en-US" sz="1000" dirty="0"/>
          </a:p>
        </p:txBody>
      </p:sp>
      <p:sp>
        <p:nvSpPr>
          <p:cNvPr id="60" name="Shape 58"/>
          <p:cNvSpPr/>
          <p:nvPr/>
        </p:nvSpPr>
        <p:spPr>
          <a:xfrm>
            <a:off x="4434840" y="2926080"/>
            <a:ext cx="1325880" cy="384048"/>
          </a:xfrm>
          <a:prstGeom prst="rect">
            <a:avLst/>
          </a:prstGeom>
          <a:solidFill>
            <a:srgbClr val="F1F5F9"/>
          </a:solidFill>
          <a:ln w="12700">
            <a:solidFill>
              <a:srgbClr val="CBD5E1"/>
            </a:solidFill>
            <a:prstDash val="solid"/>
          </a:ln>
        </p:spPr>
        <p:txBody>
          <a:bodyPr/>
          <a:lstStyle/>
          <a:p>
            <a:endParaRPr lang="es-CO"/>
          </a:p>
        </p:txBody>
      </p:sp>
      <p:sp>
        <p:nvSpPr>
          <p:cNvPr id="61" name="Text 59"/>
          <p:cNvSpPr txBox="1"/>
          <p:nvPr/>
        </p:nvSpPr>
        <p:spPr>
          <a:xfrm>
            <a:off x="4471416" y="3017520"/>
            <a:ext cx="1271016" cy="237744"/>
          </a:xfrm>
          <a:prstGeom prst="rect">
            <a:avLst/>
          </a:prstGeom>
          <a:noFill/>
          <a:ln/>
        </p:spPr>
        <p:txBody>
          <a:bodyPr wrap="square" rtlCol="0" anchor="ctr"/>
          <a:lstStyle/>
          <a:p>
            <a:pPr marL="0" indent="0" algn="ctr">
              <a:buNone/>
            </a:pPr>
            <a:r>
              <a:rPr lang="en-US" sz="1100" b="1" dirty="0">
                <a:solidFill>
                  <a:srgbClr val="334155"/>
                </a:solidFill>
                <a:latin typeface="Calibri" pitchFamily="34" charset="0"/>
                <a:ea typeface="Calibri" pitchFamily="34" charset="-122"/>
                <a:cs typeface="Calibri" pitchFamily="34" charset="-120"/>
              </a:rPr>
              <a:t>187,460</a:t>
            </a:r>
            <a:endParaRPr lang="en-US" sz="1100" dirty="0"/>
          </a:p>
        </p:txBody>
      </p:sp>
      <p:sp>
        <p:nvSpPr>
          <p:cNvPr id="62" name="Shape 60"/>
          <p:cNvSpPr/>
          <p:nvPr/>
        </p:nvSpPr>
        <p:spPr>
          <a:xfrm>
            <a:off x="5760720" y="2926080"/>
            <a:ext cx="777240" cy="384048"/>
          </a:xfrm>
          <a:prstGeom prst="rect">
            <a:avLst/>
          </a:prstGeom>
          <a:solidFill>
            <a:srgbClr val="F1F5F9"/>
          </a:solidFill>
          <a:ln w="12700">
            <a:solidFill>
              <a:srgbClr val="CBD5E1"/>
            </a:solidFill>
            <a:prstDash val="solid"/>
          </a:ln>
        </p:spPr>
        <p:txBody>
          <a:bodyPr/>
          <a:lstStyle/>
          <a:p>
            <a:endParaRPr lang="es-CO"/>
          </a:p>
        </p:txBody>
      </p:sp>
      <p:sp>
        <p:nvSpPr>
          <p:cNvPr id="63" name="Text 61"/>
          <p:cNvSpPr txBox="1"/>
          <p:nvPr/>
        </p:nvSpPr>
        <p:spPr>
          <a:xfrm>
            <a:off x="5797296" y="3017520"/>
            <a:ext cx="722376" cy="237744"/>
          </a:xfrm>
          <a:prstGeom prst="rect">
            <a:avLst/>
          </a:prstGeom>
          <a:noFill/>
          <a:ln/>
        </p:spPr>
        <p:txBody>
          <a:bodyPr wrap="square"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5.19 %</a:t>
            </a:r>
            <a:endParaRPr lang="en-US" sz="1100" dirty="0"/>
          </a:p>
        </p:txBody>
      </p:sp>
      <p:sp>
        <p:nvSpPr>
          <p:cNvPr id="64" name="Shape 62"/>
          <p:cNvSpPr/>
          <p:nvPr/>
        </p:nvSpPr>
        <p:spPr>
          <a:xfrm>
            <a:off x="6537960" y="2926080"/>
            <a:ext cx="4251960" cy="384048"/>
          </a:xfrm>
          <a:prstGeom prst="rect">
            <a:avLst/>
          </a:prstGeom>
          <a:solidFill>
            <a:srgbClr val="F1F5F9"/>
          </a:solidFill>
          <a:ln w="12700">
            <a:solidFill>
              <a:srgbClr val="CBD5E1"/>
            </a:solidFill>
            <a:prstDash val="solid"/>
          </a:ln>
        </p:spPr>
        <p:txBody>
          <a:bodyPr/>
          <a:lstStyle/>
          <a:p>
            <a:endParaRPr lang="es-CO"/>
          </a:p>
        </p:txBody>
      </p:sp>
      <p:sp>
        <p:nvSpPr>
          <p:cNvPr id="65" name="Text 63"/>
          <p:cNvSpPr txBox="1"/>
          <p:nvPr/>
        </p:nvSpPr>
        <p:spPr>
          <a:xfrm>
            <a:off x="6574536" y="3017520"/>
            <a:ext cx="4197096" cy="237744"/>
          </a:xfrm>
          <a:prstGeom prst="rect">
            <a:avLst/>
          </a:prstGeom>
          <a:noFill/>
          <a:ln/>
        </p:spPr>
        <p:txBody>
          <a:bodyPr wrap="square" rtlCol="0" anchor="ctr"/>
          <a:lstStyle/>
          <a:p>
            <a:pPr marL="0" indent="0" algn="l">
              <a:buNone/>
            </a:pPr>
            <a:r>
              <a:rPr lang="en-US" sz="1100" dirty="0">
                <a:solidFill>
                  <a:srgbClr val="334155"/>
                </a:solidFill>
                <a:latin typeface="Calibri" pitchFamily="34" charset="0"/>
                <a:ea typeface="Calibri" pitchFamily="34" charset="-122"/>
                <a:cs typeface="Calibri" pitchFamily="34" charset="-120"/>
              </a:rPr>
              <a:t>Plan de mantenimiento preventivo y seguro de equipo</a:t>
            </a:r>
            <a:endParaRPr lang="en-US" sz="1100" dirty="0"/>
          </a:p>
        </p:txBody>
      </p:sp>
      <p:sp>
        <p:nvSpPr>
          <p:cNvPr id="66" name="Shape 64"/>
          <p:cNvSpPr/>
          <p:nvPr/>
        </p:nvSpPr>
        <p:spPr>
          <a:xfrm>
            <a:off x="320040" y="3328416"/>
            <a:ext cx="2926080" cy="384048"/>
          </a:xfrm>
          <a:prstGeom prst="rect">
            <a:avLst/>
          </a:prstGeom>
          <a:solidFill>
            <a:srgbClr val="FFFFFF"/>
          </a:solidFill>
          <a:ln w="12700">
            <a:solidFill>
              <a:srgbClr val="CBD5E1"/>
            </a:solidFill>
            <a:prstDash val="solid"/>
          </a:ln>
        </p:spPr>
        <p:txBody>
          <a:bodyPr/>
          <a:lstStyle/>
          <a:p>
            <a:endParaRPr lang="es-CO"/>
          </a:p>
        </p:txBody>
      </p:sp>
      <p:sp>
        <p:nvSpPr>
          <p:cNvPr id="67" name="Text 65"/>
          <p:cNvSpPr txBox="1"/>
          <p:nvPr/>
        </p:nvSpPr>
        <p:spPr>
          <a:xfrm>
            <a:off x="356616" y="3419856"/>
            <a:ext cx="2871216" cy="237744"/>
          </a:xfrm>
          <a:prstGeom prst="rect">
            <a:avLst/>
          </a:prstGeom>
          <a:noFill/>
          <a:ln/>
        </p:spPr>
        <p:txBody>
          <a:bodyPr wrap="square" rtlCol="0" anchor="ctr"/>
          <a:lstStyle/>
          <a:p>
            <a:pPr marL="0" indent="0" algn="l">
              <a:buNone/>
            </a:pPr>
            <a:r>
              <a:rPr lang="en-US" sz="1100" dirty="0">
                <a:solidFill>
                  <a:srgbClr val="334155"/>
                </a:solidFill>
                <a:latin typeface="Calibri" pitchFamily="34" charset="0"/>
                <a:ea typeface="Calibri" pitchFamily="34" charset="-122"/>
                <a:cs typeface="Calibri" pitchFamily="34" charset="-120"/>
              </a:rPr>
              <a:t>Incremento precio combustible</a:t>
            </a:r>
            <a:endParaRPr lang="en-US" sz="1100" dirty="0"/>
          </a:p>
        </p:txBody>
      </p:sp>
      <p:sp>
        <p:nvSpPr>
          <p:cNvPr id="68" name="Shape 66"/>
          <p:cNvSpPr/>
          <p:nvPr/>
        </p:nvSpPr>
        <p:spPr>
          <a:xfrm>
            <a:off x="3246120" y="3328416"/>
            <a:ext cx="594360" cy="384048"/>
          </a:xfrm>
          <a:prstGeom prst="rect">
            <a:avLst/>
          </a:prstGeom>
          <a:solidFill>
            <a:srgbClr val="FFFFFF"/>
          </a:solidFill>
          <a:ln w="12700">
            <a:solidFill>
              <a:srgbClr val="CBD5E1"/>
            </a:solidFill>
            <a:prstDash val="solid"/>
          </a:ln>
        </p:spPr>
        <p:txBody>
          <a:bodyPr/>
          <a:lstStyle/>
          <a:p>
            <a:endParaRPr lang="es-CO"/>
          </a:p>
        </p:txBody>
      </p:sp>
      <p:sp>
        <p:nvSpPr>
          <p:cNvPr id="69" name="Text 67"/>
          <p:cNvSpPr txBox="1"/>
          <p:nvPr/>
        </p:nvSpPr>
        <p:spPr>
          <a:xfrm>
            <a:off x="3282696" y="3419856"/>
            <a:ext cx="539496" cy="237744"/>
          </a:xfrm>
          <a:prstGeom prst="rect">
            <a:avLst/>
          </a:prstGeom>
          <a:solidFill>
            <a:srgbClr val="E7EAEE"/>
          </a:solid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Baja</a:t>
            </a:r>
            <a:endParaRPr lang="en-US" sz="1000" dirty="0"/>
          </a:p>
        </p:txBody>
      </p:sp>
      <p:sp>
        <p:nvSpPr>
          <p:cNvPr id="70" name="Shape 68"/>
          <p:cNvSpPr/>
          <p:nvPr/>
        </p:nvSpPr>
        <p:spPr>
          <a:xfrm>
            <a:off x="3840480" y="3328416"/>
            <a:ext cx="594360" cy="384048"/>
          </a:xfrm>
          <a:prstGeom prst="rect">
            <a:avLst/>
          </a:prstGeom>
          <a:solidFill>
            <a:srgbClr val="FFFFFF"/>
          </a:solidFill>
          <a:ln w="12700">
            <a:solidFill>
              <a:srgbClr val="CBD5E1"/>
            </a:solidFill>
            <a:prstDash val="solid"/>
          </a:ln>
        </p:spPr>
        <p:txBody>
          <a:bodyPr/>
          <a:lstStyle/>
          <a:p>
            <a:endParaRPr lang="es-CO"/>
          </a:p>
        </p:txBody>
      </p:sp>
      <p:sp>
        <p:nvSpPr>
          <p:cNvPr id="71" name="Text 69"/>
          <p:cNvSpPr txBox="1"/>
          <p:nvPr/>
        </p:nvSpPr>
        <p:spPr>
          <a:xfrm>
            <a:off x="3877056" y="3419856"/>
            <a:ext cx="539496" cy="237744"/>
          </a:xfrm>
          <a:prstGeom prst="rect">
            <a:avLst/>
          </a:prstGeom>
          <a:solidFill>
            <a:srgbClr val="FBE4E1"/>
          </a:solidFill>
          <a:ln/>
        </p:spPr>
        <p:txBody>
          <a:bodyPr wrap="square" rtlCol="0" anchor="ctr"/>
          <a:lstStyle/>
          <a:p>
            <a:pPr marL="0" indent="0" algn="ctr">
              <a:buNone/>
            </a:pPr>
            <a:r>
              <a:rPr lang="en-US" sz="1000" dirty="0">
                <a:solidFill>
                  <a:srgbClr val="C0392B"/>
                </a:solidFill>
                <a:latin typeface="Calibri" pitchFamily="34" charset="0"/>
                <a:ea typeface="Calibri" pitchFamily="34" charset="-122"/>
                <a:cs typeface="Calibri" pitchFamily="34" charset="-120"/>
              </a:rPr>
              <a:t>Alta</a:t>
            </a:r>
            <a:endParaRPr lang="en-US" sz="1000" dirty="0"/>
          </a:p>
        </p:txBody>
      </p:sp>
      <p:sp>
        <p:nvSpPr>
          <p:cNvPr id="72" name="Shape 70"/>
          <p:cNvSpPr/>
          <p:nvPr/>
        </p:nvSpPr>
        <p:spPr>
          <a:xfrm>
            <a:off x="4434840" y="3328416"/>
            <a:ext cx="1325880" cy="384048"/>
          </a:xfrm>
          <a:prstGeom prst="rect">
            <a:avLst/>
          </a:prstGeom>
          <a:solidFill>
            <a:srgbClr val="FFFFFF"/>
          </a:solidFill>
          <a:ln w="12700">
            <a:solidFill>
              <a:srgbClr val="CBD5E1"/>
            </a:solidFill>
            <a:prstDash val="solid"/>
          </a:ln>
        </p:spPr>
        <p:txBody>
          <a:bodyPr/>
          <a:lstStyle/>
          <a:p>
            <a:endParaRPr lang="es-CO"/>
          </a:p>
        </p:txBody>
      </p:sp>
      <p:sp>
        <p:nvSpPr>
          <p:cNvPr id="73" name="Text 71"/>
          <p:cNvSpPr txBox="1"/>
          <p:nvPr/>
        </p:nvSpPr>
        <p:spPr>
          <a:xfrm>
            <a:off x="4471416" y="3419856"/>
            <a:ext cx="1271016" cy="237744"/>
          </a:xfrm>
          <a:prstGeom prst="rect">
            <a:avLst/>
          </a:prstGeom>
          <a:noFill/>
          <a:ln/>
        </p:spPr>
        <p:txBody>
          <a:bodyPr wrap="square" rtlCol="0" anchor="ctr"/>
          <a:lstStyle/>
          <a:p>
            <a:pPr marL="0" indent="0" algn="ctr">
              <a:buNone/>
            </a:pPr>
            <a:r>
              <a:rPr lang="en-US" sz="1100" b="1" dirty="0">
                <a:solidFill>
                  <a:srgbClr val="334155"/>
                </a:solidFill>
                <a:latin typeface="Calibri" pitchFamily="34" charset="0"/>
                <a:ea typeface="Calibri" pitchFamily="34" charset="-122"/>
                <a:cs typeface="Calibri" pitchFamily="34" charset="-120"/>
              </a:rPr>
              <a:t>171,890</a:t>
            </a:r>
            <a:endParaRPr lang="en-US" sz="1100" dirty="0"/>
          </a:p>
        </p:txBody>
      </p:sp>
      <p:sp>
        <p:nvSpPr>
          <p:cNvPr id="74" name="Shape 72"/>
          <p:cNvSpPr/>
          <p:nvPr/>
        </p:nvSpPr>
        <p:spPr>
          <a:xfrm>
            <a:off x="5760720" y="3328416"/>
            <a:ext cx="777240" cy="384048"/>
          </a:xfrm>
          <a:prstGeom prst="rect">
            <a:avLst/>
          </a:prstGeom>
          <a:solidFill>
            <a:srgbClr val="FFFFFF"/>
          </a:solidFill>
          <a:ln w="12700">
            <a:solidFill>
              <a:srgbClr val="CBD5E1"/>
            </a:solidFill>
            <a:prstDash val="solid"/>
          </a:ln>
        </p:spPr>
        <p:txBody>
          <a:bodyPr/>
          <a:lstStyle/>
          <a:p>
            <a:endParaRPr lang="es-CO"/>
          </a:p>
        </p:txBody>
      </p:sp>
      <p:sp>
        <p:nvSpPr>
          <p:cNvPr id="75" name="Text 73"/>
          <p:cNvSpPr txBox="1"/>
          <p:nvPr/>
        </p:nvSpPr>
        <p:spPr>
          <a:xfrm>
            <a:off x="5797296" y="3419856"/>
            <a:ext cx="722376" cy="237744"/>
          </a:xfrm>
          <a:prstGeom prst="rect">
            <a:avLst/>
          </a:prstGeom>
          <a:noFill/>
          <a:ln/>
        </p:spPr>
        <p:txBody>
          <a:bodyPr wrap="square"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4.76 %</a:t>
            </a:r>
            <a:endParaRPr lang="en-US" sz="1100" dirty="0"/>
          </a:p>
        </p:txBody>
      </p:sp>
      <p:sp>
        <p:nvSpPr>
          <p:cNvPr id="76" name="Shape 74"/>
          <p:cNvSpPr/>
          <p:nvPr/>
        </p:nvSpPr>
        <p:spPr>
          <a:xfrm>
            <a:off x="6537960" y="3328416"/>
            <a:ext cx="4251960" cy="384048"/>
          </a:xfrm>
          <a:prstGeom prst="rect">
            <a:avLst/>
          </a:prstGeom>
          <a:solidFill>
            <a:srgbClr val="FFFFFF"/>
          </a:solidFill>
          <a:ln w="12700">
            <a:solidFill>
              <a:srgbClr val="CBD5E1"/>
            </a:solidFill>
            <a:prstDash val="solid"/>
          </a:ln>
        </p:spPr>
        <p:txBody>
          <a:bodyPr/>
          <a:lstStyle/>
          <a:p>
            <a:endParaRPr lang="es-CO"/>
          </a:p>
        </p:txBody>
      </p:sp>
      <p:sp>
        <p:nvSpPr>
          <p:cNvPr id="77" name="Text 75"/>
          <p:cNvSpPr txBox="1"/>
          <p:nvPr/>
        </p:nvSpPr>
        <p:spPr>
          <a:xfrm>
            <a:off x="6574536" y="3419856"/>
            <a:ext cx="4197096" cy="237744"/>
          </a:xfrm>
          <a:prstGeom prst="rect">
            <a:avLst/>
          </a:prstGeom>
          <a:noFill/>
          <a:ln/>
        </p:spPr>
        <p:txBody>
          <a:bodyPr wrap="square" rtlCol="0" anchor="ctr"/>
          <a:lstStyle/>
          <a:p>
            <a:pPr marL="0" indent="0" algn="l">
              <a:buNone/>
            </a:pPr>
            <a:r>
              <a:rPr lang="en-US" sz="1100" dirty="0">
                <a:solidFill>
                  <a:srgbClr val="334155"/>
                </a:solidFill>
                <a:latin typeface="Calibri" pitchFamily="34" charset="0"/>
                <a:ea typeface="Calibri" pitchFamily="34" charset="-122"/>
                <a:cs typeface="Calibri" pitchFamily="34" charset="-120"/>
              </a:rPr>
              <a:t>Optimización de rutas y revisión periódica de tarifas</a:t>
            </a:r>
            <a:endParaRPr lang="en-US" sz="1100" dirty="0"/>
          </a:p>
        </p:txBody>
      </p:sp>
      <p:sp>
        <p:nvSpPr>
          <p:cNvPr id="78" name="Shape 76"/>
          <p:cNvSpPr/>
          <p:nvPr/>
        </p:nvSpPr>
        <p:spPr>
          <a:xfrm>
            <a:off x="320040" y="3730752"/>
            <a:ext cx="2926080" cy="384048"/>
          </a:xfrm>
          <a:prstGeom prst="rect">
            <a:avLst/>
          </a:prstGeom>
          <a:solidFill>
            <a:srgbClr val="F1F5F9"/>
          </a:solidFill>
          <a:ln w="12700">
            <a:solidFill>
              <a:srgbClr val="CBD5E1"/>
            </a:solidFill>
            <a:prstDash val="solid"/>
          </a:ln>
        </p:spPr>
        <p:txBody>
          <a:bodyPr/>
          <a:lstStyle/>
          <a:p>
            <a:endParaRPr lang="es-CO"/>
          </a:p>
        </p:txBody>
      </p:sp>
      <p:sp>
        <p:nvSpPr>
          <p:cNvPr id="79" name="Text 77"/>
          <p:cNvSpPr txBox="1"/>
          <p:nvPr/>
        </p:nvSpPr>
        <p:spPr>
          <a:xfrm>
            <a:off x="356616" y="3822192"/>
            <a:ext cx="2871216" cy="237744"/>
          </a:xfrm>
          <a:prstGeom prst="rect">
            <a:avLst/>
          </a:prstGeom>
          <a:noFill/>
          <a:ln/>
        </p:spPr>
        <p:txBody>
          <a:bodyPr wrap="square" rtlCol="0" anchor="ctr"/>
          <a:lstStyle/>
          <a:p>
            <a:pPr marL="0" indent="0" algn="l">
              <a:buNone/>
            </a:pPr>
            <a:r>
              <a:rPr lang="en-US" sz="1100" dirty="0">
                <a:solidFill>
                  <a:srgbClr val="334155"/>
                </a:solidFill>
                <a:latin typeface="Calibri" pitchFamily="34" charset="0"/>
                <a:ea typeface="Calibri" pitchFamily="34" charset="-122"/>
                <a:cs typeface="Calibri" pitchFamily="34" charset="-120"/>
              </a:rPr>
              <a:t>Inflación mayor a proyectada</a:t>
            </a:r>
            <a:endParaRPr lang="en-US" sz="1100" dirty="0"/>
          </a:p>
        </p:txBody>
      </p:sp>
      <p:sp>
        <p:nvSpPr>
          <p:cNvPr id="80" name="Shape 78"/>
          <p:cNvSpPr/>
          <p:nvPr/>
        </p:nvSpPr>
        <p:spPr>
          <a:xfrm>
            <a:off x="3246120" y="3730752"/>
            <a:ext cx="594360" cy="384048"/>
          </a:xfrm>
          <a:prstGeom prst="rect">
            <a:avLst/>
          </a:prstGeom>
          <a:solidFill>
            <a:srgbClr val="F1F5F9"/>
          </a:solidFill>
          <a:ln w="12700">
            <a:solidFill>
              <a:srgbClr val="CBD5E1"/>
            </a:solidFill>
            <a:prstDash val="solid"/>
          </a:ln>
        </p:spPr>
        <p:txBody>
          <a:bodyPr/>
          <a:lstStyle/>
          <a:p>
            <a:endParaRPr lang="es-CO"/>
          </a:p>
        </p:txBody>
      </p:sp>
      <p:sp>
        <p:nvSpPr>
          <p:cNvPr id="81" name="Text 79"/>
          <p:cNvSpPr txBox="1"/>
          <p:nvPr/>
        </p:nvSpPr>
        <p:spPr>
          <a:xfrm>
            <a:off x="3282696" y="3822192"/>
            <a:ext cx="539496" cy="237744"/>
          </a:xfrm>
          <a:prstGeom prst="rect">
            <a:avLst/>
          </a:prstGeom>
          <a:solidFill>
            <a:srgbClr val="FDEBD5"/>
          </a:solidFill>
          <a:ln/>
        </p:spPr>
        <p:txBody>
          <a:bodyPr wrap="square" rtlCol="0" anchor="ctr"/>
          <a:lstStyle/>
          <a:p>
            <a:pPr marL="0" indent="0" algn="ctr">
              <a:buNone/>
            </a:pPr>
            <a:r>
              <a:rPr lang="en-US" sz="1000" dirty="0">
                <a:solidFill>
                  <a:srgbClr val="E67E22"/>
                </a:solidFill>
                <a:latin typeface="Calibri" pitchFamily="34" charset="0"/>
                <a:ea typeface="Calibri" pitchFamily="34" charset="-122"/>
                <a:cs typeface="Calibri" pitchFamily="34" charset="-120"/>
              </a:rPr>
              <a:t>Media</a:t>
            </a:r>
            <a:endParaRPr lang="en-US" sz="1000" dirty="0"/>
          </a:p>
        </p:txBody>
      </p:sp>
      <p:sp>
        <p:nvSpPr>
          <p:cNvPr id="82" name="Shape 80"/>
          <p:cNvSpPr/>
          <p:nvPr/>
        </p:nvSpPr>
        <p:spPr>
          <a:xfrm>
            <a:off x="3840480" y="3730752"/>
            <a:ext cx="594360" cy="384048"/>
          </a:xfrm>
          <a:prstGeom prst="rect">
            <a:avLst/>
          </a:prstGeom>
          <a:solidFill>
            <a:srgbClr val="F1F5F9"/>
          </a:solidFill>
          <a:ln w="12700">
            <a:solidFill>
              <a:srgbClr val="CBD5E1"/>
            </a:solidFill>
            <a:prstDash val="solid"/>
          </a:ln>
        </p:spPr>
        <p:txBody>
          <a:bodyPr/>
          <a:lstStyle/>
          <a:p>
            <a:endParaRPr lang="es-CO"/>
          </a:p>
        </p:txBody>
      </p:sp>
      <p:sp>
        <p:nvSpPr>
          <p:cNvPr id="83" name="Text 81"/>
          <p:cNvSpPr txBox="1"/>
          <p:nvPr/>
        </p:nvSpPr>
        <p:spPr>
          <a:xfrm>
            <a:off x="3877056" y="3822192"/>
            <a:ext cx="539496" cy="237744"/>
          </a:xfrm>
          <a:prstGeom prst="rect">
            <a:avLst/>
          </a:prstGeom>
          <a:solidFill>
            <a:srgbClr val="FBE4E1"/>
          </a:solidFill>
          <a:ln/>
        </p:spPr>
        <p:txBody>
          <a:bodyPr wrap="square" rtlCol="0" anchor="ctr"/>
          <a:lstStyle/>
          <a:p>
            <a:pPr marL="0" indent="0" algn="ctr">
              <a:buNone/>
            </a:pPr>
            <a:r>
              <a:rPr lang="en-US" sz="1000" dirty="0">
                <a:solidFill>
                  <a:srgbClr val="C0392B"/>
                </a:solidFill>
                <a:latin typeface="Calibri" pitchFamily="34" charset="0"/>
                <a:ea typeface="Calibri" pitchFamily="34" charset="-122"/>
                <a:cs typeface="Calibri" pitchFamily="34" charset="-120"/>
              </a:rPr>
              <a:t>Alta</a:t>
            </a:r>
            <a:endParaRPr lang="en-US" sz="1000" dirty="0"/>
          </a:p>
        </p:txBody>
      </p:sp>
      <p:sp>
        <p:nvSpPr>
          <p:cNvPr id="84" name="Shape 82"/>
          <p:cNvSpPr/>
          <p:nvPr/>
        </p:nvSpPr>
        <p:spPr>
          <a:xfrm>
            <a:off x="4434840" y="3730752"/>
            <a:ext cx="1325880" cy="384048"/>
          </a:xfrm>
          <a:prstGeom prst="rect">
            <a:avLst/>
          </a:prstGeom>
          <a:solidFill>
            <a:srgbClr val="F1F5F9"/>
          </a:solidFill>
          <a:ln w="12700">
            <a:solidFill>
              <a:srgbClr val="CBD5E1"/>
            </a:solidFill>
            <a:prstDash val="solid"/>
          </a:ln>
        </p:spPr>
        <p:txBody>
          <a:bodyPr/>
          <a:lstStyle/>
          <a:p>
            <a:endParaRPr lang="es-CO"/>
          </a:p>
        </p:txBody>
      </p:sp>
      <p:sp>
        <p:nvSpPr>
          <p:cNvPr id="85" name="Text 83"/>
          <p:cNvSpPr txBox="1"/>
          <p:nvPr/>
        </p:nvSpPr>
        <p:spPr>
          <a:xfrm>
            <a:off x="4471416" y="3822192"/>
            <a:ext cx="1271016" cy="237744"/>
          </a:xfrm>
          <a:prstGeom prst="rect">
            <a:avLst/>
          </a:prstGeom>
          <a:noFill/>
          <a:ln/>
        </p:spPr>
        <p:txBody>
          <a:bodyPr wrap="square" rtlCol="0" anchor="ctr"/>
          <a:lstStyle/>
          <a:p>
            <a:pPr marL="0" indent="0" algn="ctr">
              <a:buNone/>
            </a:pPr>
            <a:r>
              <a:rPr lang="en-US" sz="1100" b="1" dirty="0">
                <a:solidFill>
                  <a:srgbClr val="334155"/>
                </a:solidFill>
                <a:latin typeface="Calibri" pitchFamily="34" charset="0"/>
                <a:ea typeface="Calibri" pitchFamily="34" charset="-122"/>
                <a:cs typeface="Calibri" pitchFamily="34" charset="-120"/>
              </a:rPr>
              <a:t>169,206</a:t>
            </a:r>
            <a:endParaRPr lang="en-US" sz="1100" dirty="0"/>
          </a:p>
        </p:txBody>
      </p:sp>
      <p:sp>
        <p:nvSpPr>
          <p:cNvPr id="86" name="Shape 84"/>
          <p:cNvSpPr/>
          <p:nvPr/>
        </p:nvSpPr>
        <p:spPr>
          <a:xfrm>
            <a:off x="5760720" y="3730752"/>
            <a:ext cx="777240" cy="384048"/>
          </a:xfrm>
          <a:prstGeom prst="rect">
            <a:avLst/>
          </a:prstGeom>
          <a:solidFill>
            <a:srgbClr val="F1F5F9"/>
          </a:solidFill>
          <a:ln w="12700">
            <a:solidFill>
              <a:srgbClr val="CBD5E1"/>
            </a:solidFill>
            <a:prstDash val="solid"/>
          </a:ln>
        </p:spPr>
        <p:txBody>
          <a:bodyPr/>
          <a:lstStyle/>
          <a:p>
            <a:endParaRPr lang="es-CO"/>
          </a:p>
        </p:txBody>
      </p:sp>
      <p:sp>
        <p:nvSpPr>
          <p:cNvPr id="87" name="Text 85"/>
          <p:cNvSpPr txBox="1"/>
          <p:nvPr/>
        </p:nvSpPr>
        <p:spPr>
          <a:xfrm>
            <a:off x="5797296" y="3822192"/>
            <a:ext cx="722376" cy="237744"/>
          </a:xfrm>
          <a:prstGeom prst="rect">
            <a:avLst/>
          </a:prstGeom>
          <a:noFill/>
          <a:ln/>
        </p:spPr>
        <p:txBody>
          <a:bodyPr wrap="square"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4.68 %</a:t>
            </a:r>
            <a:endParaRPr lang="en-US" sz="1100" dirty="0"/>
          </a:p>
        </p:txBody>
      </p:sp>
      <p:sp>
        <p:nvSpPr>
          <p:cNvPr id="88" name="Shape 86"/>
          <p:cNvSpPr/>
          <p:nvPr/>
        </p:nvSpPr>
        <p:spPr>
          <a:xfrm>
            <a:off x="6537960" y="3730752"/>
            <a:ext cx="4251960" cy="384048"/>
          </a:xfrm>
          <a:prstGeom prst="rect">
            <a:avLst/>
          </a:prstGeom>
          <a:solidFill>
            <a:srgbClr val="F1F5F9"/>
          </a:solidFill>
          <a:ln w="12700">
            <a:solidFill>
              <a:srgbClr val="CBD5E1"/>
            </a:solidFill>
            <a:prstDash val="solid"/>
          </a:ln>
        </p:spPr>
        <p:txBody>
          <a:bodyPr/>
          <a:lstStyle/>
          <a:p>
            <a:endParaRPr lang="es-CO"/>
          </a:p>
        </p:txBody>
      </p:sp>
      <p:sp>
        <p:nvSpPr>
          <p:cNvPr id="89" name="Text 87"/>
          <p:cNvSpPr txBox="1"/>
          <p:nvPr/>
        </p:nvSpPr>
        <p:spPr>
          <a:xfrm>
            <a:off x="6574536" y="3822192"/>
            <a:ext cx="4197096" cy="237744"/>
          </a:xfrm>
          <a:prstGeom prst="rect">
            <a:avLst/>
          </a:prstGeom>
          <a:noFill/>
          <a:ln/>
        </p:spPr>
        <p:txBody>
          <a:bodyPr wrap="square" rtlCol="0" anchor="ctr"/>
          <a:lstStyle/>
          <a:p>
            <a:pPr marL="0" indent="0" algn="l">
              <a:buNone/>
            </a:pPr>
            <a:r>
              <a:rPr lang="en-US" sz="1100" dirty="0">
                <a:solidFill>
                  <a:srgbClr val="334155"/>
                </a:solidFill>
                <a:latin typeface="Calibri" pitchFamily="34" charset="0"/>
                <a:ea typeface="Calibri" pitchFamily="34" charset="-122"/>
                <a:cs typeface="Calibri" pitchFamily="34" charset="-120"/>
              </a:rPr>
              <a:t>Revisión anual de precios alineada a inflación real</a:t>
            </a:r>
            <a:endParaRPr lang="en-US" sz="1100" dirty="0"/>
          </a:p>
        </p:txBody>
      </p:sp>
      <p:sp>
        <p:nvSpPr>
          <p:cNvPr id="90" name="Shape 88"/>
          <p:cNvSpPr/>
          <p:nvPr/>
        </p:nvSpPr>
        <p:spPr>
          <a:xfrm>
            <a:off x="320040" y="4133088"/>
            <a:ext cx="2926080" cy="384048"/>
          </a:xfrm>
          <a:prstGeom prst="rect">
            <a:avLst/>
          </a:prstGeom>
          <a:solidFill>
            <a:srgbClr val="FFFFFF"/>
          </a:solidFill>
          <a:ln w="12700">
            <a:solidFill>
              <a:srgbClr val="CBD5E1"/>
            </a:solidFill>
            <a:prstDash val="solid"/>
          </a:ln>
        </p:spPr>
        <p:txBody>
          <a:bodyPr/>
          <a:lstStyle/>
          <a:p>
            <a:endParaRPr lang="es-CO"/>
          </a:p>
        </p:txBody>
      </p:sp>
      <p:sp>
        <p:nvSpPr>
          <p:cNvPr id="91" name="Text 89"/>
          <p:cNvSpPr txBox="1"/>
          <p:nvPr/>
        </p:nvSpPr>
        <p:spPr>
          <a:xfrm>
            <a:off x="356616" y="4224528"/>
            <a:ext cx="2871216" cy="237744"/>
          </a:xfrm>
          <a:prstGeom prst="rect">
            <a:avLst/>
          </a:prstGeom>
          <a:noFill/>
          <a:ln/>
        </p:spPr>
        <p:txBody>
          <a:bodyPr wrap="square" rtlCol="0" anchor="ctr"/>
          <a:lstStyle/>
          <a:p>
            <a:pPr marL="0" indent="0" algn="l">
              <a:buNone/>
            </a:pPr>
            <a:r>
              <a:rPr lang="en-US" sz="1100" dirty="0">
                <a:solidFill>
                  <a:srgbClr val="334155"/>
                </a:solidFill>
                <a:latin typeface="Calibri" pitchFamily="34" charset="0"/>
                <a:ea typeface="Calibri" pitchFamily="34" charset="-122"/>
                <a:cs typeface="Calibri" pitchFamily="34" charset="-120"/>
              </a:rPr>
              <a:t>Interrupción cadena de frío</a:t>
            </a:r>
            <a:endParaRPr lang="en-US" sz="1100" dirty="0"/>
          </a:p>
        </p:txBody>
      </p:sp>
      <p:sp>
        <p:nvSpPr>
          <p:cNvPr id="92" name="Shape 90"/>
          <p:cNvSpPr/>
          <p:nvPr/>
        </p:nvSpPr>
        <p:spPr>
          <a:xfrm>
            <a:off x="3246120" y="4133088"/>
            <a:ext cx="594360" cy="384048"/>
          </a:xfrm>
          <a:prstGeom prst="rect">
            <a:avLst/>
          </a:prstGeom>
          <a:solidFill>
            <a:srgbClr val="FFFFFF"/>
          </a:solidFill>
          <a:ln w="12700">
            <a:solidFill>
              <a:srgbClr val="CBD5E1"/>
            </a:solidFill>
            <a:prstDash val="solid"/>
          </a:ln>
        </p:spPr>
        <p:txBody>
          <a:bodyPr/>
          <a:lstStyle/>
          <a:p>
            <a:endParaRPr lang="es-CO"/>
          </a:p>
        </p:txBody>
      </p:sp>
      <p:sp>
        <p:nvSpPr>
          <p:cNvPr id="93" name="Text 91"/>
          <p:cNvSpPr txBox="1"/>
          <p:nvPr/>
        </p:nvSpPr>
        <p:spPr>
          <a:xfrm>
            <a:off x="3282696" y="4224528"/>
            <a:ext cx="539496" cy="237744"/>
          </a:xfrm>
          <a:prstGeom prst="rect">
            <a:avLst/>
          </a:prstGeom>
          <a:solidFill>
            <a:srgbClr val="E7EAEE"/>
          </a:solid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Baja</a:t>
            </a:r>
            <a:endParaRPr lang="en-US" sz="1000" dirty="0"/>
          </a:p>
        </p:txBody>
      </p:sp>
      <p:sp>
        <p:nvSpPr>
          <p:cNvPr id="94" name="Shape 92"/>
          <p:cNvSpPr/>
          <p:nvPr/>
        </p:nvSpPr>
        <p:spPr>
          <a:xfrm>
            <a:off x="3840480" y="4133088"/>
            <a:ext cx="594360" cy="384048"/>
          </a:xfrm>
          <a:prstGeom prst="rect">
            <a:avLst/>
          </a:prstGeom>
          <a:solidFill>
            <a:srgbClr val="FFFFFF"/>
          </a:solidFill>
          <a:ln w="12700">
            <a:solidFill>
              <a:srgbClr val="CBD5E1"/>
            </a:solidFill>
            <a:prstDash val="solid"/>
          </a:ln>
        </p:spPr>
        <p:txBody>
          <a:bodyPr/>
          <a:lstStyle/>
          <a:p>
            <a:endParaRPr lang="es-CO"/>
          </a:p>
        </p:txBody>
      </p:sp>
      <p:sp>
        <p:nvSpPr>
          <p:cNvPr id="95" name="Text 93"/>
          <p:cNvSpPr txBox="1"/>
          <p:nvPr/>
        </p:nvSpPr>
        <p:spPr>
          <a:xfrm>
            <a:off x="3877056" y="4224528"/>
            <a:ext cx="539496" cy="237744"/>
          </a:xfrm>
          <a:prstGeom prst="rect">
            <a:avLst/>
          </a:prstGeom>
          <a:solidFill>
            <a:srgbClr val="FBE4E1"/>
          </a:solidFill>
          <a:ln/>
        </p:spPr>
        <p:txBody>
          <a:bodyPr wrap="square" rtlCol="0" anchor="ctr"/>
          <a:lstStyle/>
          <a:p>
            <a:pPr marL="0" indent="0" algn="ctr">
              <a:buNone/>
            </a:pPr>
            <a:r>
              <a:rPr lang="en-US" sz="1000" dirty="0">
                <a:solidFill>
                  <a:srgbClr val="C0392B"/>
                </a:solidFill>
                <a:latin typeface="Calibri" pitchFamily="34" charset="0"/>
                <a:ea typeface="Calibri" pitchFamily="34" charset="-122"/>
                <a:cs typeface="Calibri" pitchFamily="34" charset="-120"/>
              </a:rPr>
              <a:t>Alta</a:t>
            </a:r>
            <a:endParaRPr lang="en-US" sz="1000" dirty="0"/>
          </a:p>
        </p:txBody>
      </p:sp>
      <p:sp>
        <p:nvSpPr>
          <p:cNvPr id="96" name="Shape 94"/>
          <p:cNvSpPr/>
          <p:nvPr/>
        </p:nvSpPr>
        <p:spPr>
          <a:xfrm>
            <a:off x="4434840" y="4133088"/>
            <a:ext cx="1325880" cy="384048"/>
          </a:xfrm>
          <a:prstGeom prst="rect">
            <a:avLst/>
          </a:prstGeom>
          <a:solidFill>
            <a:srgbClr val="FFFFFF"/>
          </a:solidFill>
          <a:ln w="12700">
            <a:solidFill>
              <a:srgbClr val="CBD5E1"/>
            </a:solidFill>
            <a:prstDash val="solid"/>
          </a:ln>
        </p:spPr>
        <p:txBody>
          <a:bodyPr/>
          <a:lstStyle/>
          <a:p>
            <a:endParaRPr lang="es-CO"/>
          </a:p>
        </p:txBody>
      </p:sp>
      <p:sp>
        <p:nvSpPr>
          <p:cNvPr id="97" name="Text 95"/>
          <p:cNvSpPr txBox="1"/>
          <p:nvPr/>
        </p:nvSpPr>
        <p:spPr>
          <a:xfrm>
            <a:off x="4471416" y="4224528"/>
            <a:ext cx="1271016" cy="237744"/>
          </a:xfrm>
          <a:prstGeom prst="rect">
            <a:avLst/>
          </a:prstGeom>
          <a:noFill/>
          <a:ln/>
        </p:spPr>
        <p:txBody>
          <a:bodyPr wrap="square" rtlCol="0" anchor="ctr"/>
          <a:lstStyle/>
          <a:p>
            <a:pPr marL="0" indent="0" algn="ctr">
              <a:buNone/>
            </a:pPr>
            <a:r>
              <a:rPr lang="en-US" sz="1100" b="1" dirty="0">
                <a:solidFill>
                  <a:srgbClr val="334155"/>
                </a:solidFill>
                <a:latin typeface="Calibri" pitchFamily="34" charset="0"/>
                <a:ea typeface="Calibri" pitchFamily="34" charset="-122"/>
                <a:cs typeface="Calibri" pitchFamily="34" charset="-120"/>
              </a:rPr>
              <a:t>135,281</a:t>
            </a:r>
            <a:endParaRPr lang="en-US" sz="1100" dirty="0"/>
          </a:p>
        </p:txBody>
      </p:sp>
      <p:sp>
        <p:nvSpPr>
          <p:cNvPr id="98" name="Shape 96"/>
          <p:cNvSpPr/>
          <p:nvPr/>
        </p:nvSpPr>
        <p:spPr>
          <a:xfrm>
            <a:off x="5760720" y="4133088"/>
            <a:ext cx="777240" cy="384048"/>
          </a:xfrm>
          <a:prstGeom prst="rect">
            <a:avLst/>
          </a:prstGeom>
          <a:solidFill>
            <a:srgbClr val="FFFFFF"/>
          </a:solidFill>
          <a:ln w="12700">
            <a:solidFill>
              <a:srgbClr val="CBD5E1"/>
            </a:solidFill>
            <a:prstDash val="solid"/>
          </a:ln>
        </p:spPr>
        <p:txBody>
          <a:bodyPr/>
          <a:lstStyle/>
          <a:p>
            <a:endParaRPr lang="es-CO"/>
          </a:p>
        </p:txBody>
      </p:sp>
      <p:sp>
        <p:nvSpPr>
          <p:cNvPr id="99" name="Text 97"/>
          <p:cNvSpPr txBox="1"/>
          <p:nvPr/>
        </p:nvSpPr>
        <p:spPr>
          <a:xfrm>
            <a:off x="5797296" y="4224528"/>
            <a:ext cx="722376" cy="237744"/>
          </a:xfrm>
          <a:prstGeom prst="rect">
            <a:avLst/>
          </a:prstGeom>
          <a:noFill/>
          <a:ln/>
        </p:spPr>
        <p:txBody>
          <a:bodyPr wrap="square"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3.74 %</a:t>
            </a:r>
            <a:endParaRPr lang="en-US" sz="1100" dirty="0"/>
          </a:p>
        </p:txBody>
      </p:sp>
      <p:sp>
        <p:nvSpPr>
          <p:cNvPr id="100" name="Shape 98"/>
          <p:cNvSpPr/>
          <p:nvPr/>
        </p:nvSpPr>
        <p:spPr>
          <a:xfrm>
            <a:off x="6537960" y="4133088"/>
            <a:ext cx="4251960" cy="384048"/>
          </a:xfrm>
          <a:prstGeom prst="rect">
            <a:avLst/>
          </a:prstGeom>
          <a:solidFill>
            <a:srgbClr val="FFFFFF"/>
          </a:solidFill>
          <a:ln w="12700">
            <a:solidFill>
              <a:srgbClr val="CBD5E1"/>
            </a:solidFill>
            <a:prstDash val="solid"/>
          </a:ln>
        </p:spPr>
        <p:txBody>
          <a:bodyPr/>
          <a:lstStyle/>
          <a:p>
            <a:endParaRPr lang="es-CO"/>
          </a:p>
        </p:txBody>
      </p:sp>
      <p:sp>
        <p:nvSpPr>
          <p:cNvPr id="101" name="Text 99"/>
          <p:cNvSpPr txBox="1"/>
          <p:nvPr/>
        </p:nvSpPr>
        <p:spPr>
          <a:xfrm>
            <a:off x="6574536" y="4224528"/>
            <a:ext cx="4197096" cy="237744"/>
          </a:xfrm>
          <a:prstGeom prst="rect">
            <a:avLst/>
          </a:prstGeom>
          <a:noFill/>
          <a:ln/>
        </p:spPr>
        <p:txBody>
          <a:bodyPr wrap="square" rtlCol="0" anchor="ctr"/>
          <a:lstStyle/>
          <a:p>
            <a:pPr marL="0" indent="0" algn="l">
              <a:buNone/>
            </a:pPr>
            <a:r>
              <a:rPr lang="en-US" sz="1100" dirty="0">
                <a:solidFill>
                  <a:srgbClr val="334155"/>
                </a:solidFill>
                <a:latin typeface="Calibri" pitchFamily="34" charset="0"/>
                <a:ea typeface="Calibri" pitchFamily="34" charset="-122"/>
                <a:cs typeface="Calibri" pitchFamily="34" charset="-120"/>
              </a:rPr>
              <a:t>Generador de respaldo y protocolos de contingencia</a:t>
            </a:r>
            <a:endParaRPr lang="en-US" sz="1100" dirty="0"/>
          </a:p>
        </p:txBody>
      </p:sp>
      <p:sp>
        <p:nvSpPr>
          <p:cNvPr id="102" name="Shape 100"/>
          <p:cNvSpPr/>
          <p:nvPr/>
        </p:nvSpPr>
        <p:spPr>
          <a:xfrm>
            <a:off x="320040" y="4535424"/>
            <a:ext cx="2926080" cy="384048"/>
          </a:xfrm>
          <a:prstGeom prst="rect">
            <a:avLst/>
          </a:prstGeom>
          <a:solidFill>
            <a:srgbClr val="F1F5F9"/>
          </a:solidFill>
          <a:ln w="12700">
            <a:solidFill>
              <a:srgbClr val="CBD5E1"/>
            </a:solidFill>
            <a:prstDash val="solid"/>
          </a:ln>
        </p:spPr>
        <p:txBody>
          <a:bodyPr/>
          <a:lstStyle/>
          <a:p>
            <a:endParaRPr lang="es-CO"/>
          </a:p>
        </p:txBody>
      </p:sp>
      <p:sp>
        <p:nvSpPr>
          <p:cNvPr id="103" name="Text 101"/>
          <p:cNvSpPr txBox="1"/>
          <p:nvPr/>
        </p:nvSpPr>
        <p:spPr>
          <a:xfrm>
            <a:off x="356616" y="4626864"/>
            <a:ext cx="2871216" cy="237744"/>
          </a:xfrm>
          <a:prstGeom prst="rect">
            <a:avLst/>
          </a:prstGeom>
          <a:noFill/>
          <a:ln/>
        </p:spPr>
        <p:txBody>
          <a:bodyPr wrap="square" rtlCol="0" anchor="ctr"/>
          <a:lstStyle/>
          <a:p>
            <a:pPr marL="0" indent="0" algn="l">
              <a:buNone/>
            </a:pPr>
            <a:r>
              <a:rPr lang="en-US" sz="1100" dirty="0">
                <a:solidFill>
                  <a:srgbClr val="334155"/>
                </a:solidFill>
                <a:latin typeface="Calibri" pitchFamily="34" charset="0"/>
                <a:ea typeface="Calibri" pitchFamily="34" charset="-122"/>
                <a:cs typeface="Calibri" pitchFamily="34" charset="-120"/>
              </a:rPr>
              <a:t>Variación tipo de cambio Lps/USD</a:t>
            </a:r>
            <a:endParaRPr lang="en-US" sz="1100" dirty="0"/>
          </a:p>
        </p:txBody>
      </p:sp>
      <p:sp>
        <p:nvSpPr>
          <p:cNvPr id="104" name="Shape 102"/>
          <p:cNvSpPr/>
          <p:nvPr/>
        </p:nvSpPr>
        <p:spPr>
          <a:xfrm>
            <a:off x="3246120" y="4535424"/>
            <a:ext cx="594360" cy="384048"/>
          </a:xfrm>
          <a:prstGeom prst="rect">
            <a:avLst/>
          </a:prstGeom>
          <a:solidFill>
            <a:srgbClr val="F1F5F9"/>
          </a:solidFill>
          <a:ln w="12700">
            <a:solidFill>
              <a:srgbClr val="CBD5E1"/>
            </a:solidFill>
            <a:prstDash val="solid"/>
          </a:ln>
        </p:spPr>
        <p:txBody>
          <a:bodyPr/>
          <a:lstStyle/>
          <a:p>
            <a:endParaRPr lang="es-CO"/>
          </a:p>
        </p:txBody>
      </p:sp>
      <p:sp>
        <p:nvSpPr>
          <p:cNvPr id="105" name="Text 103"/>
          <p:cNvSpPr txBox="1"/>
          <p:nvPr/>
        </p:nvSpPr>
        <p:spPr>
          <a:xfrm>
            <a:off x="3282696" y="4626864"/>
            <a:ext cx="539496" cy="237744"/>
          </a:xfrm>
          <a:prstGeom prst="rect">
            <a:avLst/>
          </a:prstGeom>
          <a:solidFill>
            <a:srgbClr val="E7EAEE"/>
          </a:solid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Baja</a:t>
            </a:r>
            <a:endParaRPr lang="en-US" sz="1000" dirty="0"/>
          </a:p>
        </p:txBody>
      </p:sp>
      <p:sp>
        <p:nvSpPr>
          <p:cNvPr id="106" name="Shape 104"/>
          <p:cNvSpPr/>
          <p:nvPr/>
        </p:nvSpPr>
        <p:spPr>
          <a:xfrm>
            <a:off x="3840480" y="4535424"/>
            <a:ext cx="594360" cy="384048"/>
          </a:xfrm>
          <a:prstGeom prst="rect">
            <a:avLst/>
          </a:prstGeom>
          <a:solidFill>
            <a:srgbClr val="F1F5F9"/>
          </a:solidFill>
          <a:ln w="12700">
            <a:solidFill>
              <a:srgbClr val="CBD5E1"/>
            </a:solidFill>
            <a:prstDash val="solid"/>
          </a:ln>
        </p:spPr>
        <p:txBody>
          <a:bodyPr/>
          <a:lstStyle/>
          <a:p>
            <a:endParaRPr lang="es-CO"/>
          </a:p>
        </p:txBody>
      </p:sp>
      <p:sp>
        <p:nvSpPr>
          <p:cNvPr id="107" name="Text 105"/>
          <p:cNvSpPr txBox="1"/>
          <p:nvPr/>
        </p:nvSpPr>
        <p:spPr>
          <a:xfrm>
            <a:off x="3877056" y="4626864"/>
            <a:ext cx="539496" cy="237744"/>
          </a:xfrm>
          <a:prstGeom prst="rect">
            <a:avLst/>
          </a:prstGeom>
          <a:solidFill>
            <a:srgbClr val="FBE4E1"/>
          </a:solidFill>
          <a:ln/>
        </p:spPr>
        <p:txBody>
          <a:bodyPr wrap="square" rtlCol="0" anchor="ctr"/>
          <a:lstStyle/>
          <a:p>
            <a:pPr marL="0" indent="0" algn="ctr">
              <a:buNone/>
            </a:pPr>
            <a:r>
              <a:rPr lang="en-US" sz="1000" dirty="0">
                <a:solidFill>
                  <a:srgbClr val="C0392B"/>
                </a:solidFill>
                <a:latin typeface="Calibri" pitchFamily="34" charset="0"/>
                <a:ea typeface="Calibri" pitchFamily="34" charset="-122"/>
                <a:cs typeface="Calibri" pitchFamily="34" charset="-120"/>
              </a:rPr>
              <a:t>Alta</a:t>
            </a:r>
            <a:endParaRPr lang="en-US" sz="1000" dirty="0"/>
          </a:p>
        </p:txBody>
      </p:sp>
      <p:sp>
        <p:nvSpPr>
          <p:cNvPr id="108" name="Shape 106"/>
          <p:cNvSpPr/>
          <p:nvPr/>
        </p:nvSpPr>
        <p:spPr>
          <a:xfrm>
            <a:off x="4434840" y="4535424"/>
            <a:ext cx="1325880" cy="384048"/>
          </a:xfrm>
          <a:prstGeom prst="rect">
            <a:avLst/>
          </a:prstGeom>
          <a:solidFill>
            <a:srgbClr val="F1F5F9"/>
          </a:solidFill>
          <a:ln w="12700">
            <a:solidFill>
              <a:srgbClr val="CBD5E1"/>
            </a:solidFill>
            <a:prstDash val="solid"/>
          </a:ln>
        </p:spPr>
        <p:txBody>
          <a:bodyPr/>
          <a:lstStyle/>
          <a:p>
            <a:endParaRPr lang="es-CO"/>
          </a:p>
        </p:txBody>
      </p:sp>
      <p:sp>
        <p:nvSpPr>
          <p:cNvPr id="109" name="Text 107"/>
          <p:cNvSpPr txBox="1"/>
          <p:nvPr/>
        </p:nvSpPr>
        <p:spPr>
          <a:xfrm>
            <a:off x="4471416" y="4626864"/>
            <a:ext cx="1271016" cy="237744"/>
          </a:xfrm>
          <a:prstGeom prst="rect">
            <a:avLst/>
          </a:prstGeom>
          <a:noFill/>
          <a:ln/>
        </p:spPr>
        <p:txBody>
          <a:bodyPr wrap="square" rtlCol="0" anchor="ctr"/>
          <a:lstStyle/>
          <a:p>
            <a:pPr marL="0" indent="0" algn="ctr">
              <a:buNone/>
            </a:pPr>
            <a:r>
              <a:rPr lang="en-US" sz="1100" b="1" dirty="0">
                <a:solidFill>
                  <a:srgbClr val="334155"/>
                </a:solidFill>
                <a:latin typeface="Calibri" pitchFamily="34" charset="0"/>
                <a:ea typeface="Calibri" pitchFamily="34" charset="-122"/>
                <a:cs typeface="Calibri" pitchFamily="34" charset="-120"/>
              </a:rPr>
              <a:t>112,704</a:t>
            </a:r>
            <a:endParaRPr lang="en-US" sz="1100" dirty="0"/>
          </a:p>
        </p:txBody>
      </p:sp>
      <p:sp>
        <p:nvSpPr>
          <p:cNvPr id="110" name="Shape 108"/>
          <p:cNvSpPr/>
          <p:nvPr/>
        </p:nvSpPr>
        <p:spPr>
          <a:xfrm>
            <a:off x="5760720" y="4535424"/>
            <a:ext cx="777240" cy="384048"/>
          </a:xfrm>
          <a:prstGeom prst="rect">
            <a:avLst/>
          </a:prstGeom>
          <a:solidFill>
            <a:srgbClr val="F1F5F9"/>
          </a:solidFill>
          <a:ln w="12700">
            <a:solidFill>
              <a:srgbClr val="CBD5E1"/>
            </a:solidFill>
            <a:prstDash val="solid"/>
          </a:ln>
        </p:spPr>
        <p:txBody>
          <a:bodyPr/>
          <a:lstStyle/>
          <a:p>
            <a:endParaRPr lang="es-CO"/>
          </a:p>
        </p:txBody>
      </p:sp>
      <p:sp>
        <p:nvSpPr>
          <p:cNvPr id="111" name="Text 109"/>
          <p:cNvSpPr txBox="1"/>
          <p:nvPr/>
        </p:nvSpPr>
        <p:spPr>
          <a:xfrm>
            <a:off x="5797296" y="4626864"/>
            <a:ext cx="722376" cy="237744"/>
          </a:xfrm>
          <a:prstGeom prst="rect">
            <a:avLst/>
          </a:prstGeom>
          <a:noFill/>
          <a:ln/>
        </p:spPr>
        <p:txBody>
          <a:bodyPr wrap="square"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3.12 %</a:t>
            </a:r>
            <a:endParaRPr lang="en-US" sz="1100" dirty="0"/>
          </a:p>
        </p:txBody>
      </p:sp>
      <p:sp>
        <p:nvSpPr>
          <p:cNvPr id="112" name="Shape 110"/>
          <p:cNvSpPr/>
          <p:nvPr/>
        </p:nvSpPr>
        <p:spPr>
          <a:xfrm>
            <a:off x="6537960" y="4535424"/>
            <a:ext cx="4251960" cy="384048"/>
          </a:xfrm>
          <a:prstGeom prst="rect">
            <a:avLst/>
          </a:prstGeom>
          <a:solidFill>
            <a:srgbClr val="F1F5F9"/>
          </a:solidFill>
          <a:ln w="12700">
            <a:solidFill>
              <a:srgbClr val="CBD5E1"/>
            </a:solidFill>
            <a:prstDash val="solid"/>
          </a:ln>
        </p:spPr>
        <p:txBody>
          <a:bodyPr/>
          <a:lstStyle/>
          <a:p>
            <a:endParaRPr lang="es-CO"/>
          </a:p>
        </p:txBody>
      </p:sp>
      <p:sp>
        <p:nvSpPr>
          <p:cNvPr id="113" name="Text 111"/>
          <p:cNvSpPr txBox="1"/>
          <p:nvPr/>
        </p:nvSpPr>
        <p:spPr>
          <a:xfrm>
            <a:off x="6574536" y="4626864"/>
            <a:ext cx="4197096" cy="237744"/>
          </a:xfrm>
          <a:prstGeom prst="rect">
            <a:avLst/>
          </a:prstGeom>
          <a:noFill/>
          <a:ln/>
        </p:spPr>
        <p:txBody>
          <a:bodyPr wrap="square" rtlCol="0" anchor="ctr"/>
          <a:lstStyle/>
          <a:p>
            <a:pPr marL="0" indent="0" algn="l">
              <a:buNone/>
            </a:pPr>
            <a:r>
              <a:rPr lang="en-US" sz="1100" dirty="0">
                <a:solidFill>
                  <a:srgbClr val="334155"/>
                </a:solidFill>
                <a:latin typeface="Calibri" pitchFamily="34" charset="0"/>
                <a:ea typeface="Calibri" pitchFamily="34" charset="-122"/>
                <a:cs typeface="Calibri" pitchFamily="34" charset="-120"/>
              </a:rPr>
              <a:t>Diversificar proveedores nacionales de insumos</a:t>
            </a:r>
            <a:endParaRPr lang="en-US" sz="1100" dirty="0"/>
          </a:p>
        </p:txBody>
      </p:sp>
      <p:sp>
        <p:nvSpPr>
          <p:cNvPr id="114" name="Shape 112"/>
          <p:cNvSpPr/>
          <p:nvPr/>
        </p:nvSpPr>
        <p:spPr>
          <a:xfrm>
            <a:off x="320040" y="4937760"/>
            <a:ext cx="2926080" cy="384048"/>
          </a:xfrm>
          <a:prstGeom prst="rect">
            <a:avLst/>
          </a:prstGeom>
          <a:solidFill>
            <a:srgbClr val="FFFFFF"/>
          </a:solidFill>
          <a:ln w="12700">
            <a:solidFill>
              <a:srgbClr val="CBD5E1"/>
            </a:solidFill>
            <a:prstDash val="solid"/>
          </a:ln>
        </p:spPr>
        <p:txBody>
          <a:bodyPr/>
          <a:lstStyle/>
          <a:p>
            <a:endParaRPr lang="es-CO"/>
          </a:p>
        </p:txBody>
      </p:sp>
      <p:sp>
        <p:nvSpPr>
          <p:cNvPr id="115" name="Text 113"/>
          <p:cNvSpPr txBox="1"/>
          <p:nvPr/>
        </p:nvSpPr>
        <p:spPr>
          <a:xfrm>
            <a:off x="356616" y="5029200"/>
            <a:ext cx="2871216" cy="237744"/>
          </a:xfrm>
          <a:prstGeom prst="rect">
            <a:avLst/>
          </a:prstGeom>
          <a:noFill/>
          <a:ln/>
        </p:spPr>
        <p:txBody>
          <a:bodyPr wrap="square" rtlCol="0" anchor="ctr"/>
          <a:lstStyle/>
          <a:p>
            <a:pPr marL="0" indent="0" algn="l">
              <a:buNone/>
            </a:pPr>
            <a:r>
              <a:rPr lang="en-US" sz="1100" dirty="0">
                <a:solidFill>
                  <a:srgbClr val="334155"/>
                </a:solidFill>
                <a:latin typeface="Calibri" pitchFamily="34" charset="0"/>
                <a:ea typeface="Calibri" pitchFamily="34" charset="-122"/>
                <a:cs typeface="Calibri" pitchFamily="34" charset="-120"/>
              </a:rPr>
              <a:t>Contaminación de lote / retiro</a:t>
            </a:r>
            <a:endParaRPr lang="en-US" sz="1100" dirty="0"/>
          </a:p>
        </p:txBody>
      </p:sp>
      <p:sp>
        <p:nvSpPr>
          <p:cNvPr id="116" name="Shape 114"/>
          <p:cNvSpPr/>
          <p:nvPr/>
        </p:nvSpPr>
        <p:spPr>
          <a:xfrm>
            <a:off x="3246120" y="4937760"/>
            <a:ext cx="594360" cy="384048"/>
          </a:xfrm>
          <a:prstGeom prst="rect">
            <a:avLst/>
          </a:prstGeom>
          <a:solidFill>
            <a:srgbClr val="FFFFFF"/>
          </a:solidFill>
          <a:ln w="12700">
            <a:solidFill>
              <a:srgbClr val="CBD5E1"/>
            </a:solidFill>
            <a:prstDash val="solid"/>
          </a:ln>
        </p:spPr>
        <p:txBody>
          <a:bodyPr/>
          <a:lstStyle/>
          <a:p>
            <a:endParaRPr lang="es-CO"/>
          </a:p>
        </p:txBody>
      </p:sp>
      <p:sp>
        <p:nvSpPr>
          <p:cNvPr id="117" name="Text 115"/>
          <p:cNvSpPr txBox="1"/>
          <p:nvPr/>
        </p:nvSpPr>
        <p:spPr>
          <a:xfrm>
            <a:off x="3282696" y="5029200"/>
            <a:ext cx="539496" cy="237744"/>
          </a:xfrm>
          <a:prstGeom prst="rect">
            <a:avLst/>
          </a:prstGeom>
          <a:solidFill>
            <a:srgbClr val="FBE4E1"/>
          </a:solidFill>
          <a:ln/>
        </p:spPr>
        <p:txBody>
          <a:bodyPr wrap="square" rtlCol="0" anchor="ctr"/>
          <a:lstStyle/>
          <a:p>
            <a:pPr marL="0" indent="0" algn="ctr">
              <a:buNone/>
            </a:pPr>
            <a:r>
              <a:rPr lang="en-US" sz="1000" dirty="0">
                <a:solidFill>
                  <a:srgbClr val="C0392B"/>
                </a:solidFill>
                <a:latin typeface="Calibri" pitchFamily="34" charset="0"/>
                <a:ea typeface="Calibri" pitchFamily="34" charset="-122"/>
                <a:cs typeface="Calibri" pitchFamily="34" charset="-120"/>
              </a:rPr>
              <a:t>Alta</a:t>
            </a:r>
            <a:endParaRPr lang="en-US" sz="1000" dirty="0"/>
          </a:p>
        </p:txBody>
      </p:sp>
      <p:sp>
        <p:nvSpPr>
          <p:cNvPr id="118" name="Shape 116"/>
          <p:cNvSpPr/>
          <p:nvPr/>
        </p:nvSpPr>
        <p:spPr>
          <a:xfrm>
            <a:off x="3840480" y="4937760"/>
            <a:ext cx="594360" cy="384048"/>
          </a:xfrm>
          <a:prstGeom prst="rect">
            <a:avLst/>
          </a:prstGeom>
          <a:solidFill>
            <a:srgbClr val="FFFFFF"/>
          </a:solidFill>
          <a:ln w="12700">
            <a:solidFill>
              <a:srgbClr val="CBD5E1"/>
            </a:solidFill>
            <a:prstDash val="solid"/>
          </a:ln>
        </p:spPr>
        <p:txBody>
          <a:bodyPr/>
          <a:lstStyle/>
          <a:p>
            <a:endParaRPr lang="es-CO"/>
          </a:p>
        </p:txBody>
      </p:sp>
      <p:sp>
        <p:nvSpPr>
          <p:cNvPr id="119" name="Text 117"/>
          <p:cNvSpPr txBox="1"/>
          <p:nvPr/>
        </p:nvSpPr>
        <p:spPr>
          <a:xfrm>
            <a:off x="3877056" y="5029200"/>
            <a:ext cx="539496" cy="237744"/>
          </a:xfrm>
          <a:prstGeom prst="rect">
            <a:avLst/>
          </a:prstGeom>
          <a:solidFill>
            <a:srgbClr val="E7EAEE"/>
          </a:solid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Baja</a:t>
            </a:r>
            <a:endParaRPr lang="en-US" sz="1000" dirty="0"/>
          </a:p>
        </p:txBody>
      </p:sp>
      <p:sp>
        <p:nvSpPr>
          <p:cNvPr id="120" name="Shape 118"/>
          <p:cNvSpPr/>
          <p:nvPr/>
        </p:nvSpPr>
        <p:spPr>
          <a:xfrm>
            <a:off x="4434840" y="4937760"/>
            <a:ext cx="1325880" cy="384048"/>
          </a:xfrm>
          <a:prstGeom prst="rect">
            <a:avLst/>
          </a:prstGeom>
          <a:solidFill>
            <a:srgbClr val="FFFFFF"/>
          </a:solidFill>
          <a:ln w="12700">
            <a:solidFill>
              <a:srgbClr val="CBD5E1"/>
            </a:solidFill>
            <a:prstDash val="solid"/>
          </a:ln>
        </p:spPr>
        <p:txBody>
          <a:bodyPr/>
          <a:lstStyle/>
          <a:p>
            <a:endParaRPr lang="es-CO"/>
          </a:p>
        </p:txBody>
      </p:sp>
      <p:sp>
        <p:nvSpPr>
          <p:cNvPr id="121" name="Text 119"/>
          <p:cNvSpPr txBox="1"/>
          <p:nvPr/>
        </p:nvSpPr>
        <p:spPr>
          <a:xfrm>
            <a:off x="4471416" y="5029200"/>
            <a:ext cx="1271016" cy="237744"/>
          </a:xfrm>
          <a:prstGeom prst="rect">
            <a:avLst/>
          </a:prstGeom>
          <a:noFill/>
          <a:ln/>
        </p:spPr>
        <p:txBody>
          <a:bodyPr wrap="square" rtlCol="0" anchor="ctr"/>
          <a:lstStyle/>
          <a:p>
            <a:pPr marL="0" indent="0" algn="ctr">
              <a:buNone/>
            </a:pPr>
            <a:r>
              <a:rPr lang="en-US" sz="1100" b="1" dirty="0">
                <a:solidFill>
                  <a:srgbClr val="334155"/>
                </a:solidFill>
                <a:latin typeface="Calibri" pitchFamily="34" charset="0"/>
                <a:ea typeface="Calibri" pitchFamily="34" charset="-122"/>
                <a:cs typeface="Calibri" pitchFamily="34" charset="-120"/>
              </a:rPr>
              <a:t>99,188</a:t>
            </a:r>
            <a:endParaRPr lang="en-US" sz="1100" dirty="0"/>
          </a:p>
        </p:txBody>
      </p:sp>
      <p:sp>
        <p:nvSpPr>
          <p:cNvPr id="122" name="Shape 120"/>
          <p:cNvSpPr/>
          <p:nvPr/>
        </p:nvSpPr>
        <p:spPr>
          <a:xfrm>
            <a:off x="5760720" y="4937760"/>
            <a:ext cx="777240" cy="384048"/>
          </a:xfrm>
          <a:prstGeom prst="rect">
            <a:avLst/>
          </a:prstGeom>
          <a:solidFill>
            <a:srgbClr val="FFFFFF"/>
          </a:solidFill>
          <a:ln w="12700">
            <a:solidFill>
              <a:srgbClr val="CBD5E1"/>
            </a:solidFill>
            <a:prstDash val="solid"/>
          </a:ln>
        </p:spPr>
        <p:txBody>
          <a:bodyPr/>
          <a:lstStyle/>
          <a:p>
            <a:endParaRPr lang="es-CO"/>
          </a:p>
        </p:txBody>
      </p:sp>
      <p:sp>
        <p:nvSpPr>
          <p:cNvPr id="123" name="Text 121"/>
          <p:cNvSpPr txBox="1"/>
          <p:nvPr/>
        </p:nvSpPr>
        <p:spPr>
          <a:xfrm>
            <a:off x="5797296" y="5029200"/>
            <a:ext cx="722376" cy="237744"/>
          </a:xfrm>
          <a:prstGeom prst="rect">
            <a:avLst/>
          </a:prstGeom>
          <a:noFill/>
          <a:ln/>
        </p:spPr>
        <p:txBody>
          <a:bodyPr wrap="square"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2.74 %</a:t>
            </a:r>
            <a:endParaRPr lang="en-US" sz="1100" dirty="0"/>
          </a:p>
        </p:txBody>
      </p:sp>
      <p:sp>
        <p:nvSpPr>
          <p:cNvPr id="124" name="Shape 122"/>
          <p:cNvSpPr/>
          <p:nvPr/>
        </p:nvSpPr>
        <p:spPr>
          <a:xfrm>
            <a:off x="6537960" y="4937760"/>
            <a:ext cx="4251960" cy="384048"/>
          </a:xfrm>
          <a:prstGeom prst="rect">
            <a:avLst/>
          </a:prstGeom>
          <a:solidFill>
            <a:srgbClr val="FFFFFF"/>
          </a:solidFill>
          <a:ln w="12700">
            <a:solidFill>
              <a:srgbClr val="CBD5E1"/>
            </a:solidFill>
            <a:prstDash val="solid"/>
          </a:ln>
        </p:spPr>
        <p:txBody>
          <a:bodyPr/>
          <a:lstStyle/>
          <a:p>
            <a:endParaRPr lang="es-CO"/>
          </a:p>
        </p:txBody>
      </p:sp>
      <p:sp>
        <p:nvSpPr>
          <p:cNvPr id="125" name="Text 123"/>
          <p:cNvSpPr txBox="1"/>
          <p:nvPr/>
        </p:nvSpPr>
        <p:spPr>
          <a:xfrm>
            <a:off x="6574536" y="5029200"/>
            <a:ext cx="4197096" cy="237744"/>
          </a:xfrm>
          <a:prstGeom prst="rect">
            <a:avLst/>
          </a:prstGeom>
          <a:noFill/>
          <a:ln/>
        </p:spPr>
        <p:txBody>
          <a:bodyPr wrap="square" rtlCol="0" anchor="ctr"/>
          <a:lstStyle/>
          <a:p>
            <a:pPr marL="0" indent="0" algn="l">
              <a:buNone/>
            </a:pPr>
            <a:r>
              <a:rPr lang="en-US" sz="1100" dirty="0">
                <a:solidFill>
                  <a:srgbClr val="334155"/>
                </a:solidFill>
                <a:latin typeface="Calibri" pitchFamily="34" charset="0"/>
                <a:ea typeface="Calibri" pitchFamily="34" charset="-122"/>
                <a:cs typeface="Calibri" pitchFamily="34" charset="-120"/>
              </a:rPr>
              <a:t>Trazabilidad completa, análisis microbiológicos diarios</a:t>
            </a:r>
            <a:endParaRPr lang="en-US" sz="1100" dirty="0"/>
          </a:p>
        </p:txBody>
      </p:sp>
      <p:sp>
        <p:nvSpPr>
          <p:cNvPr id="126" name="Shape 124"/>
          <p:cNvSpPr/>
          <p:nvPr/>
        </p:nvSpPr>
        <p:spPr>
          <a:xfrm>
            <a:off x="320040" y="5340096"/>
            <a:ext cx="2926080" cy="384048"/>
          </a:xfrm>
          <a:prstGeom prst="rect">
            <a:avLst/>
          </a:prstGeom>
          <a:solidFill>
            <a:srgbClr val="F1F5F9"/>
          </a:solidFill>
          <a:ln w="12700">
            <a:solidFill>
              <a:srgbClr val="CBD5E1"/>
            </a:solidFill>
            <a:prstDash val="solid"/>
          </a:ln>
        </p:spPr>
        <p:txBody>
          <a:bodyPr/>
          <a:lstStyle/>
          <a:p>
            <a:endParaRPr lang="es-CO"/>
          </a:p>
        </p:txBody>
      </p:sp>
      <p:sp>
        <p:nvSpPr>
          <p:cNvPr id="127" name="Text 125"/>
          <p:cNvSpPr txBox="1"/>
          <p:nvPr/>
        </p:nvSpPr>
        <p:spPr>
          <a:xfrm>
            <a:off x="356616" y="5431536"/>
            <a:ext cx="2871216" cy="237744"/>
          </a:xfrm>
          <a:prstGeom prst="rect">
            <a:avLst/>
          </a:prstGeom>
          <a:noFill/>
          <a:ln/>
        </p:spPr>
        <p:txBody>
          <a:bodyPr wrap="square" rtlCol="0" anchor="ctr"/>
          <a:lstStyle/>
          <a:p>
            <a:pPr marL="0" indent="0" algn="l">
              <a:buNone/>
            </a:pPr>
            <a:r>
              <a:rPr lang="en-US" sz="1100" dirty="0">
                <a:solidFill>
                  <a:srgbClr val="334155"/>
                </a:solidFill>
                <a:latin typeface="Calibri" pitchFamily="34" charset="0"/>
                <a:ea typeface="Calibri" pitchFamily="34" charset="-122"/>
                <a:cs typeface="Calibri" pitchFamily="34" charset="-120"/>
              </a:rPr>
              <a:t>Accidente de transporte</a:t>
            </a:r>
            <a:endParaRPr lang="en-US" sz="1100" dirty="0"/>
          </a:p>
        </p:txBody>
      </p:sp>
      <p:sp>
        <p:nvSpPr>
          <p:cNvPr id="128" name="Shape 126"/>
          <p:cNvSpPr/>
          <p:nvPr/>
        </p:nvSpPr>
        <p:spPr>
          <a:xfrm>
            <a:off x="3246120" y="5340096"/>
            <a:ext cx="594360" cy="384048"/>
          </a:xfrm>
          <a:prstGeom prst="rect">
            <a:avLst/>
          </a:prstGeom>
          <a:solidFill>
            <a:srgbClr val="F1F5F9"/>
          </a:solidFill>
          <a:ln w="12700">
            <a:solidFill>
              <a:srgbClr val="CBD5E1"/>
            </a:solidFill>
            <a:prstDash val="solid"/>
          </a:ln>
        </p:spPr>
        <p:txBody>
          <a:bodyPr/>
          <a:lstStyle/>
          <a:p>
            <a:endParaRPr lang="es-CO"/>
          </a:p>
        </p:txBody>
      </p:sp>
      <p:sp>
        <p:nvSpPr>
          <p:cNvPr id="129" name="Text 127"/>
          <p:cNvSpPr txBox="1"/>
          <p:nvPr/>
        </p:nvSpPr>
        <p:spPr>
          <a:xfrm>
            <a:off x="3282696" y="5431536"/>
            <a:ext cx="539496" cy="237744"/>
          </a:xfrm>
          <a:prstGeom prst="rect">
            <a:avLst/>
          </a:prstGeom>
          <a:solidFill>
            <a:srgbClr val="FDEBD5"/>
          </a:solidFill>
          <a:ln/>
        </p:spPr>
        <p:txBody>
          <a:bodyPr wrap="square" rtlCol="0" anchor="ctr"/>
          <a:lstStyle/>
          <a:p>
            <a:pPr marL="0" indent="0" algn="ctr">
              <a:buNone/>
            </a:pPr>
            <a:r>
              <a:rPr lang="en-US" sz="1000" dirty="0">
                <a:solidFill>
                  <a:srgbClr val="E67E22"/>
                </a:solidFill>
                <a:latin typeface="Calibri" pitchFamily="34" charset="0"/>
                <a:ea typeface="Calibri" pitchFamily="34" charset="-122"/>
                <a:cs typeface="Calibri" pitchFamily="34" charset="-120"/>
              </a:rPr>
              <a:t>Media</a:t>
            </a:r>
            <a:endParaRPr lang="en-US" sz="1000" dirty="0"/>
          </a:p>
        </p:txBody>
      </p:sp>
      <p:sp>
        <p:nvSpPr>
          <p:cNvPr id="130" name="Shape 128"/>
          <p:cNvSpPr/>
          <p:nvPr/>
        </p:nvSpPr>
        <p:spPr>
          <a:xfrm>
            <a:off x="3840480" y="5340096"/>
            <a:ext cx="594360" cy="384048"/>
          </a:xfrm>
          <a:prstGeom prst="rect">
            <a:avLst/>
          </a:prstGeom>
          <a:solidFill>
            <a:srgbClr val="F1F5F9"/>
          </a:solidFill>
          <a:ln w="12700">
            <a:solidFill>
              <a:srgbClr val="CBD5E1"/>
            </a:solidFill>
            <a:prstDash val="solid"/>
          </a:ln>
        </p:spPr>
        <p:txBody>
          <a:bodyPr/>
          <a:lstStyle/>
          <a:p>
            <a:endParaRPr lang="es-CO"/>
          </a:p>
        </p:txBody>
      </p:sp>
      <p:sp>
        <p:nvSpPr>
          <p:cNvPr id="131" name="Text 129"/>
          <p:cNvSpPr txBox="1"/>
          <p:nvPr/>
        </p:nvSpPr>
        <p:spPr>
          <a:xfrm>
            <a:off x="3877056" y="5431536"/>
            <a:ext cx="539496" cy="237744"/>
          </a:xfrm>
          <a:prstGeom prst="rect">
            <a:avLst/>
          </a:prstGeom>
          <a:solidFill>
            <a:srgbClr val="E7EAEE"/>
          </a:solid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Baja</a:t>
            </a:r>
            <a:endParaRPr lang="en-US" sz="1000" dirty="0"/>
          </a:p>
        </p:txBody>
      </p:sp>
      <p:sp>
        <p:nvSpPr>
          <p:cNvPr id="132" name="Shape 130"/>
          <p:cNvSpPr/>
          <p:nvPr/>
        </p:nvSpPr>
        <p:spPr>
          <a:xfrm>
            <a:off x="4434840" y="5340096"/>
            <a:ext cx="1325880" cy="384048"/>
          </a:xfrm>
          <a:prstGeom prst="rect">
            <a:avLst/>
          </a:prstGeom>
          <a:solidFill>
            <a:srgbClr val="F1F5F9"/>
          </a:solidFill>
          <a:ln w="12700">
            <a:solidFill>
              <a:srgbClr val="CBD5E1"/>
            </a:solidFill>
            <a:prstDash val="solid"/>
          </a:ln>
        </p:spPr>
        <p:txBody>
          <a:bodyPr/>
          <a:lstStyle/>
          <a:p>
            <a:endParaRPr lang="es-CO"/>
          </a:p>
        </p:txBody>
      </p:sp>
      <p:sp>
        <p:nvSpPr>
          <p:cNvPr id="133" name="Text 131"/>
          <p:cNvSpPr txBox="1"/>
          <p:nvPr/>
        </p:nvSpPr>
        <p:spPr>
          <a:xfrm>
            <a:off x="4471416" y="5431536"/>
            <a:ext cx="1271016" cy="237744"/>
          </a:xfrm>
          <a:prstGeom prst="rect">
            <a:avLst/>
          </a:prstGeom>
          <a:noFill/>
          <a:ln/>
        </p:spPr>
        <p:txBody>
          <a:bodyPr wrap="square" rtlCol="0" anchor="ctr"/>
          <a:lstStyle/>
          <a:p>
            <a:pPr marL="0" indent="0" algn="ctr">
              <a:buNone/>
            </a:pPr>
            <a:r>
              <a:rPr lang="en-US" sz="1100" b="1" dirty="0">
                <a:solidFill>
                  <a:srgbClr val="334155"/>
                </a:solidFill>
                <a:latin typeface="Calibri" pitchFamily="34" charset="0"/>
                <a:ea typeface="Calibri" pitchFamily="34" charset="-122"/>
                <a:cs typeface="Calibri" pitchFamily="34" charset="-120"/>
              </a:rPr>
              <a:t>58,815</a:t>
            </a:r>
            <a:endParaRPr lang="en-US" sz="1100" dirty="0"/>
          </a:p>
        </p:txBody>
      </p:sp>
      <p:sp>
        <p:nvSpPr>
          <p:cNvPr id="134" name="Shape 132"/>
          <p:cNvSpPr/>
          <p:nvPr/>
        </p:nvSpPr>
        <p:spPr>
          <a:xfrm>
            <a:off x="5760720" y="5340096"/>
            <a:ext cx="777240" cy="384048"/>
          </a:xfrm>
          <a:prstGeom prst="rect">
            <a:avLst/>
          </a:prstGeom>
          <a:solidFill>
            <a:srgbClr val="F1F5F9"/>
          </a:solidFill>
          <a:ln w="12700">
            <a:solidFill>
              <a:srgbClr val="CBD5E1"/>
            </a:solidFill>
            <a:prstDash val="solid"/>
          </a:ln>
        </p:spPr>
        <p:txBody>
          <a:bodyPr/>
          <a:lstStyle/>
          <a:p>
            <a:endParaRPr lang="es-CO"/>
          </a:p>
        </p:txBody>
      </p:sp>
      <p:sp>
        <p:nvSpPr>
          <p:cNvPr id="135" name="Text 133"/>
          <p:cNvSpPr txBox="1"/>
          <p:nvPr/>
        </p:nvSpPr>
        <p:spPr>
          <a:xfrm>
            <a:off x="5797296" y="5431536"/>
            <a:ext cx="722376" cy="237744"/>
          </a:xfrm>
          <a:prstGeom prst="rect">
            <a:avLst/>
          </a:prstGeom>
          <a:noFill/>
          <a:ln/>
        </p:spPr>
        <p:txBody>
          <a:bodyPr wrap="square"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1.63 %</a:t>
            </a:r>
            <a:endParaRPr lang="en-US" sz="1100" dirty="0"/>
          </a:p>
        </p:txBody>
      </p:sp>
      <p:sp>
        <p:nvSpPr>
          <p:cNvPr id="136" name="Shape 134"/>
          <p:cNvSpPr/>
          <p:nvPr/>
        </p:nvSpPr>
        <p:spPr>
          <a:xfrm>
            <a:off x="6537960" y="5340096"/>
            <a:ext cx="4251960" cy="384048"/>
          </a:xfrm>
          <a:prstGeom prst="rect">
            <a:avLst/>
          </a:prstGeom>
          <a:solidFill>
            <a:srgbClr val="F1F5F9"/>
          </a:solidFill>
          <a:ln w="12700">
            <a:solidFill>
              <a:srgbClr val="CBD5E1"/>
            </a:solidFill>
            <a:prstDash val="solid"/>
          </a:ln>
        </p:spPr>
        <p:txBody>
          <a:bodyPr/>
          <a:lstStyle/>
          <a:p>
            <a:endParaRPr lang="es-CO"/>
          </a:p>
        </p:txBody>
      </p:sp>
      <p:sp>
        <p:nvSpPr>
          <p:cNvPr id="137" name="Text 135"/>
          <p:cNvSpPr txBox="1"/>
          <p:nvPr/>
        </p:nvSpPr>
        <p:spPr>
          <a:xfrm>
            <a:off x="6574536" y="5431536"/>
            <a:ext cx="4197096" cy="237744"/>
          </a:xfrm>
          <a:prstGeom prst="rect">
            <a:avLst/>
          </a:prstGeom>
          <a:noFill/>
          <a:ln/>
        </p:spPr>
        <p:txBody>
          <a:bodyPr wrap="square" rtlCol="0" anchor="ctr"/>
          <a:lstStyle/>
          <a:p>
            <a:pPr marL="0" indent="0" algn="l">
              <a:buNone/>
            </a:pPr>
            <a:r>
              <a:rPr lang="en-US" sz="1100" dirty="0">
                <a:solidFill>
                  <a:srgbClr val="334155"/>
                </a:solidFill>
                <a:latin typeface="Calibri" pitchFamily="34" charset="0"/>
                <a:ea typeface="Calibri" pitchFamily="34" charset="-122"/>
                <a:cs typeface="Calibri" pitchFamily="34" charset="-120"/>
              </a:rPr>
              <a:t>Seguro de carga, capacitación y rutas seguras</a:t>
            </a:r>
            <a:endParaRPr lang="en-US" sz="1100" dirty="0"/>
          </a:p>
        </p:txBody>
      </p:sp>
      <p:sp>
        <p:nvSpPr>
          <p:cNvPr id="138" name="Shape 136"/>
          <p:cNvSpPr/>
          <p:nvPr/>
        </p:nvSpPr>
        <p:spPr>
          <a:xfrm>
            <a:off x="320040" y="5742432"/>
            <a:ext cx="2926080" cy="384048"/>
          </a:xfrm>
          <a:prstGeom prst="rect">
            <a:avLst/>
          </a:prstGeom>
          <a:solidFill>
            <a:srgbClr val="FFFFFF"/>
          </a:solidFill>
          <a:ln w="12700">
            <a:solidFill>
              <a:srgbClr val="CBD5E1"/>
            </a:solidFill>
            <a:prstDash val="solid"/>
          </a:ln>
        </p:spPr>
        <p:txBody>
          <a:bodyPr/>
          <a:lstStyle/>
          <a:p>
            <a:endParaRPr lang="es-CO"/>
          </a:p>
        </p:txBody>
      </p:sp>
      <p:sp>
        <p:nvSpPr>
          <p:cNvPr id="139" name="Text 137"/>
          <p:cNvSpPr txBox="1"/>
          <p:nvPr/>
        </p:nvSpPr>
        <p:spPr>
          <a:xfrm>
            <a:off x="356616" y="5833872"/>
            <a:ext cx="2871216" cy="237744"/>
          </a:xfrm>
          <a:prstGeom prst="rect">
            <a:avLst/>
          </a:prstGeom>
          <a:noFill/>
          <a:ln/>
        </p:spPr>
        <p:txBody>
          <a:bodyPr wrap="square" rtlCol="0" anchor="ctr"/>
          <a:lstStyle/>
          <a:p>
            <a:pPr marL="0" indent="0" algn="l">
              <a:buNone/>
            </a:pPr>
            <a:r>
              <a:rPr lang="en-US" sz="1100" dirty="0">
                <a:solidFill>
                  <a:srgbClr val="334155"/>
                </a:solidFill>
                <a:latin typeface="Calibri" pitchFamily="34" charset="0"/>
                <a:ea typeface="Calibri" pitchFamily="34" charset="-122"/>
                <a:cs typeface="Calibri" pitchFamily="34" charset="-120"/>
              </a:rPr>
              <a:t>Incumplimiento normativa SENASA</a:t>
            </a:r>
            <a:endParaRPr lang="en-US" sz="1100" dirty="0"/>
          </a:p>
        </p:txBody>
      </p:sp>
      <p:sp>
        <p:nvSpPr>
          <p:cNvPr id="140" name="Shape 138"/>
          <p:cNvSpPr/>
          <p:nvPr/>
        </p:nvSpPr>
        <p:spPr>
          <a:xfrm>
            <a:off x="3246120" y="5742432"/>
            <a:ext cx="594360" cy="384048"/>
          </a:xfrm>
          <a:prstGeom prst="rect">
            <a:avLst/>
          </a:prstGeom>
          <a:solidFill>
            <a:srgbClr val="FFFFFF"/>
          </a:solidFill>
          <a:ln w="12700">
            <a:solidFill>
              <a:srgbClr val="CBD5E1"/>
            </a:solidFill>
            <a:prstDash val="solid"/>
          </a:ln>
        </p:spPr>
        <p:txBody>
          <a:bodyPr/>
          <a:lstStyle/>
          <a:p>
            <a:endParaRPr lang="es-CO"/>
          </a:p>
        </p:txBody>
      </p:sp>
      <p:sp>
        <p:nvSpPr>
          <p:cNvPr id="141" name="Text 139"/>
          <p:cNvSpPr txBox="1"/>
          <p:nvPr/>
        </p:nvSpPr>
        <p:spPr>
          <a:xfrm>
            <a:off x="3282696" y="5833872"/>
            <a:ext cx="539496" cy="237744"/>
          </a:xfrm>
          <a:prstGeom prst="rect">
            <a:avLst/>
          </a:prstGeom>
          <a:solidFill>
            <a:srgbClr val="FDEBD5"/>
          </a:solidFill>
          <a:ln/>
        </p:spPr>
        <p:txBody>
          <a:bodyPr wrap="square" rtlCol="0" anchor="ctr"/>
          <a:lstStyle/>
          <a:p>
            <a:pPr marL="0" indent="0" algn="ctr">
              <a:buNone/>
            </a:pPr>
            <a:r>
              <a:rPr lang="en-US" sz="1000" dirty="0">
                <a:solidFill>
                  <a:srgbClr val="E67E22"/>
                </a:solidFill>
                <a:latin typeface="Calibri" pitchFamily="34" charset="0"/>
                <a:ea typeface="Calibri" pitchFamily="34" charset="-122"/>
                <a:cs typeface="Calibri" pitchFamily="34" charset="-120"/>
              </a:rPr>
              <a:t>Media</a:t>
            </a:r>
            <a:endParaRPr lang="en-US" sz="1000" dirty="0"/>
          </a:p>
        </p:txBody>
      </p:sp>
      <p:sp>
        <p:nvSpPr>
          <p:cNvPr id="142" name="Shape 140"/>
          <p:cNvSpPr/>
          <p:nvPr/>
        </p:nvSpPr>
        <p:spPr>
          <a:xfrm>
            <a:off x="3840480" y="5742432"/>
            <a:ext cx="594360" cy="384048"/>
          </a:xfrm>
          <a:prstGeom prst="rect">
            <a:avLst/>
          </a:prstGeom>
          <a:solidFill>
            <a:srgbClr val="FFFFFF"/>
          </a:solidFill>
          <a:ln w="12700">
            <a:solidFill>
              <a:srgbClr val="CBD5E1"/>
            </a:solidFill>
            <a:prstDash val="solid"/>
          </a:ln>
        </p:spPr>
        <p:txBody>
          <a:bodyPr/>
          <a:lstStyle/>
          <a:p>
            <a:endParaRPr lang="es-CO"/>
          </a:p>
        </p:txBody>
      </p:sp>
      <p:sp>
        <p:nvSpPr>
          <p:cNvPr id="143" name="Text 141"/>
          <p:cNvSpPr txBox="1"/>
          <p:nvPr/>
        </p:nvSpPr>
        <p:spPr>
          <a:xfrm>
            <a:off x="3877056" y="5833872"/>
            <a:ext cx="539496" cy="237744"/>
          </a:xfrm>
          <a:prstGeom prst="rect">
            <a:avLst/>
          </a:prstGeom>
          <a:solidFill>
            <a:srgbClr val="E7EAEE"/>
          </a:solid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Baja</a:t>
            </a:r>
            <a:endParaRPr lang="en-US" sz="1000" dirty="0"/>
          </a:p>
        </p:txBody>
      </p:sp>
      <p:sp>
        <p:nvSpPr>
          <p:cNvPr id="144" name="Shape 142"/>
          <p:cNvSpPr/>
          <p:nvPr/>
        </p:nvSpPr>
        <p:spPr>
          <a:xfrm>
            <a:off x="4434840" y="5742432"/>
            <a:ext cx="1325880" cy="384048"/>
          </a:xfrm>
          <a:prstGeom prst="rect">
            <a:avLst/>
          </a:prstGeom>
          <a:solidFill>
            <a:srgbClr val="FFFFFF"/>
          </a:solidFill>
          <a:ln w="12700">
            <a:solidFill>
              <a:srgbClr val="CBD5E1"/>
            </a:solidFill>
            <a:prstDash val="solid"/>
          </a:ln>
        </p:spPr>
        <p:txBody>
          <a:bodyPr/>
          <a:lstStyle/>
          <a:p>
            <a:endParaRPr lang="es-CO"/>
          </a:p>
        </p:txBody>
      </p:sp>
      <p:sp>
        <p:nvSpPr>
          <p:cNvPr id="145" name="Text 143"/>
          <p:cNvSpPr txBox="1"/>
          <p:nvPr/>
        </p:nvSpPr>
        <p:spPr>
          <a:xfrm>
            <a:off x="4471416" y="5833872"/>
            <a:ext cx="1271016" cy="237744"/>
          </a:xfrm>
          <a:prstGeom prst="rect">
            <a:avLst/>
          </a:prstGeom>
          <a:noFill/>
          <a:ln/>
        </p:spPr>
        <p:txBody>
          <a:bodyPr wrap="square" rtlCol="0" anchor="ctr"/>
          <a:lstStyle/>
          <a:p>
            <a:pPr marL="0" indent="0" algn="ctr">
              <a:buNone/>
            </a:pPr>
            <a:r>
              <a:rPr lang="en-US" sz="1100" b="1" dirty="0">
                <a:solidFill>
                  <a:srgbClr val="334155"/>
                </a:solidFill>
                <a:latin typeface="Calibri" pitchFamily="34" charset="0"/>
                <a:ea typeface="Calibri" pitchFamily="34" charset="-122"/>
                <a:cs typeface="Calibri" pitchFamily="34" charset="-120"/>
              </a:rPr>
              <a:t>57,046</a:t>
            </a:r>
            <a:endParaRPr lang="en-US" sz="1100" dirty="0"/>
          </a:p>
        </p:txBody>
      </p:sp>
      <p:sp>
        <p:nvSpPr>
          <p:cNvPr id="146" name="Shape 144"/>
          <p:cNvSpPr/>
          <p:nvPr/>
        </p:nvSpPr>
        <p:spPr>
          <a:xfrm>
            <a:off x="5760720" y="5742432"/>
            <a:ext cx="777240" cy="384048"/>
          </a:xfrm>
          <a:prstGeom prst="rect">
            <a:avLst/>
          </a:prstGeom>
          <a:solidFill>
            <a:srgbClr val="FFFFFF"/>
          </a:solidFill>
          <a:ln w="12700">
            <a:solidFill>
              <a:srgbClr val="CBD5E1"/>
            </a:solidFill>
            <a:prstDash val="solid"/>
          </a:ln>
        </p:spPr>
        <p:txBody>
          <a:bodyPr/>
          <a:lstStyle/>
          <a:p>
            <a:endParaRPr lang="es-CO"/>
          </a:p>
        </p:txBody>
      </p:sp>
      <p:sp>
        <p:nvSpPr>
          <p:cNvPr id="147" name="Text 145"/>
          <p:cNvSpPr txBox="1"/>
          <p:nvPr/>
        </p:nvSpPr>
        <p:spPr>
          <a:xfrm>
            <a:off x="5797296" y="5833872"/>
            <a:ext cx="722376" cy="237744"/>
          </a:xfrm>
          <a:prstGeom prst="rect">
            <a:avLst/>
          </a:prstGeom>
          <a:noFill/>
          <a:ln/>
        </p:spPr>
        <p:txBody>
          <a:bodyPr wrap="square"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1.58 %</a:t>
            </a:r>
            <a:endParaRPr lang="en-US" sz="1100" dirty="0"/>
          </a:p>
        </p:txBody>
      </p:sp>
      <p:sp>
        <p:nvSpPr>
          <p:cNvPr id="148" name="Shape 146"/>
          <p:cNvSpPr/>
          <p:nvPr/>
        </p:nvSpPr>
        <p:spPr>
          <a:xfrm>
            <a:off x="6537960" y="5742432"/>
            <a:ext cx="4251960" cy="384048"/>
          </a:xfrm>
          <a:prstGeom prst="rect">
            <a:avLst/>
          </a:prstGeom>
          <a:solidFill>
            <a:srgbClr val="FFFFFF"/>
          </a:solidFill>
          <a:ln w="12700">
            <a:solidFill>
              <a:srgbClr val="CBD5E1"/>
            </a:solidFill>
            <a:prstDash val="solid"/>
          </a:ln>
        </p:spPr>
        <p:txBody>
          <a:bodyPr/>
          <a:lstStyle/>
          <a:p>
            <a:endParaRPr lang="es-CO"/>
          </a:p>
        </p:txBody>
      </p:sp>
      <p:sp>
        <p:nvSpPr>
          <p:cNvPr id="149" name="Text 147"/>
          <p:cNvSpPr txBox="1"/>
          <p:nvPr/>
        </p:nvSpPr>
        <p:spPr>
          <a:xfrm>
            <a:off x="6574536" y="5833872"/>
            <a:ext cx="4197096" cy="237744"/>
          </a:xfrm>
          <a:prstGeom prst="rect">
            <a:avLst/>
          </a:prstGeom>
          <a:noFill/>
          <a:ln/>
        </p:spPr>
        <p:txBody>
          <a:bodyPr wrap="square" rtlCol="0" anchor="ctr"/>
          <a:lstStyle/>
          <a:p>
            <a:pPr marL="0" indent="0" algn="l">
              <a:buNone/>
            </a:pPr>
            <a:r>
              <a:rPr lang="en-US" sz="1100" dirty="0">
                <a:solidFill>
                  <a:srgbClr val="334155"/>
                </a:solidFill>
                <a:latin typeface="Calibri" pitchFamily="34" charset="0"/>
                <a:ea typeface="Calibri" pitchFamily="34" charset="-122"/>
                <a:cs typeface="Calibri" pitchFamily="34" charset="-120"/>
              </a:rPr>
              <a:t>BPM, POES y HACCP desde el inicio de operaciones</a:t>
            </a:r>
            <a:endParaRPr lang="en-US" sz="1100" dirty="0"/>
          </a:p>
        </p:txBody>
      </p:sp>
      <p:sp>
        <p:nvSpPr>
          <p:cNvPr id="150" name="Shape 148"/>
          <p:cNvSpPr/>
          <p:nvPr/>
        </p:nvSpPr>
        <p:spPr>
          <a:xfrm>
            <a:off x="320040" y="6144768"/>
            <a:ext cx="2926080" cy="384048"/>
          </a:xfrm>
          <a:prstGeom prst="rect">
            <a:avLst/>
          </a:prstGeom>
          <a:solidFill>
            <a:srgbClr val="E6F4F6"/>
          </a:solidFill>
          <a:ln w="12700">
            <a:solidFill>
              <a:srgbClr val="CBD5E1"/>
            </a:solidFill>
            <a:prstDash val="solid"/>
          </a:ln>
        </p:spPr>
        <p:txBody>
          <a:bodyPr/>
          <a:lstStyle/>
          <a:p>
            <a:endParaRPr lang="es-CO"/>
          </a:p>
        </p:txBody>
      </p:sp>
      <p:sp>
        <p:nvSpPr>
          <p:cNvPr id="151" name="Text 149"/>
          <p:cNvSpPr txBox="1"/>
          <p:nvPr/>
        </p:nvSpPr>
        <p:spPr>
          <a:xfrm>
            <a:off x="356616" y="6236208"/>
            <a:ext cx="2871216" cy="237744"/>
          </a:xfrm>
          <a:prstGeom prst="rect">
            <a:avLst/>
          </a:prstGeom>
          <a:noFill/>
          <a:ln/>
        </p:spPr>
        <p:txBody>
          <a:bodyPr wrap="square" rtlCol="0" anchor="ctr"/>
          <a:lstStyle/>
          <a:p>
            <a:pPr marL="0" indent="0" algn="l">
              <a:buNone/>
            </a:pPr>
            <a:r>
              <a:rPr lang="en-US" sz="1100" b="1" dirty="0">
                <a:solidFill>
                  <a:srgbClr val="1A7A8A"/>
                </a:solidFill>
                <a:latin typeface="Calibri" pitchFamily="34" charset="0"/>
                <a:ea typeface="Calibri" pitchFamily="34" charset="-122"/>
                <a:cs typeface="Calibri" pitchFamily="34" charset="-120"/>
              </a:rPr>
              <a:t>TOTAL</a:t>
            </a:r>
            <a:endParaRPr lang="en-US" sz="1100" dirty="0"/>
          </a:p>
        </p:txBody>
      </p:sp>
      <p:sp>
        <p:nvSpPr>
          <p:cNvPr id="152" name="Shape 150"/>
          <p:cNvSpPr/>
          <p:nvPr/>
        </p:nvSpPr>
        <p:spPr>
          <a:xfrm>
            <a:off x="3246120" y="6144768"/>
            <a:ext cx="594360" cy="384048"/>
          </a:xfrm>
          <a:prstGeom prst="rect">
            <a:avLst/>
          </a:prstGeom>
          <a:solidFill>
            <a:srgbClr val="E6F4F6"/>
          </a:solidFill>
          <a:ln w="12700">
            <a:solidFill>
              <a:srgbClr val="CBD5E1"/>
            </a:solidFill>
            <a:prstDash val="solid"/>
          </a:ln>
        </p:spPr>
        <p:txBody>
          <a:bodyPr/>
          <a:lstStyle/>
          <a:p>
            <a:endParaRPr lang="es-CO"/>
          </a:p>
        </p:txBody>
      </p:sp>
      <p:sp>
        <p:nvSpPr>
          <p:cNvPr id="153" name="Text 151"/>
          <p:cNvSpPr txBox="1"/>
          <p:nvPr/>
        </p:nvSpPr>
        <p:spPr>
          <a:xfrm>
            <a:off x="3282696" y="6236208"/>
            <a:ext cx="539496" cy="237744"/>
          </a:xfrm>
          <a:prstGeom prst="rect">
            <a:avLst/>
          </a:prstGeom>
          <a:noFill/>
          <a:ln/>
        </p:spPr>
        <p:txBody>
          <a:bodyPr wrap="square" rtlCol="0" anchor="ctr"/>
          <a:lstStyle/>
          <a:p>
            <a:pPr marL="0" indent="0" algn="ctr">
              <a:buNone/>
            </a:pPr>
            <a:endParaRPr lang="en-US" sz="1100" dirty="0"/>
          </a:p>
        </p:txBody>
      </p:sp>
      <p:sp>
        <p:nvSpPr>
          <p:cNvPr id="154" name="Shape 152"/>
          <p:cNvSpPr/>
          <p:nvPr/>
        </p:nvSpPr>
        <p:spPr>
          <a:xfrm>
            <a:off x="3840480" y="6144768"/>
            <a:ext cx="594360" cy="384048"/>
          </a:xfrm>
          <a:prstGeom prst="rect">
            <a:avLst/>
          </a:prstGeom>
          <a:solidFill>
            <a:srgbClr val="E6F4F6"/>
          </a:solidFill>
          <a:ln w="12700">
            <a:solidFill>
              <a:srgbClr val="CBD5E1"/>
            </a:solidFill>
            <a:prstDash val="solid"/>
          </a:ln>
        </p:spPr>
        <p:txBody>
          <a:bodyPr/>
          <a:lstStyle/>
          <a:p>
            <a:endParaRPr lang="es-CO"/>
          </a:p>
        </p:txBody>
      </p:sp>
      <p:sp>
        <p:nvSpPr>
          <p:cNvPr id="155" name="Text 153"/>
          <p:cNvSpPr txBox="1"/>
          <p:nvPr/>
        </p:nvSpPr>
        <p:spPr>
          <a:xfrm>
            <a:off x="3877056" y="6236208"/>
            <a:ext cx="539496" cy="237744"/>
          </a:xfrm>
          <a:prstGeom prst="rect">
            <a:avLst/>
          </a:prstGeom>
          <a:noFill/>
          <a:ln/>
        </p:spPr>
        <p:txBody>
          <a:bodyPr wrap="square" rtlCol="0" anchor="ctr"/>
          <a:lstStyle/>
          <a:p>
            <a:pPr marL="0" indent="0" algn="ctr">
              <a:buNone/>
            </a:pPr>
            <a:endParaRPr lang="en-US" sz="1100" dirty="0"/>
          </a:p>
        </p:txBody>
      </p:sp>
      <p:sp>
        <p:nvSpPr>
          <p:cNvPr id="156" name="Shape 154"/>
          <p:cNvSpPr/>
          <p:nvPr/>
        </p:nvSpPr>
        <p:spPr>
          <a:xfrm>
            <a:off x="4434840" y="6144768"/>
            <a:ext cx="1325880" cy="384048"/>
          </a:xfrm>
          <a:prstGeom prst="rect">
            <a:avLst/>
          </a:prstGeom>
          <a:solidFill>
            <a:srgbClr val="E6F4F6"/>
          </a:solidFill>
          <a:ln w="12700">
            <a:solidFill>
              <a:srgbClr val="CBD5E1"/>
            </a:solidFill>
            <a:prstDash val="solid"/>
          </a:ln>
        </p:spPr>
        <p:txBody>
          <a:bodyPr/>
          <a:lstStyle/>
          <a:p>
            <a:endParaRPr lang="es-CO"/>
          </a:p>
        </p:txBody>
      </p:sp>
      <p:sp>
        <p:nvSpPr>
          <p:cNvPr id="157" name="Text 155"/>
          <p:cNvSpPr txBox="1"/>
          <p:nvPr/>
        </p:nvSpPr>
        <p:spPr>
          <a:xfrm>
            <a:off x="4471416" y="6236208"/>
            <a:ext cx="1271016" cy="237744"/>
          </a:xfrm>
          <a:prstGeom prst="rect">
            <a:avLst/>
          </a:prstGeom>
          <a:noFill/>
          <a:ln/>
        </p:spPr>
        <p:txBody>
          <a:bodyPr wrap="square" rtlCol="0" anchor="ctr"/>
          <a:lstStyle/>
          <a:p>
            <a:pPr marL="0" indent="0" algn="ctr">
              <a:buNone/>
            </a:pPr>
            <a:r>
              <a:rPr lang="en-US" sz="1100" b="1" dirty="0">
                <a:solidFill>
                  <a:srgbClr val="1A7A8A"/>
                </a:solidFill>
                <a:latin typeface="Calibri" pitchFamily="34" charset="0"/>
                <a:ea typeface="Calibri" pitchFamily="34" charset="-122"/>
                <a:cs typeface="Calibri" pitchFamily="34" charset="-120"/>
              </a:rPr>
              <a:t>L 3,614,648</a:t>
            </a:r>
            <a:endParaRPr lang="en-US" sz="1100" dirty="0"/>
          </a:p>
        </p:txBody>
      </p:sp>
      <p:sp>
        <p:nvSpPr>
          <p:cNvPr id="158" name="Shape 156"/>
          <p:cNvSpPr/>
          <p:nvPr/>
        </p:nvSpPr>
        <p:spPr>
          <a:xfrm>
            <a:off x="5760720" y="6144768"/>
            <a:ext cx="777240" cy="384048"/>
          </a:xfrm>
          <a:prstGeom prst="rect">
            <a:avLst/>
          </a:prstGeom>
          <a:solidFill>
            <a:srgbClr val="E6F4F6"/>
          </a:solidFill>
          <a:ln w="12700">
            <a:solidFill>
              <a:srgbClr val="CBD5E1"/>
            </a:solidFill>
            <a:prstDash val="solid"/>
          </a:ln>
        </p:spPr>
        <p:txBody>
          <a:bodyPr/>
          <a:lstStyle/>
          <a:p>
            <a:endParaRPr lang="es-CO"/>
          </a:p>
        </p:txBody>
      </p:sp>
      <p:sp>
        <p:nvSpPr>
          <p:cNvPr id="159" name="Text 157"/>
          <p:cNvSpPr txBox="1"/>
          <p:nvPr/>
        </p:nvSpPr>
        <p:spPr>
          <a:xfrm>
            <a:off x="5797296" y="6236208"/>
            <a:ext cx="722376" cy="237744"/>
          </a:xfrm>
          <a:prstGeom prst="rect">
            <a:avLst/>
          </a:prstGeom>
          <a:noFill/>
          <a:ln/>
        </p:spPr>
        <p:txBody>
          <a:bodyPr wrap="square" rtlCol="0" anchor="ctr"/>
          <a:lstStyle/>
          <a:p>
            <a:pPr marL="0" indent="0" algn="ctr">
              <a:buNone/>
            </a:pPr>
            <a:r>
              <a:rPr lang="en-US" sz="1100" b="1" dirty="0">
                <a:solidFill>
                  <a:srgbClr val="334155"/>
                </a:solidFill>
                <a:latin typeface="Calibri" pitchFamily="34" charset="0"/>
                <a:ea typeface="Calibri" pitchFamily="34" charset="-122"/>
                <a:cs typeface="Calibri" pitchFamily="34" charset="-120"/>
              </a:rPr>
              <a:t>100 %</a:t>
            </a:r>
            <a:endParaRPr lang="en-US" sz="1100" dirty="0"/>
          </a:p>
        </p:txBody>
      </p:sp>
      <p:sp>
        <p:nvSpPr>
          <p:cNvPr id="160" name="Shape 158"/>
          <p:cNvSpPr/>
          <p:nvPr/>
        </p:nvSpPr>
        <p:spPr>
          <a:xfrm>
            <a:off x="6537960" y="6144768"/>
            <a:ext cx="4251960" cy="384048"/>
          </a:xfrm>
          <a:prstGeom prst="rect">
            <a:avLst/>
          </a:prstGeom>
          <a:solidFill>
            <a:srgbClr val="E6F4F6"/>
          </a:solidFill>
          <a:ln w="12700">
            <a:solidFill>
              <a:srgbClr val="CBD5E1"/>
            </a:solidFill>
            <a:prstDash val="solid"/>
          </a:ln>
        </p:spPr>
        <p:txBody>
          <a:bodyPr/>
          <a:lstStyle/>
          <a:p>
            <a:endParaRPr lang="es-CO"/>
          </a:p>
        </p:txBody>
      </p:sp>
      <p:sp>
        <p:nvSpPr>
          <p:cNvPr id="161" name="Text 159"/>
          <p:cNvSpPr txBox="1"/>
          <p:nvPr/>
        </p:nvSpPr>
        <p:spPr>
          <a:xfrm>
            <a:off x="6574536" y="6236208"/>
            <a:ext cx="4197096" cy="237744"/>
          </a:xfrm>
          <a:prstGeom prst="rect">
            <a:avLst/>
          </a:prstGeom>
          <a:noFill/>
          <a:ln/>
        </p:spPr>
        <p:txBody>
          <a:bodyPr wrap="square" rtlCol="0" anchor="ctr"/>
          <a:lstStyle/>
          <a:p>
            <a:pPr marL="0" indent="0" algn="l">
              <a:buNone/>
            </a:pPr>
            <a:endParaRPr lang="en-US" sz="1100" dirty="0"/>
          </a:p>
        </p:txBody>
      </p:sp>
      <p:sp>
        <p:nvSpPr>
          <p:cNvPr id="162" name="Text 160"/>
          <p:cNvSpPr txBox="1"/>
          <p:nvPr/>
        </p:nvSpPr>
        <p:spPr>
          <a:xfrm>
            <a:off x="320040" y="6583680"/>
            <a:ext cx="11521440" cy="201168"/>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Maestría en Agronegocios · Universidad EAFIT · Zamorano · 2026   |   Caballero · Valladares · Medal</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320040" y="201168"/>
            <a:ext cx="1828800" cy="256032"/>
          </a:xfrm>
          <a:prstGeom prst="rect">
            <a:avLst/>
          </a:prstGeom>
          <a:noFill/>
          <a:ln/>
        </p:spPr>
        <p:txBody>
          <a:bodyPr wrap="square" rtlCol="0" anchor="ctr"/>
          <a:lstStyle/>
          <a:p>
            <a:pPr marL="0" indent="0" algn="l">
              <a:buNone/>
            </a:pPr>
            <a:r>
              <a:rPr lang="en-US" sz="900" b="1" kern="0" spc="100" dirty="0">
                <a:solidFill>
                  <a:srgbClr val="1A7A8A"/>
                </a:solidFill>
                <a:latin typeface="Calibri" pitchFamily="34" charset="0"/>
                <a:ea typeface="Calibri" pitchFamily="34" charset="-122"/>
                <a:cs typeface="Calibri" pitchFamily="34" charset="-120"/>
              </a:rPr>
              <a:t>RIESGOS</a:t>
            </a:r>
            <a:endParaRPr lang="en-US" sz="900" dirty="0"/>
          </a:p>
        </p:txBody>
      </p:sp>
      <p:sp>
        <p:nvSpPr>
          <p:cNvPr id="3" name="Text 1"/>
          <p:cNvSpPr txBox="1"/>
          <p:nvPr/>
        </p:nvSpPr>
        <p:spPr>
          <a:xfrm>
            <a:off x="320040" y="475488"/>
            <a:ext cx="11521440" cy="502920"/>
          </a:xfrm>
          <a:prstGeom prst="rect">
            <a:avLst/>
          </a:prstGeom>
          <a:noFill/>
          <a:ln/>
        </p:spPr>
        <p:txBody>
          <a:bodyPr wrap="square" rtlCol="0" anchor="ctr"/>
          <a:lstStyle/>
          <a:p>
            <a:pPr marL="0" indent="0">
              <a:buNone/>
            </a:pPr>
            <a:r>
              <a:rPr lang="en-US" sz="2400" b="1" dirty="0">
                <a:solidFill>
                  <a:srgbClr val="0D2341"/>
                </a:solidFill>
                <a:latin typeface="Calibri" pitchFamily="34" charset="0"/>
                <a:ea typeface="Calibri" pitchFamily="34" charset="-122"/>
                <a:cs typeface="Calibri" pitchFamily="34" charset="-120"/>
              </a:rPr>
              <a:t>Efecto del Riesgo sobre el Valor del Proyecto</a:t>
            </a:r>
            <a:endParaRPr lang="en-US" sz="2400" dirty="0"/>
          </a:p>
        </p:txBody>
      </p:sp>
      <p:sp>
        <p:nvSpPr>
          <p:cNvPr id="4" name="Shape 2"/>
          <p:cNvSpPr/>
          <p:nvPr/>
        </p:nvSpPr>
        <p:spPr>
          <a:xfrm>
            <a:off x="320040" y="1005840"/>
            <a:ext cx="11430000" cy="18288"/>
          </a:xfrm>
          <a:prstGeom prst="rect">
            <a:avLst/>
          </a:prstGeom>
          <a:solidFill>
            <a:srgbClr val="1A7A8A"/>
          </a:solidFill>
          <a:ln w="12700">
            <a:solidFill>
              <a:srgbClr val="1A7A8A"/>
            </a:solidFill>
            <a:prstDash val="solid"/>
          </a:ln>
        </p:spPr>
        <p:txBody>
          <a:bodyPr/>
          <a:lstStyle/>
          <a:p>
            <a:endParaRPr lang="es-CO"/>
          </a:p>
        </p:txBody>
      </p:sp>
      <p:sp>
        <p:nvSpPr>
          <p:cNvPr id="5" name="Text 3"/>
          <p:cNvSpPr txBox="1"/>
          <p:nvPr/>
        </p:nvSpPr>
        <p:spPr>
          <a:xfrm>
            <a:off x="320040" y="1051560"/>
            <a:ext cx="11430000" cy="320040"/>
          </a:xfrm>
          <a:prstGeom prst="rect">
            <a:avLst/>
          </a:prstGeom>
          <a:noFill/>
          <a:ln/>
        </p:spPr>
        <p:txBody>
          <a:bodyPr wrap="square" rtlCol="0" anchor="ctr"/>
          <a:lstStyle/>
          <a:p>
            <a:pPr marL="0" indent="0">
              <a:buNone/>
            </a:pPr>
            <a:r>
              <a:rPr lang="en-US" sz="1150" i="1" dirty="0">
                <a:solidFill>
                  <a:srgbClr val="334155"/>
                </a:solidFill>
                <a:latin typeface="Calibri" pitchFamily="34" charset="0"/>
                <a:ea typeface="Calibri" pitchFamily="34" charset="-122"/>
                <a:cs typeface="Calibri" pitchFamily="34" charset="-120"/>
              </a:rPr>
              <a:t>El margen entre VPN Inversionista y el riesgo cuantificado es amplio: propuesta prefactible incluso bajo escenarios adversos de Monte Carlo.</a:t>
            </a:r>
            <a:endParaRPr lang="en-US" sz="1150" dirty="0"/>
          </a:p>
        </p:txBody>
      </p:sp>
      <p:sp>
        <p:nvSpPr>
          <p:cNvPr id="6" name="Shape 4"/>
          <p:cNvSpPr/>
          <p:nvPr/>
        </p:nvSpPr>
        <p:spPr>
          <a:xfrm>
            <a:off x="320040" y="1463040"/>
            <a:ext cx="3749040" cy="1691640"/>
          </a:xfrm>
          <a:prstGeom prst="rect">
            <a:avLst/>
          </a:prstGeom>
          <a:solidFill>
            <a:srgbClr val="0D2341"/>
          </a:solidFill>
          <a:ln w="12700">
            <a:solidFill>
              <a:srgbClr val="CBD5E1"/>
            </a:solidFill>
            <a:prstDash val="solid"/>
          </a:ln>
        </p:spPr>
        <p:txBody>
          <a:bodyPr/>
          <a:lstStyle/>
          <a:p>
            <a:endParaRPr lang="es-CO"/>
          </a:p>
        </p:txBody>
      </p:sp>
      <p:sp>
        <p:nvSpPr>
          <p:cNvPr id="7" name="Text 5"/>
          <p:cNvSpPr txBox="1"/>
          <p:nvPr/>
        </p:nvSpPr>
        <p:spPr>
          <a:xfrm>
            <a:off x="457200" y="1536192"/>
            <a:ext cx="3474720" cy="320040"/>
          </a:xfrm>
          <a:prstGeom prst="rect">
            <a:avLst/>
          </a:prstGeom>
          <a:noFill/>
          <a:ln/>
        </p:spPr>
        <p:txBody>
          <a:bodyPr wrap="square" rtlCol="0" anchor="ctr"/>
          <a:lstStyle/>
          <a:p>
            <a:pPr marL="0" indent="0" algn="ctr">
              <a:buNone/>
            </a:pPr>
            <a:r>
              <a:rPr lang="en-US" sz="1100" b="1" kern="0" spc="50" dirty="0">
                <a:solidFill>
                  <a:srgbClr val="1A7A8A"/>
                </a:solidFill>
                <a:latin typeface="Calibri" pitchFamily="34" charset="0"/>
                <a:ea typeface="Calibri" pitchFamily="34" charset="-122"/>
                <a:cs typeface="Calibri" pitchFamily="34" charset="-120"/>
              </a:rPr>
              <a:t>VPN Medio (Inversionista)</a:t>
            </a:r>
            <a:endParaRPr lang="en-US" sz="1100" dirty="0"/>
          </a:p>
        </p:txBody>
      </p:sp>
      <p:sp>
        <p:nvSpPr>
          <p:cNvPr id="8" name="Text 6"/>
          <p:cNvSpPr txBox="1"/>
          <p:nvPr/>
        </p:nvSpPr>
        <p:spPr>
          <a:xfrm>
            <a:off x="411480" y="1883664"/>
            <a:ext cx="3566160" cy="685800"/>
          </a:xfrm>
          <a:prstGeom prst="rect">
            <a:avLst/>
          </a:prstGeom>
          <a:noFill/>
          <a:ln/>
        </p:spPr>
        <p:txBody>
          <a:bodyPr wrap="square" rtlCol="0" anchor="ctr"/>
          <a:lstStyle/>
          <a:p>
            <a:pPr marL="0" indent="0" algn="ctr">
              <a:buNone/>
            </a:pPr>
            <a:r>
              <a:rPr lang="en-US" sz="2200" b="1" dirty="0">
                <a:solidFill>
                  <a:srgbClr val="1A7A8A"/>
                </a:solidFill>
                <a:latin typeface="Calibri" pitchFamily="34" charset="0"/>
                <a:ea typeface="Calibri" pitchFamily="34" charset="-122"/>
                <a:cs typeface="Calibri" pitchFamily="34" charset="-120"/>
              </a:rPr>
              <a:t>L 23,999,077</a:t>
            </a:r>
            <a:endParaRPr lang="en-US" sz="2200" dirty="0"/>
          </a:p>
        </p:txBody>
      </p:sp>
      <p:sp>
        <p:nvSpPr>
          <p:cNvPr id="9" name="Text 7"/>
          <p:cNvSpPr txBox="1"/>
          <p:nvPr/>
        </p:nvSpPr>
        <p:spPr>
          <a:xfrm>
            <a:off x="411480" y="2578608"/>
            <a:ext cx="3566160" cy="365760"/>
          </a:xfrm>
          <a:prstGeom prst="rect">
            <a:avLst/>
          </a:prstGeom>
          <a:noFill/>
          <a:ln/>
        </p:spPr>
        <p:txBody>
          <a:bodyPr wrap="square" rtlCol="0" anchor="ctr"/>
          <a:lstStyle/>
          <a:p>
            <a:pPr marL="0" indent="0" algn="ctr">
              <a:buNone/>
            </a:pPr>
            <a:r>
              <a:rPr lang="en-US" sz="1150" i="1" dirty="0">
                <a:solidFill>
                  <a:srgbClr val="CBD5E1"/>
                </a:solidFill>
                <a:latin typeface="Calibri" pitchFamily="34" charset="0"/>
                <a:ea typeface="Calibri" pitchFamily="34" charset="-122"/>
                <a:cs typeface="Calibri" pitchFamily="34" charset="-120"/>
              </a:rPr>
              <a:t>Media del modelo probabilístico @RISK</a:t>
            </a:r>
            <a:endParaRPr lang="en-US" sz="1150" dirty="0"/>
          </a:p>
        </p:txBody>
      </p:sp>
      <p:sp>
        <p:nvSpPr>
          <p:cNvPr id="10" name="Shape 8"/>
          <p:cNvSpPr/>
          <p:nvPr/>
        </p:nvSpPr>
        <p:spPr>
          <a:xfrm>
            <a:off x="4297680" y="1463040"/>
            <a:ext cx="3749040" cy="1691640"/>
          </a:xfrm>
          <a:prstGeom prst="rect">
            <a:avLst/>
          </a:prstGeom>
          <a:solidFill>
            <a:srgbClr val="FDECEA"/>
          </a:solidFill>
          <a:ln w="12700">
            <a:solidFill>
              <a:srgbClr val="CBD5E1"/>
            </a:solidFill>
            <a:prstDash val="solid"/>
          </a:ln>
        </p:spPr>
        <p:txBody>
          <a:bodyPr/>
          <a:lstStyle/>
          <a:p>
            <a:endParaRPr lang="es-CO"/>
          </a:p>
        </p:txBody>
      </p:sp>
      <p:sp>
        <p:nvSpPr>
          <p:cNvPr id="11" name="Text 9"/>
          <p:cNvSpPr txBox="1"/>
          <p:nvPr/>
        </p:nvSpPr>
        <p:spPr>
          <a:xfrm>
            <a:off x="4434840" y="1536192"/>
            <a:ext cx="3474720" cy="320040"/>
          </a:xfrm>
          <a:prstGeom prst="rect">
            <a:avLst/>
          </a:prstGeom>
          <a:noFill/>
          <a:ln/>
        </p:spPr>
        <p:txBody>
          <a:bodyPr wrap="square" rtlCol="0" anchor="ctr"/>
          <a:lstStyle/>
          <a:p>
            <a:pPr marL="0" indent="0" algn="ctr">
              <a:buNone/>
            </a:pPr>
            <a:r>
              <a:rPr lang="en-US" sz="1100" b="1" kern="0" spc="50" dirty="0">
                <a:solidFill>
                  <a:srgbClr val="1B3A5C"/>
                </a:solidFill>
                <a:latin typeface="Calibri" pitchFamily="34" charset="0"/>
                <a:ea typeface="Calibri" pitchFamily="34" charset="-122"/>
                <a:cs typeface="Calibri" pitchFamily="34" charset="-120"/>
              </a:rPr>
              <a:t>Valor Esperado de Pérdidas</a:t>
            </a:r>
            <a:endParaRPr lang="en-US" sz="1100" dirty="0"/>
          </a:p>
        </p:txBody>
      </p:sp>
      <p:sp>
        <p:nvSpPr>
          <p:cNvPr id="12" name="Text 10"/>
          <p:cNvSpPr txBox="1"/>
          <p:nvPr/>
        </p:nvSpPr>
        <p:spPr>
          <a:xfrm>
            <a:off x="4389120" y="1883664"/>
            <a:ext cx="3566160" cy="685800"/>
          </a:xfrm>
          <a:prstGeom prst="rect">
            <a:avLst/>
          </a:prstGeom>
          <a:noFill/>
          <a:ln/>
        </p:spPr>
        <p:txBody>
          <a:bodyPr wrap="square" rtlCol="0" anchor="ctr"/>
          <a:lstStyle/>
          <a:p>
            <a:pPr marL="0" indent="0" algn="ctr">
              <a:buNone/>
            </a:pPr>
            <a:r>
              <a:rPr lang="en-US" sz="2200" b="1" dirty="0">
                <a:solidFill>
                  <a:srgbClr val="C0392B"/>
                </a:solidFill>
                <a:latin typeface="Calibri" pitchFamily="34" charset="0"/>
                <a:ea typeface="Calibri" pitchFamily="34" charset="-122"/>
                <a:cs typeface="Calibri" pitchFamily="34" charset="-120"/>
              </a:rPr>
              <a:t>L 3,614,648</a:t>
            </a:r>
            <a:endParaRPr lang="en-US" sz="2200" dirty="0"/>
          </a:p>
        </p:txBody>
      </p:sp>
      <p:sp>
        <p:nvSpPr>
          <p:cNvPr id="13" name="Text 11"/>
          <p:cNvSpPr txBox="1"/>
          <p:nvPr/>
        </p:nvSpPr>
        <p:spPr>
          <a:xfrm>
            <a:off x="4389120" y="2578608"/>
            <a:ext cx="3566160" cy="365760"/>
          </a:xfrm>
          <a:prstGeom prst="rect">
            <a:avLst/>
          </a:prstGeom>
          <a:noFill/>
          <a:ln/>
        </p:spPr>
        <p:txBody>
          <a:bodyPr wrap="square" rtlCol="0" anchor="ctr"/>
          <a:lstStyle/>
          <a:p>
            <a:pPr marL="0" indent="0" algn="ctr">
              <a:buNone/>
            </a:pPr>
            <a:r>
              <a:rPr lang="en-US" sz="1150" i="1" dirty="0">
                <a:solidFill>
                  <a:srgbClr val="64748B"/>
                </a:solidFill>
                <a:latin typeface="Calibri" pitchFamily="34" charset="0"/>
                <a:ea typeface="Calibri" pitchFamily="34" charset="-122"/>
                <a:cs typeface="Calibri" pitchFamily="34" charset="-120"/>
              </a:rPr>
              <a:t>15.06 % del VPN inversionista</a:t>
            </a:r>
            <a:endParaRPr lang="en-US" sz="1150" dirty="0"/>
          </a:p>
        </p:txBody>
      </p:sp>
      <p:sp>
        <p:nvSpPr>
          <p:cNvPr id="14" name="Shape 12"/>
          <p:cNvSpPr/>
          <p:nvPr/>
        </p:nvSpPr>
        <p:spPr>
          <a:xfrm>
            <a:off x="8275320" y="1463040"/>
            <a:ext cx="3749040" cy="1691640"/>
          </a:xfrm>
          <a:prstGeom prst="rect">
            <a:avLst/>
          </a:prstGeom>
          <a:solidFill>
            <a:srgbClr val="E6F4F6"/>
          </a:solidFill>
          <a:ln w="12700">
            <a:solidFill>
              <a:srgbClr val="CBD5E1"/>
            </a:solidFill>
            <a:prstDash val="solid"/>
          </a:ln>
        </p:spPr>
        <p:txBody>
          <a:bodyPr/>
          <a:lstStyle/>
          <a:p>
            <a:endParaRPr lang="es-CO"/>
          </a:p>
        </p:txBody>
      </p:sp>
      <p:sp>
        <p:nvSpPr>
          <p:cNvPr id="15" name="Text 13"/>
          <p:cNvSpPr txBox="1"/>
          <p:nvPr/>
        </p:nvSpPr>
        <p:spPr>
          <a:xfrm>
            <a:off x="8412480" y="1536192"/>
            <a:ext cx="3474720" cy="320040"/>
          </a:xfrm>
          <a:prstGeom prst="rect">
            <a:avLst/>
          </a:prstGeom>
          <a:noFill/>
          <a:ln/>
        </p:spPr>
        <p:txBody>
          <a:bodyPr wrap="square" rtlCol="0" anchor="ctr"/>
          <a:lstStyle/>
          <a:p>
            <a:pPr marL="0" indent="0" algn="ctr">
              <a:buNone/>
            </a:pPr>
            <a:r>
              <a:rPr lang="en-US" sz="1100" b="1" kern="0" spc="50" dirty="0">
                <a:solidFill>
                  <a:srgbClr val="1B3A5C"/>
                </a:solidFill>
                <a:latin typeface="Calibri" pitchFamily="34" charset="0"/>
                <a:ea typeface="Calibri" pitchFamily="34" charset="-122"/>
                <a:cs typeface="Calibri" pitchFamily="34" charset="-120"/>
              </a:rPr>
              <a:t>VPN de Evaluación (neto)</a:t>
            </a:r>
            <a:endParaRPr lang="en-US" sz="1100" dirty="0"/>
          </a:p>
        </p:txBody>
      </p:sp>
      <p:sp>
        <p:nvSpPr>
          <p:cNvPr id="16" name="Text 14"/>
          <p:cNvSpPr txBox="1"/>
          <p:nvPr/>
        </p:nvSpPr>
        <p:spPr>
          <a:xfrm>
            <a:off x="8366760" y="1883664"/>
            <a:ext cx="3566160" cy="685800"/>
          </a:xfrm>
          <a:prstGeom prst="rect">
            <a:avLst/>
          </a:prstGeom>
          <a:noFill/>
          <a:ln/>
        </p:spPr>
        <p:txBody>
          <a:bodyPr wrap="square" rtlCol="0" anchor="ctr"/>
          <a:lstStyle/>
          <a:p>
            <a:pPr marL="0" indent="0" algn="ctr">
              <a:buNone/>
            </a:pPr>
            <a:r>
              <a:rPr lang="en-US" sz="2200" b="1" dirty="0">
                <a:solidFill>
                  <a:srgbClr val="1A7A8A"/>
                </a:solidFill>
                <a:latin typeface="Calibri" pitchFamily="34" charset="0"/>
                <a:ea typeface="Calibri" pitchFamily="34" charset="-122"/>
                <a:cs typeface="Calibri" pitchFamily="34" charset="-120"/>
              </a:rPr>
              <a:t>L 20,384,429</a:t>
            </a:r>
            <a:endParaRPr lang="en-US" sz="2200" dirty="0"/>
          </a:p>
        </p:txBody>
      </p:sp>
      <p:sp>
        <p:nvSpPr>
          <p:cNvPr id="17" name="Text 15"/>
          <p:cNvSpPr txBox="1"/>
          <p:nvPr/>
        </p:nvSpPr>
        <p:spPr>
          <a:xfrm>
            <a:off x="8366760" y="2578608"/>
            <a:ext cx="3566160" cy="365760"/>
          </a:xfrm>
          <a:prstGeom prst="rect">
            <a:avLst/>
          </a:prstGeom>
          <a:noFill/>
          <a:ln/>
        </p:spPr>
        <p:txBody>
          <a:bodyPr wrap="square" rtlCol="0" anchor="ctr"/>
          <a:lstStyle/>
          <a:p>
            <a:pPr marL="0" indent="0" algn="ctr">
              <a:buNone/>
            </a:pPr>
            <a:r>
              <a:rPr lang="en-US" sz="1150" i="1" dirty="0">
                <a:solidFill>
                  <a:srgbClr val="64748B"/>
                </a:solidFill>
                <a:latin typeface="Calibri" pitchFamily="34" charset="0"/>
                <a:ea typeface="Calibri" pitchFamily="34" charset="-122"/>
                <a:cs typeface="Calibri" pitchFamily="34" charset="-120"/>
              </a:rPr>
              <a:t>Margen amplio = PREFACTIBLE</a:t>
            </a:r>
            <a:endParaRPr lang="en-US" sz="1150" dirty="0"/>
          </a:p>
        </p:txBody>
      </p:sp>
      <p:sp>
        <p:nvSpPr>
          <p:cNvPr id="18" name="Text 16"/>
          <p:cNvSpPr txBox="1"/>
          <p:nvPr/>
        </p:nvSpPr>
        <p:spPr>
          <a:xfrm>
            <a:off x="320040" y="3291840"/>
            <a:ext cx="5303520" cy="320040"/>
          </a:xfrm>
          <a:prstGeom prst="rect">
            <a:avLst/>
          </a:prstGeom>
          <a:noFill/>
          <a:ln/>
        </p:spPr>
        <p:txBody>
          <a:bodyPr wrap="square" rtlCol="0" anchor="ctr"/>
          <a:lstStyle/>
          <a:p>
            <a:pPr marL="0" indent="0">
              <a:buNone/>
            </a:pPr>
            <a:r>
              <a:rPr lang="en-US" sz="1300" b="1" dirty="0">
                <a:solidFill>
                  <a:srgbClr val="1B3A5C"/>
                </a:solidFill>
                <a:latin typeface="Calibri" pitchFamily="34" charset="0"/>
                <a:ea typeface="Calibri" pitchFamily="34" charset="-122"/>
                <a:cs typeface="Calibri" pitchFamily="34" charset="-120"/>
              </a:rPr>
              <a:t>Estadísticos de la Simulación Monte Carlo</a:t>
            </a:r>
            <a:endParaRPr lang="en-US" sz="1300" dirty="0"/>
          </a:p>
        </p:txBody>
      </p:sp>
      <p:sp>
        <p:nvSpPr>
          <p:cNvPr id="19" name="Shape 17"/>
          <p:cNvSpPr/>
          <p:nvPr/>
        </p:nvSpPr>
        <p:spPr>
          <a:xfrm>
            <a:off x="320040" y="3657600"/>
            <a:ext cx="5303520" cy="274320"/>
          </a:xfrm>
          <a:prstGeom prst="rect">
            <a:avLst/>
          </a:prstGeom>
          <a:solidFill>
            <a:srgbClr val="F1F5F9"/>
          </a:solidFill>
          <a:ln w="12700">
            <a:solidFill>
              <a:srgbClr val="CBD5E1"/>
            </a:solidFill>
            <a:prstDash val="solid"/>
          </a:ln>
        </p:spPr>
        <p:txBody>
          <a:bodyPr/>
          <a:lstStyle/>
          <a:p>
            <a:endParaRPr lang="es-CO"/>
          </a:p>
        </p:txBody>
      </p:sp>
      <p:sp>
        <p:nvSpPr>
          <p:cNvPr id="20" name="Text 18"/>
          <p:cNvSpPr txBox="1"/>
          <p:nvPr/>
        </p:nvSpPr>
        <p:spPr>
          <a:xfrm>
            <a:off x="411480" y="3685032"/>
            <a:ext cx="3291840" cy="219456"/>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Eventos modelados</a:t>
            </a:r>
            <a:endParaRPr lang="en-US" sz="1150" dirty="0"/>
          </a:p>
        </p:txBody>
      </p:sp>
      <p:sp>
        <p:nvSpPr>
          <p:cNvPr id="21" name="Text 19"/>
          <p:cNvSpPr txBox="1"/>
          <p:nvPr/>
        </p:nvSpPr>
        <p:spPr>
          <a:xfrm>
            <a:off x="3703320" y="3685032"/>
            <a:ext cx="1828800" cy="219456"/>
          </a:xfrm>
          <a:prstGeom prst="rect">
            <a:avLst/>
          </a:prstGeom>
          <a:noFill/>
          <a:ln/>
        </p:spPr>
        <p:txBody>
          <a:bodyPr wrap="square" rtlCol="0" anchor="ctr"/>
          <a:lstStyle/>
          <a:p>
            <a:pPr marL="0" indent="0" algn="r">
              <a:buNone/>
            </a:pPr>
            <a:r>
              <a:rPr lang="en-US" sz="1150" b="1" dirty="0">
                <a:solidFill>
                  <a:srgbClr val="1B3A5C"/>
                </a:solidFill>
                <a:latin typeface="Calibri" pitchFamily="34" charset="0"/>
                <a:ea typeface="Calibri" pitchFamily="34" charset="-122"/>
                <a:cs typeface="Calibri" pitchFamily="34" charset="-120"/>
              </a:rPr>
              <a:t>11</a:t>
            </a:r>
            <a:endParaRPr lang="en-US" sz="1150" dirty="0"/>
          </a:p>
        </p:txBody>
      </p:sp>
      <p:sp>
        <p:nvSpPr>
          <p:cNvPr id="22" name="Shape 20"/>
          <p:cNvSpPr/>
          <p:nvPr/>
        </p:nvSpPr>
        <p:spPr>
          <a:xfrm>
            <a:off x="320040" y="3950208"/>
            <a:ext cx="5303520" cy="274320"/>
          </a:xfrm>
          <a:prstGeom prst="rect">
            <a:avLst/>
          </a:prstGeom>
          <a:solidFill>
            <a:srgbClr val="FFFFFF"/>
          </a:solidFill>
          <a:ln w="12700">
            <a:solidFill>
              <a:srgbClr val="CBD5E1"/>
            </a:solidFill>
            <a:prstDash val="solid"/>
          </a:ln>
        </p:spPr>
        <p:txBody>
          <a:bodyPr/>
          <a:lstStyle/>
          <a:p>
            <a:endParaRPr lang="es-CO"/>
          </a:p>
        </p:txBody>
      </p:sp>
      <p:sp>
        <p:nvSpPr>
          <p:cNvPr id="23" name="Text 21"/>
          <p:cNvSpPr txBox="1"/>
          <p:nvPr/>
        </p:nvSpPr>
        <p:spPr>
          <a:xfrm>
            <a:off x="411480" y="3977640"/>
            <a:ext cx="3291840" cy="219456"/>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Distribución utilizada</a:t>
            </a:r>
            <a:endParaRPr lang="en-US" sz="1150" dirty="0"/>
          </a:p>
        </p:txBody>
      </p:sp>
      <p:sp>
        <p:nvSpPr>
          <p:cNvPr id="24" name="Text 22"/>
          <p:cNvSpPr txBox="1"/>
          <p:nvPr/>
        </p:nvSpPr>
        <p:spPr>
          <a:xfrm>
            <a:off x="3703320" y="3977640"/>
            <a:ext cx="1828800" cy="219456"/>
          </a:xfrm>
          <a:prstGeom prst="rect">
            <a:avLst/>
          </a:prstGeom>
          <a:noFill/>
          <a:ln/>
        </p:spPr>
        <p:txBody>
          <a:bodyPr wrap="square" rtlCol="0" anchor="ctr"/>
          <a:lstStyle/>
          <a:p>
            <a:pPr marL="0" indent="0" algn="r">
              <a:buNone/>
            </a:pPr>
            <a:r>
              <a:rPr lang="en-US" sz="1150" b="1" dirty="0">
                <a:solidFill>
                  <a:srgbClr val="1B3A5C"/>
                </a:solidFill>
                <a:latin typeface="Calibri" pitchFamily="34" charset="0"/>
                <a:ea typeface="Calibri" pitchFamily="34" charset="-122"/>
                <a:cs typeface="Calibri" pitchFamily="34" charset="-120"/>
              </a:rPr>
              <a:t>Frecuencia-Severidad</a:t>
            </a:r>
            <a:endParaRPr lang="en-US" sz="1150" dirty="0"/>
          </a:p>
        </p:txBody>
      </p:sp>
      <p:sp>
        <p:nvSpPr>
          <p:cNvPr id="25" name="Shape 23"/>
          <p:cNvSpPr/>
          <p:nvPr/>
        </p:nvSpPr>
        <p:spPr>
          <a:xfrm>
            <a:off x="320040" y="4242816"/>
            <a:ext cx="5303520" cy="274320"/>
          </a:xfrm>
          <a:prstGeom prst="rect">
            <a:avLst/>
          </a:prstGeom>
          <a:solidFill>
            <a:srgbClr val="F1F5F9"/>
          </a:solidFill>
          <a:ln w="12700">
            <a:solidFill>
              <a:srgbClr val="CBD5E1"/>
            </a:solidFill>
            <a:prstDash val="solid"/>
          </a:ln>
        </p:spPr>
        <p:txBody>
          <a:bodyPr/>
          <a:lstStyle/>
          <a:p>
            <a:endParaRPr lang="es-CO"/>
          </a:p>
        </p:txBody>
      </p:sp>
      <p:sp>
        <p:nvSpPr>
          <p:cNvPr id="26" name="Text 24"/>
          <p:cNvSpPr txBox="1"/>
          <p:nvPr/>
        </p:nvSpPr>
        <p:spPr>
          <a:xfrm>
            <a:off x="411480" y="4270248"/>
            <a:ext cx="3291840" cy="219456"/>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Iteraciones</a:t>
            </a:r>
            <a:endParaRPr lang="en-US" sz="1150" dirty="0"/>
          </a:p>
        </p:txBody>
      </p:sp>
      <p:sp>
        <p:nvSpPr>
          <p:cNvPr id="27" name="Text 25"/>
          <p:cNvSpPr txBox="1"/>
          <p:nvPr/>
        </p:nvSpPr>
        <p:spPr>
          <a:xfrm>
            <a:off x="3703320" y="4270248"/>
            <a:ext cx="1828800" cy="219456"/>
          </a:xfrm>
          <a:prstGeom prst="rect">
            <a:avLst/>
          </a:prstGeom>
          <a:noFill/>
          <a:ln/>
        </p:spPr>
        <p:txBody>
          <a:bodyPr wrap="square" rtlCol="0" anchor="ctr"/>
          <a:lstStyle/>
          <a:p>
            <a:pPr marL="0" indent="0" algn="r">
              <a:buNone/>
            </a:pPr>
            <a:r>
              <a:rPr lang="en-US" sz="1150" b="1" dirty="0">
                <a:solidFill>
                  <a:srgbClr val="1B3A5C"/>
                </a:solidFill>
                <a:latin typeface="Calibri" pitchFamily="34" charset="0"/>
                <a:ea typeface="Calibri" pitchFamily="34" charset="-122"/>
                <a:cs typeface="Calibri" pitchFamily="34" charset="-120"/>
              </a:rPr>
              <a:t>10,000</a:t>
            </a:r>
            <a:endParaRPr lang="en-US" sz="1150" dirty="0"/>
          </a:p>
        </p:txBody>
      </p:sp>
      <p:sp>
        <p:nvSpPr>
          <p:cNvPr id="28" name="Shape 26"/>
          <p:cNvSpPr/>
          <p:nvPr/>
        </p:nvSpPr>
        <p:spPr>
          <a:xfrm>
            <a:off x="320040" y="4535424"/>
            <a:ext cx="5303520" cy="274320"/>
          </a:xfrm>
          <a:prstGeom prst="rect">
            <a:avLst/>
          </a:prstGeom>
          <a:solidFill>
            <a:srgbClr val="FFFFFF"/>
          </a:solidFill>
          <a:ln w="12700">
            <a:solidFill>
              <a:srgbClr val="CBD5E1"/>
            </a:solidFill>
            <a:prstDash val="solid"/>
          </a:ln>
        </p:spPr>
        <p:txBody>
          <a:bodyPr/>
          <a:lstStyle/>
          <a:p>
            <a:endParaRPr lang="es-CO"/>
          </a:p>
        </p:txBody>
      </p:sp>
      <p:sp>
        <p:nvSpPr>
          <p:cNvPr id="29" name="Text 27"/>
          <p:cNvSpPr txBox="1"/>
          <p:nvPr/>
        </p:nvSpPr>
        <p:spPr>
          <a:xfrm>
            <a:off x="411480" y="4562856"/>
            <a:ext cx="3291840" cy="219456"/>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Variabilidad de las pérdidas (coef. de variación)</a:t>
            </a:r>
            <a:endParaRPr lang="en-US" sz="1150" dirty="0"/>
          </a:p>
        </p:txBody>
      </p:sp>
      <p:sp>
        <p:nvSpPr>
          <p:cNvPr id="30" name="Text 28"/>
          <p:cNvSpPr txBox="1"/>
          <p:nvPr/>
        </p:nvSpPr>
        <p:spPr>
          <a:xfrm>
            <a:off x="3703320" y="4562856"/>
            <a:ext cx="1828800" cy="219456"/>
          </a:xfrm>
          <a:prstGeom prst="rect">
            <a:avLst/>
          </a:prstGeom>
          <a:noFill/>
          <a:ln/>
        </p:spPr>
        <p:txBody>
          <a:bodyPr wrap="square" rtlCol="0" anchor="ctr"/>
          <a:lstStyle/>
          <a:p>
            <a:pPr marL="0" indent="0" algn="r">
              <a:buNone/>
            </a:pPr>
            <a:r>
              <a:rPr lang="en-US" sz="1150" b="1" dirty="0">
                <a:solidFill>
                  <a:srgbClr val="1B3A5C"/>
                </a:solidFill>
                <a:latin typeface="Calibri" pitchFamily="34" charset="0"/>
                <a:ea typeface="Calibri" pitchFamily="34" charset="-122"/>
                <a:cs typeface="Calibri" pitchFamily="34" charset="-120"/>
              </a:rPr>
              <a:t>41.5 %</a:t>
            </a:r>
            <a:endParaRPr lang="en-US" sz="1150" dirty="0"/>
          </a:p>
        </p:txBody>
      </p:sp>
      <p:sp>
        <p:nvSpPr>
          <p:cNvPr id="31" name="Shape 29"/>
          <p:cNvSpPr/>
          <p:nvPr/>
        </p:nvSpPr>
        <p:spPr>
          <a:xfrm>
            <a:off x="320040" y="4828032"/>
            <a:ext cx="5303520" cy="274320"/>
          </a:xfrm>
          <a:prstGeom prst="rect">
            <a:avLst/>
          </a:prstGeom>
          <a:solidFill>
            <a:srgbClr val="F1F5F9"/>
          </a:solidFill>
          <a:ln w="12700">
            <a:solidFill>
              <a:srgbClr val="CBD5E1"/>
            </a:solidFill>
            <a:prstDash val="solid"/>
          </a:ln>
        </p:spPr>
        <p:txBody>
          <a:bodyPr/>
          <a:lstStyle/>
          <a:p>
            <a:endParaRPr lang="es-CO"/>
          </a:p>
        </p:txBody>
      </p:sp>
      <p:sp>
        <p:nvSpPr>
          <p:cNvPr id="32" name="Text 30"/>
          <p:cNvSpPr txBox="1"/>
          <p:nvPr/>
        </p:nvSpPr>
        <p:spPr>
          <a:xfrm>
            <a:off x="411480" y="4855464"/>
            <a:ext cx="3291840" cy="219456"/>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Variabilidad del VPN (coef. de variación)</a:t>
            </a:r>
            <a:endParaRPr lang="en-US" sz="1150" dirty="0"/>
          </a:p>
        </p:txBody>
      </p:sp>
      <p:sp>
        <p:nvSpPr>
          <p:cNvPr id="33" name="Text 31"/>
          <p:cNvSpPr txBox="1"/>
          <p:nvPr/>
        </p:nvSpPr>
        <p:spPr>
          <a:xfrm>
            <a:off x="3703320" y="4855464"/>
            <a:ext cx="1828800" cy="219456"/>
          </a:xfrm>
          <a:prstGeom prst="rect">
            <a:avLst/>
          </a:prstGeom>
          <a:noFill/>
          <a:ln/>
        </p:spPr>
        <p:txBody>
          <a:bodyPr wrap="square" rtlCol="0" anchor="ctr"/>
          <a:lstStyle/>
          <a:p>
            <a:pPr marL="0" indent="0" algn="r">
              <a:buNone/>
            </a:pPr>
            <a:r>
              <a:rPr lang="en-US" sz="1150" b="1" dirty="0">
                <a:solidFill>
                  <a:srgbClr val="1B3A5C"/>
                </a:solidFill>
                <a:latin typeface="Calibri" pitchFamily="34" charset="0"/>
                <a:ea typeface="Calibri" pitchFamily="34" charset="-122"/>
                <a:cs typeface="Calibri" pitchFamily="34" charset="-120"/>
              </a:rPr>
              <a:t>2.1 %</a:t>
            </a:r>
            <a:endParaRPr lang="en-US" sz="1150" dirty="0"/>
          </a:p>
        </p:txBody>
      </p:sp>
      <p:sp>
        <p:nvSpPr>
          <p:cNvPr id="34" name="Shape 32"/>
          <p:cNvSpPr/>
          <p:nvPr/>
        </p:nvSpPr>
        <p:spPr>
          <a:xfrm>
            <a:off x="320040" y="5120640"/>
            <a:ext cx="5303520" cy="274320"/>
          </a:xfrm>
          <a:prstGeom prst="rect">
            <a:avLst/>
          </a:prstGeom>
          <a:solidFill>
            <a:srgbClr val="FFFFFF"/>
          </a:solidFill>
          <a:ln w="12700">
            <a:solidFill>
              <a:srgbClr val="CBD5E1"/>
            </a:solidFill>
            <a:prstDash val="solid"/>
          </a:ln>
        </p:spPr>
        <p:txBody>
          <a:bodyPr/>
          <a:lstStyle/>
          <a:p>
            <a:endParaRPr lang="es-CO"/>
          </a:p>
        </p:txBody>
      </p:sp>
      <p:sp>
        <p:nvSpPr>
          <p:cNvPr id="35" name="Text 33"/>
          <p:cNvSpPr txBox="1"/>
          <p:nvPr/>
        </p:nvSpPr>
        <p:spPr>
          <a:xfrm>
            <a:off x="411480" y="5148072"/>
            <a:ext cx="3291840" cy="219456"/>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VaR 95 %: pérdida máxima en 95 de cada 100</a:t>
            </a:r>
            <a:endParaRPr lang="en-US" sz="1150" dirty="0"/>
          </a:p>
        </p:txBody>
      </p:sp>
      <p:sp>
        <p:nvSpPr>
          <p:cNvPr id="36" name="Text 34"/>
          <p:cNvSpPr txBox="1"/>
          <p:nvPr/>
        </p:nvSpPr>
        <p:spPr>
          <a:xfrm>
            <a:off x="3703320" y="5148072"/>
            <a:ext cx="1828800" cy="219456"/>
          </a:xfrm>
          <a:prstGeom prst="rect">
            <a:avLst/>
          </a:prstGeom>
          <a:noFill/>
          <a:ln/>
        </p:spPr>
        <p:txBody>
          <a:bodyPr wrap="square" rtlCol="0" anchor="ctr"/>
          <a:lstStyle/>
          <a:p>
            <a:pPr marL="0" indent="0" algn="r">
              <a:buNone/>
            </a:pPr>
            <a:r>
              <a:rPr lang="en-US" sz="1150" b="1" dirty="0">
                <a:solidFill>
                  <a:srgbClr val="1B3A5C"/>
                </a:solidFill>
                <a:latin typeface="Calibri" pitchFamily="34" charset="0"/>
                <a:ea typeface="Calibri" pitchFamily="34" charset="-122"/>
                <a:cs typeface="Calibri" pitchFamily="34" charset="-120"/>
              </a:rPr>
              <a:t>L 6,373,570</a:t>
            </a:r>
            <a:endParaRPr lang="en-US" sz="1150" dirty="0"/>
          </a:p>
        </p:txBody>
      </p:sp>
      <p:sp>
        <p:nvSpPr>
          <p:cNvPr id="37" name="Shape 35"/>
          <p:cNvSpPr/>
          <p:nvPr/>
        </p:nvSpPr>
        <p:spPr>
          <a:xfrm>
            <a:off x="320040" y="5413248"/>
            <a:ext cx="5303520" cy="274320"/>
          </a:xfrm>
          <a:prstGeom prst="rect">
            <a:avLst/>
          </a:prstGeom>
          <a:solidFill>
            <a:srgbClr val="F1F5F9"/>
          </a:solidFill>
          <a:ln w="12700">
            <a:solidFill>
              <a:srgbClr val="CBD5E1"/>
            </a:solidFill>
            <a:prstDash val="solid"/>
          </a:ln>
        </p:spPr>
        <p:txBody>
          <a:bodyPr/>
          <a:lstStyle/>
          <a:p>
            <a:endParaRPr lang="es-CO"/>
          </a:p>
        </p:txBody>
      </p:sp>
      <p:sp>
        <p:nvSpPr>
          <p:cNvPr id="38" name="Text 36"/>
          <p:cNvSpPr txBox="1"/>
          <p:nvPr/>
        </p:nvSpPr>
        <p:spPr>
          <a:xfrm>
            <a:off x="411480" y="5440680"/>
            <a:ext cx="3291840" cy="219456"/>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VaR 99 %: pérdida máxima en 99 de cada 100</a:t>
            </a:r>
            <a:endParaRPr lang="en-US" sz="1150" dirty="0"/>
          </a:p>
        </p:txBody>
      </p:sp>
      <p:sp>
        <p:nvSpPr>
          <p:cNvPr id="39" name="Text 37"/>
          <p:cNvSpPr txBox="1"/>
          <p:nvPr/>
        </p:nvSpPr>
        <p:spPr>
          <a:xfrm>
            <a:off x="3703320" y="5440680"/>
            <a:ext cx="1828800" cy="219456"/>
          </a:xfrm>
          <a:prstGeom prst="rect">
            <a:avLst/>
          </a:prstGeom>
          <a:noFill/>
          <a:ln/>
        </p:spPr>
        <p:txBody>
          <a:bodyPr wrap="square" rtlCol="0" anchor="ctr"/>
          <a:lstStyle/>
          <a:p>
            <a:pPr marL="0" indent="0" algn="r">
              <a:buNone/>
            </a:pPr>
            <a:r>
              <a:rPr lang="en-US" sz="1150" b="1" dirty="0">
                <a:solidFill>
                  <a:srgbClr val="1B3A5C"/>
                </a:solidFill>
                <a:latin typeface="Calibri" pitchFamily="34" charset="0"/>
                <a:ea typeface="Calibri" pitchFamily="34" charset="-122"/>
                <a:cs typeface="Calibri" pitchFamily="34" charset="-120"/>
              </a:rPr>
              <a:t>L 7,924,618</a:t>
            </a:r>
            <a:endParaRPr lang="en-US" sz="1150" dirty="0"/>
          </a:p>
        </p:txBody>
      </p:sp>
      <p:sp>
        <p:nvSpPr>
          <p:cNvPr id="40" name="Shape 38"/>
          <p:cNvSpPr/>
          <p:nvPr/>
        </p:nvSpPr>
        <p:spPr>
          <a:xfrm>
            <a:off x="320040" y="5705856"/>
            <a:ext cx="5303520" cy="274320"/>
          </a:xfrm>
          <a:prstGeom prst="rect">
            <a:avLst/>
          </a:prstGeom>
          <a:solidFill>
            <a:srgbClr val="FFFFFF"/>
          </a:solidFill>
          <a:ln w="12700">
            <a:solidFill>
              <a:srgbClr val="CBD5E1"/>
            </a:solidFill>
            <a:prstDash val="solid"/>
          </a:ln>
        </p:spPr>
        <p:txBody>
          <a:bodyPr/>
          <a:lstStyle/>
          <a:p>
            <a:endParaRPr lang="es-CO"/>
          </a:p>
        </p:txBody>
      </p:sp>
      <p:sp>
        <p:nvSpPr>
          <p:cNvPr id="41" name="Text 39"/>
          <p:cNvSpPr txBox="1"/>
          <p:nvPr/>
        </p:nvSpPr>
        <p:spPr>
          <a:xfrm>
            <a:off x="411480" y="5733288"/>
            <a:ext cx="3291840" cy="219456"/>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Iteraciones con VPN Inversionista &gt; 0</a:t>
            </a:r>
            <a:endParaRPr lang="en-US" sz="1150" dirty="0"/>
          </a:p>
        </p:txBody>
      </p:sp>
      <p:sp>
        <p:nvSpPr>
          <p:cNvPr id="42" name="Text 40"/>
          <p:cNvSpPr txBox="1"/>
          <p:nvPr/>
        </p:nvSpPr>
        <p:spPr>
          <a:xfrm>
            <a:off x="3703320" y="5733288"/>
            <a:ext cx="1828800" cy="219456"/>
          </a:xfrm>
          <a:prstGeom prst="rect">
            <a:avLst/>
          </a:prstGeom>
          <a:noFill/>
          <a:ln/>
        </p:spPr>
        <p:txBody>
          <a:bodyPr wrap="square" rtlCol="0" anchor="ctr"/>
          <a:lstStyle/>
          <a:p>
            <a:pPr marL="0" indent="0" algn="r">
              <a:buNone/>
            </a:pPr>
            <a:r>
              <a:rPr lang="en-US" sz="1150" b="1" dirty="0">
                <a:solidFill>
                  <a:srgbClr val="1B3A5C"/>
                </a:solidFill>
                <a:latin typeface="Calibri" pitchFamily="34" charset="0"/>
                <a:ea typeface="Calibri" pitchFamily="34" charset="-122"/>
                <a:cs typeface="Calibri" pitchFamily="34" charset="-120"/>
              </a:rPr>
              <a:t>100 % (mín. L 22.1 M)</a:t>
            </a:r>
            <a:endParaRPr lang="en-US" sz="1150" dirty="0"/>
          </a:p>
        </p:txBody>
      </p:sp>
      <p:sp>
        <p:nvSpPr>
          <p:cNvPr id="43" name="Shape 41"/>
          <p:cNvSpPr/>
          <p:nvPr/>
        </p:nvSpPr>
        <p:spPr>
          <a:xfrm>
            <a:off x="320040" y="5998464"/>
            <a:ext cx="5303520" cy="274320"/>
          </a:xfrm>
          <a:prstGeom prst="rect">
            <a:avLst/>
          </a:prstGeom>
          <a:solidFill>
            <a:srgbClr val="F1F5F9"/>
          </a:solidFill>
          <a:ln w="12700">
            <a:solidFill>
              <a:srgbClr val="CBD5E1"/>
            </a:solidFill>
            <a:prstDash val="solid"/>
          </a:ln>
        </p:spPr>
        <p:txBody>
          <a:bodyPr/>
          <a:lstStyle/>
          <a:p>
            <a:endParaRPr lang="es-CO"/>
          </a:p>
        </p:txBody>
      </p:sp>
      <p:sp>
        <p:nvSpPr>
          <p:cNvPr id="44" name="Text 42"/>
          <p:cNvSpPr txBox="1"/>
          <p:nvPr/>
        </p:nvSpPr>
        <p:spPr>
          <a:xfrm>
            <a:off x="411480" y="6025896"/>
            <a:ext cx="3291840" cy="219456"/>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Relación riesgo-VPN: pérdida esperada ÷ VPN medio</a:t>
            </a:r>
            <a:endParaRPr lang="en-US" sz="1150" dirty="0"/>
          </a:p>
        </p:txBody>
      </p:sp>
      <p:sp>
        <p:nvSpPr>
          <p:cNvPr id="45" name="Text 43"/>
          <p:cNvSpPr txBox="1"/>
          <p:nvPr/>
        </p:nvSpPr>
        <p:spPr>
          <a:xfrm>
            <a:off x="3703320" y="6025896"/>
            <a:ext cx="1828800" cy="219456"/>
          </a:xfrm>
          <a:prstGeom prst="rect">
            <a:avLst/>
          </a:prstGeom>
          <a:noFill/>
          <a:ln/>
        </p:spPr>
        <p:txBody>
          <a:bodyPr wrap="square" rtlCol="0" anchor="ctr"/>
          <a:lstStyle/>
          <a:p>
            <a:pPr marL="0" indent="0" algn="r">
              <a:buNone/>
            </a:pPr>
            <a:r>
              <a:rPr lang="en-US" sz="1150" b="1" dirty="0">
                <a:solidFill>
                  <a:srgbClr val="1B3A5C"/>
                </a:solidFill>
                <a:latin typeface="Calibri" pitchFamily="34" charset="0"/>
                <a:ea typeface="Calibri" pitchFamily="34" charset="-122"/>
                <a:cs typeface="Calibri" pitchFamily="34" charset="-120"/>
              </a:rPr>
              <a:t>15.06 %</a:t>
            </a:r>
            <a:endParaRPr lang="en-US" sz="1150" dirty="0"/>
          </a:p>
        </p:txBody>
      </p:sp>
      <p:sp>
        <p:nvSpPr>
          <p:cNvPr id="46" name="Text 44"/>
          <p:cNvSpPr txBox="1"/>
          <p:nvPr/>
        </p:nvSpPr>
        <p:spPr>
          <a:xfrm>
            <a:off x="6035040" y="3291840"/>
            <a:ext cx="5852160" cy="320040"/>
          </a:xfrm>
          <a:prstGeom prst="rect">
            <a:avLst/>
          </a:prstGeom>
          <a:noFill/>
          <a:ln/>
        </p:spPr>
        <p:txBody>
          <a:bodyPr wrap="square" rtlCol="0" anchor="ctr"/>
          <a:lstStyle/>
          <a:p>
            <a:pPr marL="0" indent="0">
              <a:buNone/>
            </a:pPr>
            <a:r>
              <a:rPr lang="en-US" sz="1300" b="1" dirty="0" err="1">
                <a:solidFill>
                  <a:srgbClr val="1B3A5C"/>
                </a:solidFill>
                <a:latin typeface="Calibri" pitchFamily="34" charset="0"/>
                <a:ea typeface="Calibri" pitchFamily="34" charset="-122"/>
                <a:cs typeface="Calibri" pitchFamily="34" charset="-120"/>
              </a:rPr>
              <a:t>Riesgos</a:t>
            </a:r>
            <a:r>
              <a:rPr lang="en-US" sz="1300" b="1" dirty="0">
                <a:solidFill>
                  <a:srgbClr val="1B3A5C"/>
                </a:solidFill>
                <a:latin typeface="Calibri" pitchFamily="34" charset="0"/>
                <a:ea typeface="Calibri" pitchFamily="34" charset="-122"/>
                <a:cs typeface="Calibri" pitchFamily="34" charset="-120"/>
              </a:rPr>
              <a:t> por Valor Esperado de Pérdida</a:t>
            </a:r>
            <a:endParaRPr lang="en-US" sz="1300" dirty="0"/>
          </a:p>
        </p:txBody>
      </p:sp>
      <p:sp>
        <p:nvSpPr>
          <p:cNvPr id="47" name="Shape 45"/>
          <p:cNvSpPr/>
          <p:nvPr/>
        </p:nvSpPr>
        <p:spPr>
          <a:xfrm>
            <a:off x="6035040" y="3730752"/>
            <a:ext cx="411480" cy="438912"/>
          </a:xfrm>
          <a:prstGeom prst="rect">
            <a:avLst/>
          </a:prstGeom>
          <a:solidFill>
            <a:srgbClr val="C0392B"/>
          </a:solidFill>
          <a:ln w="12700">
            <a:solidFill>
              <a:srgbClr val="C0392B"/>
            </a:solidFill>
            <a:prstDash val="solid"/>
          </a:ln>
        </p:spPr>
        <p:txBody>
          <a:bodyPr/>
          <a:lstStyle/>
          <a:p>
            <a:endParaRPr lang="es-CO"/>
          </a:p>
        </p:txBody>
      </p:sp>
      <p:sp>
        <p:nvSpPr>
          <p:cNvPr id="48" name="Text 46"/>
          <p:cNvSpPr txBox="1"/>
          <p:nvPr/>
        </p:nvSpPr>
        <p:spPr>
          <a:xfrm>
            <a:off x="6035040" y="3730752"/>
            <a:ext cx="411480" cy="43891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49" name="Shape 47"/>
          <p:cNvSpPr/>
          <p:nvPr/>
        </p:nvSpPr>
        <p:spPr>
          <a:xfrm>
            <a:off x="6510528" y="3730752"/>
            <a:ext cx="5376672" cy="438912"/>
          </a:xfrm>
          <a:prstGeom prst="rect">
            <a:avLst/>
          </a:prstGeom>
          <a:solidFill>
            <a:srgbClr val="F1F5F9"/>
          </a:solidFill>
          <a:ln w="12700">
            <a:solidFill>
              <a:srgbClr val="CBD5E1"/>
            </a:solidFill>
            <a:prstDash val="solid"/>
          </a:ln>
        </p:spPr>
        <p:txBody>
          <a:bodyPr/>
          <a:lstStyle/>
          <a:p>
            <a:endParaRPr lang="es-CO"/>
          </a:p>
        </p:txBody>
      </p:sp>
      <p:sp>
        <p:nvSpPr>
          <p:cNvPr id="50" name="Text 48"/>
          <p:cNvSpPr txBox="1"/>
          <p:nvPr/>
        </p:nvSpPr>
        <p:spPr>
          <a:xfrm>
            <a:off x="6583680" y="3776472"/>
            <a:ext cx="3291840" cy="219456"/>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Entrada de nuevo competidor</a:t>
            </a:r>
            <a:endParaRPr lang="en-US" sz="1100" dirty="0"/>
          </a:p>
        </p:txBody>
      </p:sp>
      <p:sp>
        <p:nvSpPr>
          <p:cNvPr id="51" name="Text 49"/>
          <p:cNvSpPr txBox="1"/>
          <p:nvPr/>
        </p:nvSpPr>
        <p:spPr>
          <a:xfrm>
            <a:off x="9875520" y="3794760"/>
            <a:ext cx="1920240" cy="237744"/>
          </a:xfrm>
          <a:prstGeom prst="rect">
            <a:avLst/>
          </a:prstGeom>
          <a:noFill/>
          <a:ln/>
        </p:spPr>
        <p:txBody>
          <a:bodyPr wrap="square" rtlCol="0" anchor="ctr"/>
          <a:lstStyle/>
          <a:p>
            <a:pPr marL="0" indent="0" algn="r">
              <a:buNone/>
            </a:pPr>
            <a:r>
              <a:rPr lang="en-US" sz="1150" b="1" dirty="0">
                <a:solidFill>
                  <a:srgbClr val="C0392B"/>
                </a:solidFill>
                <a:latin typeface="Calibri" pitchFamily="34" charset="0"/>
                <a:ea typeface="Calibri" pitchFamily="34" charset="-122"/>
                <a:cs typeface="Calibri" pitchFamily="34" charset="-120"/>
              </a:rPr>
              <a:t>L 1,137,757  |  31.48 %</a:t>
            </a:r>
            <a:endParaRPr lang="en-US" sz="1150" dirty="0"/>
          </a:p>
        </p:txBody>
      </p:sp>
      <p:sp>
        <p:nvSpPr>
          <p:cNvPr id="52" name="Shape 50"/>
          <p:cNvSpPr/>
          <p:nvPr/>
        </p:nvSpPr>
        <p:spPr>
          <a:xfrm>
            <a:off x="6035040" y="4242816"/>
            <a:ext cx="411480" cy="438912"/>
          </a:xfrm>
          <a:prstGeom prst="rect">
            <a:avLst/>
          </a:prstGeom>
          <a:solidFill>
            <a:srgbClr val="E67E22"/>
          </a:solidFill>
          <a:ln w="12700">
            <a:solidFill>
              <a:srgbClr val="E67E22"/>
            </a:solidFill>
            <a:prstDash val="solid"/>
          </a:ln>
        </p:spPr>
        <p:txBody>
          <a:bodyPr/>
          <a:lstStyle/>
          <a:p>
            <a:endParaRPr lang="es-CO"/>
          </a:p>
        </p:txBody>
      </p:sp>
      <p:sp>
        <p:nvSpPr>
          <p:cNvPr id="53" name="Text 51"/>
          <p:cNvSpPr txBox="1"/>
          <p:nvPr/>
        </p:nvSpPr>
        <p:spPr>
          <a:xfrm>
            <a:off x="6035040" y="4242816"/>
            <a:ext cx="411480" cy="43891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54" name="Shape 52"/>
          <p:cNvSpPr/>
          <p:nvPr/>
        </p:nvSpPr>
        <p:spPr>
          <a:xfrm>
            <a:off x="6510528" y="4242816"/>
            <a:ext cx="5376672" cy="438912"/>
          </a:xfrm>
          <a:prstGeom prst="rect">
            <a:avLst/>
          </a:prstGeom>
          <a:solidFill>
            <a:srgbClr val="FFFFFF"/>
          </a:solidFill>
          <a:ln w="12700">
            <a:solidFill>
              <a:srgbClr val="CBD5E1"/>
            </a:solidFill>
            <a:prstDash val="solid"/>
          </a:ln>
        </p:spPr>
        <p:txBody>
          <a:bodyPr/>
          <a:lstStyle/>
          <a:p>
            <a:endParaRPr lang="es-CO"/>
          </a:p>
        </p:txBody>
      </p:sp>
      <p:sp>
        <p:nvSpPr>
          <p:cNvPr id="55" name="Text 53"/>
          <p:cNvSpPr txBox="1"/>
          <p:nvPr/>
        </p:nvSpPr>
        <p:spPr>
          <a:xfrm>
            <a:off x="6583680" y="4288536"/>
            <a:ext cx="3291840" cy="219456"/>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Variación precio leche cruda</a:t>
            </a:r>
            <a:endParaRPr lang="en-US" sz="1100" dirty="0"/>
          </a:p>
        </p:txBody>
      </p:sp>
      <p:sp>
        <p:nvSpPr>
          <p:cNvPr id="56" name="Text 54"/>
          <p:cNvSpPr txBox="1"/>
          <p:nvPr/>
        </p:nvSpPr>
        <p:spPr>
          <a:xfrm>
            <a:off x="9875520" y="4306824"/>
            <a:ext cx="1920240" cy="237744"/>
          </a:xfrm>
          <a:prstGeom prst="rect">
            <a:avLst/>
          </a:prstGeom>
          <a:noFill/>
          <a:ln/>
        </p:spPr>
        <p:txBody>
          <a:bodyPr wrap="square" rtlCol="0" anchor="ctr"/>
          <a:lstStyle/>
          <a:p>
            <a:pPr marL="0" indent="0" algn="r">
              <a:buNone/>
            </a:pPr>
            <a:r>
              <a:rPr lang="en-US" sz="1150" b="1" dirty="0">
                <a:solidFill>
                  <a:srgbClr val="E67E22"/>
                </a:solidFill>
                <a:latin typeface="Calibri" pitchFamily="34" charset="0"/>
                <a:ea typeface="Calibri" pitchFamily="34" charset="-122"/>
                <a:cs typeface="Calibri" pitchFamily="34" charset="-120"/>
              </a:rPr>
              <a:t>L 801,253  |  22.17 %</a:t>
            </a:r>
            <a:endParaRPr lang="en-US" sz="1150" dirty="0"/>
          </a:p>
        </p:txBody>
      </p:sp>
      <p:sp>
        <p:nvSpPr>
          <p:cNvPr id="57" name="Shape 55"/>
          <p:cNvSpPr/>
          <p:nvPr/>
        </p:nvSpPr>
        <p:spPr>
          <a:xfrm>
            <a:off x="6035040" y="4754880"/>
            <a:ext cx="411480" cy="438912"/>
          </a:xfrm>
          <a:prstGeom prst="rect">
            <a:avLst/>
          </a:prstGeom>
          <a:solidFill>
            <a:srgbClr val="B5862A"/>
          </a:solidFill>
          <a:ln w="12700">
            <a:solidFill>
              <a:srgbClr val="B5862A"/>
            </a:solidFill>
            <a:prstDash val="solid"/>
          </a:ln>
        </p:spPr>
        <p:txBody>
          <a:bodyPr/>
          <a:lstStyle/>
          <a:p>
            <a:endParaRPr lang="es-CO"/>
          </a:p>
        </p:txBody>
      </p:sp>
      <p:sp>
        <p:nvSpPr>
          <p:cNvPr id="58" name="Text 56"/>
          <p:cNvSpPr txBox="1"/>
          <p:nvPr/>
        </p:nvSpPr>
        <p:spPr>
          <a:xfrm>
            <a:off x="6035040" y="4754880"/>
            <a:ext cx="411480" cy="43891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59" name="Shape 57"/>
          <p:cNvSpPr/>
          <p:nvPr/>
        </p:nvSpPr>
        <p:spPr>
          <a:xfrm>
            <a:off x="6510528" y="4754880"/>
            <a:ext cx="5376672" cy="438912"/>
          </a:xfrm>
          <a:prstGeom prst="rect">
            <a:avLst/>
          </a:prstGeom>
          <a:solidFill>
            <a:srgbClr val="F1F5F9"/>
          </a:solidFill>
          <a:ln w="12700">
            <a:solidFill>
              <a:srgbClr val="CBD5E1"/>
            </a:solidFill>
            <a:prstDash val="solid"/>
          </a:ln>
        </p:spPr>
        <p:txBody>
          <a:bodyPr/>
          <a:lstStyle/>
          <a:p>
            <a:endParaRPr lang="es-CO"/>
          </a:p>
        </p:txBody>
      </p:sp>
      <p:sp>
        <p:nvSpPr>
          <p:cNvPr id="60" name="Text 58"/>
          <p:cNvSpPr txBox="1"/>
          <p:nvPr/>
        </p:nvSpPr>
        <p:spPr>
          <a:xfrm>
            <a:off x="6583680" y="4800600"/>
            <a:ext cx="3291840" cy="219456"/>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Pérdida de clientes clave HoReCa</a:t>
            </a:r>
            <a:endParaRPr lang="en-US" sz="1100" dirty="0"/>
          </a:p>
        </p:txBody>
      </p:sp>
      <p:sp>
        <p:nvSpPr>
          <p:cNvPr id="61" name="Text 59"/>
          <p:cNvSpPr txBox="1"/>
          <p:nvPr/>
        </p:nvSpPr>
        <p:spPr>
          <a:xfrm>
            <a:off x="9875520" y="4818888"/>
            <a:ext cx="1920240" cy="237744"/>
          </a:xfrm>
          <a:prstGeom prst="rect">
            <a:avLst/>
          </a:prstGeom>
          <a:noFill/>
          <a:ln/>
        </p:spPr>
        <p:txBody>
          <a:bodyPr wrap="square" rtlCol="0" anchor="ctr"/>
          <a:lstStyle/>
          <a:p>
            <a:pPr marL="0" indent="0" algn="r">
              <a:buNone/>
            </a:pPr>
            <a:r>
              <a:rPr lang="en-US" sz="1150" b="1" dirty="0">
                <a:solidFill>
                  <a:srgbClr val="B5862A"/>
                </a:solidFill>
                <a:latin typeface="Calibri" pitchFamily="34" charset="0"/>
                <a:ea typeface="Calibri" pitchFamily="34" charset="-122"/>
                <a:cs typeface="Calibri" pitchFamily="34" charset="-120"/>
              </a:rPr>
              <a:t>L 684,048  |  18.92 %</a:t>
            </a:r>
            <a:endParaRPr lang="en-US" sz="1150" dirty="0"/>
          </a:p>
        </p:txBody>
      </p:sp>
      <p:sp>
        <p:nvSpPr>
          <p:cNvPr id="62" name="Shape 60"/>
          <p:cNvSpPr/>
          <p:nvPr/>
        </p:nvSpPr>
        <p:spPr>
          <a:xfrm>
            <a:off x="6035040" y="5266944"/>
            <a:ext cx="411480" cy="438912"/>
          </a:xfrm>
          <a:prstGeom prst="rect">
            <a:avLst/>
          </a:prstGeom>
          <a:solidFill>
            <a:srgbClr val="1B3A5C"/>
          </a:solidFill>
          <a:ln w="12700">
            <a:solidFill>
              <a:srgbClr val="1B3A5C"/>
            </a:solidFill>
            <a:prstDash val="solid"/>
          </a:ln>
        </p:spPr>
        <p:txBody>
          <a:bodyPr/>
          <a:lstStyle/>
          <a:p>
            <a:endParaRPr lang="es-CO"/>
          </a:p>
        </p:txBody>
      </p:sp>
      <p:sp>
        <p:nvSpPr>
          <p:cNvPr id="63" name="Text 61"/>
          <p:cNvSpPr txBox="1"/>
          <p:nvPr/>
        </p:nvSpPr>
        <p:spPr>
          <a:xfrm>
            <a:off x="6035040" y="5266944"/>
            <a:ext cx="411480" cy="43891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64" name="Shape 62"/>
          <p:cNvSpPr/>
          <p:nvPr/>
        </p:nvSpPr>
        <p:spPr>
          <a:xfrm>
            <a:off x="6510528" y="5266944"/>
            <a:ext cx="5376672" cy="438912"/>
          </a:xfrm>
          <a:prstGeom prst="rect">
            <a:avLst/>
          </a:prstGeom>
          <a:solidFill>
            <a:srgbClr val="FFFFFF"/>
          </a:solidFill>
          <a:ln w="12700">
            <a:solidFill>
              <a:srgbClr val="CBD5E1"/>
            </a:solidFill>
            <a:prstDash val="solid"/>
          </a:ln>
        </p:spPr>
        <p:txBody>
          <a:bodyPr/>
          <a:lstStyle/>
          <a:p>
            <a:endParaRPr lang="es-CO"/>
          </a:p>
        </p:txBody>
      </p:sp>
      <p:sp>
        <p:nvSpPr>
          <p:cNvPr id="65" name="Text 63"/>
          <p:cNvSpPr txBox="1"/>
          <p:nvPr/>
        </p:nvSpPr>
        <p:spPr>
          <a:xfrm>
            <a:off x="6583680" y="5312664"/>
            <a:ext cx="3291840" cy="219456"/>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Fallo equipo pasteurización</a:t>
            </a:r>
            <a:endParaRPr lang="en-US" sz="1100" dirty="0"/>
          </a:p>
        </p:txBody>
      </p:sp>
      <p:sp>
        <p:nvSpPr>
          <p:cNvPr id="66" name="Text 64"/>
          <p:cNvSpPr txBox="1"/>
          <p:nvPr/>
        </p:nvSpPr>
        <p:spPr>
          <a:xfrm>
            <a:off x="9875520" y="5330952"/>
            <a:ext cx="1920240" cy="237744"/>
          </a:xfrm>
          <a:prstGeom prst="rect">
            <a:avLst/>
          </a:prstGeom>
          <a:noFill/>
          <a:ln/>
        </p:spPr>
        <p:txBody>
          <a:bodyPr wrap="square" rtlCol="0" anchor="ctr"/>
          <a:lstStyle/>
          <a:p>
            <a:pPr marL="0" indent="0" algn="r">
              <a:buNone/>
            </a:pPr>
            <a:r>
              <a:rPr lang="en-US" sz="1150" b="1" dirty="0">
                <a:solidFill>
                  <a:srgbClr val="1B3A5C"/>
                </a:solidFill>
                <a:latin typeface="Calibri" pitchFamily="34" charset="0"/>
                <a:ea typeface="Calibri" pitchFamily="34" charset="-122"/>
                <a:cs typeface="Calibri" pitchFamily="34" charset="-120"/>
              </a:rPr>
              <a:t>L 187,460  |  5.19 %</a:t>
            </a:r>
            <a:endParaRPr lang="en-US" sz="1150" dirty="0"/>
          </a:p>
        </p:txBody>
      </p:sp>
      <p:sp>
        <p:nvSpPr>
          <p:cNvPr id="67" name="Shape 65"/>
          <p:cNvSpPr/>
          <p:nvPr/>
        </p:nvSpPr>
        <p:spPr>
          <a:xfrm>
            <a:off x="6035040" y="5779008"/>
            <a:ext cx="411480" cy="438912"/>
          </a:xfrm>
          <a:prstGeom prst="rect">
            <a:avLst/>
          </a:prstGeom>
          <a:solidFill>
            <a:srgbClr val="64748B"/>
          </a:solidFill>
          <a:ln w="12700">
            <a:solidFill>
              <a:srgbClr val="64748B"/>
            </a:solidFill>
            <a:prstDash val="solid"/>
          </a:ln>
        </p:spPr>
        <p:txBody>
          <a:bodyPr/>
          <a:lstStyle/>
          <a:p>
            <a:endParaRPr lang="es-CO"/>
          </a:p>
        </p:txBody>
      </p:sp>
      <p:sp>
        <p:nvSpPr>
          <p:cNvPr id="68" name="Text 66"/>
          <p:cNvSpPr txBox="1"/>
          <p:nvPr/>
        </p:nvSpPr>
        <p:spPr>
          <a:xfrm>
            <a:off x="6035040" y="5779008"/>
            <a:ext cx="411480" cy="43891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69" name="Shape 67"/>
          <p:cNvSpPr/>
          <p:nvPr/>
        </p:nvSpPr>
        <p:spPr>
          <a:xfrm>
            <a:off x="6510528" y="5779008"/>
            <a:ext cx="5376672" cy="438912"/>
          </a:xfrm>
          <a:prstGeom prst="rect">
            <a:avLst/>
          </a:prstGeom>
          <a:solidFill>
            <a:srgbClr val="F1F5F9"/>
          </a:solidFill>
          <a:ln w="12700">
            <a:solidFill>
              <a:srgbClr val="CBD5E1"/>
            </a:solidFill>
            <a:prstDash val="solid"/>
          </a:ln>
        </p:spPr>
        <p:txBody>
          <a:bodyPr/>
          <a:lstStyle/>
          <a:p>
            <a:endParaRPr lang="es-CO"/>
          </a:p>
        </p:txBody>
      </p:sp>
      <p:sp>
        <p:nvSpPr>
          <p:cNvPr id="70" name="Text 68"/>
          <p:cNvSpPr txBox="1"/>
          <p:nvPr/>
        </p:nvSpPr>
        <p:spPr>
          <a:xfrm>
            <a:off x="6583680" y="5824728"/>
            <a:ext cx="3291840" cy="219456"/>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Incremento precio combustible</a:t>
            </a:r>
            <a:endParaRPr lang="en-US" sz="1100" dirty="0"/>
          </a:p>
        </p:txBody>
      </p:sp>
      <p:sp>
        <p:nvSpPr>
          <p:cNvPr id="71" name="Text 69"/>
          <p:cNvSpPr txBox="1"/>
          <p:nvPr/>
        </p:nvSpPr>
        <p:spPr>
          <a:xfrm>
            <a:off x="9875520" y="5843016"/>
            <a:ext cx="1920240" cy="237744"/>
          </a:xfrm>
          <a:prstGeom prst="rect">
            <a:avLst/>
          </a:prstGeom>
          <a:noFill/>
          <a:ln/>
        </p:spPr>
        <p:txBody>
          <a:bodyPr wrap="square" rtlCol="0" anchor="ctr"/>
          <a:lstStyle/>
          <a:p>
            <a:pPr marL="0" indent="0" algn="r">
              <a:buNone/>
            </a:pPr>
            <a:r>
              <a:rPr lang="en-US" sz="1150" b="1" dirty="0">
                <a:solidFill>
                  <a:srgbClr val="64748B"/>
                </a:solidFill>
                <a:latin typeface="Calibri" pitchFamily="34" charset="0"/>
                <a:ea typeface="Calibri" pitchFamily="34" charset="-122"/>
                <a:cs typeface="Calibri" pitchFamily="34" charset="-120"/>
              </a:rPr>
              <a:t>L 171,890  |  4.76 %</a:t>
            </a:r>
            <a:endParaRPr lang="en-US" sz="1150" dirty="0"/>
          </a:p>
        </p:txBody>
      </p:sp>
      <p:sp>
        <p:nvSpPr>
          <p:cNvPr id="72" name="Text 70"/>
          <p:cNvSpPr txBox="1"/>
          <p:nvPr/>
        </p:nvSpPr>
        <p:spPr>
          <a:xfrm>
            <a:off x="320040" y="6583680"/>
            <a:ext cx="11521440" cy="201168"/>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Maestría en Agronegocios · Universidad EAFIT · Zamorano · 2026   |   Caballero · Valladares · Medal</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320040" y="201168"/>
            <a:ext cx="1828800" cy="256032"/>
          </a:xfrm>
          <a:prstGeom prst="rect">
            <a:avLst/>
          </a:prstGeom>
          <a:noFill/>
          <a:ln/>
        </p:spPr>
        <p:txBody>
          <a:bodyPr wrap="square" rtlCol="0" anchor="ctr"/>
          <a:lstStyle/>
          <a:p>
            <a:pPr marL="0" indent="0" algn="l">
              <a:buNone/>
            </a:pPr>
            <a:r>
              <a:rPr lang="en-US" sz="900" b="1" kern="0" spc="100" dirty="0">
                <a:solidFill>
                  <a:srgbClr val="1A7A8A"/>
                </a:solidFill>
                <a:latin typeface="Calibri" pitchFamily="34" charset="0"/>
                <a:ea typeface="Calibri" pitchFamily="34" charset="-122"/>
                <a:cs typeface="Calibri" pitchFamily="34" charset="-120"/>
              </a:rPr>
              <a:t>CONCLUSIONES</a:t>
            </a:r>
            <a:endParaRPr lang="en-US" sz="900" dirty="0"/>
          </a:p>
        </p:txBody>
      </p:sp>
      <p:sp>
        <p:nvSpPr>
          <p:cNvPr id="3" name="Text 1"/>
          <p:cNvSpPr txBox="1"/>
          <p:nvPr/>
        </p:nvSpPr>
        <p:spPr>
          <a:xfrm>
            <a:off x="320040" y="475488"/>
            <a:ext cx="11521440" cy="502920"/>
          </a:xfrm>
          <a:prstGeom prst="rect">
            <a:avLst/>
          </a:prstGeom>
          <a:noFill/>
          <a:ln/>
        </p:spPr>
        <p:txBody>
          <a:bodyPr wrap="square" rtlCol="0" anchor="ctr"/>
          <a:lstStyle/>
          <a:p>
            <a:pPr marL="0" indent="0">
              <a:buNone/>
            </a:pPr>
            <a:r>
              <a:rPr lang="en-US" sz="2800" b="1" dirty="0">
                <a:solidFill>
                  <a:srgbClr val="0D2341"/>
                </a:solidFill>
                <a:latin typeface="Calibri" pitchFamily="34" charset="0"/>
                <a:ea typeface="Calibri" pitchFamily="34" charset="-122"/>
                <a:cs typeface="Calibri" pitchFamily="34" charset="-120"/>
              </a:rPr>
              <a:t>Conclusiones</a:t>
            </a:r>
            <a:endParaRPr lang="en-US" sz="2800" dirty="0"/>
          </a:p>
        </p:txBody>
      </p:sp>
      <p:sp>
        <p:nvSpPr>
          <p:cNvPr id="4" name="Shape 2"/>
          <p:cNvSpPr/>
          <p:nvPr/>
        </p:nvSpPr>
        <p:spPr>
          <a:xfrm>
            <a:off x="320040" y="1005840"/>
            <a:ext cx="11430000" cy="18288"/>
          </a:xfrm>
          <a:prstGeom prst="rect">
            <a:avLst/>
          </a:prstGeom>
          <a:solidFill>
            <a:srgbClr val="1A7A8A"/>
          </a:solidFill>
          <a:ln w="12700">
            <a:solidFill>
              <a:srgbClr val="1A7A8A"/>
            </a:solidFill>
            <a:prstDash val="solid"/>
          </a:ln>
        </p:spPr>
        <p:txBody>
          <a:bodyPr/>
          <a:lstStyle/>
          <a:p>
            <a:endParaRPr lang="es-CO"/>
          </a:p>
        </p:txBody>
      </p:sp>
      <p:sp>
        <p:nvSpPr>
          <p:cNvPr id="35" name="Text 33"/>
          <p:cNvSpPr txBox="1"/>
          <p:nvPr/>
        </p:nvSpPr>
        <p:spPr>
          <a:xfrm>
            <a:off x="320040" y="6583680"/>
            <a:ext cx="11521440" cy="201168"/>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Maestría en Agronegocios · Universidad EAFIT · Zamorano · 2026   |   Caballero · Valladares · Medal</a:t>
            </a:r>
            <a:endParaRPr lang="en-US" sz="800" dirty="0"/>
          </a:p>
        </p:txBody>
      </p:sp>
      <p:sp>
        <p:nvSpPr>
          <p:cNvPr id="36" name="Rectangle 35"/>
          <p:cNvSpPr/>
          <p:nvPr/>
        </p:nvSpPr>
        <p:spPr>
          <a:xfrm>
            <a:off x="320040" y="1143000"/>
            <a:ext cx="5669280" cy="1243584"/>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429768" y="1252728"/>
            <a:ext cx="411480" cy="411480"/>
          </a:xfrm>
          <a:prstGeom prst="ellipse">
            <a:avLst/>
          </a:prstGeom>
          <a:solidFill>
            <a:srgbClr val="1A7A8A"/>
          </a:solidFill>
          <a:ln w="12700">
            <a:solidFill>
              <a:srgbClr val="1A7A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29768" y="1252728"/>
            <a:ext cx="411480" cy="411480"/>
          </a:xfrm>
          <a:prstGeom prst="rect">
            <a:avLst/>
          </a:prstGeom>
          <a:noFill/>
        </p:spPr>
        <p:txBody>
          <a:bodyPr wrap="square" anchor="ctr">
            <a:spAutoFit/>
          </a:bodyPr>
          <a:lstStyle/>
          <a:p>
            <a:pPr algn="ctr"/>
            <a:r>
              <a:rPr sz="1200" b="1" i="0">
                <a:solidFill>
                  <a:srgbClr val="FFFFFF"/>
                </a:solidFill>
                <a:latin typeface="Calibri"/>
              </a:rPr>
              <a:t>1</a:t>
            </a:r>
          </a:p>
        </p:txBody>
      </p:sp>
      <p:sp>
        <p:nvSpPr>
          <p:cNvPr id="39" name="TextBox 38"/>
          <p:cNvSpPr txBox="1"/>
          <p:nvPr/>
        </p:nvSpPr>
        <p:spPr>
          <a:xfrm>
            <a:off x="941832" y="1252728"/>
            <a:ext cx="4937760" cy="411480"/>
          </a:xfrm>
          <a:prstGeom prst="rect">
            <a:avLst/>
          </a:prstGeom>
          <a:noFill/>
        </p:spPr>
        <p:txBody>
          <a:bodyPr wrap="square" anchor="ctr">
            <a:spAutoFit/>
          </a:bodyPr>
          <a:lstStyle/>
          <a:p>
            <a:pPr algn="l"/>
            <a:r>
              <a:rPr sz="1250" b="1" i="0">
                <a:solidFill>
                  <a:srgbClr val="1A7A8A"/>
                </a:solidFill>
                <a:latin typeface="Calibri"/>
              </a:rPr>
              <a:t>Prefactibilidad confirmada</a:t>
            </a:r>
          </a:p>
        </p:txBody>
      </p:sp>
      <p:sp>
        <p:nvSpPr>
          <p:cNvPr id="40" name="TextBox 39"/>
          <p:cNvSpPr txBox="1"/>
          <p:nvPr/>
        </p:nvSpPr>
        <p:spPr>
          <a:xfrm>
            <a:off x="429768" y="1691640"/>
            <a:ext cx="5449824" cy="640080"/>
          </a:xfrm>
          <a:prstGeom prst="rect">
            <a:avLst/>
          </a:prstGeom>
          <a:noFill/>
        </p:spPr>
        <p:txBody>
          <a:bodyPr wrap="square" anchor="t">
            <a:spAutoFit/>
          </a:bodyPr>
          <a:lstStyle/>
          <a:p>
            <a:pPr algn="l"/>
            <a:r>
              <a:rPr sz="1300" b="0" i="0">
                <a:solidFill>
                  <a:srgbClr val="334155"/>
                </a:solidFill>
                <a:latin typeface="Calibri"/>
              </a:rPr>
              <a:t>Prefactible en los ocho estudios de los objetivos específicos.</a:t>
            </a:r>
          </a:p>
        </p:txBody>
      </p:sp>
      <p:sp>
        <p:nvSpPr>
          <p:cNvPr id="41" name="Rectangle 40"/>
          <p:cNvSpPr/>
          <p:nvPr/>
        </p:nvSpPr>
        <p:spPr>
          <a:xfrm>
            <a:off x="6080759" y="1143000"/>
            <a:ext cx="5669280" cy="1243584"/>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6190488" y="1252728"/>
            <a:ext cx="411480" cy="411480"/>
          </a:xfrm>
          <a:prstGeom prst="ellipse">
            <a:avLst/>
          </a:prstGeom>
          <a:solidFill>
            <a:srgbClr val="1A7A8A"/>
          </a:solidFill>
          <a:ln w="12700">
            <a:solidFill>
              <a:srgbClr val="1A7A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190488" y="1252728"/>
            <a:ext cx="411480" cy="411480"/>
          </a:xfrm>
          <a:prstGeom prst="rect">
            <a:avLst/>
          </a:prstGeom>
          <a:noFill/>
        </p:spPr>
        <p:txBody>
          <a:bodyPr wrap="square" anchor="ctr">
            <a:spAutoFit/>
          </a:bodyPr>
          <a:lstStyle/>
          <a:p>
            <a:pPr algn="ctr"/>
            <a:r>
              <a:rPr sz="1200" b="1" i="0">
                <a:solidFill>
                  <a:srgbClr val="FFFFFF"/>
                </a:solidFill>
                <a:latin typeface="Calibri"/>
              </a:rPr>
              <a:t>2</a:t>
            </a:r>
          </a:p>
        </p:txBody>
      </p:sp>
      <p:sp>
        <p:nvSpPr>
          <p:cNvPr id="44" name="TextBox 43"/>
          <p:cNvSpPr txBox="1"/>
          <p:nvPr/>
        </p:nvSpPr>
        <p:spPr>
          <a:xfrm>
            <a:off x="6702551" y="1252728"/>
            <a:ext cx="4937760" cy="411480"/>
          </a:xfrm>
          <a:prstGeom prst="rect">
            <a:avLst/>
          </a:prstGeom>
          <a:noFill/>
        </p:spPr>
        <p:txBody>
          <a:bodyPr wrap="square" anchor="ctr">
            <a:spAutoFit/>
          </a:bodyPr>
          <a:lstStyle/>
          <a:p>
            <a:pPr algn="l"/>
            <a:r>
              <a:rPr sz="1250" b="1" i="0">
                <a:solidFill>
                  <a:srgbClr val="1A7A8A"/>
                </a:solidFill>
                <a:latin typeface="Calibri"/>
              </a:rPr>
              <a:t>Oportunidad de nicho clara</a:t>
            </a:r>
          </a:p>
        </p:txBody>
      </p:sp>
      <p:sp>
        <p:nvSpPr>
          <p:cNvPr id="45" name="TextBox 44"/>
          <p:cNvSpPr txBox="1"/>
          <p:nvPr/>
        </p:nvSpPr>
        <p:spPr>
          <a:xfrm>
            <a:off x="6190488" y="1691640"/>
            <a:ext cx="5449824" cy="640080"/>
          </a:xfrm>
          <a:prstGeom prst="rect">
            <a:avLst/>
          </a:prstGeom>
          <a:noFill/>
        </p:spPr>
        <p:txBody>
          <a:bodyPr wrap="square" anchor="t">
            <a:spAutoFit/>
          </a:bodyPr>
          <a:lstStyle/>
          <a:p>
            <a:pPr algn="l"/>
            <a:r>
              <a:rPr sz="1300" b="0" i="0">
                <a:solidFill>
                  <a:srgbClr val="334155"/>
                </a:solidFill>
                <a:latin typeface="Calibri"/>
              </a:rPr>
              <a:t>Rivalidad alta en UHT, pero nadie ofrece leche fresca fluida.</a:t>
            </a:r>
          </a:p>
        </p:txBody>
      </p:sp>
      <p:sp>
        <p:nvSpPr>
          <p:cNvPr id="46" name="Rectangle 45"/>
          <p:cNvSpPr/>
          <p:nvPr/>
        </p:nvSpPr>
        <p:spPr>
          <a:xfrm>
            <a:off x="320040" y="2478024"/>
            <a:ext cx="5669280" cy="1243584"/>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Oval 46"/>
          <p:cNvSpPr/>
          <p:nvPr/>
        </p:nvSpPr>
        <p:spPr>
          <a:xfrm>
            <a:off x="429768" y="2587752"/>
            <a:ext cx="411480" cy="411480"/>
          </a:xfrm>
          <a:prstGeom prst="ellipse">
            <a:avLst/>
          </a:prstGeom>
          <a:solidFill>
            <a:srgbClr val="1B3A5C"/>
          </a:solidFill>
          <a:ln w="12700">
            <a:solidFill>
              <a:srgbClr val="1B3A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29768" y="2587752"/>
            <a:ext cx="411480" cy="411480"/>
          </a:xfrm>
          <a:prstGeom prst="rect">
            <a:avLst/>
          </a:prstGeom>
          <a:noFill/>
        </p:spPr>
        <p:txBody>
          <a:bodyPr wrap="square" anchor="ctr">
            <a:spAutoFit/>
          </a:bodyPr>
          <a:lstStyle/>
          <a:p>
            <a:pPr algn="ctr"/>
            <a:r>
              <a:rPr sz="1200" b="1" i="0">
                <a:solidFill>
                  <a:srgbClr val="FFFFFF"/>
                </a:solidFill>
                <a:latin typeface="Calibri"/>
              </a:rPr>
              <a:t>3</a:t>
            </a:r>
          </a:p>
        </p:txBody>
      </p:sp>
      <p:sp>
        <p:nvSpPr>
          <p:cNvPr id="49" name="TextBox 48"/>
          <p:cNvSpPr txBox="1"/>
          <p:nvPr/>
        </p:nvSpPr>
        <p:spPr>
          <a:xfrm>
            <a:off x="941832" y="2587752"/>
            <a:ext cx="4937760" cy="411480"/>
          </a:xfrm>
          <a:prstGeom prst="rect">
            <a:avLst/>
          </a:prstGeom>
          <a:noFill/>
        </p:spPr>
        <p:txBody>
          <a:bodyPr wrap="square" anchor="ctr">
            <a:spAutoFit/>
          </a:bodyPr>
          <a:lstStyle/>
          <a:p>
            <a:pPr algn="l"/>
            <a:r>
              <a:rPr sz="1250" b="1" i="0">
                <a:solidFill>
                  <a:srgbClr val="1B3A5C"/>
                </a:solidFill>
                <a:latin typeface="Calibri"/>
              </a:rPr>
              <a:t>Mercado validado</a:t>
            </a:r>
          </a:p>
        </p:txBody>
      </p:sp>
      <p:sp>
        <p:nvSpPr>
          <p:cNvPr id="50" name="TextBox 49"/>
          <p:cNvSpPr txBox="1"/>
          <p:nvPr/>
        </p:nvSpPr>
        <p:spPr>
          <a:xfrm>
            <a:off x="429768" y="3026664"/>
            <a:ext cx="5449824" cy="640080"/>
          </a:xfrm>
          <a:prstGeom prst="rect">
            <a:avLst/>
          </a:prstGeom>
          <a:noFill/>
        </p:spPr>
        <p:txBody>
          <a:bodyPr wrap="square" anchor="t">
            <a:spAutoFit/>
          </a:bodyPr>
          <a:lstStyle/>
          <a:p>
            <a:pPr algn="l"/>
            <a:r>
              <a:rPr sz="1300" b="0" i="0">
                <a:solidFill>
                  <a:srgbClr val="334155"/>
                </a:solidFill>
                <a:latin typeface="Calibri"/>
              </a:rPr>
              <a:t>65 % compraría; 48 % pagaría L 26–30, compatible con L 28.</a:t>
            </a:r>
          </a:p>
        </p:txBody>
      </p:sp>
      <p:sp>
        <p:nvSpPr>
          <p:cNvPr id="51" name="Rectangle 50"/>
          <p:cNvSpPr/>
          <p:nvPr/>
        </p:nvSpPr>
        <p:spPr>
          <a:xfrm>
            <a:off x="6080759" y="2478024"/>
            <a:ext cx="5669280" cy="1243584"/>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Oval 51"/>
          <p:cNvSpPr/>
          <p:nvPr/>
        </p:nvSpPr>
        <p:spPr>
          <a:xfrm>
            <a:off x="6190488" y="2587752"/>
            <a:ext cx="411480" cy="411480"/>
          </a:xfrm>
          <a:prstGeom prst="ellipse">
            <a:avLst/>
          </a:prstGeom>
          <a:solidFill>
            <a:srgbClr val="1B3A5C"/>
          </a:solidFill>
          <a:ln w="12700">
            <a:solidFill>
              <a:srgbClr val="1B3A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6190488" y="2587752"/>
            <a:ext cx="411480" cy="411480"/>
          </a:xfrm>
          <a:prstGeom prst="rect">
            <a:avLst/>
          </a:prstGeom>
          <a:noFill/>
        </p:spPr>
        <p:txBody>
          <a:bodyPr wrap="square" anchor="ctr">
            <a:spAutoFit/>
          </a:bodyPr>
          <a:lstStyle/>
          <a:p>
            <a:pPr algn="ctr"/>
            <a:r>
              <a:rPr sz="1200" b="1" i="0">
                <a:solidFill>
                  <a:srgbClr val="FFFFFF"/>
                </a:solidFill>
                <a:latin typeface="Calibri"/>
              </a:rPr>
              <a:t>4</a:t>
            </a:r>
          </a:p>
        </p:txBody>
      </p:sp>
      <p:sp>
        <p:nvSpPr>
          <p:cNvPr id="54" name="TextBox 53"/>
          <p:cNvSpPr txBox="1"/>
          <p:nvPr/>
        </p:nvSpPr>
        <p:spPr>
          <a:xfrm>
            <a:off x="6702551" y="2587752"/>
            <a:ext cx="4937760" cy="411480"/>
          </a:xfrm>
          <a:prstGeom prst="rect">
            <a:avLst/>
          </a:prstGeom>
          <a:noFill/>
        </p:spPr>
        <p:txBody>
          <a:bodyPr wrap="square" anchor="ctr">
            <a:spAutoFit/>
          </a:bodyPr>
          <a:lstStyle/>
          <a:p>
            <a:pPr algn="l"/>
            <a:r>
              <a:rPr sz="1250" b="1" i="0">
                <a:solidFill>
                  <a:srgbClr val="1B3A5C"/>
                </a:solidFill>
                <a:latin typeface="Calibri"/>
              </a:rPr>
              <a:t>Viabilidad técnica</a:t>
            </a:r>
          </a:p>
        </p:txBody>
      </p:sp>
      <p:sp>
        <p:nvSpPr>
          <p:cNvPr id="55" name="TextBox 54"/>
          <p:cNvSpPr txBox="1"/>
          <p:nvPr/>
        </p:nvSpPr>
        <p:spPr>
          <a:xfrm>
            <a:off x="6190488" y="3026664"/>
            <a:ext cx="5449824" cy="640080"/>
          </a:xfrm>
          <a:prstGeom prst="rect">
            <a:avLst/>
          </a:prstGeom>
          <a:noFill/>
        </p:spPr>
        <p:txBody>
          <a:bodyPr wrap="square" anchor="t">
            <a:spAutoFit/>
          </a:bodyPr>
          <a:lstStyle/>
          <a:p>
            <a:pPr algn="l"/>
            <a:r>
              <a:rPr sz="1300" b="0" i="0">
                <a:solidFill>
                  <a:srgbClr val="334155"/>
                </a:solidFill>
                <a:latin typeface="Calibri"/>
              </a:rPr>
              <a:t>Comayagua (2.50 vs. 1.60); de 1,000 a 5,000 L/día.</a:t>
            </a:r>
          </a:p>
        </p:txBody>
      </p:sp>
      <p:sp>
        <p:nvSpPr>
          <p:cNvPr id="56" name="Rectangle 55"/>
          <p:cNvSpPr/>
          <p:nvPr/>
        </p:nvSpPr>
        <p:spPr>
          <a:xfrm>
            <a:off x="320040" y="3813048"/>
            <a:ext cx="5669280" cy="1243584"/>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Oval 56"/>
          <p:cNvSpPr/>
          <p:nvPr/>
        </p:nvSpPr>
        <p:spPr>
          <a:xfrm>
            <a:off x="429768" y="3922776"/>
            <a:ext cx="411480" cy="411480"/>
          </a:xfrm>
          <a:prstGeom prst="ellipse">
            <a:avLst/>
          </a:prstGeom>
          <a:solidFill>
            <a:srgbClr val="1A7A8A"/>
          </a:solidFill>
          <a:ln w="12700">
            <a:solidFill>
              <a:srgbClr val="1A7A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429768" y="3922776"/>
            <a:ext cx="411480" cy="411480"/>
          </a:xfrm>
          <a:prstGeom prst="rect">
            <a:avLst/>
          </a:prstGeom>
          <a:noFill/>
        </p:spPr>
        <p:txBody>
          <a:bodyPr wrap="square" anchor="ctr">
            <a:spAutoFit/>
          </a:bodyPr>
          <a:lstStyle/>
          <a:p>
            <a:pPr algn="ctr"/>
            <a:r>
              <a:rPr sz="1200" b="1" i="0">
                <a:solidFill>
                  <a:srgbClr val="FFFFFF"/>
                </a:solidFill>
                <a:latin typeface="Calibri"/>
              </a:rPr>
              <a:t>5</a:t>
            </a:r>
          </a:p>
        </p:txBody>
      </p:sp>
      <p:sp>
        <p:nvSpPr>
          <p:cNvPr id="59" name="TextBox 58"/>
          <p:cNvSpPr txBox="1"/>
          <p:nvPr/>
        </p:nvSpPr>
        <p:spPr>
          <a:xfrm>
            <a:off x="941832" y="3922776"/>
            <a:ext cx="4937760" cy="411480"/>
          </a:xfrm>
          <a:prstGeom prst="rect">
            <a:avLst/>
          </a:prstGeom>
          <a:noFill/>
        </p:spPr>
        <p:txBody>
          <a:bodyPr wrap="square" anchor="ctr">
            <a:spAutoFit/>
          </a:bodyPr>
          <a:lstStyle/>
          <a:p>
            <a:pPr algn="l"/>
            <a:r>
              <a:rPr sz="1250" b="1" i="0">
                <a:solidFill>
                  <a:srgbClr val="1A7A8A"/>
                </a:solidFill>
                <a:latin typeface="Calibri"/>
              </a:rPr>
              <a:t>Rentabilidad financiera</a:t>
            </a:r>
          </a:p>
        </p:txBody>
      </p:sp>
      <p:sp>
        <p:nvSpPr>
          <p:cNvPr id="60" name="TextBox 59"/>
          <p:cNvSpPr txBox="1"/>
          <p:nvPr/>
        </p:nvSpPr>
        <p:spPr>
          <a:xfrm>
            <a:off x="429768" y="4361688"/>
            <a:ext cx="5449824" cy="640080"/>
          </a:xfrm>
          <a:prstGeom prst="rect">
            <a:avLst/>
          </a:prstGeom>
          <a:noFill/>
        </p:spPr>
        <p:txBody>
          <a:bodyPr wrap="square" anchor="t">
            <a:spAutoFit/>
          </a:bodyPr>
          <a:lstStyle/>
          <a:p>
            <a:pPr algn="l"/>
            <a:r>
              <a:rPr sz="1300" b="0" i="0">
                <a:solidFill>
                  <a:srgbClr val="334155"/>
                </a:solidFill>
                <a:latin typeface="Calibri"/>
              </a:rPr>
              <a:t>VAN L 15.37 M · TIR 55.95 % · PRI 3.67 años · B/C 1.24.</a:t>
            </a:r>
          </a:p>
        </p:txBody>
      </p:sp>
      <p:sp>
        <p:nvSpPr>
          <p:cNvPr id="61" name="Rectangle 60"/>
          <p:cNvSpPr/>
          <p:nvPr/>
        </p:nvSpPr>
        <p:spPr>
          <a:xfrm>
            <a:off x="6080759" y="3813048"/>
            <a:ext cx="5669280" cy="1243584"/>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Oval 61"/>
          <p:cNvSpPr/>
          <p:nvPr/>
        </p:nvSpPr>
        <p:spPr>
          <a:xfrm>
            <a:off x="6190488" y="3922776"/>
            <a:ext cx="411480" cy="411480"/>
          </a:xfrm>
          <a:prstGeom prst="ellipse">
            <a:avLst/>
          </a:prstGeom>
          <a:solidFill>
            <a:srgbClr val="1A7A8A"/>
          </a:solidFill>
          <a:ln w="12700">
            <a:solidFill>
              <a:srgbClr val="1A7A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6190488" y="3922776"/>
            <a:ext cx="411480" cy="411480"/>
          </a:xfrm>
          <a:prstGeom prst="rect">
            <a:avLst/>
          </a:prstGeom>
          <a:noFill/>
        </p:spPr>
        <p:txBody>
          <a:bodyPr wrap="square" anchor="ctr">
            <a:spAutoFit/>
          </a:bodyPr>
          <a:lstStyle/>
          <a:p>
            <a:pPr algn="ctr"/>
            <a:r>
              <a:rPr sz="1200" b="1" i="0">
                <a:solidFill>
                  <a:srgbClr val="FFFFFF"/>
                </a:solidFill>
                <a:latin typeface="Calibri"/>
              </a:rPr>
              <a:t>6</a:t>
            </a:r>
          </a:p>
        </p:txBody>
      </p:sp>
      <p:sp>
        <p:nvSpPr>
          <p:cNvPr id="64" name="TextBox 63"/>
          <p:cNvSpPr txBox="1"/>
          <p:nvPr/>
        </p:nvSpPr>
        <p:spPr>
          <a:xfrm>
            <a:off x="6702551" y="3922776"/>
            <a:ext cx="4937760" cy="411480"/>
          </a:xfrm>
          <a:prstGeom prst="rect">
            <a:avLst/>
          </a:prstGeom>
          <a:noFill/>
        </p:spPr>
        <p:txBody>
          <a:bodyPr wrap="square" anchor="ctr">
            <a:spAutoFit/>
          </a:bodyPr>
          <a:lstStyle/>
          <a:p>
            <a:pPr algn="l"/>
            <a:r>
              <a:rPr sz="1250" b="1" i="0">
                <a:solidFill>
                  <a:srgbClr val="1A7A8A"/>
                </a:solidFill>
                <a:latin typeface="Calibri"/>
              </a:rPr>
              <a:t>Robustez ante escenarios</a:t>
            </a:r>
          </a:p>
        </p:txBody>
      </p:sp>
      <p:sp>
        <p:nvSpPr>
          <p:cNvPr id="65" name="TextBox 64"/>
          <p:cNvSpPr txBox="1"/>
          <p:nvPr/>
        </p:nvSpPr>
        <p:spPr>
          <a:xfrm>
            <a:off x="6190488" y="4361688"/>
            <a:ext cx="5449824" cy="640080"/>
          </a:xfrm>
          <a:prstGeom prst="rect">
            <a:avLst/>
          </a:prstGeom>
          <a:noFill/>
        </p:spPr>
        <p:txBody>
          <a:bodyPr wrap="square" anchor="t">
            <a:spAutoFit/>
          </a:bodyPr>
          <a:lstStyle/>
          <a:p>
            <a:pPr algn="l"/>
            <a:r>
              <a:rPr sz="1300" b="0" i="0">
                <a:solidFill>
                  <a:srgbClr val="334155"/>
                </a:solidFill>
                <a:latin typeface="Calibri"/>
              </a:rPr>
              <a:t>Pesimista: VAN L 2.02 M y TIR 21.21 %.</a:t>
            </a:r>
          </a:p>
        </p:txBody>
      </p:sp>
      <p:sp>
        <p:nvSpPr>
          <p:cNvPr id="66" name="Rectangle 65"/>
          <p:cNvSpPr/>
          <p:nvPr/>
        </p:nvSpPr>
        <p:spPr>
          <a:xfrm>
            <a:off x="320040" y="5148072"/>
            <a:ext cx="5669280" cy="1243584"/>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Oval 66"/>
          <p:cNvSpPr/>
          <p:nvPr/>
        </p:nvSpPr>
        <p:spPr>
          <a:xfrm>
            <a:off x="429768" y="5257800"/>
            <a:ext cx="411480" cy="411480"/>
          </a:xfrm>
          <a:prstGeom prst="ellipse">
            <a:avLst/>
          </a:prstGeom>
          <a:solidFill>
            <a:srgbClr val="1B3A5C"/>
          </a:solidFill>
          <a:ln w="12700">
            <a:solidFill>
              <a:srgbClr val="1B3A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429768" y="5257800"/>
            <a:ext cx="411480" cy="411480"/>
          </a:xfrm>
          <a:prstGeom prst="rect">
            <a:avLst/>
          </a:prstGeom>
          <a:noFill/>
        </p:spPr>
        <p:txBody>
          <a:bodyPr wrap="square" anchor="ctr">
            <a:spAutoFit/>
          </a:bodyPr>
          <a:lstStyle/>
          <a:p>
            <a:pPr algn="ctr"/>
            <a:r>
              <a:rPr sz="1200" b="1" i="0">
                <a:solidFill>
                  <a:srgbClr val="FFFFFF"/>
                </a:solidFill>
                <a:latin typeface="Calibri"/>
              </a:rPr>
              <a:t>7</a:t>
            </a:r>
          </a:p>
        </p:txBody>
      </p:sp>
      <p:sp>
        <p:nvSpPr>
          <p:cNvPr id="69" name="TextBox 68"/>
          <p:cNvSpPr txBox="1"/>
          <p:nvPr/>
        </p:nvSpPr>
        <p:spPr>
          <a:xfrm>
            <a:off x="941832" y="5257800"/>
            <a:ext cx="4937760" cy="411480"/>
          </a:xfrm>
          <a:prstGeom prst="rect">
            <a:avLst/>
          </a:prstGeom>
          <a:noFill/>
        </p:spPr>
        <p:txBody>
          <a:bodyPr wrap="square" anchor="ctr">
            <a:spAutoFit/>
          </a:bodyPr>
          <a:lstStyle/>
          <a:p>
            <a:pPr algn="l"/>
            <a:r>
              <a:rPr sz="1250" b="1" i="0">
                <a:solidFill>
                  <a:srgbClr val="1B3A5C"/>
                </a:solidFill>
                <a:latin typeface="Calibri"/>
              </a:rPr>
              <a:t>Riesgos manejables</a:t>
            </a:r>
          </a:p>
        </p:txBody>
      </p:sp>
      <p:sp>
        <p:nvSpPr>
          <p:cNvPr id="70" name="TextBox 69"/>
          <p:cNvSpPr txBox="1"/>
          <p:nvPr/>
        </p:nvSpPr>
        <p:spPr>
          <a:xfrm>
            <a:off x="429768" y="5696712"/>
            <a:ext cx="5449824" cy="640080"/>
          </a:xfrm>
          <a:prstGeom prst="rect">
            <a:avLst/>
          </a:prstGeom>
          <a:noFill/>
        </p:spPr>
        <p:txBody>
          <a:bodyPr wrap="square" anchor="t">
            <a:spAutoFit/>
          </a:bodyPr>
          <a:lstStyle/>
          <a:p>
            <a:pPr algn="l"/>
            <a:r>
              <a:rPr sz="1300" b="0" i="0">
                <a:solidFill>
                  <a:srgbClr val="334155"/>
                </a:solidFill>
                <a:latin typeface="Calibri"/>
              </a:rPr>
              <a:t>Pérdida esperada L 3.61 M; VaR 95 % L 6.37 M.</a:t>
            </a:r>
          </a:p>
        </p:txBody>
      </p:sp>
      <p:sp>
        <p:nvSpPr>
          <p:cNvPr id="71" name="Rectangle 70"/>
          <p:cNvSpPr/>
          <p:nvPr/>
        </p:nvSpPr>
        <p:spPr>
          <a:xfrm>
            <a:off x="6080759" y="5148072"/>
            <a:ext cx="5669280" cy="1243584"/>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Oval 71"/>
          <p:cNvSpPr/>
          <p:nvPr/>
        </p:nvSpPr>
        <p:spPr>
          <a:xfrm>
            <a:off x="6190488" y="5257800"/>
            <a:ext cx="411480" cy="411480"/>
          </a:xfrm>
          <a:prstGeom prst="ellipse">
            <a:avLst/>
          </a:prstGeom>
          <a:solidFill>
            <a:srgbClr val="1B3A5C"/>
          </a:solidFill>
          <a:ln w="12700">
            <a:solidFill>
              <a:srgbClr val="1B3A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6190488" y="5257800"/>
            <a:ext cx="411480" cy="411480"/>
          </a:xfrm>
          <a:prstGeom prst="rect">
            <a:avLst/>
          </a:prstGeom>
          <a:noFill/>
        </p:spPr>
        <p:txBody>
          <a:bodyPr wrap="square" anchor="ctr">
            <a:spAutoFit/>
          </a:bodyPr>
          <a:lstStyle/>
          <a:p>
            <a:pPr algn="ctr"/>
            <a:r>
              <a:rPr sz="1200" b="1" i="0">
                <a:solidFill>
                  <a:srgbClr val="FFFFFF"/>
                </a:solidFill>
                <a:latin typeface="Calibri"/>
              </a:rPr>
              <a:t>8</a:t>
            </a:r>
          </a:p>
        </p:txBody>
      </p:sp>
      <p:sp>
        <p:nvSpPr>
          <p:cNvPr id="74" name="TextBox 73"/>
          <p:cNvSpPr txBox="1"/>
          <p:nvPr/>
        </p:nvSpPr>
        <p:spPr>
          <a:xfrm>
            <a:off x="6702551" y="5257800"/>
            <a:ext cx="4937760" cy="411480"/>
          </a:xfrm>
          <a:prstGeom prst="rect">
            <a:avLst/>
          </a:prstGeom>
          <a:noFill/>
        </p:spPr>
        <p:txBody>
          <a:bodyPr wrap="square" anchor="ctr">
            <a:spAutoFit/>
          </a:bodyPr>
          <a:lstStyle/>
          <a:p>
            <a:pPr algn="l"/>
            <a:r>
              <a:rPr sz="1250" b="1" i="0">
                <a:solidFill>
                  <a:srgbClr val="1B3A5C"/>
                </a:solidFill>
                <a:latin typeface="Calibri"/>
              </a:rPr>
              <a:t>Evaluación económica y social</a:t>
            </a:r>
          </a:p>
        </p:txBody>
      </p:sp>
      <p:sp>
        <p:nvSpPr>
          <p:cNvPr id="75" name="TextBox 74"/>
          <p:cNvSpPr txBox="1"/>
          <p:nvPr/>
        </p:nvSpPr>
        <p:spPr>
          <a:xfrm>
            <a:off x="6190488" y="5696712"/>
            <a:ext cx="5449824" cy="640080"/>
          </a:xfrm>
          <a:prstGeom prst="rect">
            <a:avLst/>
          </a:prstGeom>
          <a:noFill/>
        </p:spPr>
        <p:txBody>
          <a:bodyPr wrap="square" anchor="t">
            <a:spAutoFit/>
          </a:bodyPr>
          <a:lstStyle/>
          <a:p>
            <a:pPr algn="l"/>
            <a:r>
              <a:rPr sz="1300" b="0" i="0">
                <a:solidFill>
                  <a:srgbClr val="334155"/>
                </a:solidFill>
                <a:latin typeface="Calibri"/>
              </a:rPr>
              <a:t>6 empleos, L 112.7 M en compras de leche y L 21.0 M en ISR e ICS.</a:t>
            </a:r>
          </a:p>
        </p:txBody>
      </p:sp>
      <p:sp>
        <p:nvSpPr>
          <p:cNvPr id="76" name="TextBox 75"/>
          <p:cNvSpPr txBox="1"/>
          <p:nvPr/>
        </p:nvSpPr>
        <p:spPr>
          <a:xfrm>
            <a:off x="320040" y="6583680"/>
            <a:ext cx="11521440" cy="201168"/>
          </a:xfrm>
          <a:prstGeom prst="rect">
            <a:avLst/>
          </a:prstGeom>
          <a:noFill/>
        </p:spPr>
        <p:txBody>
          <a:bodyPr wrap="square" anchor="ctr">
            <a:spAutoFit/>
          </a:bodyPr>
          <a:lstStyle/>
          <a:p>
            <a:pPr algn="ctr"/>
            <a:r>
              <a:rPr sz="800" b="0" i="0">
                <a:solidFill>
                  <a:srgbClr val="64748B"/>
                </a:solidFill>
                <a:latin typeface="Calibri"/>
              </a:rPr>
              <a:t>Maestría en Agronegocios · Universidad EAFIT · Zamorano · 2026   |   Caballero · Valladares · Medal</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320040" y="201168"/>
            <a:ext cx="1828800" cy="256032"/>
          </a:xfrm>
          <a:prstGeom prst="rect">
            <a:avLst/>
          </a:prstGeom>
          <a:noFill/>
          <a:ln/>
        </p:spPr>
        <p:txBody>
          <a:bodyPr wrap="square" rtlCol="0" anchor="ctr"/>
          <a:lstStyle/>
          <a:p>
            <a:pPr marL="0" indent="0" algn="l">
              <a:buNone/>
            </a:pPr>
            <a:r>
              <a:rPr lang="en-US" sz="900" b="1" kern="0" spc="100" dirty="0">
                <a:solidFill>
                  <a:srgbClr val="1A7A8A"/>
                </a:solidFill>
                <a:latin typeface="Calibri" pitchFamily="34" charset="0"/>
                <a:ea typeface="Calibri" pitchFamily="34" charset="-122"/>
                <a:cs typeface="Calibri" pitchFamily="34" charset="-120"/>
              </a:rPr>
              <a:t>RECOMENDACIONES</a:t>
            </a:r>
            <a:endParaRPr lang="en-US" sz="900" dirty="0"/>
          </a:p>
        </p:txBody>
      </p:sp>
      <p:sp>
        <p:nvSpPr>
          <p:cNvPr id="3" name="Text 1"/>
          <p:cNvSpPr txBox="1"/>
          <p:nvPr/>
        </p:nvSpPr>
        <p:spPr>
          <a:xfrm>
            <a:off x="320040" y="475488"/>
            <a:ext cx="11521440" cy="502920"/>
          </a:xfrm>
          <a:prstGeom prst="rect">
            <a:avLst/>
          </a:prstGeom>
          <a:noFill/>
          <a:ln/>
        </p:spPr>
        <p:txBody>
          <a:bodyPr wrap="square" rtlCol="0" anchor="ctr"/>
          <a:lstStyle/>
          <a:p>
            <a:pPr marL="0" indent="0">
              <a:buNone/>
            </a:pPr>
            <a:r>
              <a:rPr lang="en-US" sz="2800" b="1" dirty="0">
                <a:solidFill>
                  <a:srgbClr val="0D2341"/>
                </a:solidFill>
                <a:latin typeface="Calibri" pitchFamily="34" charset="0"/>
                <a:ea typeface="Calibri" pitchFamily="34" charset="-122"/>
                <a:cs typeface="Calibri" pitchFamily="34" charset="-120"/>
              </a:rPr>
              <a:t>Recomendaciones</a:t>
            </a:r>
            <a:endParaRPr lang="en-US" sz="2800" dirty="0"/>
          </a:p>
        </p:txBody>
      </p:sp>
      <p:sp>
        <p:nvSpPr>
          <p:cNvPr id="4" name="Shape 2"/>
          <p:cNvSpPr/>
          <p:nvPr/>
        </p:nvSpPr>
        <p:spPr>
          <a:xfrm>
            <a:off x="320040" y="1005840"/>
            <a:ext cx="11430000" cy="18288"/>
          </a:xfrm>
          <a:prstGeom prst="rect">
            <a:avLst/>
          </a:prstGeom>
          <a:solidFill>
            <a:srgbClr val="1A7A8A"/>
          </a:solidFill>
          <a:ln w="12700">
            <a:solidFill>
              <a:srgbClr val="1A7A8A"/>
            </a:solidFill>
            <a:prstDash val="solid"/>
          </a:ln>
        </p:spPr>
        <p:txBody>
          <a:bodyPr/>
          <a:lstStyle/>
          <a:p>
            <a:endParaRPr lang="es-CO"/>
          </a:p>
        </p:txBody>
      </p:sp>
      <p:sp>
        <p:nvSpPr>
          <p:cNvPr id="5" name="Shape 3"/>
          <p:cNvSpPr/>
          <p:nvPr/>
        </p:nvSpPr>
        <p:spPr>
          <a:xfrm>
            <a:off x="320040" y="1143000"/>
            <a:ext cx="3520440" cy="1691640"/>
          </a:xfrm>
          <a:prstGeom prst="rect">
            <a:avLst/>
          </a:prstGeom>
          <a:solidFill>
            <a:srgbClr val="FFFFFF"/>
          </a:solidFill>
          <a:ln w="12700">
            <a:solidFill>
              <a:srgbClr val="CBD5E1"/>
            </a:solidFill>
            <a:prstDash val="solid"/>
          </a:ln>
        </p:spPr>
        <p:txBody>
          <a:bodyPr/>
          <a:lstStyle/>
          <a:p>
            <a:endParaRPr lang="es-CO"/>
          </a:p>
        </p:txBody>
      </p:sp>
      <p:sp>
        <p:nvSpPr>
          <p:cNvPr id="6" name="Shape 4"/>
          <p:cNvSpPr/>
          <p:nvPr/>
        </p:nvSpPr>
        <p:spPr>
          <a:xfrm>
            <a:off x="320040" y="1143000"/>
            <a:ext cx="3520440" cy="438912"/>
          </a:xfrm>
          <a:prstGeom prst="rect">
            <a:avLst/>
          </a:prstGeom>
          <a:solidFill>
            <a:srgbClr val="1A7A8A"/>
          </a:solidFill>
          <a:ln w="12700">
            <a:solidFill>
              <a:srgbClr val="1A7A8A"/>
            </a:solidFill>
            <a:prstDash val="solid"/>
          </a:ln>
        </p:spPr>
        <p:txBody>
          <a:bodyPr/>
          <a:lstStyle/>
          <a:p>
            <a:endParaRPr lang="es-CO"/>
          </a:p>
        </p:txBody>
      </p:sp>
      <p:sp>
        <p:nvSpPr>
          <p:cNvPr id="7" name="Text 5"/>
          <p:cNvSpPr txBox="1"/>
          <p:nvPr/>
        </p:nvSpPr>
        <p:spPr>
          <a:xfrm>
            <a:off x="411480" y="1197864"/>
            <a:ext cx="384048" cy="310896"/>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832104" y="1234440"/>
            <a:ext cx="2916936" cy="274320"/>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Avanzar a Factibilidad Integral</a:t>
            </a:r>
            <a:endParaRPr lang="en-US" sz="1150" dirty="0"/>
          </a:p>
        </p:txBody>
      </p:sp>
      <p:sp>
        <p:nvSpPr>
          <p:cNvPr id="9" name="Text 7"/>
          <p:cNvSpPr txBox="1"/>
          <p:nvPr/>
        </p:nvSpPr>
        <p:spPr>
          <a:xfrm>
            <a:off x="429768" y="1673352"/>
            <a:ext cx="3319272" cy="1088136"/>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Estudio de factibilidad con información primaria, cotizaciones definitivas y demanda confirmada en campo.</a:t>
            </a:r>
            <a:endParaRPr lang="en-US" sz="1100" dirty="0"/>
          </a:p>
        </p:txBody>
      </p:sp>
      <p:sp>
        <p:nvSpPr>
          <p:cNvPr id="10" name="Shape 8"/>
          <p:cNvSpPr/>
          <p:nvPr/>
        </p:nvSpPr>
        <p:spPr>
          <a:xfrm>
            <a:off x="4160520" y="1143000"/>
            <a:ext cx="3520440" cy="1691640"/>
          </a:xfrm>
          <a:prstGeom prst="rect">
            <a:avLst/>
          </a:prstGeom>
          <a:solidFill>
            <a:srgbClr val="FFFFFF"/>
          </a:solidFill>
          <a:ln w="12700">
            <a:solidFill>
              <a:srgbClr val="CBD5E1"/>
            </a:solidFill>
            <a:prstDash val="solid"/>
          </a:ln>
        </p:spPr>
        <p:txBody>
          <a:bodyPr/>
          <a:lstStyle/>
          <a:p>
            <a:endParaRPr lang="es-CO"/>
          </a:p>
        </p:txBody>
      </p:sp>
      <p:sp>
        <p:nvSpPr>
          <p:cNvPr id="11" name="Shape 9"/>
          <p:cNvSpPr/>
          <p:nvPr/>
        </p:nvSpPr>
        <p:spPr>
          <a:xfrm>
            <a:off x="4160520" y="1143000"/>
            <a:ext cx="3520440" cy="438912"/>
          </a:xfrm>
          <a:prstGeom prst="rect">
            <a:avLst/>
          </a:prstGeom>
          <a:solidFill>
            <a:srgbClr val="1B3A5C"/>
          </a:solidFill>
          <a:ln w="12700">
            <a:solidFill>
              <a:srgbClr val="1B3A5C"/>
            </a:solidFill>
            <a:prstDash val="solid"/>
          </a:ln>
        </p:spPr>
        <p:txBody>
          <a:bodyPr/>
          <a:lstStyle/>
          <a:p>
            <a:endParaRPr lang="es-CO"/>
          </a:p>
        </p:txBody>
      </p:sp>
      <p:sp>
        <p:nvSpPr>
          <p:cNvPr id="12" name="Text 10"/>
          <p:cNvSpPr txBox="1"/>
          <p:nvPr/>
        </p:nvSpPr>
        <p:spPr>
          <a:xfrm>
            <a:off x="4251960" y="1197864"/>
            <a:ext cx="384048" cy="310896"/>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4672584" y="1234440"/>
            <a:ext cx="2916936" cy="274320"/>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Asegurar Suministro de Materia Prima</a:t>
            </a:r>
            <a:endParaRPr lang="en-US" sz="1150" dirty="0"/>
          </a:p>
        </p:txBody>
      </p:sp>
      <p:sp>
        <p:nvSpPr>
          <p:cNvPr id="14" name="Text 12"/>
          <p:cNvSpPr txBox="1"/>
          <p:nvPr/>
        </p:nvSpPr>
        <p:spPr>
          <a:xfrm>
            <a:off x="4270248" y="1673352"/>
            <a:ext cx="3319272" cy="1088136"/>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Formalizar acuerdos con CREL y ganaderos de Comayagua: volumen, precio y calidad certificada.</a:t>
            </a:r>
            <a:endParaRPr lang="en-US" sz="1100" dirty="0"/>
          </a:p>
        </p:txBody>
      </p:sp>
      <p:sp>
        <p:nvSpPr>
          <p:cNvPr id="15" name="Shape 13"/>
          <p:cNvSpPr/>
          <p:nvPr/>
        </p:nvSpPr>
        <p:spPr>
          <a:xfrm>
            <a:off x="8001000" y="1143000"/>
            <a:ext cx="3520440" cy="1691640"/>
          </a:xfrm>
          <a:prstGeom prst="rect">
            <a:avLst/>
          </a:prstGeom>
          <a:solidFill>
            <a:srgbClr val="FFFFFF"/>
          </a:solidFill>
          <a:ln w="12700">
            <a:solidFill>
              <a:srgbClr val="CBD5E1"/>
            </a:solidFill>
            <a:prstDash val="solid"/>
          </a:ln>
        </p:spPr>
        <p:txBody>
          <a:bodyPr/>
          <a:lstStyle/>
          <a:p>
            <a:endParaRPr lang="es-CO"/>
          </a:p>
        </p:txBody>
      </p:sp>
      <p:sp>
        <p:nvSpPr>
          <p:cNvPr id="16" name="Shape 14"/>
          <p:cNvSpPr/>
          <p:nvPr/>
        </p:nvSpPr>
        <p:spPr>
          <a:xfrm>
            <a:off x="8001000" y="1143000"/>
            <a:ext cx="3520440" cy="438912"/>
          </a:xfrm>
          <a:prstGeom prst="rect">
            <a:avLst/>
          </a:prstGeom>
          <a:solidFill>
            <a:srgbClr val="1A7A8A"/>
          </a:solidFill>
          <a:ln w="12700">
            <a:solidFill>
              <a:srgbClr val="1A7A8A"/>
            </a:solidFill>
            <a:prstDash val="solid"/>
          </a:ln>
        </p:spPr>
        <p:txBody>
          <a:bodyPr/>
          <a:lstStyle/>
          <a:p>
            <a:endParaRPr lang="es-CO"/>
          </a:p>
        </p:txBody>
      </p:sp>
      <p:sp>
        <p:nvSpPr>
          <p:cNvPr id="17" name="Text 15"/>
          <p:cNvSpPr txBox="1"/>
          <p:nvPr/>
        </p:nvSpPr>
        <p:spPr>
          <a:xfrm>
            <a:off x="8092440" y="1197864"/>
            <a:ext cx="384048" cy="310896"/>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6"/>
          <p:cNvSpPr txBox="1"/>
          <p:nvPr/>
        </p:nvSpPr>
        <p:spPr>
          <a:xfrm>
            <a:off x="8513064" y="1234440"/>
            <a:ext cx="2916936" cy="274320"/>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Iniciar Trámites Regulatorios</a:t>
            </a:r>
            <a:endParaRPr lang="en-US" sz="1150" dirty="0"/>
          </a:p>
        </p:txBody>
      </p:sp>
      <p:sp>
        <p:nvSpPr>
          <p:cNvPr id="19" name="Text 17"/>
          <p:cNvSpPr txBox="1"/>
          <p:nvPr/>
        </p:nvSpPr>
        <p:spPr>
          <a:xfrm>
            <a:off x="8110728" y="1673352"/>
            <a:ext cx="3319272" cy="1088136"/>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Iniciar a tiempo los trámites ante ARSA, SENASA y MiAmbiente para evitar retrasos.</a:t>
            </a:r>
            <a:endParaRPr lang="en-US" sz="1100" dirty="0"/>
          </a:p>
        </p:txBody>
      </p:sp>
      <p:sp>
        <p:nvSpPr>
          <p:cNvPr id="20" name="Shape 18"/>
          <p:cNvSpPr/>
          <p:nvPr/>
        </p:nvSpPr>
        <p:spPr>
          <a:xfrm>
            <a:off x="320040" y="3035808"/>
            <a:ext cx="3520440" cy="1691640"/>
          </a:xfrm>
          <a:prstGeom prst="rect">
            <a:avLst/>
          </a:prstGeom>
          <a:solidFill>
            <a:srgbClr val="FFFFFF"/>
          </a:solidFill>
          <a:ln w="12700">
            <a:solidFill>
              <a:srgbClr val="CBD5E1"/>
            </a:solidFill>
            <a:prstDash val="solid"/>
          </a:ln>
        </p:spPr>
        <p:txBody>
          <a:bodyPr/>
          <a:lstStyle/>
          <a:p>
            <a:endParaRPr lang="es-CO"/>
          </a:p>
        </p:txBody>
      </p:sp>
      <p:sp>
        <p:nvSpPr>
          <p:cNvPr id="21" name="Shape 19"/>
          <p:cNvSpPr/>
          <p:nvPr/>
        </p:nvSpPr>
        <p:spPr>
          <a:xfrm>
            <a:off x="320040" y="3035808"/>
            <a:ext cx="3520440" cy="438912"/>
          </a:xfrm>
          <a:prstGeom prst="rect">
            <a:avLst/>
          </a:prstGeom>
          <a:solidFill>
            <a:srgbClr val="1B3A5C"/>
          </a:solidFill>
          <a:ln w="12700">
            <a:solidFill>
              <a:srgbClr val="1B3A5C"/>
            </a:solidFill>
            <a:prstDash val="solid"/>
          </a:ln>
        </p:spPr>
        <p:txBody>
          <a:bodyPr/>
          <a:lstStyle/>
          <a:p>
            <a:endParaRPr lang="es-CO"/>
          </a:p>
        </p:txBody>
      </p:sp>
      <p:sp>
        <p:nvSpPr>
          <p:cNvPr id="22" name="Text 20"/>
          <p:cNvSpPr txBox="1"/>
          <p:nvPr/>
        </p:nvSpPr>
        <p:spPr>
          <a:xfrm>
            <a:off x="411480" y="3090672"/>
            <a:ext cx="384048" cy="310896"/>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3" name="Text 21"/>
          <p:cNvSpPr txBox="1"/>
          <p:nvPr/>
        </p:nvSpPr>
        <p:spPr>
          <a:xfrm>
            <a:off x="832104" y="3127248"/>
            <a:ext cx="2916936" cy="274320"/>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Estrategia Comercial HoReCa</a:t>
            </a:r>
            <a:endParaRPr lang="en-US" sz="1150" dirty="0"/>
          </a:p>
        </p:txBody>
      </p:sp>
      <p:sp>
        <p:nvSpPr>
          <p:cNvPr id="24" name="Text 22"/>
          <p:cNvSpPr txBox="1"/>
          <p:nvPr/>
        </p:nvSpPr>
        <p:spPr>
          <a:xfrm>
            <a:off x="429768" y="3566160"/>
            <a:ext cx="3319272" cy="1088136"/>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Enfocarse en cafeterías, restaurantes y hoteles, con demostraciones de espuma para baristas.</a:t>
            </a:r>
            <a:endParaRPr lang="en-US" sz="1100" dirty="0"/>
          </a:p>
        </p:txBody>
      </p:sp>
      <p:sp>
        <p:nvSpPr>
          <p:cNvPr id="25" name="Shape 23"/>
          <p:cNvSpPr/>
          <p:nvPr/>
        </p:nvSpPr>
        <p:spPr>
          <a:xfrm>
            <a:off x="4160520" y="3035808"/>
            <a:ext cx="3520440" cy="1691640"/>
          </a:xfrm>
          <a:prstGeom prst="rect">
            <a:avLst/>
          </a:prstGeom>
          <a:solidFill>
            <a:srgbClr val="FFFFFF"/>
          </a:solidFill>
          <a:ln w="12700">
            <a:solidFill>
              <a:srgbClr val="CBD5E1"/>
            </a:solidFill>
            <a:prstDash val="solid"/>
          </a:ln>
        </p:spPr>
        <p:txBody>
          <a:bodyPr/>
          <a:lstStyle/>
          <a:p>
            <a:endParaRPr lang="es-CO"/>
          </a:p>
        </p:txBody>
      </p:sp>
      <p:sp>
        <p:nvSpPr>
          <p:cNvPr id="26" name="Shape 24"/>
          <p:cNvSpPr/>
          <p:nvPr/>
        </p:nvSpPr>
        <p:spPr>
          <a:xfrm>
            <a:off x="4160520" y="3035808"/>
            <a:ext cx="3520440" cy="438912"/>
          </a:xfrm>
          <a:prstGeom prst="rect">
            <a:avLst/>
          </a:prstGeom>
          <a:solidFill>
            <a:srgbClr val="1A7A8A"/>
          </a:solidFill>
          <a:ln w="12700">
            <a:solidFill>
              <a:srgbClr val="1A7A8A"/>
            </a:solidFill>
            <a:prstDash val="solid"/>
          </a:ln>
        </p:spPr>
        <p:txBody>
          <a:bodyPr/>
          <a:lstStyle/>
          <a:p>
            <a:endParaRPr lang="es-CO"/>
          </a:p>
        </p:txBody>
      </p:sp>
      <p:sp>
        <p:nvSpPr>
          <p:cNvPr id="27" name="Text 25"/>
          <p:cNvSpPr txBox="1"/>
          <p:nvPr/>
        </p:nvSpPr>
        <p:spPr>
          <a:xfrm>
            <a:off x="4251960" y="3090672"/>
            <a:ext cx="384048" cy="310896"/>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8" name="Text 26"/>
          <p:cNvSpPr txBox="1"/>
          <p:nvPr/>
        </p:nvSpPr>
        <p:spPr>
          <a:xfrm>
            <a:off x="4672584" y="3127248"/>
            <a:ext cx="2916936" cy="274320"/>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Implementar Sistemas de Inocuidad</a:t>
            </a:r>
            <a:endParaRPr lang="en-US" sz="1150" dirty="0"/>
          </a:p>
        </p:txBody>
      </p:sp>
      <p:sp>
        <p:nvSpPr>
          <p:cNvPr id="29" name="Text 27"/>
          <p:cNvSpPr txBox="1"/>
          <p:nvPr/>
        </p:nvSpPr>
        <p:spPr>
          <a:xfrm>
            <a:off x="4270248" y="3566160"/>
            <a:ext cx="3319272" cy="1088136"/>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BPM, POES y HACCP desde el primer día para asegurar inocuidad y reputación de "Pura".</a:t>
            </a:r>
            <a:endParaRPr lang="en-US" sz="1100" dirty="0"/>
          </a:p>
        </p:txBody>
      </p:sp>
      <p:sp>
        <p:nvSpPr>
          <p:cNvPr id="30" name="Shape 28"/>
          <p:cNvSpPr/>
          <p:nvPr/>
        </p:nvSpPr>
        <p:spPr>
          <a:xfrm>
            <a:off x="8001000" y="3035808"/>
            <a:ext cx="3520440" cy="1691640"/>
          </a:xfrm>
          <a:prstGeom prst="rect">
            <a:avLst/>
          </a:prstGeom>
          <a:solidFill>
            <a:srgbClr val="FFFFFF"/>
          </a:solidFill>
          <a:ln w="12700">
            <a:solidFill>
              <a:srgbClr val="CBD5E1"/>
            </a:solidFill>
            <a:prstDash val="solid"/>
          </a:ln>
        </p:spPr>
        <p:txBody>
          <a:bodyPr/>
          <a:lstStyle/>
          <a:p>
            <a:endParaRPr lang="es-CO"/>
          </a:p>
        </p:txBody>
      </p:sp>
      <p:sp>
        <p:nvSpPr>
          <p:cNvPr id="31" name="Shape 29"/>
          <p:cNvSpPr/>
          <p:nvPr/>
        </p:nvSpPr>
        <p:spPr>
          <a:xfrm>
            <a:off x="8001000" y="3035808"/>
            <a:ext cx="3520440" cy="438912"/>
          </a:xfrm>
          <a:prstGeom prst="rect">
            <a:avLst/>
          </a:prstGeom>
          <a:solidFill>
            <a:srgbClr val="1B3A5C"/>
          </a:solidFill>
          <a:ln w="12700">
            <a:solidFill>
              <a:srgbClr val="1B3A5C"/>
            </a:solidFill>
            <a:prstDash val="solid"/>
          </a:ln>
        </p:spPr>
        <p:txBody>
          <a:bodyPr/>
          <a:lstStyle/>
          <a:p>
            <a:endParaRPr lang="es-CO"/>
          </a:p>
        </p:txBody>
      </p:sp>
      <p:sp>
        <p:nvSpPr>
          <p:cNvPr id="32" name="Text 30"/>
          <p:cNvSpPr txBox="1"/>
          <p:nvPr/>
        </p:nvSpPr>
        <p:spPr>
          <a:xfrm>
            <a:off x="8092440" y="3090672"/>
            <a:ext cx="384048" cy="310896"/>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3" name="Text 31"/>
          <p:cNvSpPr txBox="1"/>
          <p:nvPr/>
        </p:nvSpPr>
        <p:spPr>
          <a:xfrm>
            <a:off x="8513064" y="3127248"/>
            <a:ext cx="2916936" cy="274320"/>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Monitoreo y KPIs del Modelo</a:t>
            </a:r>
            <a:endParaRPr lang="en-US" sz="1150" dirty="0"/>
          </a:p>
        </p:txBody>
      </p:sp>
      <p:sp>
        <p:nvSpPr>
          <p:cNvPr id="34" name="Text 32"/>
          <p:cNvSpPr txBox="1"/>
          <p:nvPr/>
        </p:nvSpPr>
        <p:spPr>
          <a:xfrm>
            <a:off x="8110728" y="3566160"/>
            <a:ext cx="3319272" cy="1088136"/>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KPIs de ventas, costos, cadena de frío y satisfacción; actualizar sensibilidad y riesgos.</a:t>
            </a:r>
            <a:endParaRPr lang="en-US" sz="1100" dirty="0"/>
          </a:p>
        </p:txBody>
      </p:sp>
      <p:sp>
        <p:nvSpPr>
          <p:cNvPr id="35" name="Text 33"/>
          <p:cNvSpPr txBox="1"/>
          <p:nvPr/>
        </p:nvSpPr>
        <p:spPr>
          <a:xfrm>
            <a:off x="320040" y="6583680"/>
            <a:ext cx="11521440" cy="201168"/>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Maestría en Agronegocios · Universidad EAFIT · Zamorano · 2026   |   Caballero · Valladares · Medal</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D2341"/>
          </a:solidFill>
          <a:ln w="12700">
            <a:solidFill>
              <a:srgbClr val="0D2341"/>
            </a:solidFill>
            <a:prstDash val="solid"/>
          </a:ln>
        </p:spPr>
        <p:txBody>
          <a:bodyPr/>
          <a:lstStyle/>
          <a:p>
            <a:endParaRPr lang="es-CO"/>
          </a:p>
        </p:txBody>
      </p:sp>
      <p:sp>
        <p:nvSpPr>
          <p:cNvPr id="3" name="Shape 1"/>
          <p:cNvSpPr/>
          <p:nvPr/>
        </p:nvSpPr>
        <p:spPr>
          <a:xfrm>
            <a:off x="0" y="3246120"/>
            <a:ext cx="12161520" cy="73152"/>
          </a:xfrm>
          <a:prstGeom prst="rect">
            <a:avLst/>
          </a:prstGeom>
          <a:solidFill>
            <a:srgbClr val="1A7A8A"/>
          </a:solidFill>
          <a:ln w="12700">
            <a:solidFill>
              <a:srgbClr val="1A7A8A"/>
            </a:solidFill>
            <a:prstDash val="solid"/>
          </a:ln>
        </p:spPr>
        <p:txBody>
          <a:bodyPr/>
          <a:lstStyle/>
          <a:p>
            <a:endParaRPr lang="es-CO"/>
          </a:p>
        </p:txBody>
      </p:sp>
      <p:sp>
        <p:nvSpPr>
          <p:cNvPr id="4" name="Text 2"/>
          <p:cNvSpPr txBox="1"/>
          <p:nvPr/>
        </p:nvSpPr>
        <p:spPr>
          <a:xfrm>
            <a:off x="457200" y="822960"/>
            <a:ext cx="11247120" cy="2011680"/>
          </a:xfrm>
          <a:prstGeom prst="rect">
            <a:avLst/>
          </a:prstGeom>
          <a:noFill/>
          <a:ln/>
        </p:spPr>
        <p:txBody>
          <a:bodyPr wrap="square" rtlCol="0" anchor="ctr"/>
          <a:lstStyle/>
          <a:p>
            <a:pPr marL="0" indent="0" algn="ctr">
              <a:buNone/>
            </a:pPr>
            <a:r>
              <a:rPr lang="en-US" sz="9000" b="1" dirty="0">
                <a:solidFill>
                  <a:srgbClr val="FFFFFF"/>
                </a:solidFill>
                <a:latin typeface="Calibri" pitchFamily="34" charset="0"/>
                <a:ea typeface="Calibri" pitchFamily="34" charset="-122"/>
                <a:cs typeface="Calibri" pitchFamily="34" charset="-120"/>
              </a:rPr>
              <a:t>GRACIAS</a:t>
            </a:r>
            <a:endParaRPr lang="en-US" sz="9000" dirty="0"/>
          </a:p>
        </p:txBody>
      </p:sp>
      <p:sp>
        <p:nvSpPr>
          <p:cNvPr id="5" name="Text 3"/>
          <p:cNvSpPr txBox="1"/>
          <p:nvPr/>
        </p:nvSpPr>
        <p:spPr>
          <a:xfrm>
            <a:off x="457200" y="2834640"/>
            <a:ext cx="11247120" cy="365760"/>
          </a:xfrm>
          <a:prstGeom prst="rect">
            <a:avLst/>
          </a:prstGeom>
          <a:noFill/>
          <a:ln/>
        </p:spPr>
        <p:txBody>
          <a:bodyPr wrap="square" rtlCol="0" anchor="ctr"/>
          <a:lstStyle/>
          <a:p>
            <a:pPr marL="0" indent="0" algn="ctr">
              <a:buNone/>
            </a:pPr>
            <a:r>
              <a:rPr lang="en-US" sz="1800" dirty="0">
                <a:solidFill>
                  <a:srgbClr val="1A7A8A"/>
                </a:solidFill>
                <a:latin typeface="Calibri" pitchFamily="34" charset="0"/>
                <a:ea typeface="Calibri" pitchFamily="34" charset="-122"/>
                <a:cs typeface="Calibri" pitchFamily="34" charset="-120"/>
              </a:rPr>
              <a:t>Quedamos a disposición para responder sus preguntas</a:t>
            </a:r>
            <a:endParaRPr lang="en-US" sz="1800" dirty="0"/>
          </a:p>
        </p:txBody>
      </p:sp>
      <p:sp>
        <p:nvSpPr>
          <p:cNvPr id="6" name="Text 4"/>
          <p:cNvSpPr txBox="1"/>
          <p:nvPr/>
        </p:nvSpPr>
        <p:spPr>
          <a:xfrm>
            <a:off x="914400" y="3657600"/>
            <a:ext cx="3657600" cy="274320"/>
          </a:xfrm>
          <a:prstGeom prst="rect">
            <a:avLst/>
          </a:prstGeom>
          <a:noFill/>
          <a:ln/>
        </p:spPr>
        <p:txBody>
          <a:bodyPr wrap="square" rtlCol="0" anchor="ctr"/>
          <a:lstStyle/>
          <a:p>
            <a:pPr marL="0" indent="0">
              <a:buNone/>
            </a:pPr>
            <a:r>
              <a:rPr lang="en-US" sz="900" b="1" kern="0" spc="150" dirty="0">
                <a:solidFill>
                  <a:srgbClr val="1A7A8A"/>
                </a:solidFill>
                <a:latin typeface="Calibri" pitchFamily="34" charset="0"/>
                <a:ea typeface="Calibri" pitchFamily="34" charset="-122"/>
                <a:cs typeface="Calibri" pitchFamily="34" charset="-120"/>
              </a:rPr>
              <a:t>PRESENTADO POR</a:t>
            </a:r>
            <a:endParaRPr lang="en-US" sz="900" dirty="0"/>
          </a:p>
        </p:txBody>
      </p:sp>
      <p:sp>
        <p:nvSpPr>
          <p:cNvPr id="7" name="Text 5"/>
          <p:cNvSpPr txBox="1"/>
          <p:nvPr/>
        </p:nvSpPr>
        <p:spPr>
          <a:xfrm>
            <a:off x="914400" y="3977640"/>
            <a:ext cx="5943600" cy="310896"/>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Jaime Mauricio Caballero Madriz</a:t>
            </a:r>
            <a:endParaRPr lang="en-US" sz="1400" dirty="0"/>
          </a:p>
        </p:txBody>
      </p:sp>
      <p:sp>
        <p:nvSpPr>
          <p:cNvPr id="8" name="Text 6"/>
          <p:cNvSpPr txBox="1"/>
          <p:nvPr/>
        </p:nvSpPr>
        <p:spPr>
          <a:xfrm>
            <a:off x="914400" y="4325112"/>
            <a:ext cx="5943600" cy="310896"/>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Fredy Daniel Valladares Suazo</a:t>
            </a:r>
            <a:endParaRPr lang="en-US" sz="1400" dirty="0"/>
          </a:p>
        </p:txBody>
      </p:sp>
      <p:sp>
        <p:nvSpPr>
          <p:cNvPr id="9" name="Text 7"/>
          <p:cNvSpPr txBox="1"/>
          <p:nvPr/>
        </p:nvSpPr>
        <p:spPr>
          <a:xfrm>
            <a:off x="914400" y="4672584"/>
            <a:ext cx="5943600" cy="310896"/>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Horacio Ernesto Medal Picado</a:t>
            </a:r>
            <a:endParaRPr lang="en-US" sz="1400" dirty="0"/>
          </a:p>
        </p:txBody>
      </p:sp>
      <p:sp>
        <p:nvSpPr>
          <p:cNvPr id="10" name="Text 8"/>
          <p:cNvSpPr txBox="1"/>
          <p:nvPr/>
        </p:nvSpPr>
        <p:spPr>
          <a:xfrm>
            <a:off x="914400" y="5074920"/>
            <a:ext cx="3657600" cy="256032"/>
          </a:xfrm>
          <a:prstGeom prst="rect">
            <a:avLst/>
          </a:prstGeom>
          <a:noFill/>
          <a:ln/>
        </p:spPr>
        <p:txBody>
          <a:bodyPr wrap="square" rtlCol="0" anchor="ctr"/>
          <a:lstStyle/>
          <a:p>
            <a:pPr marL="0" indent="0">
              <a:buNone/>
            </a:pPr>
            <a:r>
              <a:rPr lang="en-US" sz="900" b="1" kern="0" spc="150" dirty="0">
                <a:solidFill>
                  <a:srgbClr val="1A7A8A"/>
                </a:solidFill>
                <a:latin typeface="Calibri" pitchFamily="34" charset="0"/>
                <a:ea typeface="Calibri" pitchFamily="34" charset="-122"/>
                <a:cs typeface="Calibri" pitchFamily="34" charset="-120"/>
              </a:rPr>
              <a:t>ASESOR</a:t>
            </a:r>
            <a:endParaRPr lang="en-US" sz="900" dirty="0"/>
          </a:p>
        </p:txBody>
      </p:sp>
      <p:sp>
        <p:nvSpPr>
          <p:cNvPr id="11" name="Text 9"/>
          <p:cNvSpPr txBox="1"/>
          <p:nvPr/>
        </p:nvSpPr>
        <p:spPr>
          <a:xfrm>
            <a:off x="914400" y="5358384"/>
            <a:ext cx="4572000" cy="310896"/>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PhD. Elkin Gómez</a:t>
            </a:r>
            <a:endParaRPr lang="en-US" sz="1400" dirty="0"/>
          </a:p>
        </p:txBody>
      </p:sp>
      <p:sp>
        <p:nvSpPr>
          <p:cNvPr id="12" name="Text 10"/>
          <p:cNvSpPr txBox="1"/>
          <p:nvPr/>
        </p:nvSpPr>
        <p:spPr>
          <a:xfrm>
            <a:off x="457200" y="6492240"/>
            <a:ext cx="11247120" cy="256032"/>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Maestría en Agronegocios · Universidad EAFIT · Zamorano · Medellín, 2026</a:t>
            </a:r>
            <a:endParaRPr lang="en-US" sz="1100" dirty="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3657600" cy="256032"/>
          </a:xfrm>
          <a:prstGeom prst="rect">
            <a:avLst/>
          </a:prstGeom>
          <a:noFill/>
        </p:spPr>
        <p:txBody>
          <a:bodyPr wrap="square" anchor="ctr">
            <a:spAutoFit/>
          </a:bodyPr>
          <a:lstStyle/>
          <a:p>
            <a:pPr algn="l"/>
            <a:r>
              <a:rPr sz="900" b="1" i="0">
                <a:solidFill>
                  <a:srgbClr val="1A7A8A"/>
                </a:solidFill>
                <a:latin typeface="Calibri"/>
              </a:rPr>
              <a:t>RESUMEN EJECUTIVO</a:t>
            </a:r>
          </a:p>
        </p:txBody>
      </p:sp>
      <p:sp>
        <p:nvSpPr>
          <p:cNvPr id="3" name="TextBox 2"/>
          <p:cNvSpPr txBox="1"/>
          <p:nvPr/>
        </p:nvSpPr>
        <p:spPr>
          <a:xfrm>
            <a:off x="320040" y="475488"/>
            <a:ext cx="11521440" cy="502920"/>
          </a:xfrm>
          <a:prstGeom prst="rect">
            <a:avLst/>
          </a:prstGeom>
          <a:noFill/>
        </p:spPr>
        <p:txBody>
          <a:bodyPr wrap="square" anchor="ctr">
            <a:spAutoFit/>
          </a:bodyPr>
          <a:lstStyle/>
          <a:p>
            <a:pPr algn="l"/>
            <a:r>
              <a:rPr sz="2600" b="1" i="0">
                <a:solidFill>
                  <a:srgbClr val="0D2341"/>
                </a:solidFill>
                <a:latin typeface="Calibri"/>
              </a:rPr>
              <a:t>Resumen Ejecutivo</a:t>
            </a:r>
          </a:p>
        </p:txBody>
      </p:sp>
      <p:sp>
        <p:nvSpPr>
          <p:cNvPr id="4" name="Rectangle 3"/>
          <p:cNvSpPr/>
          <p:nvPr/>
        </p:nvSpPr>
        <p:spPr>
          <a:xfrm>
            <a:off x="320040" y="1005840"/>
            <a:ext cx="11430000" cy="18288"/>
          </a:xfrm>
          <a:prstGeom prst="rect">
            <a:avLst/>
          </a:prstGeom>
          <a:solidFill>
            <a:srgbClr val="1A7A8A"/>
          </a:solidFill>
          <a:ln w="12700">
            <a:solidFill>
              <a:srgbClr val="1A7A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320040" y="1170432"/>
            <a:ext cx="5669280" cy="1078992"/>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320040" y="1307592"/>
            <a:ext cx="54864" cy="804671"/>
          </a:xfrm>
          <a:prstGeom prst="rect">
            <a:avLst/>
          </a:prstGeom>
          <a:solidFill>
            <a:srgbClr val="1A7A8A"/>
          </a:solidFill>
          <a:ln w="12700">
            <a:solidFill>
              <a:srgbClr val="1A7A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84632" y="1280160"/>
            <a:ext cx="5394960" cy="310896"/>
          </a:xfrm>
          <a:prstGeom prst="rect">
            <a:avLst/>
          </a:prstGeom>
          <a:noFill/>
        </p:spPr>
        <p:txBody>
          <a:bodyPr wrap="square" anchor="ctr">
            <a:spAutoFit/>
          </a:bodyPr>
          <a:lstStyle/>
          <a:p>
            <a:pPr algn="l"/>
            <a:r>
              <a:rPr sz="1250" b="1" i="0">
                <a:solidFill>
                  <a:srgbClr val="1B3A5C"/>
                </a:solidFill>
                <a:latin typeface="Calibri"/>
              </a:rPr>
              <a:t>Problema</a:t>
            </a:r>
          </a:p>
        </p:txBody>
      </p:sp>
      <p:sp>
        <p:nvSpPr>
          <p:cNvPr id="8" name="TextBox 7"/>
          <p:cNvSpPr txBox="1"/>
          <p:nvPr/>
        </p:nvSpPr>
        <p:spPr>
          <a:xfrm>
            <a:off x="484632" y="1609344"/>
            <a:ext cx="5394960" cy="548640"/>
          </a:xfrm>
          <a:prstGeom prst="rect">
            <a:avLst/>
          </a:prstGeom>
          <a:noFill/>
        </p:spPr>
        <p:txBody>
          <a:bodyPr wrap="square" anchor="t">
            <a:spAutoFit/>
          </a:bodyPr>
          <a:lstStyle/>
          <a:p>
            <a:pPr algn="l"/>
            <a:r>
              <a:rPr sz="1200" b="0" i="0">
                <a:solidFill>
                  <a:srgbClr val="334155"/>
                </a:solidFill>
                <a:latin typeface="Calibri"/>
              </a:rPr>
              <a:t>La industria migró a UHT: cafeterías y +2,000 clientes tipo A quedaron sin leche fresca pasteurizada.</a:t>
            </a:r>
          </a:p>
        </p:txBody>
      </p:sp>
      <p:sp>
        <p:nvSpPr>
          <p:cNvPr id="9" name="Rectangle 8"/>
          <p:cNvSpPr/>
          <p:nvPr/>
        </p:nvSpPr>
        <p:spPr>
          <a:xfrm>
            <a:off x="320040" y="2359152"/>
            <a:ext cx="5669280" cy="1078992"/>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20040" y="2496312"/>
            <a:ext cx="54864" cy="804671"/>
          </a:xfrm>
          <a:prstGeom prst="rect">
            <a:avLst/>
          </a:prstGeom>
          <a:solidFill>
            <a:srgbClr val="1B3A5C"/>
          </a:solidFill>
          <a:ln w="12700">
            <a:solidFill>
              <a:srgbClr val="1B3A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84632" y="2468880"/>
            <a:ext cx="5394960" cy="310896"/>
          </a:xfrm>
          <a:prstGeom prst="rect">
            <a:avLst/>
          </a:prstGeom>
          <a:noFill/>
        </p:spPr>
        <p:txBody>
          <a:bodyPr wrap="square" anchor="ctr">
            <a:spAutoFit/>
          </a:bodyPr>
          <a:lstStyle/>
          <a:p>
            <a:pPr algn="l"/>
            <a:r>
              <a:rPr sz="1250" b="1" i="0">
                <a:solidFill>
                  <a:srgbClr val="1B3A5C"/>
                </a:solidFill>
                <a:latin typeface="Calibri"/>
              </a:rPr>
              <a:t>Propuesta</a:t>
            </a:r>
          </a:p>
        </p:txBody>
      </p:sp>
      <p:sp>
        <p:nvSpPr>
          <p:cNvPr id="12" name="TextBox 11"/>
          <p:cNvSpPr txBox="1"/>
          <p:nvPr/>
        </p:nvSpPr>
        <p:spPr>
          <a:xfrm>
            <a:off x="484632" y="2798064"/>
            <a:ext cx="5394960" cy="548640"/>
          </a:xfrm>
          <a:prstGeom prst="rect">
            <a:avLst/>
          </a:prstGeom>
          <a:noFill/>
        </p:spPr>
        <p:txBody>
          <a:bodyPr wrap="square" anchor="t">
            <a:spAutoFit/>
          </a:bodyPr>
          <a:lstStyle/>
          <a:p>
            <a:pPr algn="l"/>
            <a:r>
              <a:rPr sz="1200" b="0" i="0">
                <a:solidFill>
                  <a:srgbClr val="334155"/>
                </a:solidFill>
                <a:latin typeface="Calibri"/>
              </a:rPr>
              <a:t>Marca "Pura": planta HTST en Comayagua, bolsa de 1 L, de 1,000 a 5,000 L/día.</a:t>
            </a:r>
          </a:p>
        </p:txBody>
      </p:sp>
      <p:sp>
        <p:nvSpPr>
          <p:cNvPr id="13" name="Rectangle 12"/>
          <p:cNvSpPr/>
          <p:nvPr/>
        </p:nvSpPr>
        <p:spPr>
          <a:xfrm>
            <a:off x="320040" y="3547872"/>
            <a:ext cx="5669280" cy="1078992"/>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320040" y="3685032"/>
            <a:ext cx="54864" cy="804671"/>
          </a:xfrm>
          <a:prstGeom prst="rect">
            <a:avLst/>
          </a:prstGeom>
          <a:solidFill>
            <a:srgbClr val="1A7A8A"/>
          </a:solidFill>
          <a:ln w="12700">
            <a:solidFill>
              <a:srgbClr val="1A7A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84632" y="3657600"/>
            <a:ext cx="5394960" cy="310896"/>
          </a:xfrm>
          <a:prstGeom prst="rect">
            <a:avLst/>
          </a:prstGeom>
          <a:noFill/>
        </p:spPr>
        <p:txBody>
          <a:bodyPr wrap="square" anchor="ctr">
            <a:spAutoFit/>
          </a:bodyPr>
          <a:lstStyle/>
          <a:p>
            <a:pPr algn="l"/>
            <a:r>
              <a:rPr sz="1250" b="1" i="0">
                <a:solidFill>
                  <a:srgbClr val="1B3A5C"/>
                </a:solidFill>
                <a:latin typeface="Calibri"/>
              </a:rPr>
              <a:t>Mercado</a:t>
            </a:r>
          </a:p>
        </p:txBody>
      </p:sp>
      <p:sp>
        <p:nvSpPr>
          <p:cNvPr id="16" name="TextBox 15"/>
          <p:cNvSpPr txBox="1"/>
          <p:nvPr/>
        </p:nvSpPr>
        <p:spPr>
          <a:xfrm>
            <a:off x="484632" y="3986783"/>
            <a:ext cx="5394960" cy="548640"/>
          </a:xfrm>
          <a:prstGeom prst="rect">
            <a:avLst/>
          </a:prstGeom>
          <a:noFill/>
        </p:spPr>
        <p:txBody>
          <a:bodyPr wrap="square" anchor="t">
            <a:spAutoFit/>
          </a:bodyPr>
          <a:lstStyle/>
          <a:p>
            <a:pPr algn="l"/>
            <a:r>
              <a:rPr sz="1200" b="0" i="0">
                <a:solidFill>
                  <a:srgbClr val="334155"/>
                </a:solidFill>
                <a:latin typeface="Calibri"/>
              </a:rPr>
              <a:t>65 % compraría y 48 % pagaría L 26–30 por litro. Precio L 28; de 60 clientes (año 1) a 690 (año 10).</a:t>
            </a:r>
          </a:p>
        </p:txBody>
      </p:sp>
      <p:sp>
        <p:nvSpPr>
          <p:cNvPr id="17" name="Rectangle 16"/>
          <p:cNvSpPr/>
          <p:nvPr/>
        </p:nvSpPr>
        <p:spPr>
          <a:xfrm>
            <a:off x="320040" y="4736592"/>
            <a:ext cx="5669280" cy="1078992"/>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320040" y="4873752"/>
            <a:ext cx="54864" cy="804671"/>
          </a:xfrm>
          <a:prstGeom prst="rect">
            <a:avLst/>
          </a:prstGeom>
          <a:solidFill>
            <a:srgbClr val="1B3A5C"/>
          </a:solidFill>
          <a:ln w="12700">
            <a:solidFill>
              <a:srgbClr val="1B3A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84632" y="4846320"/>
            <a:ext cx="5394960" cy="310896"/>
          </a:xfrm>
          <a:prstGeom prst="rect">
            <a:avLst/>
          </a:prstGeom>
          <a:noFill/>
        </p:spPr>
        <p:txBody>
          <a:bodyPr wrap="square" anchor="ctr">
            <a:spAutoFit/>
          </a:bodyPr>
          <a:lstStyle/>
          <a:p>
            <a:pPr algn="l"/>
            <a:r>
              <a:rPr sz="1250" b="1" i="0">
                <a:solidFill>
                  <a:srgbClr val="1B3A5C"/>
                </a:solidFill>
                <a:latin typeface="Calibri"/>
              </a:rPr>
              <a:t>Inversión</a:t>
            </a:r>
          </a:p>
        </p:txBody>
      </p:sp>
      <p:sp>
        <p:nvSpPr>
          <p:cNvPr id="20" name="TextBox 19"/>
          <p:cNvSpPr txBox="1"/>
          <p:nvPr/>
        </p:nvSpPr>
        <p:spPr>
          <a:xfrm>
            <a:off x="484632" y="5175504"/>
            <a:ext cx="5394960" cy="548640"/>
          </a:xfrm>
          <a:prstGeom prst="rect">
            <a:avLst/>
          </a:prstGeom>
          <a:noFill/>
        </p:spPr>
        <p:txBody>
          <a:bodyPr wrap="square" anchor="t">
            <a:spAutoFit/>
          </a:bodyPr>
          <a:lstStyle/>
          <a:p>
            <a:pPr algn="l"/>
            <a:r>
              <a:rPr sz="1200" b="0" i="0">
                <a:solidFill>
                  <a:srgbClr val="334155"/>
                </a:solidFill>
                <a:latin typeface="Calibri"/>
              </a:rPr>
              <a:t>L 1,784,058: 50 % socios y 50 % préstamo al 14 % a 5 años.</a:t>
            </a:r>
          </a:p>
        </p:txBody>
      </p:sp>
      <p:sp>
        <p:nvSpPr>
          <p:cNvPr id="21" name="Rectangle 20"/>
          <p:cNvSpPr/>
          <p:nvPr/>
        </p:nvSpPr>
        <p:spPr>
          <a:xfrm>
            <a:off x="6217920" y="1170432"/>
            <a:ext cx="2724912" cy="969264"/>
          </a:xfrm>
          <a:prstGeom prst="rect">
            <a:avLst/>
          </a:prstGeom>
          <a:solidFill>
            <a:srgbClr val="E6F4F6"/>
          </a:solidFill>
          <a:ln w="12700">
            <a:solidFill>
              <a:srgbClr val="E6F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09359" y="1243584"/>
            <a:ext cx="2542032" cy="484632"/>
          </a:xfrm>
          <a:prstGeom prst="rect">
            <a:avLst/>
          </a:prstGeom>
          <a:noFill/>
        </p:spPr>
        <p:txBody>
          <a:bodyPr wrap="square" anchor="ctr">
            <a:spAutoFit/>
          </a:bodyPr>
          <a:lstStyle/>
          <a:p>
            <a:pPr algn="ctr"/>
            <a:r>
              <a:rPr sz="2000" b="1" i="0">
                <a:solidFill>
                  <a:srgbClr val="1A7A8A"/>
                </a:solidFill>
                <a:latin typeface="Calibri"/>
              </a:rPr>
              <a:t>L 15,370,631</a:t>
            </a:r>
          </a:p>
        </p:txBody>
      </p:sp>
      <p:sp>
        <p:nvSpPr>
          <p:cNvPr id="23" name="TextBox 22"/>
          <p:cNvSpPr txBox="1"/>
          <p:nvPr/>
        </p:nvSpPr>
        <p:spPr>
          <a:xfrm>
            <a:off x="6309359" y="1674449"/>
            <a:ext cx="2542032" cy="271393"/>
          </a:xfrm>
          <a:prstGeom prst="rect">
            <a:avLst/>
          </a:prstGeom>
          <a:noFill/>
        </p:spPr>
        <p:txBody>
          <a:bodyPr wrap="square" anchor="ctr">
            <a:spAutoFit/>
          </a:bodyPr>
          <a:lstStyle/>
          <a:p>
            <a:pPr algn="ctr"/>
            <a:r>
              <a:rPr sz="1000" b="0" i="0">
                <a:solidFill>
                  <a:srgbClr val="334155"/>
                </a:solidFill>
                <a:latin typeface="Calibri"/>
              </a:rPr>
              <a:t>VAN sin financiamiento</a:t>
            </a:r>
          </a:p>
        </p:txBody>
      </p:sp>
      <p:sp>
        <p:nvSpPr>
          <p:cNvPr id="24" name="Rectangle 23"/>
          <p:cNvSpPr/>
          <p:nvPr/>
        </p:nvSpPr>
        <p:spPr>
          <a:xfrm>
            <a:off x="9034272" y="1170432"/>
            <a:ext cx="2724912" cy="969264"/>
          </a:xfrm>
          <a:prstGeom prst="rect">
            <a:avLst/>
          </a:prstGeom>
          <a:solidFill>
            <a:srgbClr val="F1F5F9"/>
          </a:solidFill>
          <a:ln w="12700">
            <a:solidFill>
              <a:srgbClr val="F1F5F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25711" y="1243584"/>
            <a:ext cx="2542032" cy="484632"/>
          </a:xfrm>
          <a:prstGeom prst="rect">
            <a:avLst/>
          </a:prstGeom>
          <a:noFill/>
        </p:spPr>
        <p:txBody>
          <a:bodyPr wrap="square" anchor="ctr">
            <a:spAutoFit/>
          </a:bodyPr>
          <a:lstStyle/>
          <a:p>
            <a:pPr algn="ctr"/>
            <a:r>
              <a:rPr sz="2000" b="1" i="0">
                <a:solidFill>
                  <a:srgbClr val="1B3A5C"/>
                </a:solidFill>
                <a:latin typeface="Calibri"/>
              </a:rPr>
              <a:t>55.95 %</a:t>
            </a:r>
          </a:p>
        </p:txBody>
      </p:sp>
      <p:sp>
        <p:nvSpPr>
          <p:cNvPr id="26" name="TextBox 25"/>
          <p:cNvSpPr txBox="1"/>
          <p:nvPr/>
        </p:nvSpPr>
        <p:spPr>
          <a:xfrm>
            <a:off x="9125711" y="1674449"/>
            <a:ext cx="2542032" cy="271393"/>
          </a:xfrm>
          <a:prstGeom prst="rect">
            <a:avLst/>
          </a:prstGeom>
          <a:noFill/>
        </p:spPr>
        <p:txBody>
          <a:bodyPr wrap="square" anchor="ctr">
            <a:spAutoFit/>
          </a:bodyPr>
          <a:lstStyle/>
          <a:p>
            <a:pPr algn="ctr"/>
            <a:r>
              <a:rPr sz="1000" b="0" i="0">
                <a:solidFill>
                  <a:srgbClr val="334155"/>
                </a:solidFill>
                <a:latin typeface="Calibri"/>
              </a:rPr>
              <a:t>TIR sin financiamiento</a:t>
            </a:r>
          </a:p>
        </p:txBody>
      </p:sp>
      <p:sp>
        <p:nvSpPr>
          <p:cNvPr id="27" name="Rectangle 26"/>
          <p:cNvSpPr/>
          <p:nvPr/>
        </p:nvSpPr>
        <p:spPr>
          <a:xfrm>
            <a:off x="6217920" y="2249424"/>
            <a:ext cx="2724912" cy="969264"/>
          </a:xfrm>
          <a:prstGeom prst="rect">
            <a:avLst/>
          </a:prstGeom>
          <a:solidFill>
            <a:srgbClr val="F1F5F9"/>
          </a:solidFill>
          <a:ln w="12700">
            <a:solidFill>
              <a:srgbClr val="F1F5F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309359" y="2322576"/>
            <a:ext cx="2542032" cy="484632"/>
          </a:xfrm>
          <a:prstGeom prst="rect">
            <a:avLst/>
          </a:prstGeom>
          <a:noFill/>
        </p:spPr>
        <p:txBody>
          <a:bodyPr wrap="square" anchor="ctr">
            <a:spAutoFit/>
          </a:bodyPr>
          <a:lstStyle/>
          <a:p>
            <a:pPr algn="ctr"/>
            <a:r>
              <a:rPr sz="2000" b="1" i="0">
                <a:solidFill>
                  <a:srgbClr val="1B3A5C"/>
                </a:solidFill>
                <a:latin typeface="Calibri"/>
              </a:rPr>
              <a:t>3.67 años</a:t>
            </a:r>
          </a:p>
        </p:txBody>
      </p:sp>
      <p:sp>
        <p:nvSpPr>
          <p:cNvPr id="29" name="TextBox 28"/>
          <p:cNvSpPr txBox="1"/>
          <p:nvPr/>
        </p:nvSpPr>
        <p:spPr>
          <a:xfrm>
            <a:off x="6309359" y="2753441"/>
            <a:ext cx="2542032" cy="271393"/>
          </a:xfrm>
          <a:prstGeom prst="rect">
            <a:avLst/>
          </a:prstGeom>
          <a:noFill/>
        </p:spPr>
        <p:txBody>
          <a:bodyPr wrap="square" anchor="ctr">
            <a:spAutoFit/>
          </a:bodyPr>
          <a:lstStyle/>
          <a:p>
            <a:pPr algn="ctr"/>
            <a:r>
              <a:rPr sz="1000" b="0" i="0">
                <a:solidFill>
                  <a:srgbClr val="334155"/>
                </a:solidFill>
                <a:latin typeface="Calibri"/>
              </a:rPr>
              <a:t>Período de recuperación</a:t>
            </a:r>
          </a:p>
        </p:txBody>
      </p:sp>
      <p:sp>
        <p:nvSpPr>
          <p:cNvPr id="30" name="Rectangle 29"/>
          <p:cNvSpPr/>
          <p:nvPr/>
        </p:nvSpPr>
        <p:spPr>
          <a:xfrm>
            <a:off x="9034272" y="2249424"/>
            <a:ext cx="2724912" cy="969264"/>
          </a:xfrm>
          <a:prstGeom prst="rect">
            <a:avLst/>
          </a:prstGeom>
          <a:solidFill>
            <a:srgbClr val="E6F4F6"/>
          </a:solidFill>
          <a:ln w="12700">
            <a:solidFill>
              <a:srgbClr val="E6F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125711" y="2322576"/>
            <a:ext cx="2542032" cy="484632"/>
          </a:xfrm>
          <a:prstGeom prst="rect">
            <a:avLst/>
          </a:prstGeom>
          <a:noFill/>
        </p:spPr>
        <p:txBody>
          <a:bodyPr wrap="square" anchor="ctr">
            <a:spAutoFit/>
          </a:bodyPr>
          <a:lstStyle/>
          <a:p>
            <a:pPr algn="ctr"/>
            <a:r>
              <a:rPr sz="2000" b="1" i="0">
                <a:solidFill>
                  <a:srgbClr val="1A7A8A"/>
                </a:solidFill>
                <a:latin typeface="Calibri"/>
              </a:rPr>
              <a:t>1.24</a:t>
            </a:r>
          </a:p>
        </p:txBody>
      </p:sp>
      <p:sp>
        <p:nvSpPr>
          <p:cNvPr id="32" name="TextBox 31"/>
          <p:cNvSpPr txBox="1"/>
          <p:nvPr/>
        </p:nvSpPr>
        <p:spPr>
          <a:xfrm>
            <a:off x="9125711" y="2753441"/>
            <a:ext cx="2542032" cy="271393"/>
          </a:xfrm>
          <a:prstGeom prst="rect">
            <a:avLst/>
          </a:prstGeom>
          <a:noFill/>
        </p:spPr>
        <p:txBody>
          <a:bodyPr wrap="square" anchor="ctr">
            <a:spAutoFit/>
          </a:bodyPr>
          <a:lstStyle/>
          <a:p>
            <a:pPr algn="ctr"/>
            <a:r>
              <a:rPr sz="1000" b="0" i="0">
                <a:solidFill>
                  <a:srgbClr val="334155"/>
                </a:solidFill>
                <a:latin typeface="Calibri"/>
              </a:rPr>
              <a:t>Relación beneficio/costo</a:t>
            </a:r>
          </a:p>
        </p:txBody>
      </p:sp>
      <p:sp>
        <p:nvSpPr>
          <p:cNvPr id="33" name="Rectangle 32"/>
          <p:cNvSpPr/>
          <p:nvPr/>
        </p:nvSpPr>
        <p:spPr>
          <a:xfrm>
            <a:off x="6217920" y="3328415"/>
            <a:ext cx="2724912" cy="969264"/>
          </a:xfrm>
          <a:prstGeom prst="rect">
            <a:avLst/>
          </a:prstGeom>
          <a:solidFill>
            <a:srgbClr val="E6F4F6"/>
          </a:solidFill>
          <a:ln w="12700">
            <a:solidFill>
              <a:srgbClr val="E6F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309359" y="3401568"/>
            <a:ext cx="2542032" cy="484632"/>
          </a:xfrm>
          <a:prstGeom prst="rect">
            <a:avLst/>
          </a:prstGeom>
          <a:noFill/>
        </p:spPr>
        <p:txBody>
          <a:bodyPr wrap="square" anchor="ctr">
            <a:spAutoFit/>
          </a:bodyPr>
          <a:lstStyle/>
          <a:p>
            <a:pPr algn="ctr"/>
            <a:r>
              <a:rPr sz="2000" b="1" i="0">
                <a:solidFill>
                  <a:srgbClr val="1A7A8A"/>
                </a:solidFill>
                <a:latin typeface="Calibri"/>
              </a:rPr>
              <a:t>L 2,020,142</a:t>
            </a:r>
          </a:p>
        </p:txBody>
      </p:sp>
      <p:sp>
        <p:nvSpPr>
          <p:cNvPr id="35" name="TextBox 34"/>
          <p:cNvSpPr txBox="1"/>
          <p:nvPr/>
        </p:nvSpPr>
        <p:spPr>
          <a:xfrm>
            <a:off x="6309359" y="3832433"/>
            <a:ext cx="2542032" cy="271393"/>
          </a:xfrm>
          <a:prstGeom prst="rect">
            <a:avLst/>
          </a:prstGeom>
          <a:noFill/>
        </p:spPr>
        <p:txBody>
          <a:bodyPr wrap="square" anchor="ctr">
            <a:spAutoFit/>
          </a:bodyPr>
          <a:lstStyle/>
          <a:p>
            <a:pPr algn="ctr"/>
            <a:r>
              <a:rPr sz="1000" b="0" i="0">
                <a:solidFill>
                  <a:srgbClr val="334155"/>
                </a:solidFill>
                <a:latin typeface="Calibri"/>
              </a:rPr>
              <a:t>VAN en escenario pesimista</a:t>
            </a:r>
          </a:p>
        </p:txBody>
      </p:sp>
      <p:sp>
        <p:nvSpPr>
          <p:cNvPr id="36" name="Rectangle 35"/>
          <p:cNvSpPr/>
          <p:nvPr/>
        </p:nvSpPr>
        <p:spPr>
          <a:xfrm>
            <a:off x="9034272" y="3328415"/>
            <a:ext cx="2724912" cy="969264"/>
          </a:xfrm>
          <a:prstGeom prst="rect">
            <a:avLst/>
          </a:prstGeom>
          <a:solidFill>
            <a:srgbClr val="F1F5F9"/>
          </a:solidFill>
          <a:ln w="12700">
            <a:solidFill>
              <a:srgbClr val="F1F5F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125711" y="3401568"/>
            <a:ext cx="2542032" cy="484632"/>
          </a:xfrm>
          <a:prstGeom prst="rect">
            <a:avLst/>
          </a:prstGeom>
          <a:noFill/>
        </p:spPr>
        <p:txBody>
          <a:bodyPr wrap="square" anchor="ctr">
            <a:spAutoFit/>
          </a:bodyPr>
          <a:lstStyle/>
          <a:p>
            <a:pPr algn="ctr"/>
            <a:r>
              <a:rPr sz="2000" b="1" i="0">
                <a:solidFill>
                  <a:srgbClr val="1B3A5C"/>
                </a:solidFill>
                <a:latin typeface="Calibri"/>
              </a:rPr>
              <a:t>L 3,614,648</a:t>
            </a:r>
          </a:p>
        </p:txBody>
      </p:sp>
      <p:sp>
        <p:nvSpPr>
          <p:cNvPr id="38" name="TextBox 37"/>
          <p:cNvSpPr txBox="1"/>
          <p:nvPr/>
        </p:nvSpPr>
        <p:spPr>
          <a:xfrm>
            <a:off x="9125711" y="3832433"/>
            <a:ext cx="2542032" cy="271393"/>
          </a:xfrm>
          <a:prstGeom prst="rect">
            <a:avLst/>
          </a:prstGeom>
          <a:noFill/>
        </p:spPr>
        <p:txBody>
          <a:bodyPr wrap="square" anchor="ctr">
            <a:spAutoFit/>
          </a:bodyPr>
          <a:lstStyle/>
          <a:p>
            <a:pPr algn="ctr"/>
            <a:r>
              <a:rPr sz="1000" b="0" i="0">
                <a:solidFill>
                  <a:srgbClr val="334155"/>
                </a:solidFill>
                <a:latin typeface="Calibri"/>
              </a:rPr>
              <a:t>Pérdida esperada por riesgos</a:t>
            </a:r>
          </a:p>
        </p:txBody>
      </p:sp>
      <p:sp>
        <p:nvSpPr>
          <p:cNvPr id="39" name="Rectangle 38"/>
          <p:cNvSpPr/>
          <p:nvPr/>
        </p:nvSpPr>
        <p:spPr>
          <a:xfrm>
            <a:off x="6217920" y="4407408"/>
            <a:ext cx="2724912" cy="969264"/>
          </a:xfrm>
          <a:prstGeom prst="rect">
            <a:avLst/>
          </a:prstGeom>
          <a:solidFill>
            <a:srgbClr val="F1F5F9"/>
          </a:solidFill>
          <a:ln w="12700">
            <a:solidFill>
              <a:srgbClr val="F1F5F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309359" y="4480560"/>
            <a:ext cx="2542032" cy="484632"/>
          </a:xfrm>
          <a:prstGeom prst="rect">
            <a:avLst/>
          </a:prstGeom>
          <a:noFill/>
        </p:spPr>
        <p:txBody>
          <a:bodyPr wrap="square" anchor="ctr">
            <a:spAutoFit/>
          </a:bodyPr>
          <a:lstStyle/>
          <a:p>
            <a:pPr algn="ctr"/>
            <a:r>
              <a:rPr sz="2000" b="1" i="0">
                <a:solidFill>
                  <a:srgbClr val="1B3A5C"/>
                </a:solidFill>
                <a:latin typeface="Calibri"/>
              </a:rPr>
              <a:t>L 6,373,570</a:t>
            </a:r>
          </a:p>
        </p:txBody>
      </p:sp>
      <p:sp>
        <p:nvSpPr>
          <p:cNvPr id="41" name="TextBox 40"/>
          <p:cNvSpPr txBox="1"/>
          <p:nvPr/>
        </p:nvSpPr>
        <p:spPr>
          <a:xfrm>
            <a:off x="6309359" y="4911425"/>
            <a:ext cx="2542032" cy="271393"/>
          </a:xfrm>
          <a:prstGeom prst="rect">
            <a:avLst/>
          </a:prstGeom>
          <a:noFill/>
        </p:spPr>
        <p:txBody>
          <a:bodyPr wrap="square" anchor="ctr">
            <a:spAutoFit/>
          </a:bodyPr>
          <a:lstStyle/>
          <a:p>
            <a:pPr algn="ctr"/>
            <a:r>
              <a:rPr sz="1000" b="0" i="0">
                <a:solidFill>
                  <a:srgbClr val="334155"/>
                </a:solidFill>
                <a:latin typeface="Calibri"/>
              </a:rPr>
              <a:t>VaR 95 % de las pérdidas</a:t>
            </a:r>
          </a:p>
        </p:txBody>
      </p:sp>
      <p:sp>
        <p:nvSpPr>
          <p:cNvPr id="42" name="Rectangle 41"/>
          <p:cNvSpPr/>
          <p:nvPr/>
        </p:nvSpPr>
        <p:spPr>
          <a:xfrm>
            <a:off x="9034272" y="4407408"/>
            <a:ext cx="2724912" cy="969264"/>
          </a:xfrm>
          <a:prstGeom prst="rect">
            <a:avLst/>
          </a:prstGeom>
          <a:solidFill>
            <a:srgbClr val="E6F4F6"/>
          </a:solidFill>
          <a:ln w="12700">
            <a:solidFill>
              <a:srgbClr val="E6F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125711" y="4480560"/>
            <a:ext cx="2542032" cy="484632"/>
          </a:xfrm>
          <a:prstGeom prst="rect">
            <a:avLst/>
          </a:prstGeom>
          <a:noFill/>
        </p:spPr>
        <p:txBody>
          <a:bodyPr wrap="square" anchor="ctr">
            <a:spAutoFit/>
          </a:bodyPr>
          <a:lstStyle/>
          <a:p>
            <a:pPr algn="ctr"/>
            <a:r>
              <a:rPr sz="2000" b="1" i="0">
                <a:solidFill>
                  <a:srgbClr val="1A7A8A"/>
                </a:solidFill>
                <a:latin typeface="Calibri"/>
              </a:rPr>
              <a:t>100 %</a:t>
            </a:r>
          </a:p>
        </p:txBody>
      </p:sp>
      <p:sp>
        <p:nvSpPr>
          <p:cNvPr id="44" name="TextBox 43"/>
          <p:cNvSpPr txBox="1"/>
          <p:nvPr/>
        </p:nvSpPr>
        <p:spPr>
          <a:xfrm>
            <a:off x="9125711" y="4911425"/>
            <a:ext cx="2542032" cy="271393"/>
          </a:xfrm>
          <a:prstGeom prst="rect">
            <a:avLst/>
          </a:prstGeom>
          <a:noFill/>
        </p:spPr>
        <p:txBody>
          <a:bodyPr wrap="square" anchor="ctr">
            <a:spAutoFit/>
          </a:bodyPr>
          <a:lstStyle/>
          <a:p>
            <a:pPr algn="ctr"/>
            <a:r>
              <a:rPr sz="1000" b="0" i="0">
                <a:solidFill>
                  <a:srgbClr val="334155"/>
                </a:solidFill>
                <a:latin typeface="Calibri"/>
              </a:rPr>
              <a:t>Iteraciones con VPN &gt; 0</a:t>
            </a:r>
          </a:p>
        </p:txBody>
      </p:sp>
      <p:sp>
        <p:nvSpPr>
          <p:cNvPr id="45" name="Rectangle 44"/>
          <p:cNvSpPr/>
          <p:nvPr/>
        </p:nvSpPr>
        <p:spPr>
          <a:xfrm>
            <a:off x="320040" y="5961888"/>
            <a:ext cx="11430000" cy="50292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457200" y="5961888"/>
            <a:ext cx="11155680" cy="502920"/>
          </a:xfrm>
          <a:prstGeom prst="rect">
            <a:avLst/>
          </a:prstGeom>
          <a:noFill/>
        </p:spPr>
        <p:txBody>
          <a:bodyPr wrap="square" anchor="ctr">
            <a:spAutoFit/>
          </a:bodyPr>
          <a:lstStyle/>
          <a:p>
            <a:pPr algn="l"/>
            <a:r>
              <a:rPr sz="1300" b="1" i="0">
                <a:solidFill>
                  <a:srgbClr val="9ECFD5"/>
                </a:solidFill>
                <a:latin typeface="Calibri"/>
              </a:rPr>
              <a:t>Conclusión: </a:t>
            </a:r>
            <a:r>
              <a:rPr sz="1300" b="0" i="0">
                <a:solidFill>
                  <a:srgbClr val="FFFFFF"/>
                </a:solidFill>
                <a:latin typeface="Calibri"/>
              </a:rPr>
              <a:t>proyecto prefactible en todas las dimensiones; se recomienda avanzar a factibilidad.</a:t>
            </a:r>
          </a:p>
        </p:txBody>
      </p:sp>
      <p:sp>
        <p:nvSpPr>
          <p:cNvPr id="47" name="TextBox 46"/>
          <p:cNvSpPr txBox="1"/>
          <p:nvPr/>
        </p:nvSpPr>
        <p:spPr>
          <a:xfrm>
            <a:off x="320040" y="6583680"/>
            <a:ext cx="11521440" cy="201168"/>
          </a:xfrm>
          <a:prstGeom prst="rect">
            <a:avLst/>
          </a:prstGeom>
          <a:noFill/>
        </p:spPr>
        <p:txBody>
          <a:bodyPr wrap="square" anchor="ctr">
            <a:spAutoFit/>
          </a:bodyPr>
          <a:lstStyle/>
          <a:p>
            <a:pPr algn="ctr"/>
            <a:r>
              <a:rPr sz="800" b="0" i="0">
                <a:solidFill>
                  <a:srgbClr val="64748B"/>
                </a:solidFill>
                <a:latin typeface="Calibri"/>
              </a:rPr>
              <a:t>Maestría en Agronegocios · Universidad EAFIT · Zamorano · 2026   |   Caballero · Valladares · Medal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3657600" cy="256032"/>
          </a:xfrm>
          <a:prstGeom prst="rect">
            <a:avLst/>
          </a:prstGeom>
          <a:noFill/>
        </p:spPr>
        <p:txBody>
          <a:bodyPr wrap="square" anchor="ctr">
            <a:spAutoFit/>
          </a:bodyPr>
          <a:lstStyle/>
          <a:p>
            <a:pPr algn="l"/>
            <a:r>
              <a:rPr sz="900" b="1" i="0">
                <a:solidFill>
                  <a:srgbClr val="1A7A8A"/>
                </a:solidFill>
                <a:latin typeface="Calibri"/>
              </a:rPr>
              <a:t>PLANTEAMIENTO DEL PROBLEMA</a:t>
            </a:r>
          </a:p>
        </p:txBody>
      </p:sp>
      <p:sp>
        <p:nvSpPr>
          <p:cNvPr id="3" name="TextBox 2"/>
          <p:cNvSpPr txBox="1"/>
          <p:nvPr/>
        </p:nvSpPr>
        <p:spPr>
          <a:xfrm>
            <a:off x="320040" y="475488"/>
            <a:ext cx="11521440" cy="502920"/>
          </a:xfrm>
          <a:prstGeom prst="rect">
            <a:avLst/>
          </a:prstGeom>
          <a:noFill/>
        </p:spPr>
        <p:txBody>
          <a:bodyPr wrap="square" anchor="ctr">
            <a:spAutoFit/>
          </a:bodyPr>
          <a:lstStyle/>
          <a:p>
            <a:pPr algn="l"/>
            <a:r>
              <a:rPr sz="2600" b="1" i="0">
                <a:solidFill>
                  <a:srgbClr val="0D2341"/>
                </a:solidFill>
                <a:latin typeface="Calibri"/>
              </a:rPr>
              <a:t>Planteamiento del Problema y Pregunta de Investigación</a:t>
            </a:r>
          </a:p>
        </p:txBody>
      </p:sp>
      <p:sp>
        <p:nvSpPr>
          <p:cNvPr id="4" name="Rectangle 3"/>
          <p:cNvSpPr/>
          <p:nvPr/>
        </p:nvSpPr>
        <p:spPr>
          <a:xfrm>
            <a:off x="320040" y="1005840"/>
            <a:ext cx="11430000" cy="18288"/>
          </a:xfrm>
          <a:prstGeom prst="rect">
            <a:avLst/>
          </a:prstGeom>
          <a:solidFill>
            <a:srgbClr val="1A7A8A"/>
          </a:solidFill>
          <a:ln w="12700">
            <a:solidFill>
              <a:srgbClr val="1A7A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320040" y="1188720"/>
            <a:ext cx="5623560" cy="2240280"/>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320040" y="1325880"/>
            <a:ext cx="54864" cy="1965960"/>
          </a:xfrm>
          <a:prstGeom prst="rect">
            <a:avLst/>
          </a:prstGeom>
          <a:solidFill>
            <a:srgbClr val="1A7A8A"/>
          </a:solidFill>
          <a:ln w="12700">
            <a:solidFill>
              <a:srgbClr val="1A7A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84632" y="1298448"/>
            <a:ext cx="5349240" cy="310896"/>
          </a:xfrm>
          <a:prstGeom prst="rect">
            <a:avLst/>
          </a:prstGeom>
          <a:noFill/>
        </p:spPr>
        <p:txBody>
          <a:bodyPr wrap="square" anchor="ctr">
            <a:spAutoFit/>
          </a:bodyPr>
          <a:lstStyle/>
          <a:p>
            <a:pPr algn="l"/>
            <a:r>
              <a:rPr sz="1300" b="1" i="0">
                <a:solidFill>
                  <a:srgbClr val="1B3A5C"/>
                </a:solidFill>
                <a:latin typeface="Calibri"/>
              </a:rPr>
              <a:t>Situación actual</a:t>
            </a:r>
          </a:p>
        </p:txBody>
      </p:sp>
      <p:sp>
        <p:nvSpPr>
          <p:cNvPr id="8" name="TextBox 7"/>
          <p:cNvSpPr txBox="1"/>
          <p:nvPr/>
        </p:nvSpPr>
        <p:spPr>
          <a:xfrm>
            <a:off x="484632" y="1627632"/>
            <a:ext cx="5349240" cy="1709928"/>
          </a:xfrm>
          <a:prstGeom prst="rect">
            <a:avLst/>
          </a:prstGeom>
          <a:noFill/>
        </p:spPr>
        <p:txBody>
          <a:bodyPr wrap="square" anchor="t">
            <a:spAutoFit/>
          </a:bodyPr>
          <a:lstStyle/>
          <a:p>
            <a:pPr algn="l"/>
            <a:r>
              <a:rPr sz="1350" b="0" i="0">
                <a:solidFill>
                  <a:srgbClr val="334155"/>
                </a:solidFill>
                <a:latin typeface="Calibri"/>
              </a:rPr>
              <a:t>La industria migró de leche fluida a UHT. Cafeterías de especialidad y +2,000 clientes tipo A usan hoy UHT o leche cruda informal, sin garantía de inocuidad.</a:t>
            </a:r>
          </a:p>
        </p:txBody>
      </p:sp>
      <p:sp>
        <p:nvSpPr>
          <p:cNvPr id="9" name="Rectangle 8"/>
          <p:cNvSpPr/>
          <p:nvPr/>
        </p:nvSpPr>
        <p:spPr>
          <a:xfrm>
            <a:off x="6126480" y="1188720"/>
            <a:ext cx="5623560" cy="2240280"/>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126480" y="1325880"/>
            <a:ext cx="54864" cy="1965960"/>
          </a:xfrm>
          <a:prstGeom prst="rect">
            <a:avLst/>
          </a:prstGeom>
          <a:solidFill>
            <a:srgbClr val="1B3A5C"/>
          </a:solidFill>
          <a:ln w="12700">
            <a:solidFill>
              <a:srgbClr val="1B3A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291072" y="1298448"/>
            <a:ext cx="5349240" cy="310896"/>
          </a:xfrm>
          <a:prstGeom prst="rect">
            <a:avLst/>
          </a:prstGeom>
          <a:noFill/>
        </p:spPr>
        <p:txBody>
          <a:bodyPr wrap="square" anchor="ctr">
            <a:spAutoFit/>
          </a:bodyPr>
          <a:lstStyle/>
          <a:p>
            <a:pPr algn="l"/>
            <a:r>
              <a:rPr sz="1300" b="1" i="0">
                <a:solidFill>
                  <a:srgbClr val="1B3A5C"/>
                </a:solidFill>
                <a:latin typeface="Calibri"/>
              </a:rPr>
              <a:t>Contexto productivo</a:t>
            </a:r>
          </a:p>
        </p:txBody>
      </p:sp>
      <p:sp>
        <p:nvSpPr>
          <p:cNvPr id="12" name="TextBox 11"/>
          <p:cNvSpPr txBox="1"/>
          <p:nvPr/>
        </p:nvSpPr>
        <p:spPr>
          <a:xfrm>
            <a:off x="6291072" y="1627632"/>
            <a:ext cx="5349240" cy="1709928"/>
          </a:xfrm>
          <a:prstGeom prst="rect">
            <a:avLst/>
          </a:prstGeom>
          <a:noFill/>
        </p:spPr>
        <p:txBody>
          <a:bodyPr wrap="square" anchor="t">
            <a:spAutoFit/>
          </a:bodyPr>
          <a:lstStyle/>
          <a:p>
            <a:pPr algn="l"/>
            <a:r>
              <a:rPr sz="1350" b="0" i="0">
                <a:solidFill>
                  <a:srgbClr val="334155"/>
                </a:solidFill>
                <a:latin typeface="Calibri"/>
              </a:rPr>
              <a:t>Honduras produce ~600 M L de leche al año (SAG, 2026). Hay materia prima y demanda insatisfecha, pero no una oferta formal de leche fresca para este nicho.</a:t>
            </a:r>
          </a:p>
        </p:txBody>
      </p:sp>
      <p:sp>
        <p:nvSpPr>
          <p:cNvPr id="13" name="Rectangle 12"/>
          <p:cNvSpPr/>
          <p:nvPr/>
        </p:nvSpPr>
        <p:spPr>
          <a:xfrm>
            <a:off x="320040" y="3566160"/>
            <a:ext cx="11430000" cy="1051560"/>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320040" y="3703320"/>
            <a:ext cx="54864" cy="777239"/>
          </a:xfrm>
          <a:prstGeom prst="rect">
            <a:avLst/>
          </a:prstGeom>
          <a:solidFill>
            <a:srgbClr val="B5862A"/>
          </a:solidFill>
          <a:ln w="12700">
            <a:solidFill>
              <a:srgbClr val="B58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84632" y="3675887"/>
            <a:ext cx="11155680" cy="310896"/>
          </a:xfrm>
          <a:prstGeom prst="rect">
            <a:avLst/>
          </a:prstGeom>
          <a:noFill/>
        </p:spPr>
        <p:txBody>
          <a:bodyPr wrap="square" anchor="ctr">
            <a:spAutoFit/>
          </a:bodyPr>
          <a:lstStyle/>
          <a:p>
            <a:pPr algn="l"/>
            <a:r>
              <a:rPr sz="1300" b="1" i="0">
                <a:solidFill>
                  <a:srgbClr val="1B3A5C"/>
                </a:solidFill>
                <a:latin typeface="Calibri"/>
              </a:rPr>
              <a:t>Problema</a:t>
            </a:r>
          </a:p>
        </p:txBody>
      </p:sp>
      <p:sp>
        <p:nvSpPr>
          <p:cNvPr id="16" name="TextBox 15"/>
          <p:cNvSpPr txBox="1"/>
          <p:nvPr/>
        </p:nvSpPr>
        <p:spPr>
          <a:xfrm>
            <a:off x="484632" y="4005072"/>
            <a:ext cx="11155680" cy="521207"/>
          </a:xfrm>
          <a:prstGeom prst="rect">
            <a:avLst/>
          </a:prstGeom>
          <a:noFill/>
        </p:spPr>
        <p:txBody>
          <a:bodyPr wrap="square" anchor="t">
            <a:spAutoFit/>
          </a:bodyPr>
          <a:lstStyle/>
          <a:p>
            <a:pPr algn="l"/>
            <a:r>
              <a:rPr sz="1300" b="0" i="0">
                <a:solidFill>
                  <a:srgbClr val="334155"/>
                </a:solidFill>
                <a:latin typeface="Calibri"/>
              </a:rPr>
              <a:t>Falta evidencia para decidir si conviene invertir en una planta propia para atender ese nicho.</a:t>
            </a:r>
          </a:p>
        </p:txBody>
      </p:sp>
      <p:sp>
        <p:nvSpPr>
          <p:cNvPr id="17" name="Rectangle 16"/>
          <p:cNvSpPr/>
          <p:nvPr/>
        </p:nvSpPr>
        <p:spPr>
          <a:xfrm>
            <a:off x="320040" y="4800600"/>
            <a:ext cx="11430000" cy="132588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48640" y="4873752"/>
            <a:ext cx="10972800" cy="274320"/>
          </a:xfrm>
          <a:prstGeom prst="rect">
            <a:avLst/>
          </a:prstGeom>
          <a:noFill/>
        </p:spPr>
        <p:txBody>
          <a:bodyPr wrap="square" anchor="ctr">
            <a:spAutoFit/>
          </a:bodyPr>
          <a:lstStyle/>
          <a:p>
            <a:pPr algn="l"/>
            <a:r>
              <a:rPr sz="1000" b="1" i="0">
                <a:solidFill>
                  <a:srgbClr val="9ECFD5"/>
                </a:solidFill>
                <a:latin typeface="Calibri"/>
              </a:rPr>
              <a:t>PREGUNTA DE INVESTIGACIÓN</a:t>
            </a:r>
          </a:p>
        </p:txBody>
      </p:sp>
      <p:sp>
        <p:nvSpPr>
          <p:cNvPr id="19" name="TextBox 18"/>
          <p:cNvSpPr txBox="1"/>
          <p:nvPr/>
        </p:nvSpPr>
        <p:spPr>
          <a:xfrm>
            <a:off x="548640" y="5166360"/>
            <a:ext cx="10972800" cy="868680"/>
          </a:xfrm>
          <a:prstGeom prst="rect">
            <a:avLst/>
          </a:prstGeom>
          <a:noFill/>
        </p:spPr>
        <p:txBody>
          <a:bodyPr wrap="square" anchor="ctr">
            <a:spAutoFit/>
          </a:bodyPr>
          <a:lstStyle/>
          <a:p>
            <a:pPr algn="l"/>
            <a:r>
              <a:rPr sz="1400" b="1" i="0">
                <a:solidFill>
                  <a:srgbClr val="FFFFFF"/>
                </a:solidFill>
                <a:latin typeface="Calibri"/>
              </a:rPr>
              <a:t>¿Es prefactible, en las dimensiones de mercado, técnica, organizacional, legal, ambiental, financiera y de riesgos, producir y distribuir leche fresca pasteurizada bajo la marca "Pura" para el mercado nicho del canal HoReCa y del canal detalle de la región central de Honduras?</a:t>
            </a:r>
          </a:p>
        </p:txBody>
      </p:sp>
      <p:sp>
        <p:nvSpPr>
          <p:cNvPr id="20" name="TextBox 19"/>
          <p:cNvSpPr txBox="1"/>
          <p:nvPr/>
        </p:nvSpPr>
        <p:spPr>
          <a:xfrm>
            <a:off x="320040" y="6583680"/>
            <a:ext cx="11521440" cy="201168"/>
          </a:xfrm>
          <a:prstGeom prst="rect">
            <a:avLst/>
          </a:prstGeom>
          <a:noFill/>
        </p:spPr>
        <p:txBody>
          <a:bodyPr wrap="square" anchor="ctr">
            <a:spAutoFit/>
          </a:bodyPr>
          <a:lstStyle/>
          <a:p>
            <a:pPr algn="ctr"/>
            <a:r>
              <a:rPr sz="800" b="0" i="0">
                <a:solidFill>
                  <a:srgbClr val="64748B"/>
                </a:solidFill>
                <a:latin typeface="Calibri"/>
              </a:rPr>
              <a:t>Maestría en Agronegocios · Universidad EAFIT · Zamorano · 2026   |   Caballero · Valladares · Medal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3657600" cy="256032"/>
          </a:xfrm>
          <a:prstGeom prst="rect">
            <a:avLst/>
          </a:prstGeom>
          <a:noFill/>
        </p:spPr>
        <p:txBody>
          <a:bodyPr wrap="square" anchor="ctr">
            <a:spAutoFit/>
          </a:bodyPr>
          <a:lstStyle/>
          <a:p>
            <a:pPr algn="l"/>
            <a:r>
              <a:rPr sz="900" b="1" i="0">
                <a:solidFill>
                  <a:srgbClr val="1A7A8A"/>
                </a:solidFill>
                <a:latin typeface="Calibri"/>
              </a:rPr>
              <a:t>DISEÑO METODOLÓGICO</a:t>
            </a:r>
          </a:p>
        </p:txBody>
      </p:sp>
      <p:sp>
        <p:nvSpPr>
          <p:cNvPr id="3" name="TextBox 2"/>
          <p:cNvSpPr txBox="1"/>
          <p:nvPr/>
        </p:nvSpPr>
        <p:spPr>
          <a:xfrm>
            <a:off x="320040" y="475488"/>
            <a:ext cx="11521440" cy="502920"/>
          </a:xfrm>
          <a:prstGeom prst="rect">
            <a:avLst/>
          </a:prstGeom>
          <a:noFill/>
        </p:spPr>
        <p:txBody>
          <a:bodyPr wrap="square" anchor="ctr">
            <a:spAutoFit/>
          </a:bodyPr>
          <a:lstStyle/>
          <a:p>
            <a:pPr algn="l"/>
            <a:r>
              <a:rPr sz="2600" b="1" i="0">
                <a:solidFill>
                  <a:srgbClr val="0D2341"/>
                </a:solidFill>
                <a:latin typeface="Calibri"/>
              </a:rPr>
              <a:t>Diseño Metodológico</a:t>
            </a:r>
          </a:p>
        </p:txBody>
      </p:sp>
      <p:sp>
        <p:nvSpPr>
          <p:cNvPr id="4" name="Rectangle 3"/>
          <p:cNvSpPr/>
          <p:nvPr/>
        </p:nvSpPr>
        <p:spPr>
          <a:xfrm>
            <a:off x="320040" y="1005840"/>
            <a:ext cx="11430000" cy="18288"/>
          </a:xfrm>
          <a:prstGeom prst="rect">
            <a:avLst/>
          </a:prstGeom>
          <a:solidFill>
            <a:srgbClr val="1A7A8A"/>
          </a:solidFill>
          <a:ln w="12700">
            <a:solidFill>
              <a:srgbClr val="1A7A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320040" y="1170432"/>
            <a:ext cx="3703320" cy="2331720"/>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320040" y="1307592"/>
            <a:ext cx="54864" cy="2057400"/>
          </a:xfrm>
          <a:prstGeom prst="rect">
            <a:avLst/>
          </a:prstGeom>
          <a:solidFill>
            <a:srgbClr val="1A7A8A"/>
          </a:solidFill>
          <a:ln w="12700">
            <a:solidFill>
              <a:srgbClr val="1A7A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84632" y="1280160"/>
            <a:ext cx="3429000" cy="310896"/>
          </a:xfrm>
          <a:prstGeom prst="rect">
            <a:avLst/>
          </a:prstGeom>
          <a:noFill/>
        </p:spPr>
        <p:txBody>
          <a:bodyPr wrap="square" anchor="ctr">
            <a:spAutoFit/>
          </a:bodyPr>
          <a:lstStyle/>
          <a:p>
            <a:pPr algn="l"/>
            <a:r>
              <a:rPr sz="1300" b="1" i="0">
                <a:solidFill>
                  <a:srgbClr val="1B3A5C"/>
                </a:solidFill>
                <a:latin typeface="Calibri"/>
              </a:rPr>
              <a:t>Tipo de estudio</a:t>
            </a:r>
          </a:p>
        </p:txBody>
      </p:sp>
      <p:sp>
        <p:nvSpPr>
          <p:cNvPr id="8" name="TextBox 7"/>
          <p:cNvSpPr txBox="1"/>
          <p:nvPr/>
        </p:nvSpPr>
        <p:spPr>
          <a:xfrm>
            <a:off x="484632" y="1609344"/>
            <a:ext cx="3429000" cy="1801367"/>
          </a:xfrm>
          <a:prstGeom prst="rect">
            <a:avLst/>
          </a:prstGeom>
          <a:noFill/>
        </p:spPr>
        <p:txBody>
          <a:bodyPr wrap="square" anchor="t">
            <a:spAutoFit/>
          </a:bodyPr>
          <a:lstStyle/>
          <a:p>
            <a:pPr algn="l"/>
            <a:r>
              <a:rPr sz="1300" b="0" i="0">
                <a:solidFill>
                  <a:srgbClr val="334155"/>
                </a:solidFill>
                <a:latin typeface="Calibri"/>
              </a:rPr>
              <a:t>Prefactibilidad con enfoque mixto, descriptivo y proyectivo, según la metodología ONUDI.</a:t>
            </a:r>
          </a:p>
        </p:txBody>
      </p:sp>
      <p:sp>
        <p:nvSpPr>
          <p:cNvPr id="9" name="Rectangle 8"/>
          <p:cNvSpPr/>
          <p:nvPr/>
        </p:nvSpPr>
        <p:spPr>
          <a:xfrm>
            <a:off x="4187952" y="1170432"/>
            <a:ext cx="3703320" cy="2331720"/>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4187952" y="1307592"/>
            <a:ext cx="54864" cy="2057400"/>
          </a:xfrm>
          <a:prstGeom prst="rect">
            <a:avLst/>
          </a:prstGeom>
          <a:solidFill>
            <a:srgbClr val="1B3A5C"/>
          </a:solidFill>
          <a:ln w="12700">
            <a:solidFill>
              <a:srgbClr val="1B3A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352544" y="1280160"/>
            <a:ext cx="3429000" cy="310896"/>
          </a:xfrm>
          <a:prstGeom prst="rect">
            <a:avLst/>
          </a:prstGeom>
          <a:noFill/>
        </p:spPr>
        <p:txBody>
          <a:bodyPr wrap="square" anchor="ctr">
            <a:spAutoFit/>
          </a:bodyPr>
          <a:lstStyle/>
          <a:p>
            <a:pPr algn="l"/>
            <a:r>
              <a:rPr sz="1300" b="1" i="0">
                <a:solidFill>
                  <a:srgbClr val="1B3A5C"/>
                </a:solidFill>
                <a:latin typeface="Calibri"/>
              </a:rPr>
              <a:t>Fuentes de información</a:t>
            </a:r>
          </a:p>
        </p:txBody>
      </p:sp>
      <p:sp>
        <p:nvSpPr>
          <p:cNvPr id="12" name="TextBox 11"/>
          <p:cNvSpPr txBox="1"/>
          <p:nvPr/>
        </p:nvSpPr>
        <p:spPr>
          <a:xfrm>
            <a:off x="4352544" y="1609344"/>
            <a:ext cx="3429000" cy="1801367"/>
          </a:xfrm>
          <a:prstGeom prst="rect">
            <a:avLst/>
          </a:prstGeom>
          <a:noFill/>
        </p:spPr>
        <p:txBody>
          <a:bodyPr wrap="square" anchor="t">
            <a:spAutoFit/>
          </a:bodyPr>
          <a:lstStyle/>
          <a:p>
            <a:pPr algn="l"/>
            <a:r>
              <a:rPr sz="1300" b="0" i="0">
                <a:solidFill>
                  <a:srgbClr val="334155"/>
                </a:solidFill>
                <a:latin typeface="Calibri"/>
              </a:rPr>
              <a:t>Primarias: encuesta validada por expertos (abr–may 2026) y cotizaciones (Grupo Disatyr). Secundarias: BCH, INE, SAG, SENASA, ARSA y FAOSTAT.</a:t>
            </a:r>
          </a:p>
        </p:txBody>
      </p:sp>
      <p:sp>
        <p:nvSpPr>
          <p:cNvPr id="13" name="Rectangle 12"/>
          <p:cNvSpPr/>
          <p:nvPr/>
        </p:nvSpPr>
        <p:spPr>
          <a:xfrm>
            <a:off x="8055864" y="1170432"/>
            <a:ext cx="3703320" cy="2331720"/>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8055864" y="1307592"/>
            <a:ext cx="54864" cy="2057400"/>
          </a:xfrm>
          <a:prstGeom prst="rect">
            <a:avLst/>
          </a:prstGeom>
          <a:solidFill>
            <a:srgbClr val="1A7A8A"/>
          </a:solidFill>
          <a:ln w="12700">
            <a:solidFill>
              <a:srgbClr val="1A7A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20456" y="1280160"/>
            <a:ext cx="3429000" cy="310896"/>
          </a:xfrm>
          <a:prstGeom prst="rect">
            <a:avLst/>
          </a:prstGeom>
          <a:noFill/>
        </p:spPr>
        <p:txBody>
          <a:bodyPr wrap="square" anchor="ctr">
            <a:spAutoFit/>
          </a:bodyPr>
          <a:lstStyle/>
          <a:p>
            <a:pPr algn="l"/>
            <a:r>
              <a:rPr sz="1300" b="1" i="0">
                <a:solidFill>
                  <a:srgbClr val="1B3A5C"/>
                </a:solidFill>
                <a:latin typeface="Calibri"/>
              </a:rPr>
              <a:t>Técnicas de análisis</a:t>
            </a:r>
          </a:p>
        </p:txBody>
      </p:sp>
      <p:sp>
        <p:nvSpPr>
          <p:cNvPr id="16" name="TextBox 15"/>
          <p:cNvSpPr txBox="1"/>
          <p:nvPr/>
        </p:nvSpPr>
        <p:spPr>
          <a:xfrm>
            <a:off x="8220456" y="1609344"/>
            <a:ext cx="3429000" cy="1801367"/>
          </a:xfrm>
          <a:prstGeom prst="rect">
            <a:avLst/>
          </a:prstGeom>
          <a:noFill/>
        </p:spPr>
        <p:txBody>
          <a:bodyPr wrap="square" anchor="t">
            <a:spAutoFit/>
          </a:bodyPr>
          <a:lstStyle/>
          <a:p>
            <a:pPr algn="l"/>
            <a:r>
              <a:rPr sz="1300" b="0" i="0">
                <a:solidFill>
                  <a:srgbClr val="334155"/>
                </a:solidFill>
                <a:latin typeface="Calibri"/>
              </a:rPr>
              <a:t>PESTEL y Porter; matriz de localización; flujo descontado a 10 años; sensibilidad, escenarios y Monte Carlo (@RISK).</a:t>
            </a:r>
          </a:p>
        </p:txBody>
      </p:sp>
      <p:sp>
        <p:nvSpPr>
          <p:cNvPr id="17" name="TextBox 16"/>
          <p:cNvSpPr txBox="1"/>
          <p:nvPr/>
        </p:nvSpPr>
        <p:spPr>
          <a:xfrm>
            <a:off x="320040" y="3657600"/>
            <a:ext cx="11430000" cy="310896"/>
          </a:xfrm>
          <a:prstGeom prst="rect">
            <a:avLst/>
          </a:prstGeom>
          <a:noFill/>
        </p:spPr>
        <p:txBody>
          <a:bodyPr wrap="square" anchor="ctr">
            <a:spAutoFit/>
          </a:bodyPr>
          <a:lstStyle/>
          <a:p>
            <a:pPr algn="l"/>
            <a:r>
              <a:rPr sz="1300" b="1" i="0">
                <a:solidFill>
                  <a:srgbClr val="1B3A5C"/>
                </a:solidFill>
                <a:latin typeface="Calibri"/>
              </a:rPr>
              <a:t>Cálculo de la muestra</a:t>
            </a:r>
          </a:p>
        </p:txBody>
      </p:sp>
      <p:sp>
        <p:nvSpPr>
          <p:cNvPr id="18" name="Rectangle 17"/>
          <p:cNvSpPr/>
          <p:nvPr/>
        </p:nvSpPr>
        <p:spPr>
          <a:xfrm>
            <a:off x="320040" y="4023360"/>
            <a:ext cx="3017520" cy="329184"/>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38328" y="4023360"/>
            <a:ext cx="2980944" cy="329184"/>
          </a:xfrm>
          <a:prstGeom prst="rect">
            <a:avLst/>
          </a:prstGeom>
          <a:noFill/>
        </p:spPr>
        <p:txBody>
          <a:bodyPr wrap="square" anchor="ctr" lIns="45720" rIns="45720" tIns="9144" bIns="9144">
            <a:spAutoFit/>
          </a:bodyPr>
          <a:lstStyle/>
          <a:p>
            <a:pPr algn="l"/>
            <a:r>
              <a:rPr sz="1050" b="1" i="0">
                <a:solidFill>
                  <a:srgbClr val="FFFFFF"/>
                </a:solidFill>
                <a:latin typeface="Calibri"/>
              </a:rPr>
              <a:t>Parámetro</a:t>
            </a:r>
          </a:p>
        </p:txBody>
      </p:sp>
      <p:sp>
        <p:nvSpPr>
          <p:cNvPr id="20" name="Rectangle 19"/>
          <p:cNvSpPr/>
          <p:nvPr/>
        </p:nvSpPr>
        <p:spPr>
          <a:xfrm>
            <a:off x="3337560" y="4023360"/>
            <a:ext cx="1737360" cy="329184"/>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3355848" y="4023360"/>
            <a:ext cx="1700784" cy="329184"/>
          </a:xfrm>
          <a:prstGeom prst="rect">
            <a:avLst/>
          </a:prstGeom>
          <a:noFill/>
        </p:spPr>
        <p:txBody>
          <a:bodyPr wrap="square" anchor="ctr" lIns="45720" rIns="45720" tIns="9144" bIns="9144">
            <a:spAutoFit/>
          </a:bodyPr>
          <a:lstStyle/>
          <a:p>
            <a:pPr algn="ctr"/>
            <a:r>
              <a:rPr sz="1050" b="1" i="0">
                <a:solidFill>
                  <a:srgbClr val="FFFFFF"/>
                </a:solidFill>
                <a:latin typeface="Calibri"/>
              </a:rPr>
              <a:t>Valor</a:t>
            </a:r>
          </a:p>
        </p:txBody>
      </p:sp>
      <p:sp>
        <p:nvSpPr>
          <p:cNvPr id="22" name="Rectangle 21"/>
          <p:cNvSpPr/>
          <p:nvPr/>
        </p:nvSpPr>
        <p:spPr>
          <a:xfrm>
            <a:off x="5074920" y="4023360"/>
            <a:ext cx="6675120" cy="329184"/>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093207" y="4023360"/>
            <a:ext cx="6638544" cy="329184"/>
          </a:xfrm>
          <a:prstGeom prst="rect">
            <a:avLst/>
          </a:prstGeom>
          <a:noFill/>
        </p:spPr>
        <p:txBody>
          <a:bodyPr wrap="square" anchor="ctr" lIns="45720" rIns="45720" tIns="9144" bIns="9144">
            <a:spAutoFit/>
          </a:bodyPr>
          <a:lstStyle/>
          <a:p>
            <a:pPr algn="l"/>
            <a:r>
              <a:rPr sz="1050" b="1" i="0">
                <a:solidFill>
                  <a:srgbClr val="FFFFFF"/>
                </a:solidFill>
                <a:latin typeface="Calibri"/>
              </a:rPr>
              <a:t>Nota</a:t>
            </a:r>
          </a:p>
        </p:txBody>
      </p:sp>
      <p:sp>
        <p:nvSpPr>
          <p:cNvPr id="24" name="Rectangle 23"/>
          <p:cNvSpPr/>
          <p:nvPr/>
        </p:nvSpPr>
        <p:spPr>
          <a:xfrm>
            <a:off x="320040" y="4352544"/>
            <a:ext cx="301752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338328" y="4352544"/>
            <a:ext cx="2980944" cy="365760"/>
          </a:xfrm>
          <a:prstGeom prst="rect">
            <a:avLst/>
          </a:prstGeom>
          <a:noFill/>
        </p:spPr>
        <p:txBody>
          <a:bodyPr wrap="square" anchor="ctr" lIns="45720" rIns="45720" tIns="9144" bIns="9144">
            <a:spAutoFit/>
          </a:bodyPr>
          <a:lstStyle/>
          <a:p>
            <a:pPr algn="l"/>
            <a:r>
              <a:rPr sz="1050" b="0" i="0">
                <a:solidFill>
                  <a:srgbClr val="334155"/>
                </a:solidFill>
                <a:latin typeface="Calibri"/>
              </a:rPr>
              <a:t>Población objetivo (N)</a:t>
            </a:r>
          </a:p>
        </p:txBody>
      </p:sp>
      <p:sp>
        <p:nvSpPr>
          <p:cNvPr id="26" name="Rectangle 25"/>
          <p:cNvSpPr/>
          <p:nvPr/>
        </p:nvSpPr>
        <p:spPr>
          <a:xfrm>
            <a:off x="3337560" y="4352544"/>
            <a:ext cx="17373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3355848" y="4352544"/>
            <a:ext cx="1700784" cy="365760"/>
          </a:xfrm>
          <a:prstGeom prst="rect">
            <a:avLst/>
          </a:prstGeom>
          <a:noFill/>
        </p:spPr>
        <p:txBody>
          <a:bodyPr wrap="square" anchor="ctr" lIns="45720" rIns="45720" tIns="9144" bIns="9144">
            <a:spAutoFit/>
          </a:bodyPr>
          <a:lstStyle/>
          <a:p>
            <a:pPr algn="ctr"/>
            <a:r>
              <a:rPr sz="1050" b="0" i="0">
                <a:solidFill>
                  <a:srgbClr val="334155"/>
                </a:solidFill>
                <a:latin typeface="Calibri"/>
              </a:rPr>
              <a:t>500 establecimientos</a:t>
            </a:r>
          </a:p>
        </p:txBody>
      </p:sp>
      <p:sp>
        <p:nvSpPr>
          <p:cNvPr id="28" name="Rectangle 27"/>
          <p:cNvSpPr/>
          <p:nvPr/>
        </p:nvSpPr>
        <p:spPr>
          <a:xfrm>
            <a:off x="5074920" y="4352544"/>
            <a:ext cx="667512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093207" y="4352544"/>
            <a:ext cx="6638544" cy="365760"/>
          </a:xfrm>
          <a:prstGeom prst="rect">
            <a:avLst/>
          </a:prstGeom>
          <a:noFill/>
        </p:spPr>
        <p:txBody>
          <a:bodyPr wrap="square" anchor="ctr" lIns="45720" rIns="45720" tIns="9144" bIns="9144">
            <a:spAutoFit/>
          </a:bodyPr>
          <a:lstStyle/>
          <a:p>
            <a:pPr algn="l"/>
            <a:r>
              <a:rPr sz="1050" b="0" i="0">
                <a:solidFill>
                  <a:srgbClr val="334155"/>
                </a:solidFill>
                <a:latin typeface="Calibri"/>
              </a:rPr>
              <a:t>Base de clientes de la región central</a:t>
            </a:r>
          </a:p>
        </p:txBody>
      </p:sp>
      <p:sp>
        <p:nvSpPr>
          <p:cNvPr id="30" name="Rectangle 29"/>
          <p:cNvSpPr/>
          <p:nvPr/>
        </p:nvSpPr>
        <p:spPr>
          <a:xfrm>
            <a:off x="320040" y="4718304"/>
            <a:ext cx="301752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338328" y="4718304"/>
            <a:ext cx="2980944" cy="365760"/>
          </a:xfrm>
          <a:prstGeom prst="rect">
            <a:avLst/>
          </a:prstGeom>
          <a:noFill/>
        </p:spPr>
        <p:txBody>
          <a:bodyPr wrap="square" anchor="ctr" lIns="45720" rIns="45720" tIns="9144" bIns="9144">
            <a:spAutoFit/>
          </a:bodyPr>
          <a:lstStyle/>
          <a:p>
            <a:pPr algn="l"/>
            <a:r>
              <a:rPr sz="1050" b="0" i="0">
                <a:solidFill>
                  <a:srgbClr val="334155"/>
                </a:solidFill>
                <a:latin typeface="Calibri"/>
              </a:rPr>
              <a:t>Encuestas obtenidas (n)</a:t>
            </a:r>
          </a:p>
        </p:txBody>
      </p:sp>
      <p:sp>
        <p:nvSpPr>
          <p:cNvPr id="32" name="Rectangle 31"/>
          <p:cNvSpPr/>
          <p:nvPr/>
        </p:nvSpPr>
        <p:spPr>
          <a:xfrm>
            <a:off x="3337560" y="4718304"/>
            <a:ext cx="17373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3355848" y="4718304"/>
            <a:ext cx="1700784" cy="365760"/>
          </a:xfrm>
          <a:prstGeom prst="rect">
            <a:avLst/>
          </a:prstGeom>
          <a:noFill/>
        </p:spPr>
        <p:txBody>
          <a:bodyPr wrap="square" anchor="ctr" lIns="45720" rIns="45720" tIns="9144" bIns="9144">
            <a:spAutoFit/>
          </a:bodyPr>
          <a:lstStyle/>
          <a:p>
            <a:pPr algn="ctr"/>
            <a:r>
              <a:rPr sz="1050" b="0" i="0">
                <a:solidFill>
                  <a:srgbClr val="334155"/>
                </a:solidFill>
                <a:latin typeface="Calibri"/>
              </a:rPr>
              <a:t>63</a:t>
            </a:r>
          </a:p>
        </p:txBody>
      </p:sp>
      <p:sp>
        <p:nvSpPr>
          <p:cNvPr id="34" name="Rectangle 33"/>
          <p:cNvSpPr/>
          <p:nvPr/>
        </p:nvSpPr>
        <p:spPr>
          <a:xfrm>
            <a:off x="5074920" y="4718304"/>
            <a:ext cx="667512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5093207" y="4718304"/>
            <a:ext cx="6638544" cy="365760"/>
          </a:xfrm>
          <a:prstGeom prst="rect">
            <a:avLst/>
          </a:prstGeom>
          <a:noFill/>
        </p:spPr>
        <p:txBody>
          <a:bodyPr wrap="square" anchor="ctr" lIns="45720" rIns="45720" tIns="9144" bIns="9144">
            <a:spAutoFit/>
          </a:bodyPr>
          <a:lstStyle/>
          <a:p>
            <a:pPr algn="l"/>
            <a:r>
              <a:rPr sz="1050" b="0" i="0">
                <a:solidFill>
                  <a:srgbClr val="334155"/>
                </a:solidFill>
                <a:latin typeface="Calibri"/>
              </a:rPr>
              <a:t>Selección no probabilística</a:t>
            </a:r>
          </a:p>
        </p:txBody>
      </p:sp>
      <p:sp>
        <p:nvSpPr>
          <p:cNvPr id="36" name="Rectangle 35"/>
          <p:cNvSpPr/>
          <p:nvPr/>
        </p:nvSpPr>
        <p:spPr>
          <a:xfrm>
            <a:off x="320040" y="5084064"/>
            <a:ext cx="301752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38328" y="5084064"/>
            <a:ext cx="2980944" cy="365760"/>
          </a:xfrm>
          <a:prstGeom prst="rect">
            <a:avLst/>
          </a:prstGeom>
          <a:noFill/>
        </p:spPr>
        <p:txBody>
          <a:bodyPr wrap="square" anchor="ctr" lIns="45720" rIns="45720" tIns="9144" bIns="9144">
            <a:spAutoFit/>
          </a:bodyPr>
          <a:lstStyle/>
          <a:p>
            <a:pPr algn="l"/>
            <a:r>
              <a:rPr sz="1050" b="0" i="0">
                <a:solidFill>
                  <a:srgbClr val="334155"/>
                </a:solidFill>
                <a:latin typeface="Calibri"/>
              </a:rPr>
              <a:t>Error con n = 63 (95 %, p = q = 0.5)</a:t>
            </a:r>
          </a:p>
        </p:txBody>
      </p:sp>
      <p:sp>
        <p:nvSpPr>
          <p:cNvPr id="38" name="Rectangle 37"/>
          <p:cNvSpPr/>
          <p:nvPr/>
        </p:nvSpPr>
        <p:spPr>
          <a:xfrm>
            <a:off x="3337560" y="5084064"/>
            <a:ext cx="17373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3355848" y="5084064"/>
            <a:ext cx="1700784" cy="365760"/>
          </a:xfrm>
          <a:prstGeom prst="rect">
            <a:avLst/>
          </a:prstGeom>
          <a:noFill/>
        </p:spPr>
        <p:txBody>
          <a:bodyPr wrap="square" anchor="ctr" lIns="45720" rIns="45720" tIns="9144" bIns="9144">
            <a:spAutoFit/>
          </a:bodyPr>
          <a:lstStyle/>
          <a:p>
            <a:pPr algn="ctr"/>
            <a:r>
              <a:rPr sz="1050" b="0" i="0">
                <a:solidFill>
                  <a:srgbClr val="334155"/>
                </a:solidFill>
                <a:latin typeface="Calibri"/>
              </a:rPr>
              <a:t>± 11.55 %</a:t>
            </a:r>
          </a:p>
        </p:txBody>
      </p:sp>
      <p:sp>
        <p:nvSpPr>
          <p:cNvPr id="40" name="Rectangle 39"/>
          <p:cNvSpPr/>
          <p:nvPr/>
        </p:nvSpPr>
        <p:spPr>
          <a:xfrm>
            <a:off x="5074920" y="5084064"/>
            <a:ext cx="667512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5093207" y="5084064"/>
            <a:ext cx="6638544" cy="365760"/>
          </a:xfrm>
          <a:prstGeom prst="rect">
            <a:avLst/>
          </a:prstGeom>
          <a:noFill/>
        </p:spPr>
        <p:txBody>
          <a:bodyPr wrap="square" anchor="ctr" lIns="45720" rIns="45720" tIns="9144" bIns="9144">
            <a:spAutoFit/>
          </a:bodyPr>
          <a:lstStyle/>
          <a:p>
            <a:pPr algn="l"/>
            <a:r>
              <a:rPr sz="1050" b="0" i="0">
                <a:solidFill>
                  <a:srgbClr val="334155"/>
                </a:solidFill>
                <a:latin typeface="Calibri"/>
              </a:rPr>
              <a:t>Referencia teórica, población finita</a:t>
            </a:r>
          </a:p>
        </p:txBody>
      </p:sp>
      <p:sp>
        <p:nvSpPr>
          <p:cNvPr id="42" name="Rectangle 41"/>
          <p:cNvSpPr/>
          <p:nvPr/>
        </p:nvSpPr>
        <p:spPr>
          <a:xfrm>
            <a:off x="320040" y="5449824"/>
            <a:ext cx="301752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338328" y="5449824"/>
            <a:ext cx="2980944" cy="365760"/>
          </a:xfrm>
          <a:prstGeom prst="rect">
            <a:avLst/>
          </a:prstGeom>
          <a:noFill/>
        </p:spPr>
        <p:txBody>
          <a:bodyPr wrap="square" anchor="ctr" lIns="45720" rIns="45720" tIns="9144" bIns="9144">
            <a:spAutoFit/>
          </a:bodyPr>
          <a:lstStyle/>
          <a:p>
            <a:pPr algn="l"/>
            <a:r>
              <a:rPr sz="1050" b="0" i="0">
                <a:solidFill>
                  <a:srgbClr val="334155"/>
                </a:solidFill>
                <a:latin typeface="Calibri"/>
              </a:rPr>
              <a:t>Muestra para ± 5 % (95 %, p = q = 0.5)</a:t>
            </a:r>
          </a:p>
        </p:txBody>
      </p:sp>
      <p:sp>
        <p:nvSpPr>
          <p:cNvPr id="44" name="Rectangle 43"/>
          <p:cNvSpPr/>
          <p:nvPr/>
        </p:nvSpPr>
        <p:spPr>
          <a:xfrm>
            <a:off x="3337560" y="5449824"/>
            <a:ext cx="17373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3355848" y="5449824"/>
            <a:ext cx="1700784" cy="365760"/>
          </a:xfrm>
          <a:prstGeom prst="rect">
            <a:avLst/>
          </a:prstGeom>
          <a:noFill/>
        </p:spPr>
        <p:txBody>
          <a:bodyPr wrap="square" anchor="ctr" lIns="45720" rIns="45720" tIns="9144" bIns="9144">
            <a:spAutoFit/>
          </a:bodyPr>
          <a:lstStyle/>
          <a:p>
            <a:pPr algn="ctr"/>
            <a:r>
              <a:rPr sz="1050" b="0" i="0">
                <a:solidFill>
                  <a:srgbClr val="334155"/>
                </a:solidFill>
                <a:latin typeface="Calibri"/>
              </a:rPr>
              <a:t>218 encuestas</a:t>
            </a:r>
          </a:p>
        </p:txBody>
      </p:sp>
      <p:sp>
        <p:nvSpPr>
          <p:cNvPr id="46" name="Rectangle 45"/>
          <p:cNvSpPr/>
          <p:nvPr/>
        </p:nvSpPr>
        <p:spPr>
          <a:xfrm>
            <a:off x="5074920" y="5449824"/>
            <a:ext cx="667512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5093207" y="5449824"/>
            <a:ext cx="6638544" cy="365760"/>
          </a:xfrm>
          <a:prstGeom prst="rect">
            <a:avLst/>
          </a:prstGeom>
          <a:noFill/>
        </p:spPr>
        <p:txBody>
          <a:bodyPr wrap="square" anchor="ctr" lIns="45720" rIns="45720" tIns="9144" bIns="9144">
            <a:spAutoFit/>
          </a:bodyPr>
          <a:lstStyle/>
          <a:p>
            <a:pPr algn="l"/>
            <a:r>
              <a:rPr sz="1050" b="0" i="0">
                <a:solidFill>
                  <a:srgbClr val="334155"/>
                </a:solidFill>
                <a:latin typeface="Calibri"/>
              </a:rPr>
              <a:t>n = N·z²·p·q / [e²·(N−1) + z²·p·q]</a:t>
            </a:r>
          </a:p>
        </p:txBody>
      </p:sp>
      <p:sp>
        <p:nvSpPr>
          <p:cNvPr id="48" name="TextBox 47"/>
          <p:cNvSpPr txBox="1"/>
          <p:nvPr/>
        </p:nvSpPr>
        <p:spPr>
          <a:xfrm>
            <a:off x="320040" y="5897880"/>
            <a:ext cx="11430000" cy="548640"/>
          </a:xfrm>
          <a:prstGeom prst="rect">
            <a:avLst/>
          </a:prstGeom>
          <a:noFill/>
        </p:spPr>
        <p:txBody>
          <a:bodyPr wrap="square" anchor="t">
            <a:spAutoFit/>
          </a:bodyPr>
          <a:lstStyle/>
          <a:p>
            <a:pPr algn="l"/>
            <a:r>
              <a:rPr sz="1050" b="1" i="0">
                <a:solidFill>
                  <a:srgbClr val="334155"/>
                </a:solidFill>
                <a:latin typeface="Calibri"/>
              </a:rPr>
              <a:t>Cómo se lee la fórmula: </a:t>
            </a:r>
            <a:r>
              <a:rPr sz="1050" b="0" i="0">
                <a:solidFill>
                  <a:srgbClr val="334155"/>
                </a:solidFill>
                <a:latin typeface="Calibri"/>
              </a:rPr>
              <a:t>N = tamaño de la población (500); z = 1.96, valor para 95 % de confianza; p = q = 0.5, supuesto de máxima variabilidad; e = margen de error aceptado (0.05). Con las 63 encuestas del formulario el error es de ± 11.55 %.</a:t>
            </a:r>
          </a:p>
        </p:txBody>
      </p:sp>
      <p:sp>
        <p:nvSpPr>
          <p:cNvPr id="49" name="TextBox 48"/>
          <p:cNvSpPr txBox="1"/>
          <p:nvPr/>
        </p:nvSpPr>
        <p:spPr>
          <a:xfrm>
            <a:off x="320040" y="6583680"/>
            <a:ext cx="11521440" cy="201168"/>
          </a:xfrm>
          <a:prstGeom prst="rect">
            <a:avLst/>
          </a:prstGeom>
          <a:noFill/>
        </p:spPr>
        <p:txBody>
          <a:bodyPr wrap="square" anchor="ctr">
            <a:spAutoFit/>
          </a:bodyPr>
          <a:lstStyle/>
          <a:p>
            <a:pPr algn="ctr"/>
            <a:r>
              <a:rPr sz="800" b="0" i="0">
                <a:solidFill>
                  <a:srgbClr val="64748B"/>
                </a:solidFill>
                <a:latin typeface="Calibri"/>
              </a:rPr>
              <a:t>Maestría en Agronegocios · Universidad EAFIT · Zamorano · 2026   |   Caballero · Valladares · Medal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3657600" cy="256032"/>
          </a:xfrm>
          <a:prstGeom prst="rect">
            <a:avLst/>
          </a:prstGeom>
          <a:noFill/>
        </p:spPr>
        <p:txBody>
          <a:bodyPr wrap="square" anchor="ctr">
            <a:spAutoFit/>
          </a:bodyPr>
          <a:lstStyle/>
          <a:p>
            <a:pPr algn="l"/>
            <a:r>
              <a:rPr sz="900" b="1" i="0">
                <a:solidFill>
                  <a:srgbClr val="1A7A8A"/>
                </a:solidFill>
                <a:latin typeface="Calibri"/>
              </a:rPr>
              <a:t>TÉCNICO</a:t>
            </a:r>
          </a:p>
        </p:txBody>
      </p:sp>
      <p:sp>
        <p:nvSpPr>
          <p:cNvPr id="3" name="TextBox 2"/>
          <p:cNvSpPr txBox="1"/>
          <p:nvPr/>
        </p:nvSpPr>
        <p:spPr>
          <a:xfrm>
            <a:off x="320040" y="475488"/>
            <a:ext cx="11521440" cy="502920"/>
          </a:xfrm>
          <a:prstGeom prst="rect">
            <a:avLst/>
          </a:prstGeom>
          <a:noFill/>
        </p:spPr>
        <p:txBody>
          <a:bodyPr wrap="square" anchor="ctr">
            <a:spAutoFit/>
          </a:bodyPr>
          <a:lstStyle/>
          <a:p>
            <a:pPr algn="l"/>
            <a:r>
              <a:rPr sz="2600" b="1" i="0">
                <a:solidFill>
                  <a:srgbClr val="0D2341"/>
                </a:solidFill>
                <a:latin typeface="Calibri"/>
              </a:rPr>
              <a:t>Estudio Técnico · Tamaño del Proyecto y Equipos</a:t>
            </a:r>
          </a:p>
        </p:txBody>
      </p:sp>
      <p:sp>
        <p:nvSpPr>
          <p:cNvPr id="4" name="Rectangle 3"/>
          <p:cNvSpPr/>
          <p:nvPr/>
        </p:nvSpPr>
        <p:spPr>
          <a:xfrm>
            <a:off x="320040" y="1005840"/>
            <a:ext cx="11430000" cy="18288"/>
          </a:xfrm>
          <a:prstGeom prst="rect">
            <a:avLst/>
          </a:prstGeom>
          <a:solidFill>
            <a:srgbClr val="1A7A8A"/>
          </a:solidFill>
          <a:ln w="12700">
            <a:solidFill>
              <a:srgbClr val="1A7A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320040" y="1097280"/>
            <a:ext cx="5760720" cy="310896"/>
          </a:xfrm>
          <a:prstGeom prst="rect">
            <a:avLst/>
          </a:prstGeom>
          <a:noFill/>
        </p:spPr>
        <p:txBody>
          <a:bodyPr wrap="square" anchor="ctr">
            <a:spAutoFit/>
          </a:bodyPr>
          <a:lstStyle/>
          <a:p>
            <a:pPr algn="l"/>
            <a:r>
              <a:rPr sz="1300" b="1" i="0">
                <a:solidFill>
                  <a:srgbClr val="1B3A5C"/>
                </a:solidFill>
                <a:latin typeface="Calibri"/>
              </a:rPr>
              <a:t>Justificación del tamaño: demanda frente a capacidad</a:t>
            </a:r>
          </a:p>
        </p:txBody>
      </p:sp>
      <p:sp>
        <p:nvSpPr>
          <p:cNvPr id="6" name="Rectangle 5"/>
          <p:cNvSpPr/>
          <p:nvPr/>
        </p:nvSpPr>
        <p:spPr>
          <a:xfrm>
            <a:off x="320040" y="1463040"/>
            <a:ext cx="731520" cy="36576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38328" y="1463040"/>
            <a:ext cx="694944" cy="365760"/>
          </a:xfrm>
          <a:prstGeom prst="rect">
            <a:avLst/>
          </a:prstGeom>
          <a:noFill/>
        </p:spPr>
        <p:txBody>
          <a:bodyPr wrap="square" anchor="ctr" lIns="45720" rIns="45720" tIns="9144" bIns="9144">
            <a:spAutoFit/>
          </a:bodyPr>
          <a:lstStyle/>
          <a:p>
            <a:pPr algn="ctr"/>
            <a:r>
              <a:rPr sz="1050" b="1" i="0">
                <a:solidFill>
                  <a:srgbClr val="FFFFFF"/>
                </a:solidFill>
                <a:latin typeface="Calibri"/>
              </a:rPr>
              <a:t>Año</a:t>
            </a:r>
          </a:p>
        </p:txBody>
      </p:sp>
      <p:sp>
        <p:nvSpPr>
          <p:cNvPr id="8" name="Rectangle 7"/>
          <p:cNvSpPr/>
          <p:nvPr/>
        </p:nvSpPr>
        <p:spPr>
          <a:xfrm>
            <a:off x="1051560" y="1463040"/>
            <a:ext cx="1005840" cy="36576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69848" y="1463040"/>
            <a:ext cx="969264" cy="365760"/>
          </a:xfrm>
          <a:prstGeom prst="rect">
            <a:avLst/>
          </a:prstGeom>
          <a:noFill/>
        </p:spPr>
        <p:txBody>
          <a:bodyPr wrap="square" anchor="ctr" lIns="45720" rIns="45720" tIns="9144" bIns="9144">
            <a:spAutoFit/>
          </a:bodyPr>
          <a:lstStyle/>
          <a:p>
            <a:pPr algn="ctr"/>
            <a:r>
              <a:rPr sz="1050" b="1" i="0">
                <a:solidFill>
                  <a:srgbClr val="FFFFFF"/>
                </a:solidFill>
                <a:latin typeface="Calibri"/>
              </a:rPr>
              <a:t>Clientes</a:t>
            </a:r>
          </a:p>
        </p:txBody>
      </p:sp>
      <p:sp>
        <p:nvSpPr>
          <p:cNvPr id="10" name="Rectangle 9"/>
          <p:cNvSpPr/>
          <p:nvPr/>
        </p:nvSpPr>
        <p:spPr>
          <a:xfrm>
            <a:off x="2057400" y="1463040"/>
            <a:ext cx="1371600" cy="36576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075688" y="1463040"/>
            <a:ext cx="1335024" cy="365760"/>
          </a:xfrm>
          <a:prstGeom prst="rect">
            <a:avLst/>
          </a:prstGeom>
          <a:noFill/>
        </p:spPr>
        <p:txBody>
          <a:bodyPr wrap="square" anchor="ctr" lIns="45720" rIns="45720" tIns="9144" bIns="9144">
            <a:spAutoFit/>
          </a:bodyPr>
          <a:lstStyle/>
          <a:p>
            <a:pPr algn="ctr"/>
            <a:r>
              <a:rPr sz="1050" b="1" i="0">
                <a:solidFill>
                  <a:srgbClr val="FFFFFF"/>
                </a:solidFill>
                <a:latin typeface="Calibri"/>
              </a:rPr>
              <a:t>Leche cruda (L/día)</a:t>
            </a:r>
          </a:p>
        </p:txBody>
      </p:sp>
      <p:sp>
        <p:nvSpPr>
          <p:cNvPr id="12" name="Rectangle 11"/>
          <p:cNvSpPr/>
          <p:nvPr/>
        </p:nvSpPr>
        <p:spPr>
          <a:xfrm>
            <a:off x="3429000" y="1463040"/>
            <a:ext cx="1325880" cy="36576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447288" y="1463040"/>
            <a:ext cx="1289304" cy="365760"/>
          </a:xfrm>
          <a:prstGeom prst="rect">
            <a:avLst/>
          </a:prstGeom>
          <a:noFill/>
        </p:spPr>
        <p:txBody>
          <a:bodyPr wrap="square" anchor="ctr" lIns="45720" rIns="45720" tIns="9144" bIns="9144">
            <a:spAutoFit/>
          </a:bodyPr>
          <a:lstStyle/>
          <a:p>
            <a:pPr algn="ctr"/>
            <a:r>
              <a:rPr sz="1050" b="1" i="0">
                <a:solidFill>
                  <a:srgbClr val="FFFFFF"/>
                </a:solidFill>
                <a:latin typeface="Calibri"/>
              </a:rPr>
              <a:t>Uso de 1,000 L/día</a:t>
            </a:r>
          </a:p>
        </p:txBody>
      </p:sp>
      <p:sp>
        <p:nvSpPr>
          <p:cNvPr id="14" name="Rectangle 13"/>
          <p:cNvSpPr/>
          <p:nvPr/>
        </p:nvSpPr>
        <p:spPr>
          <a:xfrm>
            <a:off x="4754880" y="1463040"/>
            <a:ext cx="1325880" cy="36576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773168" y="1463040"/>
            <a:ext cx="1289304" cy="365760"/>
          </a:xfrm>
          <a:prstGeom prst="rect">
            <a:avLst/>
          </a:prstGeom>
          <a:noFill/>
        </p:spPr>
        <p:txBody>
          <a:bodyPr wrap="square" anchor="ctr" lIns="45720" rIns="45720" tIns="9144" bIns="9144">
            <a:spAutoFit/>
          </a:bodyPr>
          <a:lstStyle/>
          <a:p>
            <a:pPr algn="ctr"/>
            <a:r>
              <a:rPr sz="1050" b="1" i="0">
                <a:solidFill>
                  <a:srgbClr val="FFFFFF"/>
                </a:solidFill>
                <a:latin typeface="Calibri"/>
              </a:rPr>
              <a:t>Uso de 5,000 L/día</a:t>
            </a:r>
          </a:p>
        </p:txBody>
      </p:sp>
      <p:sp>
        <p:nvSpPr>
          <p:cNvPr id="16" name="Rectangle 15"/>
          <p:cNvSpPr/>
          <p:nvPr/>
        </p:nvSpPr>
        <p:spPr>
          <a:xfrm>
            <a:off x="320040" y="1828800"/>
            <a:ext cx="73152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38328" y="1828800"/>
            <a:ext cx="694944" cy="365760"/>
          </a:xfrm>
          <a:prstGeom prst="rect">
            <a:avLst/>
          </a:prstGeom>
          <a:noFill/>
        </p:spPr>
        <p:txBody>
          <a:bodyPr wrap="square" anchor="ctr" lIns="45720" rIns="45720" tIns="9144" bIns="9144">
            <a:spAutoFit/>
          </a:bodyPr>
          <a:lstStyle/>
          <a:p>
            <a:pPr algn="ctr"/>
            <a:r>
              <a:rPr sz="1100" b="0" i="0">
                <a:solidFill>
                  <a:srgbClr val="334155"/>
                </a:solidFill>
                <a:latin typeface="Calibri"/>
              </a:rPr>
              <a:t>1</a:t>
            </a:r>
          </a:p>
        </p:txBody>
      </p:sp>
      <p:sp>
        <p:nvSpPr>
          <p:cNvPr id="18" name="Rectangle 17"/>
          <p:cNvSpPr/>
          <p:nvPr/>
        </p:nvSpPr>
        <p:spPr>
          <a:xfrm>
            <a:off x="1051560" y="1828800"/>
            <a:ext cx="100584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69848" y="1828800"/>
            <a:ext cx="969264" cy="365760"/>
          </a:xfrm>
          <a:prstGeom prst="rect">
            <a:avLst/>
          </a:prstGeom>
          <a:noFill/>
        </p:spPr>
        <p:txBody>
          <a:bodyPr wrap="square" anchor="ctr" lIns="45720" rIns="45720" tIns="9144" bIns="9144">
            <a:spAutoFit/>
          </a:bodyPr>
          <a:lstStyle/>
          <a:p>
            <a:pPr algn="ctr"/>
            <a:r>
              <a:rPr sz="1100" b="0" i="0">
                <a:solidFill>
                  <a:srgbClr val="334155"/>
                </a:solidFill>
                <a:latin typeface="Calibri"/>
              </a:rPr>
              <a:t>60</a:t>
            </a:r>
          </a:p>
        </p:txBody>
      </p:sp>
      <p:sp>
        <p:nvSpPr>
          <p:cNvPr id="20" name="Rectangle 19"/>
          <p:cNvSpPr/>
          <p:nvPr/>
        </p:nvSpPr>
        <p:spPr>
          <a:xfrm>
            <a:off x="2057400" y="1828800"/>
            <a:ext cx="137160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075688" y="1828800"/>
            <a:ext cx="1335024" cy="365760"/>
          </a:xfrm>
          <a:prstGeom prst="rect">
            <a:avLst/>
          </a:prstGeom>
          <a:noFill/>
        </p:spPr>
        <p:txBody>
          <a:bodyPr wrap="square" anchor="ctr" lIns="45720" rIns="45720" tIns="9144" bIns="9144">
            <a:spAutoFit/>
          </a:bodyPr>
          <a:lstStyle/>
          <a:p>
            <a:pPr algn="r"/>
            <a:r>
              <a:rPr sz="1100" b="0" i="0">
                <a:solidFill>
                  <a:srgbClr val="334155"/>
                </a:solidFill>
                <a:latin typeface="Calibri"/>
              </a:rPr>
              <a:t>305</a:t>
            </a:r>
          </a:p>
        </p:txBody>
      </p:sp>
      <p:sp>
        <p:nvSpPr>
          <p:cNvPr id="22" name="Rectangle 21"/>
          <p:cNvSpPr/>
          <p:nvPr/>
        </p:nvSpPr>
        <p:spPr>
          <a:xfrm>
            <a:off x="3429000" y="1828800"/>
            <a:ext cx="132588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447288" y="1828800"/>
            <a:ext cx="1289304" cy="365760"/>
          </a:xfrm>
          <a:prstGeom prst="rect">
            <a:avLst/>
          </a:prstGeom>
          <a:noFill/>
        </p:spPr>
        <p:txBody>
          <a:bodyPr wrap="square" anchor="ctr" lIns="45720" rIns="45720" tIns="9144" bIns="9144">
            <a:spAutoFit/>
          </a:bodyPr>
          <a:lstStyle/>
          <a:p>
            <a:pPr algn="r"/>
            <a:r>
              <a:rPr sz="1100" b="0" i="0">
                <a:solidFill>
                  <a:srgbClr val="334155"/>
                </a:solidFill>
                <a:latin typeface="Calibri"/>
              </a:rPr>
              <a:t>30.5 %</a:t>
            </a:r>
          </a:p>
        </p:txBody>
      </p:sp>
      <p:sp>
        <p:nvSpPr>
          <p:cNvPr id="24" name="Rectangle 23"/>
          <p:cNvSpPr/>
          <p:nvPr/>
        </p:nvSpPr>
        <p:spPr>
          <a:xfrm>
            <a:off x="4754880" y="1828800"/>
            <a:ext cx="132588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773168" y="1828800"/>
            <a:ext cx="1289304" cy="365760"/>
          </a:xfrm>
          <a:prstGeom prst="rect">
            <a:avLst/>
          </a:prstGeom>
          <a:noFill/>
        </p:spPr>
        <p:txBody>
          <a:bodyPr wrap="square" anchor="ctr" lIns="45720" rIns="45720" tIns="9144" bIns="9144">
            <a:spAutoFit/>
          </a:bodyPr>
          <a:lstStyle/>
          <a:p>
            <a:pPr algn="r"/>
            <a:r>
              <a:rPr sz="1100" b="0" i="0">
                <a:solidFill>
                  <a:srgbClr val="334155"/>
                </a:solidFill>
                <a:latin typeface="Calibri"/>
              </a:rPr>
              <a:t>6.1 %</a:t>
            </a:r>
          </a:p>
        </p:txBody>
      </p:sp>
      <p:sp>
        <p:nvSpPr>
          <p:cNvPr id="26" name="Rectangle 25"/>
          <p:cNvSpPr/>
          <p:nvPr/>
        </p:nvSpPr>
        <p:spPr>
          <a:xfrm>
            <a:off x="320040" y="2194560"/>
            <a:ext cx="73152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338328" y="2194560"/>
            <a:ext cx="694944" cy="365760"/>
          </a:xfrm>
          <a:prstGeom prst="rect">
            <a:avLst/>
          </a:prstGeom>
          <a:noFill/>
        </p:spPr>
        <p:txBody>
          <a:bodyPr wrap="square" anchor="ctr" lIns="45720" rIns="45720" tIns="9144" bIns="9144">
            <a:spAutoFit/>
          </a:bodyPr>
          <a:lstStyle/>
          <a:p>
            <a:pPr algn="ctr"/>
            <a:r>
              <a:rPr sz="1100" b="0" i="0">
                <a:solidFill>
                  <a:srgbClr val="334155"/>
                </a:solidFill>
                <a:latin typeface="Calibri"/>
              </a:rPr>
              <a:t>2</a:t>
            </a:r>
          </a:p>
        </p:txBody>
      </p:sp>
      <p:sp>
        <p:nvSpPr>
          <p:cNvPr id="28" name="Rectangle 27"/>
          <p:cNvSpPr/>
          <p:nvPr/>
        </p:nvSpPr>
        <p:spPr>
          <a:xfrm>
            <a:off x="1051560" y="2194560"/>
            <a:ext cx="100584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69848" y="2194560"/>
            <a:ext cx="969264" cy="365760"/>
          </a:xfrm>
          <a:prstGeom prst="rect">
            <a:avLst/>
          </a:prstGeom>
          <a:noFill/>
        </p:spPr>
        <p:txBody>
          <a:bodyPr wrap="square" anchor="ctr" lIns="45720" rIns="45720" tIns="9144" bIns="9144">
            <a:spAutoFit/>
          </a:bodyPr>
          <a:lstStyle/>
          <a:p>
            <a:pPr algn="ctr"/>
            <a:r>
              <a:rPr sz="1100" b="0" i="0">
                <a:solidFill>
                  <a:srgbClr val="334155"/>
                </a:solidFill>
                <a:latin typeface="Calibri"/>
              </a:rPr>
              <a:t>100</a:t>
            </a:r>
          </a:p>
        </p:txBody>
      </p:sp>
      <p:sp>
        <p:nvSpPr>
          <p:cNvPr id="30" name="Rectangle 29"/>
          <p:cNvSpPr/>
          <p:nvPr/>
        </p:nvSpPr>
        <p:spPr>
          <a:xfrm>
            <a:off x="2057400" y="2194560"/>
            <a:ext cx="137160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2075688" y="2194560"/>
            <a:ext cx="1335024" cy="365760"/>
          </a:xfrm>
          <a:prstGeom prst="rect">
            <a:avLst/>
          </a:prstGeom>
          <a:noFill/>
        </p:spPr>
        <p:txBody>
          <a:bodyPr wrap="square" anchor="ctr" lIns="45720" rIns="45720" tIns="9144" bIns="9144">
            <a:spAutoFit/>
          </a:bodyPr>
          <a:lstStyle/>
          <a:p>
            <a:pPr algn="r"/>
            <a:r>
              <a:rPr sz="1100" b="0" i="0">
                <a:solidFill>
                  <a:srgbClr val="334155"/>
                </a:solidFill>
                <a:latin typeface="Calibri"/>
              </a:rPr>
              <a:t>508</a:t>
            </a:r>
          </a:p>
        </p:txBody>
      </p:sp>
      <p:sp>
        <p:nvSpPr>
          <p:cNvPr id="32" name="Rectangle 31"/>
          <p:cNvSpPr/>
          <p:nvPr/>
        </p:nvSpPr>
        <p:spPr>
          <a:xfrm>
            <a:off x="3429000" y="2194560"/>
            <a:ext cx="132588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3447288" y="2194560"/>
            <a:ext cx="1289304" cy="365760"/>
          </a:xfrm>
          <a:prstGeom prst="rect">
            <a:avLst/>
          </a:prstGeom>
          <a:noFill/>
        </p:spPr>
        <p:txBody>
          <a:bodyPr wrap="square" anchor="ctr" lIns="45720" rIns="45720" tIns="9144" bIns="9144">
            <a:spAutoFit/>
          </a:bodyPr>
          <a:lstStyle/>
          <a:p>
            <a:pPr algn="r"/>
            <a:r>
              <a:rPr sz="1100" b="0" i="0">
                <a:solidFill>
                  <a:srgbClr val="334155"/>
                </a:solidFill>
                <a:latin typeface="Calibri"/>
              </a:rPr>
              <a:t>50.8 %</a:t>
            </a:r>
          </a:p>
        </p:txBody>
      </p:sp>
      <p:sp>
        <p:nvSpPr>
          <p:cNvPr id="34" name="Rectangle 33"/>
          <p:cNvSpPr/>
          <p:nvPr/>
        </p:nvSpPr>
        <p:spPr>
          <a:xfrm>
            <a:off x="4754880" y="2194560"/>
            <a:ext cx="132588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4773168" y="2194560"/>
            <a:ext cx="1289304" cy="365760"/>
          </a:xfrm>
          <a:prstGeom prst="rect">
            <a:avLst/>
          </a:prstGeom>
          <a:noFill/>
        </p:spPr>
        <p:txBody>
          <a:bodyPr wrap="square" anchor="ctr" lIns="45720" rIns="45720" tIns="9144" bIns="9144">
            <a:spAutoFit/>
          </a:bodyPr>
          <a:lstStyle/>
          <a:p>
            <a:pPr algn="r"/>
            <a:r>
              <a:rPr sz="1100" b="0" i="0">
                <a:solidFill>
                  <a:srgbClr val="334155"/>
                </a:solidFill>
                <a:latin typeface="Calibri"/>
              </a:rPr>
              <a:t>10.2 %</a:t>
            </a:r>
          </a:p>
        </p:txBody>
      </p:sp>
      <p:sp>
        <p:nvSpPr>
          <p:cNvPr id="36" name="Rectangle 35"/>
          <p:cNvSpPr/>
          <p:nvPr/>
        </p:nvSpPr>
        <p:spPr>
          <a:xfrm>
            <a:off x="320040" y="2560320"/>
            <a:ext cx="73152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38328" y="2560320"/>
            <a:ext cx="694944" cy="365760"/>
          </a:xfrm>
          <a:prstGeom prst="rect">
            <a:avLst/>
          </a:prstGeom>
          <a:noFill/>
        </p:spPr>
        <p:txBody>
          <a:bodyPr wrap="square" anchor="ctr" lIns="45720" rIns="45720" tIns="9144" bIns="9144">
            <a:spAutoFit/>
          </a:bodyPr>
          <a:lstStyle/>
          <a:p>
            <a:pPr algn="ctr"/>
            <a:r>
              <a:rPr sz="1100" b="0" i="0">
                <a:solidFill>
                  <a:srgbClr val="334155"/>
                </a:solidFill>
                <a:latin typeface="Calibri"/>
              </a:rPr>
              <a:t>3</a:t>
            </a:r>
          </a:p>
        </p:txBody>
      </p:sp>
      <p:sp>
        <p:nvSpPr>
          <p:cNvPr id="38" name="Rectangle 37"/>
          <p:cNvSpPr/>
          <p:nvPr/>
        </p:nvSpPr>
        <p:spPr>
          <a:xfrm>
            <a:off x="1051560" y="2560320"/>
            <a:ext cx="100584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69848" y="2560320"/>
            <a:ext cx="969264" cy="365760"/>
          </a:xfrm>
          <a:prstGeom prst="rect">
            <a:avLst/>
          </a:prstGeom>
          <a:noFill/>
        </p:spPr>
        <p:txBody>
          <a:bodyPr wrap="square" anchor="ctr" lIns="45720" rIns="45720" tIns="9144" bIns="9144">
            <a:spAutoFit/>
          </a:bodyPr>
          <a:lstStyle/>
          <a:p>
            <a:pPr algn="ctr"/>
            <a:r>
              <a:rPr sz="1100" b="0" i="0">
                <a:solidFill>
                  <a:srgbClr val="334155"/>
                </a:solidFill>
                <a:latin typeface="Calibri"/>
              </a:rPr>
              <a:t>150</a:t>
            </a:r>
          </a:p>
        </p:txBody>
      </p:sp>
      <p:sp>
        <p:nvSpPr>
          <p:cNvPr id="40" name="Rectangle 39"/>
          <p:cNvSpPr/>
          <p:nvPr/>
        </p:nvSpPr>
        <p:spPr>
          <a:xfrm>
            <a:off x="2057400" y="2560320"/>
            <a:ext cx="137160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2075688" y="2560320"/>
            <a:ext cx="1335024" cy="365760"/>
          </a:xfrm>
          <a:prstGeom prst="rect">
            <a:avLst/>
          </a:prstGeom>
          <a:noFill/>
        </p:spPr>
        <p:txBody>
          <a:bodyPr wrap="square" anchor="ctr" lIns="45720" rIns="45720" tIns="9144" bIns="9144">
            <a:spAutoFit/>
          </a:bodyPr>
          <a:lstStyle/>
          <a:p>
            <a:pPr algn="r"/>
            <a:r>
              <a:rPr sz="1100" b="0" i="0">
                <a:solidFill>
                  <a:srgbClr val="334155"/>
                </a:solidFill>
                <a:latin typeface="Calibri"/>
              </a:rPr>
              <a:t>763</a:t>
            </a:r>
          </a:p>
        </p:txBody>
      </p:sp>
      <p:sp>
        <p:nvSpPr>
          <p:cNvPr id="42" name="Rectangle 41"/>
          <p:cNvSpPr/>
          <p:nvPr/>
        </p:nvSpPr>
        <p:spPr>
          <a:xfrm>
            <a:off x="3429000" y="2560320"/>
            <a:ext cx="132588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3447288" y="2560320"/>
            <a:ext cx="1289304" cy="365760"/>
          </a:xfrm>
          <a:prstGeom prst="rect">
            <a:avLst/>
          </a:prstGeom>
          <a:noFill/>
        </p:spPr>
        <p:txBody>
          <a:bodyPr wrap="square" anchor="ctr" lIns="45720" rIns="45720" tIns="9144" bIns="9144">
            <a:spAutoFit/>
          </a:bodyPr>
          <a:lstStyle/>
          <a:p>
            <a:pPr algn="r"/>
            <a:r>
              <a:rPr sz="1100" b="0" i="0">
                <a:solidFill>
                  <a:srgbClr val="334155"/>
                </a:solidFill>
                <a:latin typeface="Calibri"/>
              </a:rPr>
              <a:t>76.3 %</a:t>
            </a:r>
          </a:p>
        </p:txBody>
      </p:sp>
      <p:sp>
        <p:nvSpPr>
          <p:cNvPr id="44" name="Rectangle 43"/>
          <p:cNvSpPr/>
          <p:nvPr/>
        </p:nvSpPr>
        <p:spPr>
          <a:xfrm>
            <a:off x="4754880" y="2560320"/>
            <a:ext cx="132588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4773168" y="2560320"/>
            <a:ext cx="1289304" cy="365760"/>
          </a:xfrm>
          <a:prstGeom prst="rect">
            <a:avLst/>
          </a:prstGeom>
          <a:noFill/>
        </p:spPr>
        <p:txBody>
          <a:bodyPr wrap="square" anchor="ctr" lIns="45720" rIns="45720" tIns="9144" bIns="9144">
            <a:spAutoFit/>
          </a:bodyPr>
          <a:lstStyle/>
          <a:p>
            <a:pPr algn="r"/>
            <a:r>
              <a:rPr sz="1100" b="0" i="0">
                <a:solidFill>
                  <a:srgbClr val="334155"/>
                </a:solidFill>
                <a:latin typeface="Calibri"/>
              </a:rPr>
              <a:t>15.3 %</a:t>
            </a:r>
          </a:p>
        </p:txBody>
      </p:sp>
      <p:sp>
        <p:nvSpPr>
          <p:cNvPr id="46" name="Rectangle 45"/>
          <p:cNvSpPr/>
          <p:nvPr/>
        </p:nvSpPr>
        <p:spPr>
          <a:xfrm>
            <a:off x="320040" y="2926079"/>
            <a:ext cx="73152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338328" y="2926079"/>
            <a:ext cx="694944" cy="365760"/>
          </a:xfrm>
          <a:prstGeom prst="rect">
            <a:avLst/>
          </a:prstGeom>
          <a:noFill/>
        </p:spPr>
        <p:txBody>
          <a:bodyPr wrap="square" anchor="ctr" lIns="45720" rIns="45720" tIns="9144" bIns="9144">
            <a:spAutoFit/>
          </a:bodyPr>
          <a:lstStyle/>
          <a:p>
            <a:pPr algn="ctr"/>
            <a:r>
              <a:rPr sz="1100" b="0" i="0">
                <a:solidFill>
                  <a:srgbClr val="334155"/>
                </a:solidFill>
                <a:latin typeface="Calibri"/>
              </a:rPr>
              <a:t>4</a:t>
            </a:r>
          </a:p>
        </p:txBody>
      </p:sp>
      <p:sp>
        <p:nvSpPr>
          <p:cNvPr id="48" name="Rectangle 47"/>
          <p:cNvSpPr/>
          <p:nvPr/>
        </p:nvSpPr>
        <p:spPr>
          <a:xfrm>
            <a:off x="1051560" y="2926079"/>
            <a:ext cx="100584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069848" y="2926079"/>
            <a:ext cx="969264" cy="365760"/>
          </a:xfrm>
          <a:prstGeom prst="rect">
            <a:avLst/>
          </a:prstGeom>
          <a:noFill/>
        </p:spPr>
        <p:txBody>
          <a:bodyPr wrap="square" anchor="ctr" lIns="45720" rIns="45720" tIns="9144" bIns="9144">
            <a:spAutoFit/>
          </a:bodyPr>
          <a:lstStyle/>
          <a:p>
            <a:pPr algn="ctr"/>
            <a:r>
              <a:rPr sz="1100" b="0" i="0">
                <a:solidFill>
                  <a:srgbClr val="334155"/>
                </a:solidFill>
                <a:latin typeface="Calibri"/>
              </a:rPr>
              <a:t>210</a:t>
            </a:r>
          </a:p>
        </p:txBody>
      </p:sp>
      <p:sp>
        <p:nvSpPr>
          <p:cNvPr id="50" name="Rectangle 49"/>
          <p:cNvSpPr/>
          <p:nvPr/>
        </p:nvSpPr>
        <p:spPr>
          <a:xfrm>
            <a:off x="2057400" y="2926079"/>
            <a:ext cx="137160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2075688" y="2926079"/>
            <a:ext cx="1335024" cy="365760"/>
          </a:xfrm>
          <a:prstGeom prst="rect">
            <a:avLst/>
          </a:prstGeom>
          <a:noFill/>
        </p:spPr>
        <p:txBody>
          <a:bodyPr wrap="square" anchor="ctr" lIns="45720" rIns="45720" tIns="9144" bIns="9144">
            <a:spAutoFit/>
          </a:bodyPr>
          <a:lstStyle/>
          <a:p>
            <a:pPr algn="r"/>
            <a:r>
              <a:rPr sz="1100" b="0" i="0">
                <a:solidFill>
                  <a:srgbClr val="334155"/>
                </a:solidFill>
                <a:latin typeface="Calibri"/>
              </a:rPr>
              <a:t>1,068</a:t>
            </a:r>
          </a:p>
        </p:txBody>
      </p:sp>
      <p:sp>
        <p:nvSpPr>
          <p:cNvPr id="52" name="Rectangle 51"/>
          <p:cNvSpPr/>
          <p:nvPr/>
        </p:nvSpPr>
        <p:spPr>
          <a:xfrm>
            <a:off x="3429000" y="2926079"/>
            <a:ext cx="132588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3447288" y="2926079"/>
            <a:ext cx="1289304" cy="365760"/>
          </a:xfrm>
          <a:prstGeom prst="rect">
            <a:avLst/>
          </a:prstGeom>
          <a:noFill/>
        </p:spPr>
        <p:txBody>
          <a:bodyPr wrap="square" anchor="ctr" lIns="45720" rIns="45720" tIns="9144" bIns="9144">
            <a:spAutoFit/>
          </a:bodyPr>
          <a:lstStyle/>
          <a:p>
            <a:pPr algn="r"/>
            <a:r>
              <a:rPr sz="1100" b="0" i="0">
                <a:solidFill>
                  <a:srgbClr val="334155"/>
                </a:solidFill>
                <a:latin typeface="Calibri"/>
              </a:rPr>
              <a:t>106.8 %</a:t>
            </a:r>
          </a:p>
        </p:txBody>
      </p:sp>
      <p:sp>
        <p:nvSpPr>
          <p:cNvPr id="54" name="Rectangle 53"/>
          <p:cNvSpPr/>
          <p:nvPr/>
        </p:nvSpPr>
        <p:spPr>
          <a:xfrm>
            <a:off x="4754880" y="2926079"/>
            <a:ext cx="132588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4773168" y="2926079"/>
            <a:ext cx="1289304" cy="365760"/>
          </a:xfrm>
          <a:prstGeom prst="rect">
            <a:avLst/>
          </a:prstGeom>
          <a:noFill/>
        </p:spPr>
        <p:txBody>
          <a:bodyPr wrap="square" anchor="ctr" lIns="45720" rIns="45720" tIns="9144" bIns="9144">
            <a:spAutoFit/>
          </a:bodyPr>
          <a:lstStyle/>
          <a:p>
            <a:pPr algn="r"/>
            <a:r>
              <a:rPr sz="1100" b="0" i="0">
                <a:solidFill>
                  <a:srgbClr val="334155"/>
                </a:solidFill>
                <a:latin typeface="Calibri"/>
              </a:rPr>
              <a:t>21.4 %</a:t>
            </a:r>
          </a:p>
        </p:txBody>
      </p:sp>
      <p:sp>
        <p:nvSpPr>
          <p:cNvPr id="56" name="Rectangle 55"/>
          <p:cNvSpPr/>
          <p:nvPr/>
        </p:nvSpPr>
        <p:spPr>
          <a:xfrm>
            <a:off x="320040" y="3291839"/>
            <a:ext cx="73152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338328" y="3291839"/>
            <a:ext cx="694944" cy="365760"/>
          </a:xfrm>
          <a:prstGeom prst="rect">
            <a:avLst/>
          </a:prstGeom>
          <a:noFill/>
        </p:spPr>
        <p:txBody>
          <a:bodyPr wrap="square" anchor="ctr" lIns="45720" rIns="45720" tIns="9144" bIns="9144">
            <a:spAutoFit/>
          </a:bodyPr>
          <a:lstStyle/>
          <a:p>
            <a:pPr algn="ctr"/>
            <a:r>
              <a:rPr sz="1100" b="0" i="0">
                <a:solidFill>
                  <a:srgbClr val="334155"/>
                </a:solidFill>
                <a:latin typeface="Calibri"/>
              </a:rPr>
              <a:t>5</a:t>
            </a:r>
          </a:p>
        </p:txBody>
      </p:sp>
      <p:sp>
        <p:nvSpPr>
          <p:cNvPr id="58" name="Rectangle 57"/>
          <p:cNvSpPr/>
          <p:nvPr/>
        </p:nvSpPr>
        <p:spPr>
          <a:xfrm>
            <a:off x="1051560" y="3291839"/>
            <a:ext cx="100584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1069848" y="3291839"/>
            <a:ext cx="969264" cy="365760"/>
          </a:xfrm>
          <a:prstGeom prst="rect">
            <a:avLst/>
          </a:prstGeom>
          <a:noFill/>
        </p:spPr>
        <p:txBody>
          <a:bodyPr wrap="square" anchor="ctr" lIns="45720" rIns="45720" tIns="9144" bIns="9144">
            <a:spAutoFit/>
          </a:bodyPr>
          <a:lstStyle/>
          <a:p>
            <a:pPr algn="ctr"/>
            <a:r>
              <a:rPr sz="1100" b="0" i="0">
                <a:solidFill>
                  <a:srgbClr val="334155"/>
                </a:solidFill>
                <a:latin typeface="Calibri"/>
              </a:rPr>
              <a:t>280</a:t>
            </a:r>
          </a:p>
        </p:txBody>
      </p:sp>
      <p:sp>
        <p:nvSpPr>
          <p:cNvPr id="60" name="Rectangle 59"/>
          <p:cNvSpPr/>
          <p:nvPr/>
        </p:nvSpPr>
        <p:spPr>
          <a:xfrm>
            <a:off x="2057400" y="3291839"/>
            <a:ext cx="137160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2075688" y="3291839"/>
            <a:ext cx="1335024" cy="365760"/>
          </a:xfrm>
          <a:prstGeom prst="rect">
            <a:avLst/>
          </a:prstGeom>
          <a:noFill/>
        </p:spPr>
        <p:txBody>
          <a:bodyPr wrap="square" anchor="ctr" lIns="45720" rIns="45720" tIns="9144" bIns="9144">
            <a:spAutoFit/>
          </a:bodyPr>
          <a:lstStyle/>
          <a:p>
            <a:pPr algn="r"/>
            <a:r>
              <a:rPr sz="1100" b="0" i="0">
                <a:solidFill>
                  <a:srgbClr val="334155"/>
                </a:solidFill>
                <a:latin typeface="Calibri"/>
              </a:rPr>
              <a:t>1,424</a:t>
            </a:r>
          </a:p>
        </p:txBody>
      </p:sp>
      <p:sp>
        <p:nvSpPr>
          <p:cNvPr id="62" name="Rectangle 61"/>
          <p:cNvSpPr/>
          <p:nvPr/>
        </p:nvSpPr>
        <p:spPr>
          <a:xfrm>
            <a:off x="3429000" y="3291839"/>
            <a:ext cx="132588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3447288" y="3291839"/>
            <a:ext cx="1289304" cy="365760"/>
          </a:xfrm>
          <a:prstGeom prst="rect">
            <a:avLst/>
          </a:prstGeom>
          <a:noFill/>
        </p:spPr>
        <p:txBody>
          <a:bodyPr wrap="square" anchor="ctr" lIns="45720" rIns="45720" tIns="9144" bIns="9144">
            <a:spAutoFit/>
          </a:bodyPr>
          <a:lstStyle/>
          <a:p>
            <a:pPr algn="r"/>
            <a:r>
              <a:rPr sz="1100" b="0" i="0">
                <a:solidFill>
                  <a:srgbClr val="334155"/>
                </a:solidFill>
                <a:latin typeface="Calibri"/>
              </a:rPr>
              <a:t>142.4 %</a:t>
            </a:r>
          </a:p>
        </p:txBody>
      </p:sp>
      <p:sp>
        <p:nvSpPr>
          <p:cNvPr id="64" name="Rectangle 63"/>
          <p:cNvSpPr/>
          <p:nvPr/>
        </p:nvSpPr>
        <p:spPr>
          <a:xfrm>
            <a:off x="4754880" y="3291839"/>
            <a:ext cx="132588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4773168" y="3291839"/>
            <a:ext cx="1289304" cy="365760"/>
          </a:xfrm>
          <a:prstGeom prst="rect">
            <a:avLst/>
          </a:prstGeom>
          <a:noFill/>
        </p:spPr>
        <p:txBody>
          <a:bodyPr wrap="square" anchor="ctr" lIns="45720" rIns="45720" tIns="9144" bIns="9144">
            <a:spAutoFit/>
          </a:bodyPr>
          <a:lstStyle/>
          <a:p>
            <a:pPr algn="r"/>
            <a:r>
              <a:rPr sz="1100" b="0" i="0">
                <a:solidFill>
                  <a:srgbClr val="334155"/>
                </a:solidFill>
                <a:latin typeface="Calibri"/>
              </a:rPr>
              <a:t>28.5 %</a:t>
            </a:r>
          </a:p>
        </p:txBody>
      </p:sp>
      <p:sp>
        <p:nvSpPr>
          <p:cNvPr id="66" name="Rectangle 65"/>
          <p:cNvSpPr/>
          <p:nvPr/>
        </p:nvSpPr>
        <p:spPr>
          <a:xfrm>
            <a:off x="320040" y="3657599"/>
            <a:ext cx="73152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338328" y="3657599"/>
            <a:ext cx="694944" cy="365760"/>
          </a:xfrm>
          <a:prstGeom prst="rect">
            <a:avLst/>
          </a:prstGeom>
          <a:noFill/>
        </p:spPr>
        <p:txBody>
          <a:bodyPr wrap="square" anchor="ctr" lIns="45720" rIns="45720" tIns="9144" bIns="9144">
            <a:spAutoFit/>
          </a:bodyPr>
          <a:lstStyle/>
          <a:p>
            <a:pPr algn="ctr"/>
            <a:r>
              <a:rPr sz="1100" b="0" i="0">
                <a:solidFill>
                  <a:srgbClr val="334155"/>
                </a:solidFill>
                <a:latin typeface="Calibri"/>
              </a:rPr>
              <a:t>10</a:t>
            </a:r>
          </a:p>
        </p:txBody>
      </p:sp>
      <p:sp>
        <p:nvSpPr>
          <p:cNvPr id="68" name="Rectangle 67"/>
          <p:cNvSpPr/>
          <p:nvPr/>
        </p:nvSpPr>
        <p:spPr>
          <a:xfrm>
            <a:off x="1051560" y="3657599"/>
            <a:ext cx="100584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1069848" y="3657599"/>
            <a:ext cx="969264" cy="365760"/>
          </a:xfrm>
          <a:prstGeom prst="rect">
            <a:avLst/>
          </a:prstGeom>
          <a:noFill/>
        </p:spPr>
        <p:txBody>
          <a:bodyPr wrap="square" anchor="ctr" lIns="45720" rIns="45720" tIns="9144" bIns="9144">
            <a:spAutoFit/>
          </a:bodyPr>
          <a:lstStyle/>
          <a:p>
            <a:pPr algn="ctr"/>
            <a:r>
              <a:rPr sz="1100" b="0" i="0">
                <a:solidFill>
                  <a:srgbClr val="334155"/>
                </a:solidFill>
                <a:latin typeface="Calibri"/>
              </a:rPr>
              <a:t>690</a:t>
            </a:r>
          </a:p>
        </p:txBody>
      </p:sp>
      <p:sp>
        <p:nvSpPr>
          <p:cNvPr id="70" name="Rectangle 69"/>
          <p:cNvSpPr/>
          <p:nvPr/>
        </p:nvSpPr>
        <p:spPr>
          <a:xfrm>
            <a:off x="2057400" y="3657599"/>
            <a:ext cx="137160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Box 70"/>
          <p:cNvSpPr txBox="1"/>
          <p:nvPr/>
        </p:nvSpPr>
        <p:spPr>
          <a:xfrm>
            <a:off x="2075688" y="3657599"/>
            <a:ext cx="1335024" cy="365760"/>
          </a:xfrm>
          <a:prstGeom prst="rect">
            <a:avLst/>
          </a:prstGeom>
          <a:noFill/>
        </p:spPr>
        <p:txBody>
          <a:bodyPr wrap="square" anchor="ctr" lIns="45720" rIns="45720" tIns="9144" bIns="9144">
            <a:spAutoFit/>
          </a:bodyPr>
          <a:lstStyle/>
          <a:p>
            <a:pPr algn="r"/>
            <a:r>
              <a:rPr sz="1100" b="0" i="0">
                <a:solidFill>
                  <a:srgbClr val="334155"/>
                </a:solidFill>
                <a:latin typeface="Calibri"/>
              </a:rPr>
              <a:t>3,508</a:t>
            </a:r>
          </a:p>
        </p:txBody>
      </p:sp>
      <p:sp>
        <p:nvSpPr>
          <p:cNvPr id="72" name="Rectangle 71"/>
          <p:cNvSpPr/>
          <p:nvPr/>
        </p:nvSpPr>
        <p:spPr>
          <a:xfrm>
            <a:off x="3429000" y="3657599"/>
            <a:ext cx="132588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3447288" y="3657599"/>
            <a:ext cx="1289304" cy="365760"/>
          </a:xfrm>
          <a:prstGeom prst="rect">
            <a:avLst/>
          </a:prstGeom>
          <a:noFill/>
        </p:spPr>
        <p:txBody>
          <a:bodyPr wrap="square" anchor="ctr" lIns="45720" rIns="45720" tIns="9144" bIns="9144">
            <a:spAutoFit/>
          </a:bodyPr>
          <a:lstStyle/>
          <a:p>
            <a:pPr algn="r"/>
            <a:r>
              <a:rPr sz="1100" b="0" i="0">
                <a:solidFill>
                  <a:srgbClr val="334155"/>
                </a:solidFill>
                <a:latin typeface="Calibri"/>
              </a:rPr>
              <a:t>350.8 %</a:t>
            </a:r>
          </a:p>
        </p:txBody>
      </p:sp>
      <p:sp>
        <p:nvSpPr>
          <p:cNvPr id="74" name="Rectangle 73"/>
          <p:cNvSpPr/>
          <p:nvPr/>
        </p:nvSpPr>
        <p:spPr>
          <a:xfrm>
            <a:off x="4754880" y="3657599"/>
            <a:ext cx="132588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4773168" y="3657599"/>
            <a:ext cx="1289304" cy="365760"/>
          </a:xfrm>
          <a:prstGeom prst="rect">
            <a:avLst/>
          </a:prstGeom>
          <a:noFill/>
        </p:spPr>
        <p:txBody>
          <a:bodyPr wrap="square" anchor="ctr" lIns="45720" rIns="45720" tIns="9144" bIns="9144">
            <a:spAutoFit/>
          </a:bodyPr>
          <a:lstStyle/>
          <a:p>
            <a:pPr algn="r"/>
            <a:r>
              <a:rPr sz="1100" b="0" i="0">
                <a:solidFill>
                  <a:srgbClr val="334155"/>
                </a:solidFill>
                <a:latin typeface="Calibri"/>
              </a:rPr>
              <a:t>70.2 %</a:t>
            </a:r>
          </a:p>
        </p:txBody>
      </p:sp>
      <p:sp>
        <p:nvSpPr>
          <p:cNvPr id="76" name="TextBox 75"/>
          <p:cNvSpPr txBox="1"/>
          <p:nvPr/>
        </p:nvSpPr>
        <p:spPr>
          <a:xfrm>
            <a:off x="320040" y="4114800"/>
            <a:ext cx="5760720" cy="1737360"/>
          </a:xfrm>
          <a:prstGeom prst="rect">
            <a:avLst/>
          </a:prstGeom>
          <a:noFill/>
        </p:spPr>
        <p:txBody>
          <a:bodyPr wrap="square" anchor="t">
            <a:spAutoFit/>
          </a:bodyPr>
          <a:lstStyle/>
          <a:p>
            <a:pPr algn="l">
              <a:spcAft>
                <a:spcPts val="600"/>
              </a:spcAft>
            </a:pPr>
            <a:r>
              <a:rPr sz="1200" b="0" i="0">
                <a:solidFill>
                  <a:srgbClr val="334155"/>
                </a:solidFill>
                <a:latin typeface="Calibri"/>
              </a:rPr>
              <a:t>1,000 L/día cubren los años 1 a 3 </a:t>
            </a:r>
            <a:r>
              <a:rPr sz="1200" b="1" i="0">
                <a:solidFill>
                  <a:srgbClr val="334155"/>
                </a:solidFill>
                <a:latin typeface="Calibri"/>
              </a:rPr>
              <a:t>(305 a 763 L/día).</a:t>
            </a:r>
          </a:p>
          <a:p>
            <a:pPr algn="l">
              <a:spcAft>
                <a:spcPts val="600"/>
              </a:spcAft>
            </a:pPr>
            <a:r>
              <a:rPr sz="1200" b="0" i="0">
                <a:solidFill>
                  <a:srgbClr val="334155"/>
                </a:solidFill>
                <a:latin typeface="Calibri"/>
              </a:rPr>
              <a:t>Desde el año 4 se opera con la capacidad de 5,000 L/día prevista en la inversión en tanques; en el año 10 se usa el 70 %.</a:t>
            </a:r>
          </a:p>
          <a:p>
            <a:pPr algn="l">
              <a:spcAft>
                <a:spcPts val="600"/>
              </a:spcAft>
            </a:pPr>
            <a:r>
              <a:rPr sz="1000" b="0" i="1">
                <a:solidFill>
                  <a:srgbClr val="64748B"/>
                </a:solidFill>
                <a:latin typeface="Calibri"/>
              </a:rPr>
              <a:t>Leche cruda por día = litros vendidos ÷ 0.97 (se pierde 3 % en el proceso) ÷ 365 días.</a:t>
            </a:r>
          </a:p>
        </p:txBody>
      </p:sp>
      <p:sp>
        <p:nvSpPr>
          <p:cNvPr id="77" name="TextBox 76"/>
          <p:cNvSpPr txBox="1"/>
          <p:nvPr/>
        </p:nvSpPr>
        <p:spPr>
          <a:xfrm>
            <a:off x="6355080" y="1097280"/>
            <a:ext cx="5394960" cy="310896"/>
          </a:xfrm>
          <a:prstGeom prst="rect">
            <a:avLst/>
          </a:prstGeom>
          <a:noFill/>
        </p:spPr>
        <p:txBody>
          <a:bodyPr wrap="square" anchor="ctr">
            <a:spAutoFit/>
          </a:bodyPr>
          <a:lstStyle/>
          <a:p>
            <a:pPr algn="l"/>
            <a:r>
              <a:rPr sz="1300" b="1" i="0">
                <a:solidFill>
                  <a:srgbClr val="1B3A5C"/>
                </a:solidFill>
                <a:latin typeface="Calibri"/>
              </a:rPr>
              <a:t>Equipos principales y costo (Tablas 11 y 16)</a:t>
            </a:r>
          </a:p>
        </p:txBody>
      </p:sp>
      <p:sp>
        <p:nvSpPr>
          <p:cNvPr id="78" name="Rectangle 77"/>
          <p:cNvSpPr/>
          <p:nvPr/>
        </p:nvSpPr>
        <p:spPr>
          <a:xfrm>
            <a:off x="6355080" y="1463040"/>
            <a:ext cx="3200400" cy="36576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6373368" y="1463040"/>
            <a:ext cx="3163824" cy="365760"/>
          </a:xfrm>
          <a:prstGeom prst="rect">
            <a:avLst/>
          </a:prstGeom>
          <a:noFill/>
        </p:spPr>
        <p:txBody>
          <a:bodyPr wrap="square" anchor="ctr" lIns="45720" rIns="45720" tIns="9144" bIns="9144">
            <a:spAutoFit/>
          </a:bodyPr>
          <a:lstStyle/>
          <a:p>
            <a:pPr algn="l"/>
            <a:r>
              <a:rPr sz="1050" b="1" i="0">
                <a:solidFill>
                  <a:srgbClr val="FFFFFF"/>
                </a:solidFill>
                <a:latin typeface="Calibri"/>
              </a:rPr>
              <a:t>Equipo</a:t>
            </a:r>
          </a:p>
        </p:txBody>
      </p:sp>
      <p:sp>
        <p:nvSpPr>
          <p:cNvPr id="80" name="Rectangle 79"/>
          <p:cNvSpPr/>
          <p:nvPr/>
        </p:nvSpPr>
        <p:spPr>
          <a:xfrm>
            <a:off x="9555480" y="1463040"/>
            <a:ext cx="1188720" cy="36576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Box 80"/>
          <p:cNvSpPr txBox="1"/>
          <p:nvPr/>
        </p:nvSpPr>
        <p:spPr>
          <a:xfrm>
            <a:off x="9573767" y="1463040"/>
            <a:ext cx="1152144" cy="365760"/>
          </a:xfrm>
          <a:prstGeom prst="rect">
            <a:avLst/>
          </a:prstGeom>
          <a:noFill/>
        </p:spPr>
        <p:txBody>
          <a:bodyPr wrap="square" anchor="ctr" lIns="45720" rIns="45720" tIns="9144" bIns="9144">
            <a:spAutoFit/>
          </a:bodyPr>
          <a:lstStyle/>
          <a:p>
            <a:pPr algn="ctr"/>
            <a:r>
              <a:rPr sz="1050" b="1" i="0">
                <a:solidFill>
                  <a:srgbClr val="FFFFFF"/>
                </a:solidFill>
                <a:latin typeface="Calibri"/>
              </a:rPr>
              <a:t>Costo (L)</a:t>
            </a:r>
          </a:p>
        </p:txBody>
      </p:sp>
      <p:sp>
        <p:nvSpPr>
          <p:cNvPr id="82" name="Rectangle 81"/>
          <p:cNvSpPr/>
          <p:nvPr/>
        </p:nvSpPr>
        <p:spPr>
          <a:xfrm>
            <a:off x="10744200" y="1463040"/>
            <a:ext cx="1005840" cy="36576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10762488" y="1463040"/>
            <a:ext cx="969264" cy="365760"/>
          </a:xfrm>
          <a:prstGeom prst="rect">
            <a:avLst/>
          </a:prstGeom>
          <a:noFill/>
        </p:spPr>
        <p:txBody>
          <a:bodyPr wrap="square" anchor="ctr" lIns="45720" rIns="45720" tIns="9144" bIns="9144">
            <a:spAutoFit/>
          </a:bodyPr>
          <a:lstStyle/>
          <a:p>
            <a:pPr algn="ctr"/>
            <a:r>
              <a:rPr sz="1050" b="1" i="0">
                <a:solidFill>
                  <a:srgbClr val="FFFFFF"/>
                </a:solidFill>
                <a:latin typeface="Calibri"/>
              </a:rPr>
              <a:t>Vida útil</a:t>
            </a:r>
          </a:p>
        </p:txBody>
      </p:sp>
      <p:sp>
        <p:nvSpPr>
          <p:cNvPr id="84" name="Rectangle 83"/>
          <p:cNvSpPr/>
          <p:nvPr/>
        </p:nvSpPr>
        <p:spPr>
          <a:xfrm>
            <a:off x="6355080" y="1828800"/>
            <a:ext cx="3200400" cy="38404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Box 84"/>
          <p:cNvSpPr txBox="1"/>
          <p:nvPr/>
        </p:nvSpPr>
        <p:spPr>
          <a:xfrm>
            <a:off x="6373368" y="1828800"/>
            <a:ext cx="3163824" cy="384048"/>
          </a:xfrm>
          <a:prstGeom prst="rect">
            <a:avLst/>
          </a:prstGeom>
          <a:noFill/>
        </p:spPr>
        <p:txBody>
          <a:bodyPr wrap="square" anchor="ctr" lIns="45720" rIns="45720" tIns="9144" bIns="9144">
            <a:spAutoFit/>
          </a:bodyPr>
          <a:lstStyle/>
          <a:p>
            <a:pPr algn="l"/>
            <a:r>
              <a:rPr sz="1100" b="0" i="0">
                <a:solidFill>
                  <a:srgbClr val="334155"/>
                </a:solidFill>
                <a:latin typeface="Calibri"/>
              </a:rPr>
              <a:t>Tanques (recibo 2,000 L; almacenamiento 5,000 L)</a:t>
            </a:r>
          </a:p>
        </p:txBody>
      </p:sp>
      <p:sp>
        <p:nvSpPr>
          <p:cNvPr id="86" name="Rectangle 85"/>
          <p:cNvSpPr/>
          <p:nvPr/>
        </p:nvSpPr>
        <p:spPr>
          <a:xfrm>
            <a:off x="9555480" y="1828800"/>
            <a:ext cx="1188720" cy="38404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Box 86"/>
          <p:cNvSpPr txBox="1"/>
          <p:nvPr/>
        </p:nvSpPr>
        <p:spPr>
          <a:xfrm>
            <a:off x="9573767" y="1828800"/>
            <a:ext cx="1152144" cy="384048"/>
          </a:xfrm>
          <a:prstGeom prst="rect">
            <a:avLst/>
          </a:prstGeom>
          <a:noFill/>
        </p:spPr>
        <p:txBody>
          <a:bodyPr wrap="square" anchor="ctr" lIns="45720" rIns="45720" tIns="9144" bIns="9144">
            <a:spAutoFit/>
          </a:bodyPr>
          <a:lstStyle/>
          <a:p>
            <a:pPr algn="r"/>
            <a:r>
              <a:rPr sz="1100" b="0" i="0">
                <a:solidFill>
                  <a:srgbClr val="334155"/>
                </a:solidFill>
                <a:latin typeface="Calibri"/>
              </a:rPr>
              <a:t>360,000</a:t>
            </a:r>
          </a:p>
        </p:txBody>
      </p:sp>
      <p:sp>
        <p:nvSpPr>
          <p:cNvPr id="88" name="Rectangle 87"/>
          <p:cNvSpPr/>
          <p:nvPr/>
        </p:nvSpPr>
        <p:spPr>
          <a:xfrm>
            <a:off x="10744200" y="1828800"/>
            <a:ext cx="1005840" cy="38404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Box 88"/>
          <p:cNvSpPr txBox="1"/>
          <p:nvPr/>
        </p:nvSpPr>
        <p:spPr>
          <a:xfrm>
            <a:off x="10762488" y="1828800"/>
            <a:ext cx="969264" cy="384048"/>
          </a:xfrm>
          <a:prstGeom prst="rect">
            <a:avLst/>
          </a:prstGeom>
          <a:noFill/>
        </p:spPr>
        <p:txBody>
          <a:bodyPr wrap="square" anchor="ctr" lIns="45720" rIns="45720" tIns="9144" bIns="9144">
            <a:spAutoFit/>
          </a:bodyPr>
          <a:lstStyle/>
          <a:p>
            <a:pPr algn="ctr"/>
            <a:r>
              <a:rPr sz="1100" b="0" i="0">
                <a:solidFill>
                  <a:srgbClr val="334155"/>
                </a:solidFill>
                <a:latin typeface="Calibri"/>
              </a:rPr>
              <a:t>10 años</a:t>
            </a:r>
          </a:p>
        </p:txBody>
      </p:sp>
      <p:sp>
        <p:nvSpPr>
          <p:cNvPr id="90" name="Rectangle 89"/>
          <p:cNvSpPr/>
          <p:nvPr/>
        </p:nvSpPr>
        <p:spPr>
          <a:xfrm>
            <a:off x="6355080" y="2212848"/>
            <a:ext cx="3200400" cy="38404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Box 90"/>
          <p:cNvSpPr txBox="1"/>
          <p:nvPr/>
        </p:nvSpPr>
        <p:spPr>
          <a:xfrm>
            <a:off x="6373368" y="2212848"/>
            <a:ext cx="3163824" cy="384048"/>
          </a:xfrm>
          <a:prstGeom prst="rect">
            <a:avLst/>
          </a:prstGeom>
          <a:noFill/>
        </p:spPr>
        <p:txBody>
          <a:bodyPr wrap="square" anchor="ctr" lIns="45720" rIns="45720" tIns="9144" bIns="9144">
            <a:spAutoFit/>
          </a:bodyPr>
          <a:lstStyle/>
          <a:p>
            <a:pPr algn="l"/>
            <a:r>
              <a:rPr sz="1100" b="0" i="0">
                <a:solidFill>
                  <a:srgbClr val="334155"/>
                </a:solidFill>
                <a:latin typeface="Calibri"/>
              </a:rPr>
              <a:t>Pasteurizador HTST de placas</a:t>
            </a:r>
          </a:p>
        </p:txBody>
      </p:sp>
      <p:sp>
        <p:nvSpPr>
          <p:cNvPr id="92" name="Rectangle 91"/>
          <p:cNvSpPr/>
          <p:nvPr/>
        </p:nvSpPr>
        <p:spPr>
          <a:xfrm>
            <a:off x="9555480" y="2212848"/>
            <a:ext cx="1188720" cy="38404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Box 92"/>
          <p:cNvSpPr txBox="1"/>
          <p:nvPr/>
        </p:nvSpPr>
        <p:spPr>
          <a:xfrm>
            <a:off x="9573767" y="2212848"/>
            <a:ext cx="1152144" cy="384048"/>
          </a:xfrm>
          <a:prstGeom prst="rect">
            <a:avLst/>
          </a:prstGeom>
          <a:noFill/>
        </p:spPr>
        <p:txBody>
          <a:bodyPr wrap="square" anchor="ctr" lIns="45720" rIns="45720" tIns="9144" bIns="9144">
            <a:spAutoFit/>
          </a:bodyPr>
          <a:lstStyle/>
          <a:p>
            <a:pPr algn="r"/>
            <a:r>
              <a:rPr sz="1100" b="0" i="0">
                <a:solidFill>
                  <a:srgbClr val="334155"/>
                </a:solidFill>
                <a:latin typeface="Calibri"/>
              </a:rPr>
              <a:t>150,000</a:t>
            </a:r>
          </a:p>
        </p:txBody>
      </p:sp>
      <p:sp>
        <p:nvSpPr>
          <p:cNvPr id="94" name="Rectangle 93"/>
          <p:cNvSpPr/>
          <p:nvPr/>
        </p:nvSpPr>
        <p:spPr>
          <a:xfrm>
            <a:off x="10744200" y="2212848"/>
            <a:ext cx="1005840" cy="38404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Box 94"/>
          <p:cNvSpPr txBox="1"/>
          <p:nvPr/>
        </p:nvSpPr>
        <p:spPr>
          <a:xfrm>
            <a:off x="10762488" y="2212848"/>
            <a:ext cx="969264" cy="384048"/>
          </a:xfrm>
          <a:prstGeom prst="rect">
            <a:avLst/>
          </a:prstGeom>
          <a:noFill/>
        </p:spPr>
        <p:txBody>
          <a:bodyPr wrap="square" anchor="ctr" lIns="45720" rIns="45720" tIns="9144" bIns="9144">
            <a:spAutoFit/>
          </a:bodyPr>
          <a:lstStyle/>
          <a:p>
            <a:pPr algn="ctr"/>
            <a:r>
              <a:rPr sz="1100" b="0" i="0">
                <a:solidFill>
                  <a:srgbClr val="334155"/>
                </a:solidFill>
                <a:latin typeface="Calibri"/>
              </a:rPr>
              <a:t>10 años</a:t>
            </a:r>
          </a:p>
        </p:txBody>
      </p:sp>
      <p:sp>
        <p:nvSpPr>
          <p:cNvPr id="96" name="Rectangle 95"/>
          <p:cNvSpPr/>
          <p:nvPr/>
        </p:nvSpPr>
        <p:spPr>
          <a:xfrm>
            <a:off x="6355080" y="2596896"/>
            <a:ext cx="3200400" cy="38404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TextBox 96"/>
          <p:cNvSpPr txBox="1"/>
          <p:nvPr/>
        </p:nvSpPr>
        <p:spPr>
          <a:xfrm>
            <a:off x="6373368" y="2596896"/>
            <a:ext cx="3163824" cy="384048"/>
          </a:xfrm>
          <a:prstGeom prst="rect">
            <a:avLst/>
          </a:prstGeom>
          <a:noFill/>
        </p:spPr>
        <p:txBody>
          <a:bodyPr wrap="square" anchor="ctr" lIns="45720" rIns="45720" tIns="9144" bIns="9144">
            <a:spAutoFit/>
          </a:bodyPr>
          <a:lstStyle/>
          <a:p>
            <a:pPr algn="l"/>
            <a:r>
              <a:rPr sz="1100" b="0" i="0">
                <a:solidFill>
                  <a:srgbClr val="334155"/>
                </a:solidFill>
                <a:latin typeface="Calibri"/>
              </a:rPr>
              <a:t>Envasadora automática</a:t>
            </a:r>
          </a:p>
        </p:txBody>
      </p:sp>
      <p:sp>
        <p:nvSpPr>
          <p:cNvPr id="98" name="Rectangle 97"/>
          <p:cNvSpPr/>
          <p:nvPr/>
        </p:nvSpPr>
        <p:spPr>
          <a:xfrm>
            <a:off x="9555480" y="2596896"/>
            <a:ext cx="1188720" cy="38404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TextBox 98"/>
          <p:cNvSpPr txBox="1"/>
          <p:nvPr/>
        </p:nvSpPr>
        <p:spPr>
          <a:xfrm>
            <a:off x="9573767" y="2596896"/>
            <a:ext cx="1152144" cy="384048"/>
          </a:xfrm>
          <a:prstGeom prst="rect">
            <a:avLst/>
          </a:prstGeom>
          <a:noFill/>
        </p:spPr>
        <p:txBody>
          <a:bodyPr wrap="square" anchor="ctr" lIns="45720" rIns="45720" tIns="9144" bIns="9144">
            <a:spAutoFit/>
          </a:bodyPr>
          <a:lstStyle/>
          <a:p>
            <a:pPr algn="r"/>
            <a:r>
              <a:rPr sz="1100" b="0" i="0">
                <a:solidFill>
                  <a:srgbClr val="334155"/>
                </a:solidFill>
                <a:latin typeface="Calibri"/>
              </a:rPr>
              <a:t>260,000</a:t>
            </a:r>
          </a:p>
        </p:txBody>
      </p:sp>
      <p:sp>
        <p:nvSpPr>
          <p:cNvPr id="100" name="Rectangle 99"/>
          <p:cNvSpPr/>
          <p:nvPr/>
        </p:nvSpPr>
        <p:spPr>
          <a:xfrm>
            <a:off x="10744200" y="2596896"/>
            <a:ext cx="1005840" cy="38404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TextBox 100"/>
          <p:cNvSpPr txBox="1"/>
          <p:nvPr/>
        </p:nvSpPr>
        <p:spPr>
          <a:xfrm>
            <a:off x="10762488" y="2596896"/>
            <a:ext cx="969264" cy="384048"/>
          </a:xfrm>
          <a:prstGeom prst="rect">
            <a:avLst/>
          </a:prstGeom>
          <a:noFill/>
        </p:spPr>
        <p:txBody>
          <a:bodyPr wrap="square" anchor="ctr" lIns="45720" rIns="45720" tIns="9144" bIns="9144">
            <a:spAutoFit/>
          </a:bodyPr>
          <a:lstStyle/>
          <a:p>
            <a:pPr algn="ctr"/>
            <a:r>
              <a:rPr sz="1100" b="0" i="0">
                <a:solidFill>
                  <a:srgbClr val="334155"/>
                </a:solidFill>
                <a:latin typeface="Calibri"/>
              </a:rPr>
              <a:t>10 años</a:t>
            </a:r>
          </a:p>
        </p:txBody>
      </p:sp>
      <p:sp>
        <p:nvSpPr>
          <p:cNvPr id="102" name="Rectangle 101"/>
          <p:cNvSpPr/>
          <p:nvPr/>
        </p:nvSpPr>
        <p:spPr>
          <a:xfrm>
            <a:off x="6355080" y="2980944"/>
            <a:ext cx="3200400" cy="38404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TextBox 102"/>
          <p:cNvSpPr txBox="1"/>
          <p:nvPr/>
        </p:nvSpPr>
        <p:spPr>
          <a:xfrm>
            <a:off x="6373368" y="2980944"/>
            <a:ext cx="3163824" cy="384048"/>
          </a:xfrm>
          <a:prstGeom prst="rect">
            <a:avLst/>
          </a:prstGeom>
          <a:noFill/>
        </p:spPr>
        <p:txBody>
          <a:bodyPr wrap="square" anchor="ctr" lIns="45720" rIns="45720" tIns="9144" bIns="9144">
            <a:spAutoFit/>
          </a:bodyPr>
          <a:lstStyle/>
          <a:p>
            <a:pPr algn="l"/>
            <a:r>
              <a:rPr sz="1100" b="0" i="0">
                <a:solidFill>
                  <a:srgbClr val="334155"/>
                </a:solidFill>
                <a:latin typeface="Calibri"/>
              </a:rPr>
              <a:t>Sistema de enfriamiento</a:t>
            </a:r>
          </a:p>
        </p:txBody>
      </p:sp>
      <p:sp>
        <p:nvSpPr>
          <p:cNvPr id="104" name="Rectangle 103"/>
          <p:cNvSpPr/>
          <p:nvPr/>
        </p:nvSpPr>
        <p:spPr>
          <a:xfrm>
            <a:off x="9555480" y="2980944"/>
            <a:ext cx="1188720" cy="38404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TextBox 104"/>
          <p:cNvSpPr txBox="1"/>
          <p:nvPr/>
        </p:nvSpPr>
        <p:spPr>
          <a:xfrm>
            <a:off x="9573767" y="2980944"/>
            <a:ext cx="1152144" cy="384048"/>
          </a:xfrm>
          <a:prstGeom prst="rect">
            <a:avLst/>
          </a:prstGeom>
          <a:noFill/>
        </p:spPr>
        <p:txBody>
          <a:bodyPr wrap="square" anchor="ctr" lIns="45720" rIns="45720" tIns="9144" bIns="9144">
            <a:spAutoFit/>
          </a:bodyPr>
          <a:lstStyle/>
          <a:p>
            <a:pPr algn="r"/>
            <a:r>
              <a:rPr sz="1100" b="0" i="0">
                <a:solidFill>
                  <a:srgbClr val="334155"/>
                </a:solidFill>
                <a:latin typeface="Calibri"/>
              </a:rPr>
              <a:t>125,000</a:t>
            </a:r>
          </a:p>
        </p:txBody>
      </p:sp>
      <p:sp>
        <p:nvSpPr>
          <p:cNvPr id="106" name="Rectangle 105"/>
          <p:cNvSpPr/>
          <p:nvPr/>
        </p:nvSpPr>
        <p:spPr>
          <a:xfrm>
            <a:off x="10744200" y="2980944"/>
            <a:ext cx="1005840" cy="38404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TextBox 106"/>
          <p:cNvSpPr txBox="1"/>
          <p:nvPr/>
        </p:nvSpPr>
        <p:spPr>
          <a:xfrm>
            <a:off x="10762488" y="2980944"/>
            <a:ext cx="969264" cy="384048"/>
          </a:xfrm>
          <a:prstGeom prst="rect">
            <a:avLst/>
          </a:prstGeom>
          <a:noFill/>
        </p:spPr>
        <p:txBody>
          <a:bodyPr wrap="square" anchor="ctr" lIns="45720" rIns="45720" tIns="9144" bIns="9144">
            <a:spAutoFit/>
          </a:bodyPr>
          <a:lstStyle/>
          <a:p>
            <a:pPr algn="ctr"/>
            <a:r>
              <a:rPr sz="1100" b="0" i="0">
                <a:solidFill>
                  <a:srgbClr val="334155"/>
                </a:solidFill>
                <a:latin typeface="Calibri"/>
              </a:rPr>
              <a:t>10 años</a:t>
            </a:r>
          </a:p>
        </p:txBody>
      </p:sp>
      <p:sp>
        <p:nvSpPr>
          <p:cNvPr id="108" name="Rectangle 107"/>
          <p:cNvSpPr/>
          <p:nvPr/>
        </p:nvSpPr>
        <p:spPr>
          <a:xfrm>
            <a:off x="6355080" y="3364991"/>
            <a:ext cx="3200400" cy="38404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TextBox 108"/>
          <p:cNvSpPr txBox="1"/>
          <p:nvPr/>
        </p:nvSpPr>
        <p:spPr>
          <a:xfrm>
            <a:off x="6373368" y="3364991"/>
            <a:ext cx="3163824" cy="384048"/>
          </a:xfrm>
          <a:prstGeom prst="rect">
            <a:avLst/>
          </a:prstGeom>
          <a:noFill/>
        </p:spPr>
        <p:txBody>
          <a:bodyPr wrap="square" anchor="ctr" lIns="45720" rIns="45720" tIns="9144" bIns="9144">
            <a:spAutoFit/>
          </a:bodyPr>
          <a:lstStyle/>
          <a:p>
            <a:pPr algn="l"/>
            <a:r>
              <a:rPr sz="1100" b="0" i="0">
                <a:solidFill>
                  <a:srgbClr val="334155"/>
                </a:solidFill>
                <a:latin typeface="Calibri"/>
              </a:rPr>
              <a:t>Camión de distribución refrigerado</a:t>
            </a:r>
          </a:p>
        </p:txBody>
      </p:sp>
      <p:sp>
        <p:nvSpPr>
          <p:cNvPr id="110" name="Rectangle 109"/>
          <p:cNvSpPr/>
          <p:nvPr/>
        </p:nvSpPr>
        <p:spPr>
          <a:xfrm>
            <a:off x="9555480" y="3364991"/>
            <a:ext cx="1188720" cy="38404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TextBox 110"/>
          <p:cNvSpPr txBox="1"/>
          <p:nvPr/>
        </p:nvSpPr>
        <p:spPr>
          <a:xfrm>
            <a:off x="9573767" y="3364991"/>
            <a:ext cx="1152144" cy="384048"/>
          </a:xfrm>
          <a:prstGeom prst="rect">
            <a:avLst/>
          </a:prstGeom>
          <a:noFill/>
        </p:spPr>
        <p:txBody>
          <a:bodyPr wrap="square" anchor="ctr" lIns="45720" rIns="45720" tIns="9144" bIns="9144">
            <a:spAutoFit/>
          </a:bodyPr>
          <a:lstStyle/>
          <a:p>
            <a:pPr algn="r"/>
            <a:r>
              <a:rPr sz="1100" b="0" i="0">
                <a:solidFill>
                  <a:srgbClr val="334155"/>
                </a:solidFill>
                <a:latin typeface="Calibri"/>
              </a:rPr>
              <a:t>500,000</a:t>
            </a:r>
          </a:p>
        </p:txBody>
      </p:sp>
      <p:sp>
        <p:nvSpPr>
          <p:cNvPr id="112" name="Rectangle 111"/>
          <p:cNvSpPr/>
          <p:nvPr/>
        </p:nvSpPr>
        <p:spPr>
          <a:xfrm>
            <a:off x="10744200" y="3364991"/>
            <a:ext cx="1005840" cy="38404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TextBox 112"/>
          <p:cNvSpPr txBox="1"/>
          <p:nvPr/>
        </p:nvSpPr>
        <p:spPr>
          <a:xfrm>
            <a:off x="10762488" y="3364991"/>
            <a:ext cx="969264" cy="384048"/>
          </a:xfrm>
          <a:prstGeom prst="rect">
            <a:avLst/>
          </a:prstGeom>
          <a:noFill/>
        </p:spPr>
        <p:txBody>
          <a:bodyPr wrap="square" anchor="ctr" lIns="45720" rIns="45720" tIns="9144" bIns="9144">
            <a:spAutoFit/>
          </a:bodyPr>
          <a:lstStyle/>
          <a:p>
            <a:pPr algn="ctr"/>
            <a:r>
              <a:rPr sz="1100" b="0" i="0">
                <a:solidFill>
                  <a:srgbClr val="334155"/>
                </a:solidFill>
                <a:latin typeface="Calibri"/>
              </a:rPr>
              <a:t>5 años</a:t>
            </a:r>
          </a:p>
        </p:txBody>
      </p:sp>
      <p:sp>
        <p:nvSpPr>
          <p:cNvPr id="114" name="Rectangle 113"/>
          <p:cNvSpPr/>
          <p:nvPr/>
        </p:nvSpPr>
        <p:spPr>
          <a:xfrm>
            <a:off x="6355080" y="3749039"/>
            <a:ext cx="3200400" cy="384048"/>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TextBox 114"/>
          <p:cNvSpPr txBox="1"/>
          <p:nvPr/>
        </p:nvSpPr>
        <p:spPr>
          <a:xfrm>
            <a:off x="6373368" y="3749039"/>
            <a:ext cx="3163824" cy="384048"/>
          </a:xfrm>
          <a:prstGeom prst="rect">
            <a:avLst/>
          </a:prstGeom>
          <a:noFill/>
        </p:spPr>
        <p:txBody>
          <a:bodyPr wrap="square" anchor="ctr" lIns="45720" rIns="45720" tIns="9144" bIns="9144">
            <a:spAutoFit/>
          </a:bodyPr>
          <a:lstStyle/>
          <a:p>
            <a:pPr algn="l"/>
            <a:r>
              <a:rPr sz="1100" b="1" i="0">
                <a:solidFill>
                  <a:srgbClr val="0D2341"/>
                </a:solidFill>
                <a:latin typeface="Calibri"/>
              </a:rPr>
              <a:t>TOTAL ACTIVOS FIJOS</a:t>
            </a:r>
          </a:p>
        </p:txBody>
      </p:sp>
      <p:sp>
        <p:nvSpPr>
          <p:cNvPr id="116" name="Rectangle 115"/>
          <p:cNvSpPr/>
          <p:nvPr/>
        </p:nvSpPr>
        <p:spPr>
          <a:xfrm>
            <a:off x="9555480" y="3749039"/>
            <a:ext cx="1188720" cy="384048"/>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TextBox 116"/>
          <p:cNvSpPr txBox="1"/>
          <p:nvPr/>
        </p:nvSpPr>
        <p:spPr>
          <a:xfrm>
            <a:off x="9573767" y="3749039"/>
            <a:ext cx="1152144" cy="384048"/>
          </a:xfrm>
          <a:prstGeom prst="rect">
            <a:avLst/>
          </a:prstGeom>
          <a:noFill/>
        </p:spPr>
        <p:txBody>
          <a:bodyPr wrap="square" anchor="ctr" lIns="45720" rIns="45720" tIns="9144" bIns="9144">
            <a:spAutoFit/>
          </a:bodyPr>
          <a:lstStyle/>
          <a:p>
            <a:pPr algn="r"/>
            <a:r>
              <a:rPr sz="1100" b="1" i="0">
                <a:solidFill>
                  <a:srgbClr val="0D2341"/>
                </a:solidFill>
                <a:latin typeface="Calibri"/>
              </a:rPr>
              <a:t>1,395,000</a:t>
            </a:r>
          </a:p>
        </p:txBody>
      </p:sp>
      <p:sp>
        <p:nvSpPr>
          <p:cNvPr id="118" name="Rectangle 117"/>
          <p:cNvSpPr/>
          <p:nvPr/>
        </p:nvSpPr>
        <p:spPr>
          <a:xfrm>
            <a:off x="10744200" y="3749039"/>
            <a:ext cx="1005840" cy="384048"/>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TextBox 118"/>
          <p:cNvSpPr txBox="1"/>
          <p:nvPr/>
        </p:nvSpPr>
        <p:spPr>
          <a:xfrm>
            <a:off x="10762488" y="3749039"/>
            <a:ext cx="969264" cy="384048"/>
          </a:xfrm>
          <a:prstGeom prst="rect">
            <a:avLst/>
          </a:prstGeom>
          <a:noFill/>
        </p:spPr>
        <p:txBody>
          <a:bodyPr wrap="square" anchor="ctr" lIns="45720" rIns="45720" tIns="9144" bIns="9144">
            <a:spAutoFit/>
          </a:bodyPr>
          <a:lstStyle/>
          <a:p>
            <a:pPr algn="ctr"/>
            <a:r>
              <a:rPr sz="1100" b="1" i="0">
                <a:solidFill>
                  <a:srgbClr val="0D2341"/>
                </a:solidFill>
                <a:latin typeface="Calibri"/>
              </a:rPr>
              <a:t/>
            </a:r>
          </a:p>
        </p:txBody>
      </p:sp>
      <p:sp>
        <p:nvSpPr>
          <p:cNvPr id="120" name="TextBox 119"/>
          <p:cNvSpPr txBox="1"/>
          <p:nvPr/>
        </p:nvSpPr>
        <p:spPr>
          <a:xfrm>
            <a:off x="6355080" y="4297680"/>
            <a:ext cx="5394960" cy="1188720"/>
          </a:xfrm>
          <a:prstGeom prst="rect">
            <a:avLst/>
          </a:prstGeom>
          <a:noFill/>
        </p:spPr>
        <p:txBody>
          <a:bodyPr wrap="square" anchor="t">
            <a:spAutoFit/>
          </a:bodyPr>
          <a:lstStyle/>
          <a:p>
            <a:pPr algn="l"/>
            <a:r>
              <a:rPr sz="1100" b="0" i="0">
                <a:solidFill>
                  <a:srgbClr val="334155"/>
                </a:solidFill>
                <a:latin typeface="Calibri"/>
              </a:rPr>
              <a:t>Proveedor: Grupo Disatyr. Depreciación lineal: maquinaria 10 % y camión 20 % anual.</a:t>
            </a:r>
          </a:p>
        </p:txBody>
      </p:sp>
      <p:sp>
        <p:nvSpPr>
          <p:cNvPr id="121" name="TextBox 120"/>
          <p:cNvSpPr txBox="1"/>
          <p:nvPr/>
        </p:nvSpPr>
        <p:spPr>
          <a:xfrm>
            <a:off x="320040" y="6583680"/>
            <a:ext cx="11521440" cy="201168"/>
          </a:xfrm>
          <a:prstGeom prst="rect">
            <a:avLst/>
          </a:prstGeom>
          <a:noFill/>
        </p:spPr>
        <p:txBody>
          <a:bodyPr wrap="square" anchor="ctr">
            <a:spAutoFit/>
          </a:bodyPr>
          <a:lstStyle/>
          <a:p>
            <a:pPr algn="ctr"/>
            <a:r>
              <a:rPr sz="800" b="0" i="0">
                <a:solidFill>
                  <a:srgbClr val="64748B"/>
                </a:solidFill>
                <a:latin typeface="Calibri"/>
              </a:rPr>
              <a:t>Maestría en Agronegocios · Universidad EAFIT · Zamorano · 2026   |   Caballero · Valladares · Medal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3657600" cy="256032"/>
          </a:xfrm>
          <a:prstGeom prst="rect">
            <a:avLst/>
          </a:prstGeom>
          <a:noFill/>
        </p:spPr>
        <p:txBody>
          <a:bodyPr wrap="square" anchor="ctr">
            <a:spAutoFit/>
          </a:bodyPr>
          <a:lstStyle/>
          <a:p>
            <a:pPr algn="l"/>
            <a:r>
              <a:rPr sz="900" b="1" i="0">
                <a:solidFill>
                  <a:srgbClr val="1A7A8A"/>
                </a:solidFill>
                <a:latin typeface="Calibri"/>
              </a:rPr>
              <a:t>TÉCNICO</a:t>
            </a:r>
          </a:p>
        </p:txBody>
      </p:sp>
      <p:sp>
        <p:nvSpPr>
          <p:cNvPr id="3" name="TextBox 2"/>
          <p:cNvSpPr txBox="1"/>
          <p:nvPr/>
        </p:nvSpPr>
        <p:spPr>
          <a:xfrm>
            <a:off x="320040" y="475488"/>
            <a:ext cx="11521440" cy="502920"/>
          </a:xfrm>
          <a:prstGeom prst="rect">
            <a:avLst/>
          </a:prstGeom>
          <a:noFill/>
        </p:spPr>
        <p:txBody>
          <a:bodyPr wrap="square" anchor="ctr">
            <a:spAutoFit/>
          </a:bodyPr>
          <a:lstStyle/>
          <a:p>
            <a:pPr algn="l"/>
            <a:r>
              <a:rPr sz="2600" b="1" i="0">
                <a:solidFill>
                  <a:srgbClr val="0D2341"/>
                </a:solidFill>
                <a:latin typeface="Calibri"/>
              </a:rPr>
              <a:t>Estudio de Materias Primas · Leche Cruda</a:t>
            </a:r>
          </a:p>
        </p:txBody>
      </p:sp>
      <p:sp>
        <p:nvSpPr>
          <p:cNvPr id="4" name="Rectangle 3"/>
          <p:cNvSpPr/>
          <p:nvPr/>
        </p:nvSpPr>
        <p:spPr>
          <a:xfrm>
            <a:off x="320040" y="1005840"/>
            <a:ext cx="11430000" cy="18288"/>
          </a:xfrm>
          <a:prstGeom prst="rect">
            <a:avLst/>
          </a:prstGeom>
          <a:solidFill>
            <a:srgbClr val="1A7A8A"/>
          </a:solidFill>
          <a:ln w="12700">
            <a:solidFill>
              <a:srgbClr val="1A7A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320040" y="1170432"/>
            <a:ext cx="2743200" cy="1097280"/>
          </a:xfrm>
          <a:prstGeom prst="rect">
            <a:avLst/>
          </a:prstGeom>
          <a:solidFill>
            <a:srgbClr val="E6F4F6"/>
          </a:solidFill>
          <a:ln w="12700">
            <a:solidFill>
              <a:srgbClr val="E6F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11479" y="1243584"/>
            <a:ext cx="2560320" cy="548640"/>
          </a:xfrm>
          <a:prstGeom prst="rect">
            <a:avLst/>
          </a:prstGeom>
          <a:noFill/>
        </p:spPr>
        <p:txBody>
          <a:bodyPr wrap="square" anchor="ctr">
            <a:spAutoFit/>
          </a:bodyPr>
          <a:lstStyle/>
          <a:p>
            <a:pPr algn="ctr"/>
            <a:r>
              <a:rPr sz="2200" b="1" i="0">
                <a:solidFill>
                  <a:srgbClr val="1A7A8A"/>
                </a:solidFill>
                <a:latin typeface="Calibri"/>
              </a:rPr>
              <a:t>111,340 L</a:t>
            </a:r>
          </a:p>
        </p:txBody>
      </p:sp>
      <p:sp>
        <p:nvSpPr>
          <p:cNvPr id="7" name="TextBox 6"/>
          <p:cNvSpPr txBox="1"/>
          <p:nvPr/>
        </p:nvSpPr>
        <p:spPr>
          <a:xfrm>
            <a:off x="411479" y="1741017"/>
            <a:ext cx="2560320" cy="307238"/>
          </a:xfrm>
          <a:prstGeom prst="rect">
            <a:avLst/>
          </a:prstGeom>
          <a:noFill/>
        </p:spPr>
        <p:txBody>
          <a:bodyPr wrap="square" anchor="ctr">
            <a:spAutoFit/>
          </a:bodyPr>
          <a:lstStyle/>
          <a:p>
            <a:pPr algn="ctr"/>
            <a:r>
              <a:rPr sz="1000" b="0" i="0">
                <a:solidFill>
                  <a:srgbClr val="334155"/>
                </a:solidFill>
                <a:latin typeface="Calibri"/>
              </a:rPr>
              <a:t>Leche cruda requerida, año 1</a:t>
            </a:r>
          </a:p>
        </p:txBody>
      </p:sp>
      <p:sp>
        <p:nvSpPr>
          <p:cNvPr id="8" name="Rectangle 7"/>
          <p:cNvSpPr/>
          <p:nvPr/>
        </p:nvSpPr>
        <p:spPr>
          <a:xfrm>
            <a:off x="3200400" y="1170432"/>
            <a:ext cx="2743200" cy="1097280"/>
          </a:xfrm>
          <a:prstGeom prst="rect">
            <a:avLst/>
          </a:prstGeom>
          <a:solidFill>
            <a:srgbClr val="F1F5F9"/>
          </a:solidFill>
          <a:ln w="12700">
            <a:solidFill>
              <a:srgbClr val="F1F5F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291840" y="1243584"/>
            <a:ext cx="2560320" cy="548640"/>
          </a:xfrm>
          <a:prstGeom prst="rect">
            <a:avLst/>
          </a:prstGeom>
          <a:noFill/>
        </p:spPr>
        <p:txBody>
          <a:bodyPr wrap="square" anchor="ctr">
            <a:spAutoFit/>
          </a:bodyPr>
          <a:lstStyle/>
          <a:p>
            <a:pPr algn="ctr"/>
            <a:r>
              <a:rPr sz="2200" b="1" i="0">
                <a:solidFill>
                  <a:srgbClr val="1B3A5C"/>
                </a:solidFill>
                <a:latin typeface="Calibri"/>
              </a:rPr>
              <a:t>1.28 M L</a:t>
            </a:r>
          </a:p>
        </p:txBody>
      </p:sp>
      <p:sp>
        <p:nvSpPr>
          <p:cNvPr id="10" name="TextBox 9"/>
          <p:cNvSpPr txBox="1"/>
          <p:nvPr/>
        </p:nvSpPr>
        <p:spPr>
          <a:xfrm>
            <a:off x="3291840" y="1741017"/>
            <a:ext cx="2560320" cy="307238"/>
          </a:xfrm>
          <a:prstGeom prst="rect">
            <a:avLst/>
          </a:prstGeom>
          <a:noFill/>
        </p:spPr>
        <p:txBody>
          <a:bodyPr wrap="square" anchor="ctr">
            <a:spAutoFit/>
          </a:bodyPr>
          <a:lstStyle/>
          <a:p>
            <a:pPr algn="ctr"/>
            <a:r>
              <a:rPr sz="1000" b="0" i="0">
                <a:solidFill>
                  <a:srgbClr val="334155"/>
                </a:solidFill>
                <a:latin typeface="Calibri"/>
              </a:rPr>
              <a:t>Leche cruda requerida, año 10</a:t>
            </a:r>
          </a:p>
        </p:txBody>
      </p:sp>
      <p:sp>
        <p:nvSpPr>
          <p:cNvPr id="11" name="Rectangle 10"/>
          <p:cNvSpPr/>
          <p:nvPr/>
        </p:nvSpPr>
        <p:spPr>
          <a:xfrm>
            <a:off x="6080760" y="1170432"/>
            <a:ext cx="2743200" cy="1097280"/>
          </a:xfrm>
          <a:prstGeom prst="rect">
            <a:avLst/>
          </a:prstGeom>
          <a:solidFill>
            <a:srgbClr val="E6F4F6"/>
          </a:solidFill>
          <a:ln w="12700">
            <a:solidFill>
              <a:srgbClr val="E6F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172200" y="1243584"/>
            <a:ext cx="2560320" cy="548640"/>
          </a:xfrm>
          <a:prstGeom prst="rect">
            <a:avLst/>
          </a:prstGeom>
          <a:noFill/>
        </p:spPr>
        <p:txBody>
          <a:bodyPr wrap="square" anchor="ctr">
            <a:spAutoFit/>
          </a:bodyPr>
          <a:lstStyle/>
          <a:p>
            <a:pPr algn="ctr"/>
            <a:r>
              <a:rPr sz="2200" b="1" i="0">
                <a:solidFill>
                  <a:srgbClr val="1A7A8A"/>
                </a:solidFill>
                <a:latin typeface="Calibri"/>
              </a:rPr>
              <a:t>0.21 %</a:t>
            </a:r>
          </a:p>
        </p:txBody>
      </p:sp>
      <p:sp>
        <p:nvSpPr>
          <p:cNvPr id="13" name="TextBox 12"/>
          <p:cNvSpPr txBox="1"/>
          <p:nvPr/>
        </p:nvSpPr>
        <p:spPr>
          <a:xfrm>
            <a:off x="6172200" y="1741017"/>
            <a:ext cx="2560320" cy="307238"/>
          </a:xfrm>
          <a:prstGeom prst="rect">
            <a:avLst/>
          </a:prstGeom>
          <a:noFill/>
        </p:spPr>
        <p:txBody>
          <a:bodyPr wrap="square" anchor="ctr">
            <a:spAutoFit/>
          </a:bodyPr>
          <a:lstStyle/>
          <a:p>
            <a:pPr algn="ctr"/>
            <a:r>
              <a:rPr sz="1000" b="0" i="0">
                <a:solidFill>
                  <a:srgbClr val="334155"/>
                </a:solidFill>
                <a:latin typeface="Calibri"/>
              </a:rPr>
              <a:t>De la producción nacional (año 10)</a:t>
            </a:r>
          </a:p>
        </p:txBody>
      </p:sp>
      <p:sp>
        <p:nvSpPr>
          <p:cNvPr id="14" name="Rectangle 13"/>
          <p:cNvSpPr/>
          <p:nvPr/>
        </p:nvSpPr>
        <p:spPr>
          <a:xfrm>
            <a:off x="8961120" y="1170432"/>
            <a:ext cx="2788920" cy="1097280"/>
          </a:xfrm>
          <a:prstGeom prst="rect">
            <a:avLst/>
          </a:prstGeom>
          <a:solidFill>
            <a:srgbClr val="F1F5F9"/>
          </a:solidFill>
          <a:ln w="12700">
            <a:solidFill>
              <a:srgbClr val="F1F5F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052560" y="1243584"/>
            <a:ext cx="2606039" cy="548640"/>
          </a:xfrm>
          <a:prstGeom prst="rect">
            <a:avLst/>
          </a:prstGeom>
          <a:noFill/>
        </p:spPr>
        <p:txBody>
          <a:bodyPr wrap="square" anchor="ctr">
            <a:spAutoFit/>
          </a:bodyPr>
          <a:lstStyle/>
          <a:p>
            <a:pPr algn="ctr"/>
            <a:r>
              <a:rPr sz="2200" b="1" i="0">
                <a:solidFill>
                  <a:srgbClr val="1B3A5C"/>
                </a:solidFill>
                <a:latin typeface="Calibri"/>
              </a:rPr>
              <a:t>L 112.7 M</a:t>
            </a:r>
          </a:p>
        </p:txBody>
      </p:sp>
      <p:sp>
        <p:nvSpPr>
          <p:cNvPr id="16" name="TextBox 15"/>
          <p:cNvSpPr txBox="1"/>
          <p:nvPr/>
        </p:nvSpPr>
        <p:spPr>
          <a:xfrm>
            <a:off x="9052560" y="1741017"/>
            <a:ext cx="2606039" cy="307238"/>
          </a:xfrm>
          <a:prstGeom prst="rect">
            <a:avLst/>
          </a:prstGeom>
          <a:noFill/>
        </p:spPr>
        <p:txBody>
          <a:bodyPr wrap="square" anchor="ctr">
            <a:spAutoFit/>
          </a:bodyPr>
          <a:lstStyle/>
          <a:p>
            <a:pPr algn="ctr"/>
            <a:r>
              <a:rPr sz="1000" b="0" i="0">
                <a:solidFill>
                  <a:srgbClr val="334155"/>
                </a:solidFill>
                <a:latin typeface="Calibri"/>
              </a:rPr>
              <a:t>Compras a productores en 10 años</a:t>
            </a:r>
          </a:p>
        </p:txBody>
      </p:sp>
      <p:sp>
        <p:nvSpPr>
          <p:cNvPr id="17" name="Rectangle 16"/>
          <p:cNvSpPr/>
          <p:nvPr/>
        </p:nvSpPr>
        <p:spPr>
          <a:xfrm>
            <a:off x="320040" y="2468880"/>
            <a:ext cx="3703320" cy="2926080"/>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320040" y="2606040"/>
            <a:ext cx="54864" cy="2651760"/>
          </a:xfrm>
          <a:prstGeom prst="rect">
            <a:avLst/>
          </a:prstGeom>
          <a:solidFill>
            <a:srgbClr val="1A7A8A"/>
          </a:solidFill>
          <a:ln w="12700">
            <a:solidFill>
              <a:srgbClr val="1A7A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84632" y="2578608"/>
            <a:ext cx="3429000" cy="310896"/>
          </a:xfrm>
          <a:prstGeom prst="rect">
            <a:avLst/>
          </a:prstGeom>
          <a:noFill/>
        </p:spPr>
        <p:txBody>
          <a:bodyPr wrap="square" anchor="ctr">
            <a:spAutoFit/>
          </a:bodyPr>
          <a:lstStyle/>
          <a:p>
            <a:pPr algn="l"/>
            <a:r>
              <a:rPr sz="1300" b="1" i="0">
                <a:solidFill>
                  <a:srgbClr val="1B3A5C"/>
                </a:solidFill>
                <a:latin typeface="Calibri"/>
              </a:rPr>
              <a:t>Proveedores</a:t>
            </a:r>
          </a:p>
        </p:txBody>
      </p:sp>
      <p:sp>
        <p:nvSpPr>
          <p:cNvPr id="20" name="TextBox 19"/>
          <p:cNvSpPr txBox="1"/>
          <p:nvPr/>
        </p:nvSpPr>
        <p:spPr>
          <a:xfrm>
            <a:off x="484632" y="2907792"/>
            <a:ext cx="3429000" cy="2395728"/>
          </a:xfrm>
          <a:prstGeom prst="rect">
            <a:avLst/>
          </a:prstGeom>
          <a:noFill/>
        </p:spPr>
        <p:txBody>
          <a:bodyPr wrap="square" anchor="t">
            <a:spAutoFit/>
          </a:bodyPr>
          <a:lstStyle/>
          <a:p>
            <a:pPr algn="l"/>
            <a:r>
              <a:rPr sz="1500" b="0" i="0">
                <a:solidFill>
                  <a:srgbClr val="334155"/>
                </a:solidFill>
                <a:latin typeface="Calibri"/>
              </a:rPr>
              <a:t>CREL de la Cámara Hondureña de la Leche y ganaderos certificados de Comayagua, con contratos de precio justo y asistencia técnica.</a:t>
            </a:r>
          </a:p>
        </p:txBody>
      </p:sp>
      <p:sp>
        <p:nvSpPr>
          <p:cNvPr id="21" name="Rectangle 20"/>
          <p:cNvSpPr/>
          <p:nvPr/>
        </p:nvSpPr>
        <p:spPr>
          <a:xfrm>
            <a:off x="4187952" y="2468880"/>
            <a:ext cx="3703320" cy="2926080"/>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87952" y="2606040"/>
            <a:ext cx="54864" cy="2651760"/>
          </a:xfrm>
          <a:prstGeom prst="rect">
            <a:avLst/>
          </a:prstGeom>
          <a:solidFill>
            <a:srgbClr val="1B3A5C"/>
          </a:solidFill>
          <a:ln w="12700">
            <a:solidFill>
              <a:srgbClr val="1B3A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352544" y="2578608"/>
            <a:ext cx="3429000" cy="310896"/>
          </a:xfrm>
          <a:prstGeom prst="rect">
            <a:avLst/>
          </a:prstGeom>
          <a:noFill/>
        </p:spPr>
        <p:txBody>
          <a:bodyPr wrap="square" anchor="ctr">
            <a:spAutoFit/>
          </a:bodyPr>
          <a:lstStyle/>
          <a:p>
            <a:pPr algn="l"/>
            <a:r>
              <a:rPr sz="1300" b="1" i="0">
                <a:solidFill>
                  <a:srgbClr val="1B3A5C"/>
                </a:solidFill>
                <a:latin typeface="Calibri"/>
              </a:rPr>
              <a:t>Calidad exigida (OHN 18:2018)</a:t>
            </a:r>
          </a:p>
        </p:txBody>
      </p:sp>
      <p:sp>
        <p:nvSpPr>
          <p:cNvPr id="24" name="TextBox 23"/>
          <p:cNvSpPr txBox="1"/>
          <p:nvPr/>
        </p:nvSpPr>
        <p:spPr>
          <a:xfrm>
            <a:off x="4352544" y="2907792"/>
            <a:ext cx="3429000" cy="2395728"/>
          </a:xfrm>
          <a:prstGeom prst="rect">
            <a:avLst/>
          </a:prstGeom>
          <a:noFill/>
        </p:spPr>
        <p:txBody>
          <a:bodyPr wrap="square" anchor="t">
            <a:spAutoFit/>
          </a:bodyPr>
          <a:lstStyle/>
          <a:p>
            <a:pPr algn="l"/>
            <a:r>
              <a:rPr sz="1500" b="0" i="0">
                <a:solidFill>
                  <a:srgbClr val="334155"/>
                </a:solidFill>
                <a:latin typeface="Calibri"/>
              </a:rPr>
              <a:t>Leche grado A: azul de metileno ≥ 5 h; células somáticas ≤ 400,000/ml; grasa ≥ 3.5 %; proteína ≥ 3.2 %; sin antibióticos; transporte a ≤ 4 °C.</a:t>
            </a:r>
          </a:p>
        </p:txBody>
      </p:sp>
      <p:sp>
        <p:nvSpPr>
          <p:cNvPr id="25" name="Rectangle 24"/>
          <p:cNvSpPr/>
          <p:nvPr/>
        </p:nvSpPr>
        <p:spPr>
          <a:xfrm>
            <a:off x="8055864" y="2468880"/>
            <a:ext cx="3703320" cy="2926080"/>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8055864" y="2606040"/>
            <a:ext cx="54864" cy="2651760"/>
          </a:xfrm>
          <a:prstGeom prst="rect">
            <a:avLst/>
          </a:prstGeom>
          <a:solidFill>
            <a:srgbClr val="B5862A"/>
          </a:solidFill>
          <a:ln w="12700">
            <a:solidFill>
              <a:srgbClr val="B58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220456" y="2578608"/>
            <a:ext cx="3429000" cy="310896"/>
          </a:xfrm>
          <a:prstGeom prst="rect">
            <a:avLst/>
          </a:prstGeom>
          <a:noFill/>
        </p:spPr>
        <p:txBody>
          <a:bodyPr wrap="square" anchor="ctr">
            <a:spAutoFit/>
          </a:bodyPr>
          <a:lstStyle/>
          <a:p>
            <a:pPr algn="l"/>
            <a:r>
              <a:rPr sz="1300" b="1" i="0">
                <a:solidFill>
                  <a:srgbClr val="1B3A5C"/>
                </a:solidFill>
                <a:latin typeface="Calibri"/>
              </a:rPr>
              <a:t>Estacionalidad</a:t>
            </a:r>
          </a:p>
        </p:txBody>
      </p:sp>
      <p:sp>
        <p:nvSpPr>
          <p:cNvPr id="28" name="TextBox 27"/>
          <p:cNvSpPr txBox="1"/>
          <p:nvPr/>
        </p:nvSpPr>
        <p:spPr>
          <a:xfrm>
            <a:off x="8220456" y="2907792"/>
            <a:ext cx="3429000" cy="2395728"/>
          </a:xfrm>
          <a:prstGeom prst="rect">
            <a:avLst/>
          </a:prstGeom>
          <a:noFill/>
        </p:spPr>
        <p:txBody>
          <a:bodyPr wrap="square" anchor="t">
            <a:spAutoFit/>
          </a:bodyPr>
          <a:lstStyle/>
          <a:p>
            <a:pPr algn="l"/>
            <a:r>
              <a:rPr sz="1500" b="0" i="0">
                <a:solidFill>
                  <a:srgbClr val="334155"/>
                </a:solidFill>
                <a:latin typeface="Calibri"/>
              </a:rPr>
              <a:t>La sequía de 2024 redujo la producción 30–40 % (El Heraldo, 2024). Mitigación: varios CREL, contratos a plazo y almacenamiento de 5,000 L; riesgo modelado en @RISK.</a:t>
            </a:r>
          </a:p>
        </p:txBody>
      </p:sp>
      <p:sp>
        <p:nvSpPr>
          <p:cNvPr id="29" name="TextBox 28"/>
          <p:cNvSpPr txBox="1"/>
          <p:nvPr/>
        </p:nvSpPr>
        <p:spPr>
          <a:xfrm>
            <a:off x="320040" y="6272784"/>
            <a:ext cx="11521440" cy="274320"/>
          </a:xfrm>
          <a:prstGeom prst="rect">
            <a:avLst/>
          </a:prstGeom>
          <a:noFill/>
        </p:spPr>
        <p:txBody>
          <a:bodyPr wrap="square" anchor="ctr">
            <a:spAutoFit/>
          </a:bodyPr>
          <a:lstStyle/>
          <a:p>
            <a:pPr algn="l"/>
            <a:r>
              <a:rPr sz="850" b="0" i="1">
                <a:solidFill>
                  <a:srgbClr val="64748B"/>
                </a:solidFill>
                <a:latin typeface="Calibri"/>
              </a:rPr>
              <a:t>Fuentes: modelo financiero (sección 12); SAG (2026); OHN 18 (2018); Tablas 9 y 10 de la tesis.</a:t>
            </a:r>
          </a:p>
        </p:txBody>
      </p:sp>
      <p:sp>
        <p:nvSpPr>
          <p:cNvPr id="30" name="TextBox 29"/>
          <p:cNvSpPr txBox="1"/>
          <p:nvPr/>
        </p:nvSpPr>
        <p:spPr>
          <a:xfrm>
            <a:off x="320040" y="6583680"/>
            <a:ext cx="11521440" cy="201168"/>
          </a:xfrm>
          <a:prstGeom prst="rect">
            <a:avLst/>
          </a:prstGeom>
          <a:noFill/>
        </p:spPr>
        <p:txBody>
          <a:bodyPr wrap="square" anchor="ctr">
            <a:spAutoFit/>
          </a:bodyPr>
          <a:lstStyle/>
          <a:p>
            <a:pPr algn="ctr"/>
            <a:r>
              <a:rPr sz="800" b="0" i="0">
                <a:solidFill>
                  <a:srgbClr val="64748B"/>
                </a:solidFill>
                <a:latin typeface="Calibri"/>
              </a:rPr>
              <a:t>Maestría en Agronegocios · Universidad EAFIT · Zamorano · 2026   |   Caballero · Valladares · Medal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3657600" cy="256032"/>
          </a:xfrm>
          <a:prstGeom prst="rect">
            <a:avLst/>
          </a:prstGeom>
          <a:noFill/>
        </p:spPr>
        <p:txBody>
          <a:bodyPr wrap="square" anchor="ctr">
            <a:spAutoFit/>
          </a:bodyPr>
          <a:lstStyle/>
          <a:p>
            <a:pPr algn="l"/>
            <a:r>
              <a:rPr sz="900" b="1" i="0">
                <a:solidFill>
                  <a:srgbClr val="1A7A8A"/>
                </a:solidFill>
                <a:latin typeface="Calibri"/>
              </a:rPr>
              <a:t>TÉCNICO</a:t>
            </a:r>
          </a:p>
        </p:txBody>
      </p:sp>
      <p:sp>
        <p:nvSpPr>
          <p:cNvPr id="3" name="TextBox 2"/>
          <p:cNvSpPr txBox="1"/>
          <p:nvPr/>
        </p:nvSpPr>
        <p:spPr>
          <a:xfrm>
            <a:off x="320040" y="475488"/>
            <a:ext cx="11521440" cy="502920"/>
          </a:xfrm>
          <a:prstGeom prst="rect">
            <a:avLst/>
          </a:prstGeom>
          <a:noFill/>
        </p:spPr>
        <p:txBody>
          <a:bodyPr wrap="square" anchor="ctr">
            <a:spAutoFit/>
          </a:bodyPr>
          <a:lstStyle/>
          <a:p>
            <a:pPr algn="l"/>
            <a:r>
              <a:rPr sz="2600" b="1" i="0">
                <a:solidFill>
                  <a:srgbClr val="0D2341"/>
                </a:solidFill>
                <a:latin typeface="Calibri"/>
              </a:rPr>
              <a:t>Distribución de Planta (Layout)</a:t>
            </a:r>
          </a:p>
        </p:txBody>
      </p:sp>
      <p:sp>
        <p:nvSpPr>
          <p:cNvPr id="4" name="Rectangle 3"/>
          <p:cNvSpPr/>
          <p:nvPr/>
        </p:nvSpPr>
        <p:spPr>
          <a:xfrm>
            <a:off x="320040" y="1005840"/>
            <a:ext cx="11430000" cy="18288"/>
          </a:xfrm>
          <a:prstGeom prst="rect">
            <a:avLst/>
          </a:prstGeom>
          <a:solidFill>
            <a:srgbClr val="1A7A8A"/>
          </a:solidFill>
          <a:ln w="12700">
            <a:solidFill>
              <a:srgbClr val="1A7A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layout_planta.png"/>
          <p:cNvPicPr>
            <a:picLocks noChangeAspect="1"/>
          </p:cNvPicPr>
          <p:nvPr/>
        </p:nvPicPr>
        <p:blipFill>
          <a:blip r:embed="rId2"/>
          <a:stretch>
            <a:fillRect/>
          </a:stretch>
        </p:blipFill>
        <p:spPr>
          <a:xfrm>
            <a:off x="941832" y="1188720"/>
            <a:ext cx="10306820" cy="4892040"/>
          </a:xfrm>
          <a:prstGeom prst="rect">
            <a:avLst/>
          </a:prstGeom>
        </p:spPr>
      </p:pic>
      <p:sp>
        <p:nvSpPr>
          <p:cNvPr id="6" name="TextBox 5"/>
          <p:cNvSpPr txBox="1"/>
          <p:nvPr/>
        </p:nvSpPr>
        <p:spPr>
          <a:xfrm>
            <a:off x="320040" y="6217920"/>
            <a:ext cx="11521440" cy="274320"/>
          </a:xfrm>
          <a:prstGeom prst="rect">
            <a:avLst/>
          </a:prstGeom>
          <a:noFill/>
        </p:spPr>
        <p:txBody>
          <a:bodyPr wrap="square" anchor="ctr">
            <a:spAutoFit/>
          </a:bodyPr>
          <a:lstStyle/>
          <a:p>
            <a:pPr algn="l"/>
            <a:r>
              <a:rPr sz="850" b="0" i="1">
                <a:solidFill>
                  <a:srgbClr val="64748B"/>
                </a:solidFill>
                <a:latin typeface="Calibri"/>
              </a:rPr>
              <a:t>Esquema funcional basado en el diagrama de flujo (Figura 23), Alvarenga (2009) y ARSA (2024); no es un plano arquitectónico.</a:t>
            </a:r>
          </a:p>
        </p:txBody>
      </p:sp>
      <p:sp>
        <p:nvSpPr>
          <p:cNvPr id="7" name="TextBox 6"/>
          <p:cNvSpPr txBox="1"/>
          <p:nvPr/>
        </p:nvSpPr>
        <p:spPr>
          <a:xfrm>
            <a:off x="320040" y="6583680"/>
            <a:ext cx="11521440" cy="201168"/>
          </a:xfrm>
          <a:prstGeom prst="rect">
            <a:avLst/>
          </a:prstGeom>
          <a:noFill/>
        </p:spPr>
        <p:txBody>
          <a:bodyPr wrap="square" anchor="ctr">
            <a:spAutoFit/>
          </a:bodyPr>
          <a:lstStyle/>
          <a:p>
            <a:pPr algn="ctr"/>
            <a:r>
              <a:rPr sz="800" b="0" i="0">
                <a:solidFill>
                  <a:srgbClr val="64748B"/>
                </a:solidFill>
                <a:latin typeface="Calibri"/>
              </a:rPr>
              <a:t>Maestría en Agronegocios · Universidad EAFIT · Zamorano · 2026   |   Caballero · Valladares · Medal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3657600" cy="256032"/>
          </a:xfrm>
          <a:prstGeom prst="rect">
            <a:avLst/>
          </a:prstGeom>
          <a:noFill/>
        </p:spPr>
        <p:txBody>
          <a:bodyPr wrap="square" anchor="ctr">
            <a:spAutoFit/>
          </a:bodyPr>
          <a:lstStyle/>
          <a:p>
            <a:pPr algn="l"/>
            <a:r>
              <a:rPr sz="900" b="1" i="0">
                <a:solidFill>
                  <a:srgbClr val="1A7A8A"/>
                </a:solidFill>
                <a:latin typeface="Calibri"/>
              </a:rPr>
              <a:t>ADMINISTRATIVO</a:t>
            </a:r>
          </a:p>
        </p:txBody>
      </p:sp>
      <p:sp>
        <p:nvSpPr>
          <p:cNvPr id="3" name="TextBox 2"/>
          <p:cNvSpPr txBox="1"/>
          <p:nvPr/>
        </p:nvSpPr>
        <p:spPr>
          <a:xfrm>
            <a:off x="320040" y="475488"/>
            <a:ext cx="11521440" cy="502920"/>
          </a:xfrm>
          <a:prstGeom prst="rect">
            <a:avLst/>
          </a:prstGeom>
          <a:noFill/>
        </p:spPr>
        <p:txBody>
          <a:bodyPr wrap="square" anchor="ctr">
            <a:spAutoFit/>
          </a:bodyPr>
          <a:lstStyle/>
          <a:p>
            <a:pPr algn="l"/>
            <a:r>
              <a:rPr sz="2600" b="1" i="0">
                <a:solidFill>
                  <a:srgbClr val="0D2341"/>
                </a:solidFill>
                <a:latin typeface="Calibri"/>
              </a:rPr>
              <a:t>Plantilla de Personal y Salarios</a:t>
            </a:r>
          </a:p>
        </p:txBody>
      </p:sp>
      <p:sp>
        <p:nvSpPr>
          <p:cNvPr id="4" name="Rectangle 3"/>
          <p:cNvSpPr/>
          <p:nvPr/>
        </p:nvSpPr>
        <p:spPr>
          <a:xfrm>
            <a:off x="320040" y="1005840"/>
            <a:ext cx="11430000" cy="18288"/>
          </a:xfrm>
          <a:prstGeom prst="rect">
            <a:avLst/>
          </a:prstGeom>
          <a:solidFill>
            <a:srgbClr val="1A7A8A"/>
          </a:solidFill>
          <a:ln w="12700">
            <a:solidFill>
              <a:srgbClr val="1A7A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320040" y="1188720"/>
            <a:ext cx="3291840" cy="36576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38328" y="1188720"/>
            <a:ext cx="3255264" cy="365760"/>
          </a:xfrm>
          <a:prstGeom prst="rect">
            <a:avLst/>
          </a:prstGeom>
          <a:noFill/>
        </p:spPr>
        <p:txBody>
          <a:bodyPr wrap="square" anchor="ctr" lIns="45720" rIns="45720" tIns="9144" bIns="9144">
            <a:spAutoFit/>
          </a:bodyPr>
          <a:lstStyle/>
          <a:p>
            <a:pPr algn="l"/>
            <a:r>
              <a:rPr sz="1100" b="1" i="0">
                <a:solidFill>
                  <a:srgbClr val="FFFFFF"/>
                </a:solidFill>
                <a:latin typeface="Calibri"/>
              </a:rPr>
              <a:t>Cargo</a:t>
            </a:r>
          </a:p>
        </p:txBody>
      </p:sp>
      <p:sp>
        <p:nvSpPr>
          <p:cNvPr id="7" name="Rectangle 6"/>
          <p:cNvSpPr/>
          <p:nvPr/>
        </p:nvSpPr>
        <p:spPr>
          <a:xfrm>
            <a:off x="3611880" y="1188720"/>
            <a:ext cx="4023360" cy="36576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630168" y="1188720"/>
            <a:ext cx="3986784" cy="365760"/>
          </a:xfrm>
          <a:prstGeom prst="rect">
            <a:avLst/>
          </a:prstGeom>
          <a:noFill/>
        </p:spPr>
        <p:txBody>
          <a:bodyPr wrap="square" anchor="ctr" lIns="45720" rIns="45720" tIns="9144" bIns="9144">
            <a:spAutoFit/>
          </a:bodyPr>
          <a:lstStyle/>
          <a:p>
            <a:pPr algn="l"/>
            <a:r>
              <a:rPr sz="1100" b="1" i="0">
                <a:solidFill>
                  <a:srgbClr val="FFFFFF"/>
                </a:solidFill>
                <a:latin typeface="Calibri"/>
              </a:rPr>
              <a:t>Perfil</a:t>
            </a:r>
          </a:p>
        </p:txBody>
      </p:sp>
      <p:sp>
        <p:nvSpPr>
          <p:cNvPr id="9" name="Rectangle 8"/>
          <p:cNvSpPr/>
          <p:nvPr/>
        </p:nvSpPr>
        <p:spPr>
          <a:xfrm>
            <a:off x="7635240" y="1188720"/>
            <a:ext cx="2011680" cy="36576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53528" y="1188720"/>
            <a:ext cx="1975104" cy="365760"/>
          </a:xfrm>
          <a:prstGeom prst="rect">
            <a:avLst/>
          </a:prstGeom>
          <a:noFill/>
        </p:spPr>
        <p:txBody>
          <a:bodyPr wrap="square" anchor="ctr" lIns="45720" rIns="45720" tIns="9144" bIns="9144">
            <a:spAutoFit/>
          </a:bodyPr>
          <a:lstStyle/>
          <a:p>
            <a:pPr algn="ctr"/>
            <a:r>
              <a:rPr sz="1100" b="1" i="0">
                <a:solidFill>
                  <a:srgbClr val="FFFFFF"/>
                </a:solidFill>
                <a:latin typeface="Calibri"/>
              </a:rPr>
              <a:t>Salario mensual (L)</a:t>
            </a:r>
          </a:p>
        </p:txBody>
      </p:sp>
      <p:sp>
        <p:nvSpPr>
          <p:cNvPr id="11" name="Rectangle 10"/>
          <p:cNvSpPr/>
          <p:nvPr/>
        </p:nvSpPr>
        <p:spPr>
          <a:xfrm>
            <a:off x="9646920" y="1188720"/>
            <a:ext cx="2103120" cy="36576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665208" y="1188720"/>
            <a:ext cx="2066543" cy="365760"/>
          </a:xfrm>
          <a:prstGeom prst="rect">
            <a:avLst/>
          </a:prstGeom>
          <a:noFill/>
        </p:spPr>
        <p:txBody>
          <a:bodyPr wrap="square" anchor="ctr" lIns="45720" rIns="45720" tIns="9144" bIns="9144">
            <a:spAutoFit/>
          </a:bodyPr>
          <a:lstStyle/>
          <a:p>
            <a:pPr algn="ctr"/>
            <a:r>
              <a:rPr sz="1100" b="1" i="0">
                <a:solidFill>
                  <a:srgbClr val="FFFFFF"/>
                </a:solidFill>
                <a:latin typeface="Calibri"/>
              </a:rPr>
              <a:t>Base cotizable IHSS (L)</a:t>
            </a:r>
          </a:p>
        </p:txBody>
      </p:sp>
      <p:sp>
        <p:nvSpPr>
          <p:cNvPr id="13" name="Rectangle 12"/>
          <p:cNvSpPr/>
          <p:nvPr/>
        </p:nvSpPr>
        <p:spPr>
          <a:xfrm>
            <a:off x="320040" y="1554480"/>
            <a:ext cx="3291840" cy="38404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38328" y="1554480"/>
            <a:ext cx="3255264" cy="384048"/>
          </a:xfrm>
          <a:prstGeom prst="rect">
            <a:avLst/>
          </a:prstGeom>
          <a:noFill/>
        </p:spPr>
        <p:txBody>
          <a:bodyPr wrap="square" anchor="ctr" lIns="45720" rIns="45720" tIns="9144" bIns="9144">
            <a:spAutoFit/>
          </a:bodyPr>
          <a:lstStyle/>
          <a:p>
            <a:pPr algn="l"/>
            <a:r>
              <a:rPr sz="1100" b="0" i="0">
                <a:solidFill>
                  <a:srgbClr val="334155"/>
                </a:solidFill>
                <a:latin typeface="Calibri"/>
              </a:rPr>
              <a:t>Gerente de operaciones</a:t>
            </a:r>
          </a:p>
        </p:txBody>
      </p:sp>
      <p:sp>
        <p:nvSpPr>
          <p:cNvPr id="15" name="Rectangle 14"/>
          <p:cNvSpPr/>
          <p:nvPr/>
        </p:nvSpPr>
        <p:spPr>
          <a:xfrm>
            <a:off x="3611880" y="1554480"/>
            <a:ext cx="4023360" cy="38404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630168" y="1554480"/>
            <a:ext cx="3986784" cy="384048"/>
          </a:xfrm>
          <a:prstGeom prst="rect">
            <a:avLst/>
          </a:prstGeom>
          <a:noFill/>
        </p:spPr>
        <p:txBody>
          <a:bodyPr wrap="square" anchor="ctr" lIns="45720" rIns="45720" tIns="9144" bIns="9144">
            <a:spAutoFit/>
          </a:bodyPr>
          <a:lstStyle/>
          <a:p>
            <a:pPr algn="l"/>
            <a:r>
              <a:rPr sz="1100" b="0" i="0">
                <a:solidFill>
                  <a:srgbClr val="334155"/>
                </a:solidFill>
                <a:latin typeface="Calibri"/>
              </a:rPr>
              <a:t>Ingeniero industrial o administrador de empresas</a:t>
            </a:r>
          </a:p>
        </p:txBody>
      </p:sp>
      <p:sp>
        <p:nvSpPr>
          <p:cNvPr id="17" name="Rectangle 16"/>
          <p:cNvSpPr/>
          <p:nvPr/>
        </p:nvSpPr>
        <p:spPr>
          <a:xfrm>
            <a:off x="7635240" y="1554480"/>
            <a:ext cx="2011680" cy="38404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653528" y="1554480"/>
            <a:ext cx="1975104" cy="384048"/>
          </a:xfrm>
          <a:prstGeom prst="rect">
            <a:avLst/>
          </a:prstGeom>
          <a:noFill/>
        </p:spPr>
        <p:txBody>
          <a:bodyPr wrap="square" anchor="ctr" lIns="45720" rIns="45720" tIns="9144" bIns="9144">
            <a:spAutoFit/>
          </a:bodyPr>
          <a:lstStyle/>
          <a:p>
            <a:pPr algn="r"/>
            <a:r>
              <a:rPr sz="1100" b="0" i="0">
                <a:solidFill>
                  <a:srgbClr val="334155"/>
                </a:solidFill>
                <a:latin typeface="Calibri"/>
              </a:rPr>
              <a:t>25,000</a:t>
            </a:r>
          </a:p>
        </p:txBody>
      </p:sp>
      <p:sp>
        <p:nvSpPr>
          <p:cNvPr id="19" name="Rectangle 18"/>
          <p:cNvSpPr/>
          <p:nvPr/>
        </p:nvSpPr>
        <p:spPr>
          <a:xfrm>
            <a:off x="9646920" y="1554480"/>
            <a:ext cx="2103120" cy="38404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665208" y="1554480"/>
            <a:ext cx="2066543" cy="384048"/>
          </a:xfrm>
          <a:prstGeom prst="rect">
            <a:avLst/>
          </a:prstGeom>
          <a:noFill/>
        </p:spPr>
        <p:txBody>
          <a:bodyPr wrap="square" anchor="ctr" lIns="45720" rIns="45720" tIns="9144" bIns="9144">
            <a:spAutoFit/>
          </a:bodyPr>
          <a:lstStyle/>
          <a:p>
            <a:pPr algn="r"/>
            <a:r>
              <a:rPr sz="1100" b="0" i="0">
                <a:solidFill>
                  <a:srgbClr val="334155"/>
                </a:solidFill>
                <a:latin typeface="Calibri"/>
              </a:rPr>
              <a:t>11,109</a:t>
            </a:r>
          </a:p>
        </p:txBody>
      </p:sp>
      <p:sp>
        <p:nvSpPr>
          <p:cNvPr id="21" name="Rectangle 20"/>
          <p:cNvSpPr/>
          <p:nvPr/>
        </p:nvSpPr>
        <p:spPr>
          <a:xfrm>
            <a:off x="320040" y="1938528"/>
            <a:ext cx="3291840" cy="38404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38328" y="1938528"/>
            <a:ext cx="3255264" cy="384048"/>
          </a:xfrm>
          <a:prstGeom prst="rect">
            <a:avLst/>
          </a:prstGeom>
          <a:noFill/>
        </p:spPr>
        <p:txBody>
          <a:bodyPr wrap="square" anchor="ctr" lIns="45720" rIns="45720" tIns="9144" bIns="9144">
            <a:spAutoFit/>
          </a:bodyPr>
          <a:lstStyle/>
          <a:p>
            <a:pPr algn="l"/>
            <a:r>
              <a:rPr sz="1100" b="0" i="0">
                <a:solidFill>
                  <a:srgbClr val="334155"/>
                </a:solidFill>
                <a:latin typeface="Calibri"/>
              </a:rPr>
              <a:t>Asistente de televenta y facturación</a:t>
            </a:r>
          </a:p>
        </p:txBody>
      </p:sp>
      <p:sp>
        <p:nvSpPr>
          <p:cNvPr id="23" name="Rectangle 22"/>
          <p:cNvSpPr/>
          <p:nvPr/>
        </p:nvSpPr>
        <p:spPr>
          <a:xfrm>
            <a:off x="3611880" y="1938528"/>
            <a:ext cx="4023360" cy="38404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3630168" y="1938528"/>
            <a:ext cx="3986784" cy="384048"/>
          </a:xfrm>
          <a:prstGeom prst="rect">
            <a:avLst/>
          </a:prstGeom>
          <a:noFill/>
        </p:spPr>
        <p:txBody>
          <a:bodyPr wrap="square" anchor="ctr" lIns="45720" rIns="45720" tIns="9144" bIns="9144">
            <a:spAutoFit/>
          </a:bodyPr>
          <a:lstStyle/>
          <a:p>
            <a:pPr algn="l"/>
            <a:r>
              <a:rPr sz="1100" b="0" i="0">
                <a:solidFill>
                  <a:srgbClr val="334155"/>
                </a:solidFill>
                <a:latin typeface="Calibri"/>
              </a:rPr>
              <a:t>Pasante universitario de Administración o afín</a:t>
            </a:r>
          </a:p>
        </p:txBody>
      </p:sp>
      <p:sp>
        <p:nvSpPr>
          <p:cNvPr id="25" name="Rectangle 24"/>
          <p:cNvSpPr/>
          <p:nvPr/>
        </p:nvSpPr>
        <p:spPr>
          <a:xfrm>
            <a:off x="7635240" y="1938528"/>
            <a:ext cx="2011680" cy="38404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653528" y="1938528"/>
            <a:ext cx="1975104" cy="384048"/>
          </a:xfrm>
          <a:prstGeom prst="rect">
            <a:avLst/>
          </a:prstGeom>
          <a:noFill/>
        </p:spPr>
        <p:txBody>
          <a:bodyPr wrap="square" anchor="ctr" lIns="45720" rIns="45720" tIns="9144" bIns="9144">
            <a:spAutoFit/>
          </a:bodyPr>
          <a:lstStyle/>
          <a:p>
            <a:pPr algn="r"/>
            <a:r>
              <a:rPr sz="1100" b="0" i="0">
                <a:solidFill>
                  <a:srgbClr val="334155"/>
                </a:solidFill>
                <a:latin typeface="Calibri"/>
              </a:rPr>
              <a:t>17,000</a:t>
            </a:r>
          </a:p>
        </p:txBody>
      </p:sp>
      <p:sp>
        <p:nvSpPr>
          <p:cNvPr id="27" name="Rectangle 26"/>
          <p:cNvSpPr/>
          <p:nvPr/>
        </p:nvSpPr>
        <p:spPr>
          <a:xfrm>
            <a:off x="9646920" y="1938528"/>
            <a:ext cx="2103120" cy="38404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665208" y="1938528"/>
            <a:ext cx="2066543" cy="384048"/>
          </a:xfrm>
          <a:prstGeom prst="rect">
            <a:avLst/>
          </a:prstGeom>
          <a:noFill/>
        </p:spPr>
        <p:txBody>
          <a:bodyPr wrap="square" anchor="ctr" lIns="45720" rIns="45720" tIns="9144" bIns="9144">
            <a:spAutoFit/>
          </a:bodyPr>
          <a:lstStyle/>
          <a:p>
            <a:pPr algn="r"/>
            <a:r>
              <a:rPr sz="1100" b="0" i="0">
                <a:solidFill>
                  <a:srgbClr val="334155"/>
                </a:solidFill>
                <a:latin typeface="Calibri"/>
              </a:rPr>
              <a:t>11,109</a:t>
            </a:r>
          </a:p>
        </p:txBody>
      </p:sp>
      <p:sp>
        <p:nvSpPr>
          <p:cNvPr id="29" name="Rectangle 28"/>
          <p:cNvSpPr/>
          <p:nvPr/>
        </p:nvSpPr>
        <p:spPr>
          <a:xfrm>
            <a:off x="320040" y="2322576"/>
            <a:ext cx="3291840" cy="38404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38328" y="2322576"/>
            <a:ext cx="3255264" cy="384048"/>
          </a:xfrm>
          <a:prstGeom prst="rect">
            <a:avLst/>
          </a:prstGeom>
          <a:noFill/>
        </p:spPr>
        <p:txBody>
          <a:bodyPr wrap="square" anchor="ctr" lIns="45720" rIns="45720" tIns="9144" bIns="9144">
            <a:spAutoFit/>
          </a:bodyPr>
          <a:lstStyle/>
          <a:p>
            <a:pPr algn="l"/>
            <a:r>
              <a:rPr sz="1100" b="0" i="0">
                <a:solidFill>
                  <a:srgbClr val="334155"/>
                </a:solidFill>
                <a:latin typeface="Calibri"/>
              </a:rPr>
              <a:t>Operador de recibo y despacho</a:t>
            </a:r>
          </a:p>
        </p:txBody>
      </p:sp>
      <p:sp>
        <p:nvSpPr>
          <p:cNvPr id="31" name="Rectangle 30"/>
          <p:cNvSpPr/>
          <p:nvPr/>
        </p:nvSpPr>
        <p:spPr>
          <a:xfrm>
            <a:off x="3611880" y="2322576"/>
            <a:ext cx="4023360" cy="38404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630168" y="2322576"/>
            <a:ext cx="3986784" cy="384048"/>
          </a:xfrm>
          <a:prstGeom prst="rect">
            <a:avLst/>
          </a:prstGeom>
          <a:noFill/>
        </p:spPr>
        <p:txBody>
          <a:bodyPr wrap="square" anchor="ctr" lIns="45720" rIns="45720" tIns="9144" bIns="9144">
            <a:spAutoFit/>
          </a:bodyPr>
          <a:lstStyle/>
          <a:p>
            <a:pPr algn="l"/>
            <a:r>
              <a:rPr sz="1100" b="0" i="0">
                <a:solidFill>
                  <a:srgbClr val="334155"/>
                </a:solidFill>
                <a:latin typeface="Calibri"/>
              </a:rPr>
              <a:t>Secundaria completa</a:t>
            </a:r>
          </a:p>
        </p:txBody>
      </p:sp>
      <p:sp>
        <p:nvSpPr>
          <p:cNvPr id="33" name="Rectangle 32"/>
          <p:cNvSpPr/>
          <p:nvPr/>
        </p:nvSpPr>
        <p:spPr>
          <a:xfrm>
            <a:off x="7635240" y="2322576"/>
            <a:ext cx="2011680" cy="38404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653528" y="2322576"/>
            <a:ext cx="1975104" cy="384048"/>
          </a:xfrm>
          <a:prstGeom prst="rect">
            <a:avLst/>
          </a:prstGeom>
          <a:noFill/>
        </p:spPr>
        <p:txBody>
          <a:bodyPr wrap="square" anchor="ctr" lIns="45720" rIns="45720" tIns="9144" bIns="9144">
            <a:spAutoFit/>
          </a:bodyPr>
          <a:lstStyle/>
          <a:p>
            <a:pPr algn="r"/>
            <a:r>
              <a:rPr sz="1100" b="0" i="0">
                <a:solidFill>
                  <a:srgbClr val="334155"/>
                </a:solidFill>
                <a:latin typeface="Calibri"/>
              </a:rPr>
              <a:t>11,300</a:t>
            </a:r>
          </a:p>
        </p:txBody>
      </p:sp>
      <p:sp>
        <p:nvSpPr>
          <p:cNvPr id="35" name="Rectangle 34"/>
          <p:cNvSpPr/>
          <p:nvPr/>
        </p:nvSpPr>
        <p:spPr>
          <a:xfrm>
            <a:off x="9646920" y="2322576"/>
            <a:ext cx="2103120" cy="38404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665208" y="2322576"/>
            <a:ext cx="2066543" cy="384048"/>
          </a:xfrm>
          <a:prstGeom prst="rect">
            <a:avLst/>
          </a:prstGeom>
          <a:noFill/>
        </p:spPr>
        <p:txBody>
          <a:bodyPr wrap="square" anchor="ctr" lIns="45720" rIns="45720" tIns="9144" bIns="9144">
            <a:spAutoFit/>
          </a:bodyPr>
          <a:lstStyle/>
          <a:p>
            <a:pPr algn="r"/>
            <a:r>
              <a:rPr sz="1100" b="0" i="0">
                <a:solidFill>
                  <a:srgbClr val="334155"/>
                </a:solidFill>
                <a:latin typeface="Calibri"/>
              </a:rPr>
              <a:t>11,109</a:t>
            </a:r>
          </a:p>
        </p:txBody>
      </p:sp>
      <p:sp>
        <p:nvSpPr>
          <p:cNvPr id="37" name="Rectangle 36"/>
          <p:cNvSpPr/>
          <p:nvPr/>
        </p:nvSpPr>
        <p:spPr>
          <a:xfrm>
            <a:off x="320040" y="2706624"/>
            <a:ext cx="3291840" cy="38404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338328" y="2706624"/>
            <a:ext cx="3255264" cy="384048"/>
          </a:xfrm>
          <a:prstGeom prst="rect">
            <a:avLst/>
          </a:prstGeom>
          <a:noFill/>
        </p:spPr>
        <p:txBody>
          <a:bodyPr wrap="square" anchor="ctr" lIns="45720" rIns="45720" tIns="9144" bIns="9144">
            <a:spAutoFit/>
          </a:bodyPr>
          <a:lstStyle/>
          <a:p>
            <a:pPr algn="l"/>
            <a:r>
              <a:rPr sz="1100" b="0" i="0">
                <a:solidFill>
                  <a:srgbClr val="334155"/>
                </a:solidFill>
                <a:latin typeface="Calibri"/>
              </a:rPr>
              <a:t>Operador de pasteurización y empaque</a:t>
            </a:r>
          </a:p>
        </p:txBody>
      </p:sp>
      <p:sp>
        <p:nvSpPr>
          <p:cNvPr id="39" name="Rectangle 38"/>
          <p:cNvSpPr/>
          <p:nvPr/>
        </p:nvSpPr>
        <p:spPr>
          <a:xfrm>
            <a:off x="3611880" y="2706624"/>
            <a:ext cx="4023360" cy="38404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3630168" y="2706624"/>
            <a:ext cx="3986784" cy="384048"/>
          </a:xfrm>
          <a:prstGeom prst="rect">
            <a:avLst/>
          </a:prstGeom>
          <a:noFill/>
        </p:spPr>
        <p:txBody>
          <a:bodyPr wrap="square" anchor="ctr" lIns="45720" rIns="45720" tIns="9144" bIns="9144">
            <a:spAutoFit/>
          </a:bodyPr>
          <a:lstStyle/>
          <a:p>
            <a:pPr algn="l"/>
            <a:r>
              <a:rPr sz="1100" b="0" i="0">
                <a:solidFill>
                  <a:srgbClr val="334155"/>
                </a:solidFill>
                <a:latin typeface="Calibri"/>
              </a:rPr>
              <a:t>Secundaria completa</a:t>
            </a:r>
          </a:p>
        </p:txBody>
      </p:sp>
      <p:sp>
        <p:nvSpPr>
          <p:cNvPr id="41" name="Rectangle 40"/>
          <p:cNvSpPr/>
          <p:nvPr/>
        </p:nvSpPr>
        <p:spPr>
          <a:xfrm>
            <a:off x="7635240" y="2706624"/>
            <a:ext cx="2011680" cy="38404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7653528" y="2706624"/>
            <a:ext cx="1975104" cy="384048"/>
          </a:xfrm>
          <a:prstGeom prst="rect">
            <a:avLst/>
          </a:prstGeom>
          <a:noFill/>
        </p:spPr>
        <p:txBody>
          <a:bodyPr wrap="square" anchor="ctr" lIns="45720" rIns="45720" tIns="9144" bIns="9144">
            <a:spAutoFit/>
          </a:bodyPr>
          <a:lstStyle/>
          <a:p>
            <a:pPr algn="r"/>
            <a:r>
              <a:rPr sz="1100" b="0" i="0">
                <a:solidFill>
                  <a:srgbClr val="334155"/>
                </a:solidFill>
                <a:latin typeface="Calibri"/>
              </a:rPr>
              <a:t>11,300</a:t>
            </a:r>
          </a:p>
        </p:txBody>
      </p:sp>
      <p:sp>
        <p:nvSpPr>
          <p:cNvPr id="43" name="Rectangle 42"/>
          <p:cNvSpPr/>
          <p:nvPr/>
        </p:nvSpPr>
        <p:spPr>
          <a:xfrm>
            <a:off x="9646920" y="2706624"/>
            <a:ext cx="2103120" cy="38404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9665208" y="2706624"/>
            <a:ext cx="2066543" cy="384048"/>
          </a:xfrm>
          <a:prstGeom prst="rect">
            <a:avLst/>
          </a:prstGeom>
          <a:noFill/>
        </p:spPr>
        <p:txBody>
          <a:bodyPr wrap="square" anchor="ctr" lIns="45720" rIns="45720" tIns="9144" bIns="9144">
            <a:spAutoFit/>
          </a:bodyPr>
          <a:lstStyle/>
          <a:p>
            <a:pPr algn="r"/>
            <a:r>
              <a:rPr sz="1100" b="0" i="0">
                <a:solidFill>
                  <a:srgbClr val="334155"/>
                </a:solidFill>
                <a:latin typeface="Calibri"/>
              </a:rPr>
              <a:t>11,109</a:t>
            </a:r>
          </a:p>
        </p:txBody>
      </p:sp>
      <p:sp>
        <p:nvSpPr>
          <p:cNvPr id="45" name="Rectangle 44"/>
          <p:cNvSpPr/>
          <p:nvPr/>
        </p:nvSpPr>
        <p:spPr>
          <a:xfrm>
            <a:off x="320040" y="3090672"/>
            <a:ext cx="3291840" cy="38404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338328" y="3090672"/>
            <a:ext cx="3255264" cy="384048"/>
          </a:xfrm>
          <a:prstGeom prst="rect">
            <a:avLst/>
          </a:prstGeom>
          <a:noFill/>
        </p:spPr>
        <p:txBody>
          <a:bodyPr wrap="square" anchor="ctr" lIns="45720" rIns="45720" tIns="9144" bIns="9144">
            <a:spAutoFit/>
          </a:bodyPr>
          <a:lstStyle/>
          <a:p>
            <a:pPr algn="l"/>
            <a:r>
              <a:rPr sz="1100" b="0" i="0">
                <a:solidFill>
                  <a:srgbClr val="334155"/>
                </a:solidFill>
                <a:latin typeface="Calibri"/>
              </a:rPr>
              <a:t>Operador de mantenimiento y aseo</a:t>
            </a:r>
          </a:p>
        </p:txBody>
      </p:sp>
      <p:sp>
        <p:nvSpPr>
          <p:cNvPr id="47" name="Rectangle 46"/>
          <p:cNvSpPr/>
          <p:nvPr/>
        </p:nvSpPr>
        <p:spPr>
          <a:xfrm>
            <a:off x="3611880" y="3090672"/>
            <a:ext cx="4023360" cy="38404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3630168" y="3090672"/>
            <a:ext cx="3986784" cy="384048"/>
          </a:xfrm>
          <a:prstGeom prst="rect">
            <a:avLst/>
          </a:prstGeom>
          <a:noFill/>
        </p:spPr>
        <p:txBody>
          <a:bodyPr wrap="square" anchor="ctr" lIns="45720" rIns="45720" tIns="9144" bIns="9144">
            <a:spAutoFit/>
          </a:bodyPr>
          <a:lstStyle/>
          <a:p>
            <a:pPr algn="l"/>
            <a:r>
              <a:rPr sz="1100" b="0" i="0">
                <a:solidFill>
                  <a:srgbClr val="334155"/>
                </a:solidFill>
                <a:latin typeface="Calibri"/>
              </a:rPr>
              <a:t>Mecánico industrial</a:t>
            </a:r>
          </a:p>
        </p:txBody>
      </p:sp>
      <p:sp>
        <p:nvSpPr>
          <p:cNvPr id="49" name="Rectangle 48"/>
          <p:cNvSpPr/>
          <p:nvPr/>
        </p:nvSpPr>
        <p:spPr>
          <a:xfrm>
            <a:off x="7635240" y="3090672"/>
            <a:ext cx="2011680" cy="38404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7653528" y="3090672"/>
            <a:ext cx="1975104" cy="384048"/>
          </a:xfrm>
          <a:prstGeom prst="rect">
            <a:avLst/>
          </a:prstGeom>
          <a:noFill/>
        </p:spPr>
        <p:txBody>
          <a:bodyPr wrap="square" anchor="ctr" lIns="45720" rIns="45720" tIns="9144" bIns="9144">
            <a:spAutoFit/>
          </a:bodyPr>
          <a:lstStyle/>
          <a:p>
            <a:pPr algn="r"/>
            <a:r>
              <a:rPr sz="1100" b="0" i="0">
                <a:solidFill>
                  <a:srgbClr val="334155"/>
                </a:solidFill>
                <a:latin typeface="Calibri"/>
              </a:rPr>
              <a:t>14,000</a:t>
            </a:r>
          </a:p>
        </p:txBody>
      </p:sp>
      <p:sp>
        <p:nvSpPr>
          <p:cNvPr id="51" name="Rectangle 50"/>
          <p:cNvSpPr/>
          <p:nvPr/>
        </p:nvSpPr>
        <p:spPr>
          <a:xfrm>
            <a:off x="9646920" y="3090672"/>
            <a:ext cx="2103120" cy="38404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9665208" y="3090672"/>
            <a:ext cx="2066543" cy="384048"/>
          </a:xfrm>
          <a:prstGeom prst="rect">
            <a:avLst/>
          </a:prstGeom>
          <a:noFill/>
        </p:spPr>
        <p:txBody>
          <a:bodyPr wrap="square" anchor="ctr" lIns="45720" rIns="45720" tIns="9144" bIns="9144">
            <a:spAutoFit/>
          </a:bodyPr>
          <a:lstStyle/>
          <a:p>
            <a:pPr algn="r"/>
            <a:r>
              <a:rPr sz="1100" b="0" i="0">
                <a:solidFill>
                  <a:srgbClr val="334155"/>
                </a:solidFill>
                <a:latin typeface="Calibri"/>
              </a:rPr>
              <a:t>11,109</a:t>
            </a:r>
          </a:p>
        </p:txBody>
      </p:sp>
      <p:sp>
        <p:nvSpPr>
          <p:cNvPr id="53" name="Rectangle 52"/>
          <p:cNvSpPr/>
          <p:nvPr/>
        </p:nvSpPr>
        <p:spPr>
          <a:xfrm>
            <a:off x="320040" y="3474720"/>
            <a:ext cx="3291840" cy="38404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338328" y="3474720"/>
            <a:ext cx="3255264" cy="384048"/>
          </a:xfrm>
          <a:prstGeom prst="rect">
            <a:avLst/>
          </a:prstGeom>
          <a:noFill/>
        </p:spPr>
        <p:txBody>
          <a:bodyPr wrap="square" anchor="ctr" lIns="45720" rIns="45720" tIns="9144" bIns="9144">
            <a:spAutoFit/>
          </a:bodyPr>
          <a:lstStyle/>
          <a:p>
            <a:pPr algn="l"/>
            <a:r>
              <a:rPr sz="1100" b="0" i="0">
                <a:solidFill>
                  <a:srgbClr val="334155"/>
                </a:solidFill>
                <a:latin typeface="Calibri"/>
              </a:rPr>
              <a:t>Entregador</a:t>
            </a:r>
          </a:p>
        </p:txBody>
      </p:sp>
      <p:sp>
        <p:nvSpPr>
          <p:cNvPr id="55" name="Rectangle 54"/>
          <p:cNvSpPr/>
          <p:nvPr/>
        </p:nvSpPr>
        <p:spPr>
          <a:xfrm>
            <a:off x="3611880" y="3474720"/>
            <a:ext cx="4023360" cy="38404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3630168" y="3474720"/>
            <a:ext cx="3986784" cy="384048"/>
          </a:xfrm>
          <a:prstGeom prst="rect">
            <a:avLst/>
          </a:prstGeom>
          <a:noFill/>
        </p:spPr>
        <p:txBody>
          <a:bodyPr wrap="square" anchor="ctr" lIns="45720" rIns="45720" tIns="9144" bIns="9144">
            <a:spAutoFit/>
          </a:bodyPr>
          <a:lstStyle/>
          <a:p>
            <a:pPr algn="l"/>
            <a:r>
              <a:rPr sz="1100" b="0" i="0">
                <a:solidFill>
                  <a:srgbClr val="334155"/>
                </a:solidFill>
                <a:latin typeface="Calibri"/>
              </a:rPr>
              <a:t>Secundaria completa, licencia pesada</a:t>
            </a:r>
          </a:p>
        </p:txBody>
      </p:sp>
      <p:sp>
        <p:nvSpPr>
          <p:cNvPr id="57" name="Rectangle 56"/>
          <p:cNvSpPr/>
          <p:nvPr/>
        </p:nvSpPr>
        <p:spPr>
          <a:xfrm>
            <a:off x="7635240" y="3474720"/>
            <a:ext cx="2011680" cy="38404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7653528" y="3474720"/>
            <a:ext cx="1975104" cy="384048"/>
          </a:xfrm>
          <a:prstGeom prst="rect">
            <a:avLst/>
          </a:prstGeom>
          <a:noFill/>
        </p:spPr>
        <p:txBody>
          <a:bodyPr wrap="square" anchor="ctr" lIns="45720" rIns="45720" tIns="9144" bIns="9144">
            <a:spAutoFit/>
          </a:bodyPr>
          <a:lstStyle/>
          <a:p>
            <a:pPr algn="r"/>
            <a:r>
              <a:rPr sz="1100" b="0" i="0">
                <a:solidFill>
                  <a:srgbClr val="334155"/>
                </a:solidFill>
                <a:latin typeface="Calibri"/>
              </a:rPr>
              <a:t>14,000</a:t>
            </a:r>
          </a:p>
        </p:txBody>
      </p:sp>
      <p:sp>
        <p:nvSpPr>
          <p:cNvPr id="59" name="Rectangle 58"/>
          <p:cNvSpPr/>
          <p:nvPr/>
        </p:nvSpPr>
        <p:spPr>
          <a:xfrm>
            <a:off x="9646920" y="3474720"/>
            <a:ext cx="2103120" cy="38404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9665208" y="3474720"/>
            <a:ext cx="2066543" cy="384048"/>
          </a:xfrm>
          <a:prstGeom prst="rect">
            <a:avLst/>
          </a:prstGeom>
          <a:noFill/>
        </p:spPr>
        <p:txBody>
          <a:bodyPr wrap="square" anchor="ctr" lIns="45720" rIns="45720" tIns="9144" bIns="9144">
            <a:spAutoFit/>
          </a:bodyPr>
          <a:lstStyle/>
          <a:p>
            <a:pPr algn="r"/>
            <a:r>
              <a:rPr sz="1100" b="0" i="0">
                <a:solidFill>
                  <a:srgbClr val="334155"/>
                </a:solidFill>
                <a:latin typeface="Calibri"/>
              </a:rPr>
              <a:t>11,109</a:t>
            </a:r>
          </a:p>
        </p:txBody>
      </p:sp>
      <p:sp>
        <p:nvSpPr>
          <p:cNvPr id="61" name="Rectangle 60"/>
          <p:cNvSpPr/>
          <p:nvPr/>
        </p:nvSpPr>
        <p:spPr>
          <a:xfrm>
            <a:off x="320040" y="3858768"/>
            <a:ext cx="3291840" cy="384048"/>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338328" y="3858768"/>
            <a:ext cx="3255264" cy="384048"/>
          </a:xfrm>
          <a:prstGeom prst="rect">
            <a:avLst/>
          </a:prstGeom>
          <a:noFill/>
        </p:spPr>
        <p:txBody>
          <a:bodyPr wrap="square" anchor="ctr" lIns="45720" rIns="45720" tIns="9144" bIns="9144">
            <a:spAutoFit/>
          </a:bodyPr>
          <a:lstStyle/>
          <a:p>
            <a:pPr algn="l"/>
            <a:r>
              <a:rPr sz="1100" b="1" i="0">
                <a:solidFill>
                  <a:srgbClr val="0D2341"/>
                </a:solidFill>
                <a:latin typeface="Calibri"/>
              </a:rPr>
              <a:t>PLANILLA MENSUAL</a:t>
            </a:r>
          </a:p>
        </p:txBody>
      </p:sp>
      <p:sp>
        <p:nvSpPr>
          <p:cNvPr id="63" name="Rectangle 62"/>
          <p:cNvSpPr/>
          <p:nvPr/>
        </p:nvSpPr>
        <p:spPr>
          <a:xfrm>
            <a:off x="3611880" y="3858768"/>
            <a:ext cx="4023360" cy="384048"/>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3630168" y="3858768"/>
            <a:ext cx="3986784" cy="384048"/>
          </a:xfrm>
          <a:prstGeom prst="rect">
            <a:avLst/>
          </a:prstGeom>
          <a:noFill/>
        </p:spPr>
        <p:txBody>
          <a:bodyPr wrap="square" anchor="ctr" lIns="45720" rIns="45720" tIns="9144" bIns="9144">
            <a:spAutoFit/>
          </a:bodyPr>
          <a:lstStyle/>
          <a:p>
            <a:pPr algn="l"/>
            <a:r>
              <a:rPr sz="1100" b="1" i="0">
                <a:solidFill>
                  <a:srgbClr val="0D2341"/>
                </a:solidFill>
                <a:latin typeface="Calibri"/>
              </a:rPr>
              <a:t>6 colaboradores</a:t>
            </a:r>
          </a:p>
        </p:txBody>
      </p:sp>
      <p:sp>
        <p:nvSpPr>
          <p:cNvPr id="65" name="Rectangle 64"/>
          <p:cNvSpPr/>
          <p:nvPr/>
        </p:nvSpPr>
        <p:spPr>
          <a:xfrm>
            <a:off x="7635240" y="3858768"/>
            <a:ext cx="2011680" cy="384048"/>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7653528" y="3858768"/>
            <a:ext cx="1975104" cy="384048"/>
          </a:xfrm>
          <a:prstGeom prst="rect">
            <a:avLst/>
          </a:prstGeom>
          <a:noFill/>
        </p:spPr>
        <p:txBody>
          <a:bodyPr wrap="square" anchor="ctr" lIns="45720" rIns="45720" tIns="9144" bIns="9144">
            <a:spAutoFit/>
          </a:bodyPr>
          <a:lstStyle/>
          <a:p>
            <a:pPr algn="r"/>
            <a:r>
              <a:rPr sz="1100" b="1" i="0">
                <a:solidFill>
                  <a:srgbClr val="0D2341"/>
                </a:solidFill>
                <a:latin typeface="Calibri"/>
              </a:rPr>
              <a:t>92,600</a:t>
            </a:r>
          </a:p>
        </p:txBody>
      </p:sp>
      <p:sp>
        <p:nvSpPr>
          <p:cNvPr id="67" name="Rectangle 66"/>
          <p:cNvSpPr/>
          <p:nvPr/>
        </p:nvSpPr>
        <p:spPr>
          <a:xfrm>
            <a:off x="9646920" y="3858768"/>
            <a:ext cx="2103120" cy="384048"/>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9665208" y="3858768"/>
            <a:ext cx="2066543" cy="384048"/>
          </a:xfrm>
          <a:prstGeom prst="rect">
            <a:avLst/>
          </a:prstGeom>
          <a:noFill/>
        </p:spPr>
        <p:txBody>
          <a:bodyPr wrap="square" anchor="ctr" lIns="45720" rIns="45720" tIns="9144" bIns="9144">
            <a:spAutoFit/>
          </a:bodyPr>
          <a:lstStyle/>
          <a:p>
            <a:pPr algn="r"/>
            <a:r>
              <a:rPr sz="1100" b="1" i="0">
                <a:solidFill>
                  <a:srgbClr val="0D2341"/>
                </a:solidFill>
                <a:latin typeface="Calibri"/>
              </a:rPr>
              <a:t>66,656</a:t>
            </a:r>
          </a:p>
        </p:txBody>
      </p:sp>
      <p:sp>
        <p:nvSpPr>
          <p:cNvPr id="69" name="Rectangle 68"/>
          <p:cNvSpPr/>
          <p:nvPr/>
        </p:nvSpPr>
        <p:spPr>
          <a:xfrm>
            <a:off x="320040" y="4526280"/>
            <a:ext cx="2743200" cy="1234440"/>
          </a:xfrm>
          <a:prstGeom prst="rect">
            <a:avLst/>
          </a:prstGeom>
          <a:solidFill>
            <a:srgbClr val="E6F4F6"/>
          </a:solidFill>
          <a:ln w="12700">
            <a:solidFill>
              <a:srgbClr val="E6F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411479" y="4599432"/>
            <a:ext cx="2560320" cy="617220"/>
          </a:xfrm>
          <a:prstGeom prst="rect">
            <a:avLst/>
          </a:prstGeom>
          <a:noFill/>
        </p:spPr>
        <p:txBody>
          <a:bodyPr wrap="square" anchor="ctr">
            <a:spAutoFit/>
          </a:bodyPr>
          <a:lstStyle/>
          <a:p>
            <a:pPr algn="ctr"/>
            <a:r>
              <a:rPr sz="2200" b="1" i="0">
                <a:solidFill>
                  <a:srgbClr val="1A7A8A"/>
                </a:solidFill>
                <a:latin typeface="Calibri"/>
              </a:rPr>
              <a:t>L 5,725</a:t>
            </a:r>
          </a:p>
        </p:txBody>
      </p:sp>
      <p:sp>
        <p:nvSpPr>
          <p:cNvPr id="71" name="TextBox 70"/>
          <p:cNvSpPr txBox="1"/>
          <p:nvPr/>
        </p:nvSpPr>
        <p:spPr>
          <a:xfrm>
            <a:off x="411479" y="5168188"/>
            <a:ext cx="2560320" cy="345643"/>
          </a:xfrm>
          <a:prstGeom prst="rect">
            <a:avLst/>
          </a:prstGeom>
          <a:noFill/>
        </p:spPr>
        <p:txBody>
          <a:bodyPr wrap="square" anchor="ctr">
            <a:spAutoFit/>
          </a:bodyPr>
          <a:lstStyle/>
          <a:p>
            <a:pPr algn="ctr"/>
            <a:r>
              <a:rPr sz="1000" b="0" i="0">
                <a:solidFill>
                  <a:srgbClr val="334155"/>
                </a:solidFill>
                <a:latin typeface="Calibri"/>
              </a:rPr>
              <a:t>Cargas patronales mensuales</a:t>
            </a:r>
          </a:p>
          <a:p>
            <a:pPr algn="ctr"/>
            <a:r>
              <a:rPr sz="1000" b="0" i="0">
                <a:solidFill>
                  <a:srgbClr val="334155"/>
                </a:solidFill>
                <a:latin typeface="Calibri"/>
              </a:rPr>
              <a:t>(IHSS 7.2 % con techo + INFOP 1 %)</a:t>
            </a:r>
          </a:p>
        </p:txBody>
      </p:sp>
      <p:sp>
        <p:nvSpPr>
          <p:cNvPr id="72" name="Rectangle 71"/>
          <p:cNvSpPr/>
          <p:nvPr/>
        </p:nvSpPr>
        <p:spPr>
          <a:xfrm>
            <a:off x="3200400" y="4526280"/>
            <a:ext cx="2743200" cy="1234440"/>
          </a:xfrm>
          <a:prstGeom prst="rect">
            <a:avLst/>
          </a:prstGeom>
          <a:solidFill>
            <a:srgbClr val="F1F5F9"/>
          </a:solidFill>
          <a:ln w="12700">
            <a:solidFill>
              <a:srgbClr val="F1F5F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3291840" y="4599432"/>
            <a:ext cx="2560320" cy="617220"/>
          </a:xfrm>
          <a:prstGeom prst="rect">
            <a:avLst/>
          </a:prstGeom>
          <a:noFill/>
        </p:spPr>
        <p:txBody>
          <a:bodyPr wrap="square" anchor="ctr">
            <a:spAutoFit/>
          </a:bodyPr>
          <a:lstStyle/>
          <a:p>
            <a:pPr algn="ctr"/>
            <a:r>
              <a:rPr sz="2200" b="1" i="0">
                <a:solidFill>
                  <a:srgbClr val="1B3A5C"/>
                </a:solidFill>
                <a:latin typeface="Calibri"/>
              </a:rPr>
              <a:t>14 salarios</a:t>
            </a:r>
          </a:p>
        </p:txBody>
      </p:sp>
      <p:sp>
        <p:nvSpPr>
          <p:cNvPr id="74" name="TextBox 73"/>
          <p:cNvSpPr txBox="1"/>
          <p:nvPr/>
        </p:nvSpPr>
        <p:spPr>
          <a:xfrm>
            <a:off x="3291840" y="5168188"/>
            <a:ext cx="2560320" cy="345643"/>
          </a:xfrm>
          <a:prstGeom prst="rect">
            <a:avLst/>
          </a:prstGeom>
          <a:noFill/>
        </p:spPr>
        <p:txBody>
          <a:bodyPr wrap="square" anchor="ctr">
            <a:spAutoFit/>
          </a:bodyPr>
          <a:lstStyle/>
          <a:p>
            <a:pPr algn="ctr"/>
            <a:r>
              <a:rPr sz="1000" b="0" i="0">
                <a:solidFill>
                  <a:srgbClr val="334155"/>
                </a:solidFill>
                <a:latin typeface="Calibri"/>
              </a:rPr>
              <a:t>Por año: 12 + aguinaldo</a:t>
            </a:r>
          </a:p>
          <a:p>
            <a:pPr algn="ctr"/>
            <a:r>
              <a:rPr sz="1000" b="0" i="0">
                <a:solidFill>
                  <a:srgbClr val="334155"/>
                </a:solidFill>
                <a:latin typeface="Calibri"/>
              </a:rPr>
              <a:t>+ decimocuarto mes</a:t>
            </a:r>
          </a:p>
        </p:txBody>
      </p:sp>
      <p:sp>
        <p:nvSpPr>
          <p:cNvPr id="75" name="Rectangle 74"/>
          <p:cNvSpPr/>
          <p:nvPr/>
        </p:nvSpPr>
        <p:spPr>
          <a:xfrm>
            <a:off x="6080759" y="4526280"/>
            <a:ext cx="2743200" cy="1234440"/>
          </a:xfrm>
          <a:prstGeom prst="rect">
            <a:avLst/>
          </a:prstGeom>
          <a:solidFill>
            <a:srgbClr val="E6F4F6"/>
          </a:solidFill>
          <a:ln w="12700">
            <a:solidFill>
              <a:srgbClr val="E6F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Box 75"/>
          <p:cNvSpPr txBox="1"/>
          <p:nvPr/>
        </p:nvSpPr>
        <p:spPr>
          <a:xfrm>
            <a:off x="6172199" y="4599432"/>
            <a:ext cx="2560320" cy="617220"/>
          </a:xfrm>
          <a:prstGeom prst="rect">
            <a:avLst/>
          </a:prstGeom>
          <a:noFill/>
        </p:spPr>
        <p:txBody>
          <a:bodyPr wrap="square" anchor="ctr">
            <a:spAutoFit/>
          </a:bodyPr>
          <a:lstStyle/>
          <a:p>
            <a:pPr algn="ctr"/>
            <a:r>
              <a:rPr sz="2200" b="1" i="0">
                <a:solidFill>
                  <a:srgbClr val="1A7A8A"/>
                </a:solidFill>
                <a:latin typeface="Calibri"/>
              </a:rPr>
              <a:t>L 1,426,533</a:t>
            </a:r>
          </a:p>
        </p:txBody>
      </p:sp>
      <p:sp>
        <p:nvSpPr>
          <p:cNvPr id="77" name="TextBox 76"/>
          <p:cNvSpPr txBox="1"/>
          <p:nvPr/>
        </p:nvSpPr>
        <p:spPr>
          <a:xfrm>
            <a:off x="6172199" y="5168188"/>
            <a:ext cx="2560320" cy="345643"/>
          </a:xfrm>
          <a:prstGeom prst="rect">
            <a:avLst/>
          </a:prstGeom>
          <a:noFill/>
        </p:spPr>
        <p:txBody>
          <a:bodyPr wrap="square" anchor="ctr">
            <a:spAutoFit/>
          </a:bodyPr>
          <a:lstStyle/>
          <a:p>
            <a:pPr algn="ctr"/>
            <a:r>
              <a:rPr sz="1000" b="0" i="0">
                <a:solidFill>
                  <a:srgbClr val="334155"/>
                </a:solidFill>
                <a:latin typeface="Calibri"/>
              </a:rPr>
              <a:t>Costo anual de personal, año 1</a:t>
            </a:r>
          </a:p>
        </p:txBody>
      </p:sp>
      <p:sp>
        <p:nvSpPr>
          <p:cNvPr id="78" name="Rectangle 77"/>
          <p:cNvSpPr/>
          <p:nvPr/>
        </p:nvSpPr>
        <p:spPr>
          <a:xfrm>
            <a:off x="8961119" y="4526280"/>
            <a:ext cx="2743200" cy="1234440"/>
          </a:xfrm>
          <a:prstGeom prst="rect">
            <a:avLst/>
          </a:prstGeom>
          <a:solidFill>
            <a:srgbClr val="F1F5F9"/>
          </a:solidFill>
          <a:ln w="12700">
            <a:solidFill>
              <a:srgbClr val="F1F5F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9052559" y="4599432"/>
            <a:ext cx="2560320" cy="617220"/>
          </a:xfrm>
          <a:prstGeom prst="rect">
            <a:avLst/>
          </a:prstGeom>
          <a:noFill/>
        </p:spPr>
        <p:txBody>
          <a:bodyPr wrap="square" anchor="ctr">
            <a:spAutoFit/>
          </a:bodyPr>
          <a:lstStyle/>
          <a:p>
            <a:pPr algn="ctr"/>
            <a:r>
              <a:rPr sz="2200" b="1" i="0">
                <a:solidFill>
                  <a:srgbClr val="1B3A5C"/>
                </a:solidFill>
                <a:latin typeface="Calibri"/>
              </a:rPr>
              <a:t>L 2,119,963</a:t>
            </a:r>
          </a:p>
        </p:txBody>
      </p:sp>
      <p:sp>
        <p:nvSpPr>
          <p:cNvPr id="80" name="TextBox 79"/>
          <p:cNvSpPr txBox="1"/>
          <p:nvPr/>
        </p:nvSpPr>
        <p:spPr>
          <a:xfrm>
            <a:off x="9052559" y="5168188"/>
            <a:ext cx="2560320" cy="345643"/>
          </a:xfrm>
          <a:prstGeom prst="rect">
            <a:avLst/>
          </a:prstGeom>
          <a:noFill/>
        </p:spPr>
        <p:txBody>
          <a:bodyPr wrap="square" anchor="ctr">
            <a:spAutoFit/>
          </a:bodyPr>
          <a:lstStyle/>
          <a:p>
            <a:pPr algn="ctr"/>
            <a:r>
              <a:rPr sz="1000" b="0" i="0">
                <a:solidFill>
                  <a:srgbClr val="334155"/>
                </a:solidFill>
                <a:latin typeface="Calibri"/>
              </a:rPr>
              <a:t>Costo anual, año 10</a:t>
            </a:r>
          </a:p>
          <a:p>
            <a:pPr algn="ctr"/>
            <a:r>
              <a:rPr sz="1000" b="0" i="0">
                <a:solidFill>
                  <a:srgbClr val="334155"/>
                </a:solidFill>
                <a:latin typeface="Calibri"/>
              </a:rPr>
              <a:t>(ajuste por inflación 4.5 %)</a:t>
            </a:r>
          </a:p>
        </p:txBody>
      </p:sp>
      <p:sp>
        <p:nvSpPr>
          <p:cNvPr id="81" name="TextBox 80"/>
          <p:cNvSpPr txBox="1"/>
          <p:nvPr/>
        </p:nvSpPr>
        <p:spPr>
          <a:xfrm>
            <a:off x="320040" y="5943600"/>
            <a:ext cx="11521440" cy="274320"/>
          </a:xfrm>
          <a:prstGeom prst="rect">
            <a:avLst/>
          </a:prstGeom>
          <a:noFill/>
        </p:spPr>
        <p:txBody>
          <a:bodyPr wrap="square" anchor="ctr">
            <a:spAutoFit/>
          </a:bodyPr>
          <a:lstStyle/>
          <a:p>
            <a:pPr algn="l"/>
            <a:r>
              <a:rPr sz="850" b="0" i="1">
                <a:solidFill>
                  <a:srgbClr val="64748B"/>
                </a:solidFill>
                <a:latin typeface="Calibri"/>
              </a:rPr>
              <a:t>Fuente: Tablas 19 y 20 de la tesis. Techo de cotización IHSS: L 11,109.36 mensuales.</a:t>
            </a:r>
          </a:p>
        </p:txBody>
      </p:sp>
      <p:sp>
        <p:nvSpPr>
          <p:cNvPr id="82" name="TextBox 81"/>
          <p:cNvSpPr txBox="1"/>
          <p:nvPr/>
        </p:nvSpPr>
        <p:spPr>
          <a:xfrm>
            <a:off x="320040" y="6583680"/>
            <a:ext cx="11521440" cy="201168"/>
          </a:xfrm>
          <a:prstGeom prst="rect">
            <a:avLst/>
          </a:prstGeom>
          <a:noFill/>
        </p:spPr>
        <p:txBody>
          <a:bodyPr wrap="square" anchor="ctr">
            <a:spAutoFit/>
          </a:bodyPr>
          <a:lstStyle/>
          <a:p>
            <a:pPr algn="ctr"/>
            <a:r>
              <a:rPr sz="800" b="0" i="0">
                <a:solidFill>
                  <a:srgbClr val="64748B"/>
                </a:solidFill>
                <a:latin typeface="Calibri"/>
              </a:rPr>
              <a:t>Maestría en Agronegocios · Universidad EAFIT · Zamorano · 2026   |   Caballero · Valladares · Medal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3657600" cy="256032"/>
          </a:xfrm>
          <a:prstGeom prst="rect">
            <a:avLst/>
          </a:prstGeom>
          <a:noFill/>
        </p:spPr>
        <p:txBody>
          <a:bodyPr wrap="square" anchor="ctr">
            <a:spAutoFit/>
          </a:bodyPr>
          <a:lstStyle/>
          <a:p>
            <a:pPr algn="l"/>
            <a:r>
              <a:rPr sz="900" b="1" i="0">
                <a:solidFill>
                  <a:srgbClr val="1A7A8A"/>
                </a:solidFill>
                <a:latin typeface="Calibri"/>
              </a:rPr>
              <a:t>FINANCIERO</a:t>
            </a:r>
          </a:p>
        </p:txBody>
      </p:sp>
      <p:sp>
        <p:nvSpPr>
          <p:cNvPr id="3" name="TextBox 2"/>
          <p:cNvSpPr txBox="1"/>
          <p:nvPr/>
        </p:nvSpPr>
        <p:spPr>
          <a:xfrm>
            <a:off x="320040" y="475488"/>
            <a:ext cx="11521440" cy="502920"/>
          </a:xfrm>
          <a:prstGeom prst="rect">
            <a:avLst/>
          </a:prstGeom>
          <a:noFill/>
        </p:spPr>
        <p:txBody>
          <a:bodyPr wrap="square" anchor="ctr">
            <a:spAutoFit/>
          </a:bodyPr>
          <a:lstStyle/>
          <a:p>
            <a:pPr algn="l"/>
            <a:r>
              <a:rPr sz="2600" b="1" i="0">
                <a:solidFill>
                  <a:srgbClr val="0D2341"/>
                </a:solidFill>
                <a:latin typeface="Calibri"/>
              </a:rPr>
              <a:t>Préstamo y Estado de Resultados Proyectado</a:t>
            </a:r>
          </a:p>
        </p:txBody>
      </p:sp>
      <p:sp>
        <p:nvSpPr>
          <p:cNvPr id="4" name="Rectangle 3"/>
          <p:cNvSpPr/>
          <p:nvPr/>
        </p:nvSpPr>
        <p:spPr>
          <a:xfrm>
            <a:off x="320040" y="1005840"/>
            <a:ext cx="11430000" cy="18288"/>
          </a:xfrm>
          <a:prstGeom prst="rect">
            <a:avLst/>
          </a:prstGeom>
          <a:solidFill>
            <a:srgbClr val="1A7A8A"/>
          </a:solidFill>
          <a:ln w="12700">
            <a:solidFill>
              <a:srgbClr val="1A7A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320040" y="1097280"/>
            <a:ext cx="4937760" cy="310896"/>
          </a:xfrm>
          <a:prstGeom prst="rect">
            <a:avLst/>
          </a:prstGeom>
          <a:noFill/>
        </p:spPr>
        <p:txBody>
          <a:bodyPr wrap="square" anchor="ctr">
            <a:spAutoFit/>
          </a:bodyPr>
          <a:lstStyle/>
          <a:p>
            <a:pPr algn="l"/>
            <a:r>
              <a:rPr sz="1300" b="1" i="0">
                <a:solidFill>
                  <a:srgbClr val="1B3A5C"/>
                </a:solidFill>
                <a:latin typeface="Calibri"/>
              </a:rPr>
              <a:t>Tabla de amortización del préstamo (Tabla 24)</a:t>
            </a:r>
          </a:p>
        </p:txBody>
      </p:sp>
      <p:sp>
        <p:nvSpPr>
          <p:cNvPr id="6" name="Rectangle 5"/>
          <p:cNvSpPr/>
          <p:nvPr/>
        </p:nvSpPr>
        <p:spPr>
          <a:xfrm>
            <a:off x="320040" y="1444752"/>
            <a:ext cx="457200" cy="36576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38328" y="1444752"/>
            <a:ext cx="420624" cy="365760"/>
          </a:xfrm>
          <a:prstGeom prst="rect">
            <a:avLst/>
          </a:prstGeom>
          <a:noFill/>
        </p:spPr>
        <p:txBody>
          <a:bodyPr wrap="square" anchor="ctr" lIns="45720" rIns="45720" tIns="9144" bIns="9144">
            <a:spAutoFit/>
          </a:bodyPr>
          <a:lstStyle/>
          <a:p>
            <a:pPr algn="ctr"/>
            <a:r>
              <a:rPr sz="1000" b="1" i="0">
                <a:solidFill>
                  <a:srgbClr val="FFFFFF"/>
                </a:solidFill>
                <a:latin typeface="Calibri"/>
              </a:rPr>
              <a:t>Año</a:t>
            </a:r>
          </a:p>
        </p:txBody>
      </p:sp>
      <p:sp>
        <p:nvSpPr>
          <p:cNvPr id="8" name="Rectangle 7"/>
          <p:cNvSpPr/>
          <p:nvPr/>
        </p:nvSpPr>
        <p:spPr>
          <a:xfrm>
            <a:off x="777240" y="1444752"/>
            <a:ext cx="914400" cy="36576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95528" y="1444752"/>
            <a:ext cx="877824" cy="365760"/>
          </a:xfrm>
          <a:prstGeom prst="rect">
            <a:avLst/>
          </a:prstGeom>
          <a:noFill/>
        </p:spPr>
        <p:txBody>
          <a:bodyPr wrap="square" anchor="ctr" lIns="45720" rIns="45720" tIns="9144" bIns="9144">
            <a:spAutoFit/>
          </a:bodyPr>
          <a:lstStyle/>
          <a:p>
            <a:pPr algn="ctr"/>
            <a:r>
              <a:rPr sz="1000" b="1" i="0">
                <a:solidFill>
                  <a:srgbClr val="FFFFFF"/>
                </a:solidFill>
                <a:latin typeface="Calibri"/>
              </a:rPr>
              <a:t>Saldo inicial</a:t>
            </a:r>
          </a:p>
        </p:txBody>
      </p:sp>
      <p:sp>
        <p:nvSpPr>
          <p:cNvPr id="10" name="Rectangle 9"/>
          <p:cNvSpPr/>
          <p:nvPr/>
        </p:nvSpPr>
        <p:spPr>
          <a:xfrm>
            <a:off x="1691640" y="1444752"/>
            <a:ext cx="868680" cy="36576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709928" y="1444752"/>
            <a:ext cx="832103" cy="365760"/>
          </a:xfrm>
          <a:prstGeom prst="rect">
            <a:avLst/>
          </a:prstGeom>
          <a:noFill/>
        </p:spPr>
        <p:txBody>
          <a:bodyPr wrap="square" anchor="ctr" lIns="45720" rIns="45720" tIns="9144" bIns="9144">
            <a:spAutoFit/>
          </a:bodyPr>
          <a:lstStyle/>
          <a:p>
            <a:pPr algn="ctr"/>
            <a:r>
              <a:rPr sz="1000" b="1" i="0">
                <a:solidFill>
                  <a:srgbClr val="FFFFFF"/>
                </a:solidFill>
                <a:latin typeface="Calibri"/>
              </a:rPr>
              <a:t>Intereses</a:t>
            </a:r>
          </a:p>
        </p:txBody>
      </p:sp>
      <p:sp>
        <p:nvSpPr>
          <p:cNvPr id="12" name="Rectangle 11"/>
          <p:cNvSpPr/>
          <p:nvPr/>
        </p:nvSpPr>
        <p:spPr>
          <a:xfrm>
            <a:off x="2560320" y="1444752"/>
            <a:ext cx="868680" cy="36576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578608" y="1444752"/>
            <a:ext cx="832103" cy="365760"/>
          </a:xfrm>
          <a:prstGeom prst="rect">
            <a:avLst/>
          </a:prstGeom>
          <a:noFill/>
        </p:spPr>
        <p:txBody>
          <a:bodyPr wrap="square" anchor="ctr" lIns="45720" rIns="45720" tIns="9144" bIns="9144">
            <a:spAutoFit/>
          </a:bodyPr>
          <a:lstStyle/>
          <a:p>
            <a:pPr algn="ctr"/>
            <a:r>
              <a:rPr sz="1000" b="1" i="0">
                <a:solidFill>
                  <a:srgbClr val="FFFFFF"/>
                </a:solidFill>
                <a:latin typeface="Calibri"/>
              </a:rPr>
              <a:t>Abono</a:t>
            </a:r>
          </a:p>
        </p:txBody>
      </p:sp>
      <p:sp>
        <p:nvSpPr>
          <p:cNvPr id="14" name="Rectangle 13"/>
          <p:cNvSpPr/>
          <p:nvPr/>
        </p:nvSpPr>
        <p:spPr>
          <a:xfrm>
            <a:off x="3429000" y="1444752"/>
            <a:ext cx="868680" cy="36576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447288" y="1444752"/>
            <a:ext cx="832103" cy="365760"/>
          </a:xfrm>
          <a:prstGeom prst="rect">
            <a:avLst/>
          </a:prstGeom>
          <a:noFill/>
        </p:spPr>
        <p:txBody>
          <a:bodyPr wrap="square" anchor="ctr" lIns="45720" rIns="45720" tIns="9144" bIns="9144">
            <a:spAutoFit/>
          </a:bodyPr>
          <a:lstStyle/>
          <a:p>
            <a:pPr algn="ctr"/>
            <a:r>
              <a:rPr sz="1000" b="1" i="0">
                <a:solidFill>
                  <a:srgbClr val="FFFFFF"/>
                </a:solidFill>
                <a:latin typeface="Calibri"/>
              </a:rPr>
              <a:t>Cuota</a:t>
            </a:r>
          </a:p>
        </p:txBody>
      </p:sp>
      <p:sp>
        <p:nvSpPr>
          <p:cNvPr id="16" name="Rectangle 15"/>
          <p:cNvSpPr/>
          <p:nvPr/>
        </p:nvSpPr>
        <p:spPr>
          <a:xfrm>
            <a:off x="4297680" y="1444752"/>
            <a:ext cx="914400" cy="36576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315968" y="1444752"/>
            <a:ext cx="877824" cy="365760"/>
          </a:xfrm>
          <a:prstGeom prst="rect">
            <a:avLst/>
          </a:prstGeom>
          <a:noFill/>
        </p:spPr>
        <p:txBody>
          <a:bodyPr wrap="square" anchor="ctr" lIns="45720" rIns="45720" tIns="9144" bIns="9144">
            <a:spAutoFit/>
          </a:bodyPr>
          <a:lstStyle/>
          <a:p>
            <a:pPr algn="ctr"/>
            <a:r>
              <a:rPr sz="1000" b="1" i="0">
                <a:solidFill>
                  <a:srgbClr val="FFFFFF"/>
                </a:solidFill>
                <a:latin typeface="Calibri"/>
              </a:rPr>
              <a:t>Saldo final</a:t>
            </a:r>
          </a:p>
        </p:txBody>
      </p:sp>
      <p:sp>
        <p:nvSpPr>
          <p:cNvPr id="18" name="Rectangle 17"/>
          <p:cNvSpPr/>
          <p:nvPr/>
        </p:nvSpPr>
        <p:spPr>
          <a:xfrm>
            <a:off x="320040" y="1810512"/>
            <a:ext cx="457200" cy="40233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38328" y="1810512"/>
            <a:ext cx="420624" cy="402336"/>
          </a:xfrm>
          <a:prstGeom prst="rect">
            <a:avLst/>
          </a:prstGeom>
          <a:noFill/>
        </p:spPr>
        <p:txBody>
          <a:bodyPr wrap="square" anchor="ctr" lIns="45720" rIns="45720" tIns="9144" bIns="9144">
            <a:spAutoFit/>
          </a:bodyPr>
          <a:lstStyle/>
          <a:p>
            <a:pPr algn="ctr"/>
            <a:r>
              <a:rPr sz="1050" b="0" i="0">
                <a:solidFill>
                  <a:srgbClr val="334155"/>
                </a:solidFill>
                <a:latin typeface="Calibri"/>
              </a:rPr>
              <a:t>1</a:t>
            </a:r>
          </a:p>
        </p:txBody>
      </p:sp>
      <p:sp>
        <p:nvSpPr>
          <p:cNvPr id="20" name="Rectangle 19"/>
          <p:cNvSpPr/>
          <p:nvPr/>
        </p:nvSpPr>
        <p:spPr>
          <a:xfrm>
            <a:off x="777240" y="1810512"/>
            <a:ext cx="914400" cy="40233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95528" y="1810512"/>
            <a:ext cx="877824" cy="402336"/>
          </a:xfrm>
          <a:prstGeom prst="rect">
            <a:avLst/>
          </a:prstGeom>
          <a:noFill/>
        </p:spPr>
        <p:txBody>
          <a:bodyPr wrap="square" anchor="ctr" lIns="45720" rIns="45720" tIns="9144" bIns="9144">
            <a:spAutoFit/>
          </a:bodyPr>
          <a:lstStyle/>
          <a:p>
            <a:pPr algn="r"/>
            <a:r>
              <a:rPr sz="1050" b="0" i="0">
                <a:solidFill>
                  <a:srgbClr val="334155"/>
                </a:solidFill>
                <a:latin typeface="Calibri"/>
              </a:rPr>
              <a:t>892,029</a:t>
            </a:r>
          </a:p>
        </p:txBody>
      </p:sp>
      <p:sp>
        <p:nvSpPr>
          <p:cNvPr id="22" name="Rectangle 21"/>
          <p:cNvSpPr/>
          <p:nvPr/>
        </p:nvSpPr>
        <p:spPr>
          <a:xfrm>
            <a:off x="1691640" y="1810512"/>
            <a:ext cx="868680" cy="40233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709928" y="1810512"/>
            <a:ext cx="832103" cy="402336"/>
          </a:xfrm>
          <a:prstGeom prst="rect">
            <a:avLst/>
          </a:prstGeom>
          <a:noFill/>
        </p:spPr>
        <p:txBody>
          <a:bodyPr wrap="square" anchor="ctr" lIns="45720" rIns="45720" tIns="9144" bIns="9144">
            <a:spAutoFit/>
          </a:bodyPr>
          <a:lstStyle/>
          <a:p>
            <a:pPr algn="r"/>
            <a:r>
              <a:rPr sz="1050" b="0" i="0">
                <a:solidFill>
                  <a:srgbClr val="334155"/>
                </a:solidFill>
                <a:latin typeface="Calibri"/>
              </a:rPr>
              <a:t>124,884</a:t>
            </a:r>
          </a:p>
        </p:txBody>
      </p:sp>
      <p:sp>
        <p:nvSpPr>
          <p:cNvPr id="24" name="Rectangle 23"/>
          <p:cNvSpPr/>
          <p:nvPr/>
        </p:nvSpPr>
        <p:spPr>
          <a:xfrm>
            <a:off x="2560320" y="1810512"/>
            <a:ext cx="868680" cy="40233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2578608" y="1810512"/>
            <a:ext cx="832103" cy="402336"/>
          </a:xfrm>
          <a:prstGeom prst="rect">
            <a:avLst/>
          </a:prstGeom>
          <a:noFill/>
        </p:spPr>
        <p:txBody>
          <a:bodyPr wrap="square" anchor="ctr" lIns="45720" rIns="45720" tIns="9144" bIns="9144">
            <a:spAutoFit/>
          </a:bodyPr>
          <a:lstStyle/>
          <a:p>
            <a:pPr algn="r"/>
            <a:r>
              <a:rPr sz="1050" b="0" i="0">
                <a:solidFill>
                  <a:srgbClr val="334155"/>
                </a:solidFill>
                <a:latin typeface="Calibri"/>
              </a:rPr>
              <a:t>134,949</a:t>
            </a:r>
          </a:p>
        </p:txBody>
      </p:sp>
      <p:sp>
        <p:nvSpPr>
          <p:cNvPr id="26" name="Rectangle 25"/>
          <p:cNvSpPr/>
          <p:nvPr/>
        </p:nvSpPr>
        <p:spPr>
          <a:xfrm>
            <a:off x="3429000" y="1810512"/>
            <a:ext cx="868680" cy="40233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3447288" y="1810512"/>
            <a:ext cx="832103" cy="402336"/>
          </a:xfrm>
          <a:prstGeom prst="rect">
            <a:avLst/>
          </a:prstGeom>
          <a:noFill/>
        </p:spPr>
        <p:txBody>
          <a:bodyPr wrap="square" anchor="ctr" lIns="45720" rIns="45720" tIns="9144" bIns="9144">
            <a:spAutoFit/>
          </a:bodyPr>
          <a:lstStyle/>
          <a:p>
            <a:pPr algn="r"/>
            <a:r>
              <a:rPr sz="1050" b="0" i="0">
                <a:solidFill>
                  <a:srgbClr val="334155"/>
                </a:solidFill>
                <a:latin typeface="Calibri"/>
              </a:rPr>
              <a:t>259,833</a:t>
            </a:r>
          </a:p>
        </p:txBody>
      </p:sp>
      <p:sp>
        <p:nvSpPr>
          <p:cNvPr id="28" name="Rectangle 27"/>
          <p:cNvSpPr/>
          <p:nvPr/>
        </p:nvSpPr>
        <p:spPr>
          <a:xfrm>
            <a:off x="4297680" y="1810512"/>
            <a:ext cx="914400" cy="40233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315968" y="1810512"/>
            <a:ext cx="877824" cy="402336"/>
          </a:xfrm>
          <a:prstGeom prst="rect">
            <a:avLst/>
          </a:prstGeom>
          <a:noFill/>
        </p:spPr>
        <p:txBody>
          <a:bodyPr wrap="square" anchor="ctr" lIns="45720" rIns="45720" tIns="9144" bIns="9144">
            <a:spAutoFit/>
          </a:bodyPr>
          <a:lstStyle/>
          <a:p>
            <a:pPr algn="r"/>
            <a:r>
              <a:rPr sz="1050" b="0" i="0">
                <a:solidFill>
                  <a:srgbClr val="334155"/>
                </a:solidFill>
                <a:latin typeface="Calibri"/>
              </a:rPr>
              <a:t>757,080</a:t>
            </a:r>
          </a:p>
        </p:txBody>
      </p:sp>
      <p:sp>
        <p:nvSpPr>
          <p:cNvPr id="30" name="Rectangle 29"/>
          <p:cNvSpPr/>
          <p:nvPr/>
        </p:nvSpPr>
        <p:spPr>
          <a:xfrm>
            <a:off x="320040" y="2212848"/>
            <a:ext cx="457200" cy="40233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338328" y="2212848"/>
            <a:ext cx="420624" cy="402336"/>
          </a:xfrm>
          <a:prstGeom prst="rect">
            <a:avLst/>
          </a:prstGeom>
          <a:noFill/>
        </p:spPr>
        <p:txBody>
          <a:bodyPr wrap="square" anchor="ctr" lIns="45720" rIns="45720" tIns="9144" bIns="9144">
            <a:spAutoFit/>
          </a:bodyPr>
          <a:lstStyle/>
          <a:p>
            <a:pPr algn="ctr"/>
            <a:r>
              <a:rPr sz="1050" b="0" i="0">
                <a:solidFill>
                  <a:srgbClr val="334155"/>
                </a:solidFill>
                <a:latin typeface="Calibri"/>
              </a:rPr>
              <a:t>2</a:t>
            </a:r>
          </a:p>
        </p:txBody>
      </p:sp>
      <p:sp>
        <p:nvSpPr>
          <p:cNvPr id="32" name="Rectangle 31"/>
          <p:cNvSpPr/>
          <p:nvPr/>
        </p:nvSpPr>
        <p:spPr>
          <a:xfrm>
            <a:off x="777240" y="2212848"/>
            <a:ext cx="914400" cy="40233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95528" y="2212848"/>
            <a:ext cx="877824" cy="402336"/>
          </a:xfrm>
          <a:prstGeom prst="rect">
            <a:avLst/>
          </a:prstGeom>
          <a:noFill/>
        </p:spPr>
        <p:txBody>
          <a:bodyPr wrap="square" anchor="ctr" lIns="45720" rIns="45720" tIns="9144" bIns="9144">
            <a:spAutoFit/>
          </a:bodyPr>
          <a:lstStyle/>
          <a:p>
            <a:pPr algn="r"/>
            <a:r>
              <a:rPr sz="1050" b="0" i="0">
                <a:solidFill>
                  <a:srgbClr val="334155"/>
                </a:solidFill>
                <a:latin typeface="Calibri"/>
              </a:rPr>
              <a:t>757,080</a:t>
            </a:r>
          </a:p>
        </p:txBody>
      </p:sp>
      <p:sp>
        <p:nvSpPr>
          <p:cNvPr id="34" name="Rectangle 33"/>
          <p:cNvSpPr/>
          <p:nvPr/>
        </p:nvSpPr>
        <p:spPr>
          <a:xfrm>
            <a:off x="1691640" y="2212848"/>
            <a:ext cx="868680" cy="40233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709928" y="2212848"/>
            <a:ext cx="832103" cy="402336"/>
          </a:xfrm>
          <a:prstGeom prst="rect">
            <a:avLst/>
          </a:prstGeom>
          <a:noFill/>
        </p:spPr>
        <p:txBody>
          <a:bodyPr wrap="square" anchor="ctr" lIns="45720" rIns="45720" tIns="9144" bIns="9144">
            <a:spAutoFit/>
          </a:bodyPr>
          <a:lstStyle/>
          <a:p>
            <a:pPr algn="r"/>
            <a:r>
              <a:rPr sz="1050" b="0" i="0">
                <a:solidFill>
                  <a:srgbClr val="334155"/>
                </a:solidFill>
                <a:latin typeface="Calibri"/>
              </a:rPr>
              <a:t>105,991</a:t>
            </a:r>
          </a:p>
        </p:txBody>
      </p:sp>
      <p:sp>
        <p:nvSpPr>
          <p:cNvPr id="36" name="Rectangle 35"/>
          <p:cNvSpPr/>
          <p:nvPr/>
        </p:nvSpPr>
        <p:spPr>
          <a:xfrm>
            <a:off x="2560320" y="2212848"/>
            <a:ext cx="868680" cy="40233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2578608" y="2212848"/>
            <a:ext cx="832103" cy="402336"/>
          </a:xfrm>
          <a:prstGeom prst="rect">
            <a:avLst/>
          </a:prstGeom>
          <a:noFill/>
        </p:spPr>
        <p:txBody>
          <a:bodyPr wrap="square" anchor="ctr" lIns="45720" rIns="45720" tIns="9144" bIns="9144">
            <a:spAutoFit/>
          </a:bodyPr>
          <a:lstStyle/>
          <a:p>
            <a:pPr algn="r"/>
            <a:r>
              <a:rPr sz="1050" b="0" i="0">
                <a:solidFill>
                  <a:srgbClr val="334155"/>
                </a:solidFill>
                <a:latin typeface="Calibri"/>
              </a:rPr>
              <a:t>153,842</a:t>
            </a:r>
          </a:p>
        </p:txBody>
      </p:sp>
      <p:sp>
        <p:nvSpPr>
          <p:cNvPr id="38" name="Rectangle 37"/>
          <p:cNvSpPr/>
          <p:nvPr/>
        </p:nvSpPr>
        <p:spPr>
          <a:xfrm>
            <a:off x="3429000" y="2212848"/>
            <a:ext cx="868680" cy="40233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3447288" y="2212848"/>
            <a:ext cx="832103" cy="402336"/>
          </a:xfrm>
          <a:prstGeom prst="rect">
            <a:avLst/>
          </a:prstGeom>
          <a:noFill/>
        </p:spPr>
        <p:txBody>
          <a:bodyPr wrap="square" anchor="ctr" lIns="45720" rIns="45720" tIns="9144" bIns="9144">
            <a:spAutoFit/>
          </a:bodyPr>
          <a:lstStyle/>
          <a:p>
            <a:pPr algn="r"/>
            <a:r>
              <a:rPr sz="1050" b="0" i="0">
                <a:solidFill>
                  <a:srgbClr val="334155"/>
                </a:solidFill>
                <a:latin typeface="Calibri"/>
              </a:rPr>
              <a:t>259,833</a:t>
            </a:r>
          </a:p>
        </p:txBody>
      </p:sp>
      <p:sp>
        <p:nvSpPr>
          <p:cNvPr id="40" name="Rectangle 39"/>
          <p:cNvSpPr/>
          <p:nvPr/>
        </p:nvSpPr>
        <p:spPr>
          <a:xfrm>
            <a:off x="4297680" y="2212848"/>
            <a:ext cx="914400" cy="40233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4315968" y="2212848"/>
            <a:ext cx="877824" cy="402336"/>
          </a:xfrm>
          <a:prstGeom prst="rect">
            <a:avLst/>
          </a:prstGeom>
          <a:noFill/>
        </p:spPr>
        <p:txBody>
          <a:bodyPr wrap="square" anchor="ctr" lIns="45720" rIns="45720" tIns="9144" bIns="9144">
            <a:spAutoFit/>
          </a:bodyPr>
          <a:lstStyle/>
          <a:p>
            <a:pPr algn="r"/>
            <a:r>
              <a:rPr sz="1050" b="0" i="0">
                <a:solidFill>
                  <a:srgbClr val="334155"/>
                </a:solidFill>
                <a:latin typeface="Calibri"/>
              </a:rPr>
              <a:t>603,238</a:t>
            </a:r>
          </a:p>
        </p:txBody>
      </p:sp>
      <p:sp>
        <p:nvSpPr>
          <p:cNvPr id="42" name="Rectangle 41"/>
          <p:cNvSpPr/>
          <p:nvPr/>
        </p:nvSpPr>
        <p:spPr>
          <a:xfrm>
            <a:off x="320040" y="2615184"/>
            <a:ext cx="457200" cy="40233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338328" y="2615184"/>
            <a:ext cx="420624" cy="402336"/>
          </a:xfrm>
          <a:prstGeom prst="rect">
            <a:avLst/>
          </a:prstGeom>
          <a:noFill/>
        </p:spPr>
        <p:txBody>
          <a:bodyPr wrap="square" anchor="ctr" lIns="45720" rIns="45720" tIns="9144" bIns="9144">
            <a:spAutoFit/>
          </a:bodyPr>
          <a:lstStyle/>
          <a:p>
            <a:pPr algn="ctr"/>
            <a:r>
              <a:rPr sz="1050" b="0" i="0">
                <a:solidFill>
                  <a:srgbClr val="334155"/>
                </a:solidFill>
                <a:latin typeface="Calibri"/>
              </a:rPr>
              <a:t>3</a:t>
            </a:r>
          </a:p>
        </p:txBody>
      </p:sp>
      <p:sp>
        <p:nvSpPr>
          <p:cNvPr id="44" name="Rectangle 43"/>
          <p:cNvSpPr/>
          <p:nvPr/>
        </p:nvSpPr>
        <p:spPr>
          <a:xfrm>
            <a:off x="777240" y="2615184"/>
            <a:ext cx="914400" cy="40233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95528" y="2615184"/>
            <a:ext cx="877824" cy="402336"/>
          </a:xfrm>
          <a:prstGeom prst="rect">
            <a:avLst/>
          </a:prstGeom>
          <a:noFill/>
        </p:spPr>
        <p:txBody>
          <a:bodyPr wrap="square" anchor="ctr" lIns="45720" rIns="45720" tIns="9144" bIns="9144">
            <a:spAutoFit/>
          </a:bodyPr>
          <a:lstStyle/>
          <a:p>
            <a:pPr algn="r"/>
            <a:r>
              <a:rPr sz="1050" b="0" i="0">
                <a:solidFill>
                  <a:srgbClr val="334155"/>
                </a:solidFill>
                <a:latin typeface="Calibri"/>
              </a:rPr>
              <a:t>603,238</a:t>
            </a:r>
          </a:p>
        </p:txBody>
      </p:sp>
      <p:sp>
        <p:nvSpPr>
          <p:cNvPr id="46" name="Rectangle 45"/>
          <p:cNvSpPr/>
          <p:nvPr/>
        </p:nvSpPr>
        <p:spPr>
          <a:xfrm>
            <a:off x="1691640" y="2615184"/>
            <a:ext cx="868680" cy="40233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1709928" y="2615184"/>
            <a:ext cx="832103" cy="402336"/>
          </a:xfrm>
          <a:prstGeom prst="rect">
            <a:avLst/>
          </a:prstGeom>
          <a:noFill/>
        </p:spPr>
        <p:txBody>
          <a:bodyPr wrap="square" anchor="ctr" lIns="45720" rIns="45720" tIns="9144" bIns="9144">
            <a:spAutoFit/>
          </a:bodyPr>
          <a:lstStyle/>
          <a:p>
            <a:pPr algn="r"/>
            <a:r>
              <a:rPr sz="1050" b="0" i="0">
                <a:solidFill>
                  <a:srgbClr val="334155"/>
                </a:solidFill>
                <a:latin typeface="Calibri"/>
              </a:rPr>
              <a:t>84,453</a:t>
            </a:r>
          </a:p>
        </p:txBody>
      </p:sp>
      <p:sp>
        <p:nvSpPr>
          <p:cNvPr id="48" name="Rectangle 47"/>
          <p:cNvSpPr/>
          <p:nvPr/>
        </p:nvSpPr>
        <p:spPr>
          <a:xfrm>
            <a:off x="2560320" y="2615184"/>
            <a:ext cx="868680" cy="40233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2578608" y="2615184"/>
            <a:ext cx="832103" cy="402336"/>
          </a:xfrm>
          <a:prstGeom prst="rect">
            <a:avLst/>
          </a:prstGeom>
          <a:noFill/>
        </p:spPr>
        <p:txBody>
          <a:bodyPr wrap="square" anchor="ctr" lIns="45720" rIns="45720" tIns="9144" bIns="9144">
            <a:spAutoFit/>
          </a:bodyPr>
          <a:lstStyle/>
          <a:p>
            <a:pPr algn="r"/>
            <a:r>
              <a:rPr sz="1050" b="0" i="0">
                <a:solidFill>
                  <a:srgbClr val="334155"/>
                </a:solidFill>
                <a:latin typeface="Calibri"/>
              </a:rPr>
              <a:t>175,380</a:t>
            </a:r>
          </a:p>
        </p:txBody>
      </p:sp>
      <p:sp>
        <p:nvSpPr>
          <p:cNvPr id="50" name="Rectangle 49"/>
          <p:cNvSpPr/>
          <p:nvPr/>
        </p:nvSpPr>
        <p:spPr>
          <a:xfrm>
            <a:off x="3429000" y="2615184"/>
            <a:ext cx="868680" cy="40233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3447288" y="2615184"/>
            <a:ext cx="832103" cy="402336"/>
          </a:xfrm>
          <a:prstGeom prst="rect">
            <a:avLst/>
          </a:prstGeom>
          <a:noFill/>
        </p:spPr>
        <p:txBody>
          <a:bodyPr wrap="square" anchor="ctr" lIns="45720" rIns="45720" tIns="9144" bIns="9144">
            <a:spAutoFit/>
          </a:bodyPr>
          <a:lstStyle/>
          <a:p>
            <a:pPr algn="r"/>
            <a:r>
              <a:rPr sz="1050" b="0" i="0">
                <a:solidFill>
                  <a:srgbClr val="334155"/>
                </a:solidFill>
                <a:latin typeface="Calibri"/>
              </a:rPr>
              <a:t>259,833</a:t>
            </a:r>
          </a:p>
        </p:txBody>
      </p:sp>
      <p:sp>
        <p:nvSpPr>
          <p:cNvPr id="52" name="Rectangle 51"/>
          <p:cNvSpPr/>
          <p:nvPr/>
        </p:nvSpPr>
        <p:spPr>
          <a:xfrm>
            <a:off x="4297680" y="2615184"/>
            <a:ext cx="914400" cy="40233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4315968" y="2615184"/>
            <a:ext cx="877824" cy="402336"/>
          </a:xfrm>
          <a:prstGeom prst="rect">
            <a:avLst/>
          </a:prstGeom>
          <a:noFill/>
        </p:spPr>
        <p:txBody>
          <a:bodyPr wrap="square" anchor="ctr" lIns="45720" rIns="45720" tIns="9144" bIns="9144">
            <a:spAutoFit/>
          </a:bodyPr>
          <a:lstStyle/>
          <a:p>
            <a:pPr algn="r"/>
            <a:r>
              <a:rPr sz="1050" b="0" i="0">
                <a:solidFill>
                  <a:srgbClr val="334155"/>
                </a:solidFill>
                <a:latin typeface="Calibri"/>
              </a:rPr>
              <a:t>427,857</a:t>
            </a:r>
          </a:p>
        </p:txBody>
      </p:sp>
      <p:sp>
        <p:nvSpPr>
          <p:cNvPr id="54" name="Rectangle 53"/>
          <p:cNvSpPr/>
          <p:nvPr/>
        </p:nvSpPr>
        <p:spPr>
          <a:xfrm>
            <a:off x="320040" y="3017520"/>
            <a:ext cx="457200" cy="40233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338328" y="3017520"/>
            <a:ext cx="420624" cy="402336"/>
          </a:xfrm>
          <a:prstGeom prst="rect">
            <a:avLst/>
          </a:prstGeom>
          <a:noFill/>
        </p:spPr>
        <p:txBody>
          <a:bodyPr wrap="square" anchor="ctr" lIns="45720" rIns="45720" tIns="9144" bIns="9144">
            <a:spAutoFit/>
          </a:bodyPr>
          <a:lstStyle/>
          <a:p>
            <a:pPr algn="ctr"/>
            <a:r>
              <a:rPr sz="1050" b="0" i="0">
                <a:solidFill>
                  <a:srgbClr val="334155"/>
                </a:solidFill>
                <a:latin typeface="Calibri"/>
              </a:rPr>
              <a:t>4</a:t>
            </a:r>
          </a:p>
        </p:txBody>
      </p:sp>
      <p:sp>
        <p:nvSpPr>
          <p:cNvPr id="56" name="Rectangle 55"/>
          <p:cNvSpPr/>
          <p:nvPr/>
        </p:nvSpPr>
        <p:spPr>
          <a:xfrm>
            <a:off x="777240" y="3017520"/>
            <a:ext cx="914400" cy="40233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795528" y="3017520"/>
            <a:ext cx="877824" cy="402336"/>
          </a:xfrm>
          <a:prstGeom prst="rect">
            <a:avLst/>
          </a:prstGeom>
          <a:noFill/>
        </p:spPr>
        <p:txBody>
          <a:bodyPr wrap="square" anchor="ctr" lIns="45720" rIns="45720" tIns="9144" bIns="9144">
            <a:spAutoFit/>
          </a:bodyPr>
          <a:lstStyle/>
          <a:p>
            <a:pPr algn="r"/>
            <a:r>
              <a:rPr sz="1050" b="0" i="0">
                <a:solidFill>
                  <a:srgbClr val="334155"/>
                </a:solidFill>
                <a:latin typeface="Calibri"/>
              </a:rPr>
              <a:t>427,857</a:t>
            </a:r>
          </a:p>
        </p:txBody>
      </p:sp>
      <p:sp>
        <p:nvSpPr>
          <p:cNvPr id="58" name="Rectangle 57"/>
          <p:cNvSpPr/>
          <p:nvPr/>
        </p:nvSpPr>
        <p:spPr>
          <a:xfrm>
            <a:off x="1691640" y="3017520"/>
            <a:ext cx="868680" cy="40233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1709928" y="3017520"/>
            <a:ext cx="832103" cy="402336"/>
          </a:xfrm>
          <a:prstGeom prst="rect">
            <a:avLst/>
          </a:prstGeom>
          <a:noFill/>
        </p:spPr>
        <p:txBody>
          <a:bodyPr wrap="square" anchor="ctr" lIns="45720" rIns="45720" tIns="9144" bIns="9144">
            <a:spAutoFit/>
          </a:bodyPr>
          <a:lstStyle/>
          <a:p>
            <a:pPr algn="r"/>
            <a:r>
              <a:rPr sz="1050" b="0" i="0">
                <a:solidFill>
                  <a:srgbClr val="334155"/>
                </a:solidFill>
                <a:latin typeface="Calibri"/>
              </a:rPr>
              <a:t>59,900</a:t>
            </a:r>
          </a:p>
        </p:txBody>
      </p:sp>
      <p:sp>
        <p:nvSpPr>
          <p:cNvPr id="60" name="Rectangle 59"/>
          <p:cNvSpPr/>
          <p:nvPr/>
        </p:nvSpPr>
        <p:spPr>
          <a:xfrm>
            <a:off x="2560320" y="3017520"/>
            <a:ext cx="868680" cy="40233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2578608" y="3017520"/>
            <a:ext cx="832103" cy="402336"/>
          </a:xfrm>
          <a:prstGeom prst="rect">
            <a:avLst/>
          </a:prstGeom>
          <a:noFill/>
        </p:spPr>
        <p:txBody>
          <a:bodyPr wrap="square" anchor="ctr" lIns="45720" rIns="45720" tIns="9144" bIns="9144">
            <a:spAutoFit/>
          </a:bodyPr>
          <a:lstStyle/>
          <a:p>
            <a:pPr algn="r"/>
            <a:r>
              <a:rPr sz="1050" b="0" i="0">
                <a:solidFill>
                  <a:srgbClr val="334155"/>
                </a:solidFill>
                <a:latin typeface="Calibri"/>
              </a:rPr>
              <a:t>199,933</a:t>
            </a:r>
          </a:p>
        </p:txBody>
      </p:sp>
      <p:sp>
        <p:nvSpPr>
          <p:cNvPr id="62" name="Rectangle 61"/>
          <p:cNvSpPr/>
          <p:nvPr/>
        </p:nvSpPr>
        <p:spPr>
          <a:xfrm>
            <a:off x="3429000" y="3017520"/>
            <a:ext cx="868680" cy="40233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3447288" y="3017520"/>
            <a:ext cx="832103" cy="402336"/>
          </a:xfrm>
          <a:prstGeom prst="rect">
            <a:avLst/>
          </a:prstGeom>
          <a:noFill/>
        </p:spPr>
        <p:txBody>
          <a:bodyPr wrap="square" anchor="ctr" lIns="45720" rIns="45720" tIns="9144" bIns="9144">
            <a:spAutoFit/>
          </a:bodyPr>
          <a:lstStyle/>
          <a:p>
            <a:pPr algn="r"/>
            <a:r>
              <a:rPr sz="1050" b="0" i="0">
                <a:solidFill>
                  <a:srgbClr val="334155"/>
                </a:solidFill>
                <a:latin typeface="Calibri"/>
              </a:rPr>
              <a:t>259,833</a:t>
            </a:r>
          </a:p>
        </p:txBody>
      </p:sp>
      <p:sp>
        <p:nvSpPr>
          <p:cNvPr id="64" name="Rectangle 63"/>
          <p:cNvSpPr/>
          <p:nvPr/>
        </p:nvSpPr>
        <p:spPr>
          <a:xfrm>
            <a:off x="4297680" y="3017520"/>
            <a:ext cx="914400" cy="40233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4315968" y="3017520"/>
            <a:ext cx="877824" cy="402336"/>
          </a:xfrm>
          <a:prstGeom prst="rect">
            <a:avLst/>
          </a:prstGeom>
          <a:noFill/>
        </p:spPr>
        <p:txBody>
          <a:bodyPr wrap="square" anchor="ctr" lIns="45720" rIns="45720" tIns="9144" bIns="9144">
            <a:spAutoFit/>
          </a:bodyPr>
          <a:lstStyle/>
          <a:p>
            <a:pPr algn="r"/>
            <a:r>
              <a:rPr sz="1050" b="0" i="0">
                <a:solidFill>
                  <a:srgbClr val="334155"/>
                </a:solidFill>
                <a:latin typeface="Calibri"/>
              </a:rPr>
              <a:t>227,924</a:t>
            </a:r>
          </a:p>
        </p:txBody>
      </p:sp>
      <p:sp>
        <p:nvSpPr>
          <p:cNvPr id="66" name="Rectangle 65"/>
          <p:cNvSpPr/>
          <p:nvPr/>
        </p:nvSpPr>
        <p:spPr>
          <a:xfrm>
            <a:off x="320040" y="3419856"/>
            <a:ext cx="457200" cy="40233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338328" y="3419856"/>
            <a:ext cx="420624" cy="402336"/>
          </a:xfrm>
          <a:prstGeom prst="rect">
            <a:avLst/>
          </a:prstGeom>
          <a:noFill/>
        </p:spPr>
        <p:txBody>
          <a:bodyPr wrap="square" anchor="ctr" lIns="45720" rIns="45720" tIns="9144" bIns="9144">
            <a:spAutoFit/>
          </a:bodyPr>
          <a:lstStyle/>
          <a:p>
            <a:pPr algn="ctr"/>
            <a:r>
              <a:rPr sz="1050" b="0" i="0">
                <a:solidFill>
                  <a:srgbClr val="334155"/>
                </a:solidFill>
                <a:latin typeface="Calibri"/>
              </a:rPr>
              <a:t>5</a:t>
            </a:r>
          </a:p>
        </p:txBody>
      </p:sp>
      <p:sp>
        <p:nvSpPr>
          <p:cNvPr id="68" name="Rectangle 67"/>
          <p:cNvSpPr/>
          <p:nvPr/>
        </p:nvSpPr>
        <p:spPr>
          <a:xfrm>
            <a:off x="777240" y="3419856"/>
            <a:ext cx="914400" cy="40233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795528" y="3419856"/>
            <a:ext cx="877824" cy="402336"/>
          </a:xfrm>
          <a:prstGeom prst="rect">
            <a:avLst/>
          </a:prstGeom>
          <a:noFill/>
        </p:spPr>
        <p:txBody>
          <a:bodyPr wrap="square" anchor="ctr" lIns="45720" rIns="45720" tIns="9144" bIns="9144">
            <a:spAutoFit/>
          </a:bodyPr>
          <a:lstStyle/>
          <a:p>
            <a:pPr algn="r"/>
            <a:r>
              <a:rPr sz="1050" b="0" i="0">
                <a:solidFill>
                  <a:srgbClr val="334155"/>
                </a:solidFill>
                <a:latin typeface="Calibri"/>
              </a:rPr>
              <a:t>227,924</a:t>
            </a:r>
          </a:p>
        </p:txBody>
      </p:sp>
      <p:sp>
        <p:nvSpPr>
          <p:cNvPr id="70" name="Rectangle 69"/>
          <p:cNvSpPr/>
          <p:nvPr/>
        </p:nvSpPr>
        <p:spPr>
          <a:xfrm>
            <a:off x="1691640" y="3419856"/>
            <a:ext cx="868680" cy="40233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Box 70"/>
          <p:cNvSpPr txBox="1"/>
          <p:nvPr/>
        </p:nvSpPr>
        <p:spPr>
          <a:xfrm>
            <a:off x="1709928" y="3419856"/>
            <a:ext cx="832103" cy="402336"/>
          </a:xfrm>
          <a:prstGeom prst="rect">
            <a:avLst/>
          </a:prstGeom>
          <a:noFill/>
        </p:spPr>
        <p:txBody>
          <a:bodyPr wrap="square" anchor="ctr" lIns="45720" rIns="45720" tIns="9144" bIns="9144">
            <a:spAutoFit/>
          </a:bodyPr>
          <a:lstStyle/>
          <a:p>
            <a:pPr algn="r"/>
            <a:r>
              <a:rPr sz="1050" b="0" i="0">
                <a:solidFill>
                  <a:srgbClr val="334155"/>
                </a:solidFill>
                <a:latin typeface="Calibri"/>
              </a:rPr>
              <a:t>31,909</a:t>
            </a:r>
          </a:p>
        </p:txBody>
      </p:sp>
      <p:sp>
        <p:nvSpPr>
          <p:cNvPr id="72" name="Rectangle 71"/>
          <p:cNvSpPr/>
          <p:nvPr/>
        </p:nvSpPr>
        <p:spPr>
          <a:xfrm>
            <a:off x="2560320" y="3419856"/>
            <a:ext cx="868680" cy="40233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2578608" y="3419856"/>
            <a:ext cx="832103" cy="402336"/>
          </a:xfrm>
          <a:prstGeom prst="rect">
            <a:avLst/>
          </a:prstGeom>
          <a:noFill/>
        </p:spPr>
        <p:txBody>
          <a:bodyPr wrap="square" anchor="ctr" lIns="45720" rIns="45720" tIns="9144" bIns="9144">
            <a:spAutoFit/>
          </a:bodyPr>
          <a:lstStyle/>
          <a:p>
            <a:pPr algn="r"/>
            <a:r>
              <a:rPr sz="1050" b="0" i="0">
                <a:solidFill>
                  <a:srgbClr val="334155"/>
                </a:solidFill>
                <a:latin typeface="Calibri"/>
              </a:rPr>
              <a:t>227,924</a:t>
            </a:r>
          </a:p>
        </p:txBody>
      </p:sp>
      <p:sp>
        <p:nvSpPr>
          <p:cNvPr id="74" name="Rectangle 73"/>
          <p:cNvSpPr/>
          <p:nvPr/>
        </p:nvSpPr>
        <p:spPr>
          <a:xfrm>
            <a:off x="3429000" y="3419856"/>
            <a:ext cx="868680" cy="40233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3447288" y="3419856"/>
            <a:ext cx="832103" cy="402336"/>
          </a:xfrm>
          <a:prstGeom prst="rect">
            <a:avLst/>
          </a:prstGeom>
          <a:noFill/>
        </p:spPr>
        <p:txBody>
          <a:bodyPr wrap="square" anchor="ctr" lIns="45720" rIns="45720" tIns="9144" bIns="9144">
            <a:spAutoFit/>
          </a:bodyPr>
          <a:lstStyle/>
          <a:p>
            <a:pPr algn="r"/>
            <a:r>
              <a:rPr sz="1050" b="0" i="0">
                <a:solidFill>
                  <a:srgbClr val="334155"/>
                </a:solidFill>
                <a:latin typeface="Calibri"/>
              </a:rPr>
              <a:t>259,833</a:t>
            </a:r>
          </a:p>
        </p:txBody>
      </p:sp>
      <p:sp>
        <p:nvSpPr>
          <p:cNvPr id="76" name="Rectangle 75"/>
          <p:cNvSpPr/>
          <p:nvPr/>
        </p:nvSpPr>
        <p:spPr>
          <a:xfrm>
            <a:off x="4297680" y="3419856"/>
            <a:ext cx="914400" cy="40233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4315968" y="3419856"/>
            <a:ext cx="877824" cy="402336"/>
          </a:xfrm>
          <a:prstGeom prst="rect">
            <a:avLst/>
          </a:prstGeom>
          <a:noFill/>
        </p:spPr>
        <p:txBody>
          <a:bodyPr wrap="square" anchor="ctr" lIns="45720" rIns="45720" tIns="9144" bIns="9144">
            <a:spAutoFit/>
          </a:bodyPr>
          <a:lstStyle/>
          <a:p>
            <a:pPr algn="r"/>
            <a:r>
              <a:rPr sz="1050" b="0" i="0">
                <a:solidFill>
                  <a:srgbClr val="334155"/>
                </a:solidFill>
                <a:latin typeface="Calibri"/>
              </a:rPr>
              <a:t>0</a:t>
            </a:r>
          </a:p>
        </p:txBody>
      </p:sp>
      <p:sp>
        <p:nvSpPr>
          <p:cNvPr id="78" name="TextBox 77"/>
          <p:cNvSpPr txBox="1"/>
          <p:nvPr/>
        </p:nvSpPr>
        <p:spPr>
          <a:xfrm>
            <a:off x="320040" y="4114800"/>
            <a:ext cx="4892040" cy="822960"/>
          </a:xfrm>
          <a:prstGeom prst="rect">
            <a:avLst/>
          </a:prstGeom>
          <a:noFill/>
        </p:spPr>
        <p:txBody>
          <a:bodyPr wrap="square" anchor="t">
            <a:spAutoFit/>
          </a:bodyPr>
          <a:lstStyle/>
          <a:p>
            <a:pPr algn="l"/>
            <a:r>
              <a:rPr sz="1150" b="0" i="0">
                <a:solidFill>
                  <a:srgbClr val="334155"/>
                </a:solidFill>
                <a:latin typeface="Calibri"/>
              </a:rPr>
              <a:t>L 892,029 al 14 %, 5 años, cuota L 259,833.</a:t>
            </a:r>
          </a:p>
        </p:txBody>
      </p:sp>
      <p:sp>
        <p:nvSpPr>
          <p:cNvPr id="79" name="Rectangle 78"/>
          <p:cNvSpPr/>
          <p:nvPr/>
        </p:nvSpPr>
        <p:spPr>
          <a:xfrm>
            <a:off x="320040" y="4892040"/>
            <a:ext cx="4892040" cy="1143000"/>
          </a:xfrm>
          <a:prstGeom prst="rect">
            <a:avLst/>
          </a:prstGeom>
          <a:solidFill>
            <a:srgbClr val="FBE4E1"/>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TextBox 79"/>
          <p:cNvSpPr txBox="1"/>
          <p:nvPr/>
        </p:nvSpPr>
        <p:spPr>
          <a:xfrm>
            <a:off x="457200" y="4919472"/>
            <a:ext cx="4663440" cy="1097280"/>
          </a:xfrm>
          <a:prstGeom prst="rect">
            <a:avLst/>
          </a:prstGeom>
          <a:noFill/>
        </p:spPr>
        <p:txBody>
          <a:bodyPr wrap="square" anchor="t">
            <a:spAutoFit/>
          </a:bodyPr>
          <a:lstStyle/>
          <a:p>
            <a:pPr algn="l"/>
            <a:r>
              <a:rPr sz="1200" b="1" i="0">
                <a:solidFill>
                  <a:srgbClr val="C0392B"/>
                </a:solidFill>
                <a:latin typeface="Calibri"/>
              </a:rPr>
              <a:t>Necesidad de caja: </a:t>
            </a:r>
            <a:r>
              <a:rPr sz="1200" b="0" i="0">
                <a:solidFill>
                  <a:srgbClr val="334155"/>
                </a:solidFill>
                <a:latin typeface="Calibri"/>
              </a:rPr>
              <a:t>flujos negativos en los años 1 y 2; los socios aportan L 1,217,819 adicionales.</a:t>
            </a:r>
          </a:p>
        </p:txBody>
      </p:sp>
      <p:sp>
        <p:nvSpPr>
          <p:cNvPr id="81" name="TextBox 80"/>
          <p:cNvSpPr txBox="1"/>
          <p:nvPr/>
        </p:nvSpPr>
        <p:spPr>
          <a:xfrm>
            <a:off x="5486400" y="1097280"/>
            <a:ext cx="6309360" cy="310896"/>
          </a:xfrm>
          <a:prstGeom prst="rect">
            <a:avLst/>
          </a:prstGeom>
          <a:noFill/>
        </p:spPr>
        <p:txBody>
          <a:bodyPr wrap="square" anchor="ctr">
            <a:spAutoFit/>
          </a:bodyPr>
          <a:lstStyle/>
          <a:p>
            <a:pPr algn="l"/>
            <a:r>
              <a:rPr sz="1300" b="1" i="0">
                <a:solidFill>
                  <a:srgbClr val="1B3A5C"/>
                </a:solidFill>
                <a:latin typeface="Calibri"/>
              </a:rPr>
              <a:t>Estado de resultados, con financiamiento (L)</a:t>
            </a:r>
          </a:p>
        </p:txBody>
      </p:sp>
      <p:sp>
        <p:nvSpPr>
          <p:cNvPr id="82" name="Rectangle 81"/>
          <p:cNvSpPr/>
          <p:nvPr/>
        </p:nvSpPr>
        <p:spPr>
          <a:xfrm>
            <a:off x="5486400" y="1444752"/>
            <a:ext cx="2331720" cy="36576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5504688" y="1444752"/>
            <a:ext cx="2295144" cy="365760"/>
          </a:xfrm>
          <a:prstGeom prst="rect">
            <a:avLst/>
          </a:prstGeom>
          <a:noFill/>
        </p:spPr>
        <p:txBody>
          <a:bodyPr wrap="square" anchor="ctr" lIns="45720" rIns="45720" tIns="9144" bIns="9144">
            <a:spAutoFit/>
          </a:bodyPr>
          <a:lstStyle/>
          <a:p>
            <a:pPr algn="l"/>
            <a:r>
              <a:rPr sz="1000" b="1" i="0">
                <a:solidFill>
                  <a:srgbClr val="FFFFFF"/>
                </a:solidFill>
                <a:latin typeface="Calibri"/>
              </a:rPr>
              <a:t>Concepto</a:t>
            </a:r>
          </a:p>
        </p:txBody>
      </p:sp>
      <p:sp>
        <p:nvSpPr>
          <p:cNvPr id="84" name="Rectangle 83"/>
          <p:cNvSpPr/>
          <p:nvPr/>
        </p:nvSpPr>
        <p:spPr>
          <a:xfrm>
            <a:off x="7818120" y="1444752"/>
            <a:ext cx="795528" cy="36576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Box 84"/>
          <p:cNvSpPr txBox="1"/>
          <p:nvPr/>
        </p:nvSpPr>
        <p:spPr>
          <a:xfrm>
            <a:off x="7836408" y="1444752"/>
            <a:ext cx="758952" cy="365760"/>
          </a:xfrm>
          <a:prstGeom prst="rect">
            <a:avLst/>
          </a:prstGeom>
          <a:noFill/>
        </p:spPr>
        <p:txBody>
          <a:bodyPr wrap="square" anchor="ctr" lIns="45720" rIns="45720" tIns="9144" bIns="9144">
            <a:spAutoFit/>
          </a:bodyPr>
          <a:lstStyle/>
          <a:p>
            <a:pPr algn="ctr"/>
            <a:r>
              <a:rPr sz="1000" b="1" i="0">
                <a:solidFill>
                  <a:srgbClr val="FFFFFF"/>
                </a:solidFill>
                <a:latin typeface="Calibri"/>
              </a:rPr>
              <a:t>Año 1</a:t>
            </a:r>
          </a:p>
        </p:txBody>
      </p:sp>
      <p:sp>
        <p:nvSpPr>
          <p:cNvPr id="86" name="Rectangle 85"/>
          <p:cNvSpPr/>
          <p:nvPr/>
        </p:nvSpPr>
        <p:spPr>
          <a:xfrm>
            <a:off x="8613648" y="1444752"/>
            <a:ext cx="795528" cy="36576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Box 86"/>
          <p:cNvSpPr txBox="1"/>
          <p:nvPr/>
        </p:nvSpPr>
        <p:spPr>
          <a:xfrm>
            <a:off x="8631936" y="1444752"/>
            <a:ext cx="758952" cy="365760"/>
          </a:xfrm>
          <a:prstGeom prst="rect">
            <a:avLst/>
          </a:prstGeom>
          <a:noFill/>
        </p:spPr>
        <p:txBody>
          <a:bodyPr wrap="square" anchor="ctr" lIns="45720" rIns="45720" tIns="9144" bIns="9144">
            <a:spAutoFit/>
          </a:bodyPr>
          <a:lstStyle/>
          <a:p>
            <a:pPr algn="ctr"/>
            <a:r>
              <a:rPr sz="1000" b="1" i="0">
                <a:solidFill>
                  <a:srgbClr val="FFFFFF"/>
                </a:solidFill>
                <a:latin typeface="Calibri"/>
              </a:rPr>
              <a:t>Año 2</a:t>
            </a:r>
          </a:p>
        </p:txBody>
      </p:sp>
      <p:sp>
        <p:nvSpPr>
          <p:cNvPr id="88" name="Rectangle 87"/>
          <p:cNvSpPr/>
          <p:nvPr/>
        </p:nvSpPr>
        <p:spPr>
          <a:xfrm>
            <a:off x="9409176" y="1444752"/>
            <a:ext cx="795528" cy="36576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Box 88"/>
          <p:cNvSpPr txBox="1"/>
          <p:nvPr/>
        </p:nvSpPr>
        <p:spPr>
          <a:xfrm>
            <a:off x="9427463" y="1444752"/>
            <a:ext cx="758952" cy="365760"/>
          </a:xfrm>
          <a:prstGeom prst="rect">
            <a:avLst/>
          </a:prstGeom>
          <a:noFill/>
        </p:spPr>
        <p:txBody>
          <a:bodyPr wrap="square" anchor="ctr" lIns="45720" rIns="45720" tIns="9144" bIns="9144">
            <a:spAutoFit/>
          </a:bodyPr>
          <a:lstStyle/>
          <a:p>
            <a:pPr algn="ctr"/>
            <a:r>
              <a:rPr sz="1000" b="1" i="0">
                <a:solidFill>
                  <a:srgbClr val="FFFFFF"/>
                </a:solidFill>
                <a:latin typeface="Calibri"/>
              </a:rPr>
              <a:t>Año 3</a:t>
            </a:r>
          </a:p>
        </p:txBody>
      </p:sp>
      <p:sp>
        <p:nvSpPr>
          <p:cNvPr id="90" name="Rectangle 89"/>
          <p:cNvSpPr/>
          <p:nvPr/>
        </p:nvSpPr>
        <p:spPr>
          <a:xfrm>
            <a:off x="10204703" y="1444752"/>
            <a:ext cx="795528" cy="36576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Box 90"/>
          <p:cNvSpPr txBox="1"/>
          <p:nvPr/>
        </p:nvSpPr>
        <p:spPr>
          <a:xfrm>
            <a:off x="10222991" y="1444752"/>
            <a:ext cx="758952" cy="365760"/>
          </a:xfrm>
          <a:prstGeom prst="rect">
            <a:avLst/>
          </a:prstGeom>
          <a:noFill/>
        </p:spPr>
        <p:txBody>
          <a:bodyPr wrap="square" anchor="ctr" lIns="45720" rIns="45720" tIns="9144" bIns="9144">
            <a:spAutoFit/>
          </a:bodyPr>
          <a:lstStyle/>
          <a:p>
            <a:pPr algn="ctr"/>
            <a:r>
              <a:rPr sz="1000" b="1" i="0">
                <a:solidFill>
                  <a:srgbClr val="FFFFFF"/>
                </a:solidFill>
                <a:latin typeface="Calibri"/>
              </a:rPr>
              <a:t>Año 5</a:t>
            </a:r>
          </a:p>
        </p:txBody>
      </p:sp>
      <p:sp>
        <p:nvSpPr>
          <p:cNvPr id="92" name="Rectangle 91"/>
          <p:cNvSpPr/>
          <p:nvPr/>
        </p:nvSpPr>
        <p:spPr>
          <a:xfrm>
            <a:off x="11000231" y="1444752"/>
            <a:ext cx="795528" cy="36576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Box 92"/>
          <p:cNvSpPr txBox="1"/>
          <p:nvPr/>
        </p:nvSpPr>
        <p:spPr>
          <a:xfrm>
            <a:off x="11018519" y="1444752"/>
            <a:ext cx="758952" cy="365760"/>
          </a:xfrm>
          <a:prstGeom prst="rect">
            <a:avLst/>
          </a:prstGeom>
          <a:noFill/>
        </p:spPr>
        <p:txBody>
          <a:bodyPr wrap="square" anchor="ctr" lIns="45720" rIns="45720" tIns="9144" bIns="9144">
            <a:spAutoFit/>
          </a:bodyPr>
          <a:lstStyle/>
          <a:p>
            <a:pPr algn="ctr"/>
            <a:r>
              <a:rPr sz="1000" b="1" i="0">
                <a:solidFill>
                  <a:srgbClr val="FFFFFF"/>
                </a:solidFill>
                <a:latin typeface="Calibri"/>
              </a:rPr>
              <a:t>Año 10</a:t>
            </a:r>
          </a:p>
        </p:txBody>
      </p:sp>
      <p:sp>
        <p:nvSpPr>
          <p:cNvPr id="94" name="Rectangle 93"/>
          <p:cNvSpPr/>
          <p:nvPr/>
        </p:nvSpPr>
        <p:spPr>
          <a:xfrm>
            <a:off x="5486400" y="1810512"/>
            <a:ext cx="2331720"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Box 94"/>
          <p:cNvSpPr txBox="1"/>
          <p:nvPr/>
        </p:nvSpPr>
        <p:spPr>
          <a:xfrm>
            <a:off x="5504688" y="1810512"/>
            <a:ext cx="2295144" cy="338328"/>
          </a:xfrm>
          <a:prstGeom prst="rect">
            <a:avLst/>
          </a:prstGeom>
          <a:noFill/>
        </p:spPr>
        <p:txBody>
          <a:bodyPr wrap="square" anchor="ctr" lIns="45720" rIns="45720" tIns="9144" bIns="9144">
            <a:spAutoFit/>
          </a:bodyPr>
          <a:lstStyle/>
          <a:p>
            <a:pPr algn="l"/>
            <a:r>
              <a:rPr sz="950" b="0" i="0">
                <a:solidFill>
                  <a:srgbClr val="334155"/>
                </a:solidFill>
                <a:latin typeface="Calibri"/>
              </a:rPr>
              <a:t>Ingresos por ventas</a:t>
            </a:r>
          </a:p>
        </p:txBody>
      </p:sp>
      <p:sp>
        <p:nvSpPr>
          <p:cNvPr id="96" name="Rectangle 95"/>
          <p:cNvSpPr/>
          <p:nvPr/>
        </p:nvSpPr>
        <p:spPr>
          <a:xfrm>
            <a:off x="7818120" y="1810512"/>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TextBox 96"/>
          <p:cNvSpPr txBox="1"/>
          <p:nvPr/>
        </p:nvSpPr>
        <p:spPr>
          <a:xfrm>
            <a:off x="7836408" y="1810512"/>
            <a:ext cx="758952" cy="338328"/>
          </a:xfrm>
          <a:prstGeom prst="rect">
            <a:avLst/>
          </a:prstGeom>
          <a:noFill/>
        </p:spPr>
        <p:txBody>
          <a:bodyPr wrap="square" anchor="ctr" lIns="45720" rIns="45720" tIns="9144" bIns="9144">
            <a:spAutoFit/>
          </a:bodyPr>
          <a:lstStyle/>
          <a:p>
            <a:pPr algn="r"/>
            <a:r>
              <a:rPr sz="950" b="0" i="0">
                <a:solidFill>
                  <a:srgbClr val="334155"/>
                </a:solidFill>
                <a:latin typeface="Calibri"/>
              </a:rPr>
              <a:t>3,024,000</a:t>
            </a:r>
          </a:p>
        </p:txBody>
      </p:sp>
      <p:sp>
        <p:nvSpPr>
          <p:cNvPr id="98" name="Rectangle 97"/>
          <p:cNvSpPr/>
          <p:nvPr/>
        </p:nvSpPr>
        <p:spPr>
          <a:xfrm>
            <a:off x="8613648" y="1810512"/>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TextBox 98"/>
          <p:cNvSpPr txBox="1"/>
          <p:nvPr/>
        </p:nvSpPr>
        <p:spPr>
          <a:xfrm>
            <a:off x="8631936" y="1810512"/>
            <a:ext cx="758952" cy="338328"/>
          </a:xfrm>
          <a:prstGeom prst="rect">
            <a:avLst/>
          </a:prstGeom>
          <a:noFill/>
        </p:spPr>
        <p:txBody>
          <a:bodyPr wrap="square" anchor="ctr" lIns="45720" rIns="45720" tIns="9144" bIns="9144">
            <a:spAutoFit/>
          </a:bodyPr>
          <a:lstStyle/>
          <a:p>
            <a:pPr algn="r"/>
            <a:r>
              <a:rPr sz="950" b="0" i="0">
                <a:solidFill>
                  <a:srgbClr val="334155"/>
                </a:solidFill>
                <a:latin typeface="Calibri"/>
              </a:rPr>
              <a:t>5,266,800</a:t>
            </a:r>
          </a:p>
        </p:txBody>
      </p:sp>
      <p:sp>
        <p:nvSpPr>
          <p:cNvPr id="100" name="Rectangle 99"/>
          <p:cNvSpPr/>
          <p:nvPr/>
        </p:nvSpPr>
        <p:spPr>
          <a:xfrm>
            <a:off x="9409176" y="1810512"/>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TextBox 100"/>
          <p:cNvSpPr txBox="1"/>
          <p:nvPr/>
        </p:nvSpPr>
        <p:spPr>
          <a:xfrm>
            <a:off x="9427463" y="1810512"/>
            <a:ext cx="758952" cy="338328"/>
          </a:xfrm>
          <a:prstGeom prst="rect">
            <a:avLst/>
          </a:prstGeom>
          <a:noFill/>
        </p:spPr>
        <p:txBody>
          <a:bodyPr wrap="square" anchor="ctr" lIns="45720" rIns="45720" tIns="9144" bIns="9144">
            <a:spAutoFit/>
          </a:bodyPr>
          <a:lstStyle/>
          <a:p>
            <a:pPr algn="r"/>
            <a:r>
              <a:rPr sz="950" b="0" i="0">
                <a:solidFill>
                  <a:srgbClr val="334155"/>
                </a:solidFill>
                <a:latin typeface="Calibri"/>
              </a:rPr>
              <a:t>8,255,709</a:t>
            </a:r>
          </a:p>
        </p:txBody>
      </p:sp>
      <p:sp>
        <p:nvSpPr>
          <p:cNvPr id="102" name="Rectangle 101"/>
          <p:cNvSpPr/>
          <p:nvPr/>
        </p:nvSpPr>
        <p:spPr>
          <a:xfrm>
            <a:off x="10204703" y="1810512"/>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TextBox 102"/>
          <p:cNvSpPr txBox="1"/>
          <p:nvPr/>
        </p:nvSpPr>
        <p:spPr>
          <a:xfrm>
            <a:off x="10222991" y="1810512"/>
            <a:ext cx="758952" cy="338328"/>
          </a:xfrm>
          <a:prstGeom prst="rect">
            <a:avLst/>
          </a:prstGeom>
          <a:noFill/>
        </p:spPr>
        <p:txBody>
          <a:bodyPr wrap="square" anchor="ctr" lIns="45720" rIns="45720" tIns="9144" bIns="9144">
            <a:spAutoFit/>
          </a:bodyPr>
          <a:lstStyle/>
          <a:p>
            <a:pPr algn="r"/>
            <a:r>
              <a:rPr sz="950" b="0" i="0">
                <a:solidFill>
                  <a:srgbClr val="334155"/>
                </a:solidFill>
                <a:latin typeface="Calibri"/>
              </a:rPr>
              <a:t>16,828,822</a:t>
            </a:r>
          </a:p>
        </p:txBody>
      </p:sp>
      <p:sp>
        <p:nvSpPr>
          <p:cNvPr id="104" name="Rectangle 103"/>
          <p:cNvSpPr/>
          <p:nvPr/>
        </p:nvSpPr>
        <p:spPr>
          <a:xfrm>
            <a:off x="11000231" y="1810512"/>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TextBox 104"/>
          <p:cNvSpPr txBox="1"/>
          <p:nvPr/>
        </p:nvSpPr>
        <p:spPr>
          <a:xfrm>
            <a:off x="11018519" y="1810512"/>
            <a:ext cx="758952" cy="338328"/>
          </a:xfrm>
          <a:prstGeom prst="rect">
            <a:avLst/>
          </a:prstGeom>
          <a:noFill/>
        </p:spPr>
        <p:txBody>
          <a:bodyPr wrap="square" anchor="ctr" lIns="45720" rIns="45720" tIns="9144" bIns="9144">
            <a:spAutoFit/>
          </a:bodyPr>
          <a:lstStyle/>
          <a:p>
            <a:pPr algn="r"/>
            <a:r>
              <a:rPr sz="950" b="0" i="0">
                <a:solidFill>
                  <a:srgbClr val="334155"/>
                </a:solidFill>
                <a:latin typeface="Calibri"/>
              </a:rPr>
              <a:t>51,680,445</a:t>
            </a:r>
          </a:p>
        </p:txBody>
      </p:sp>
      <p:sp>
        <p:nvSpPr>
          <p:cNvPr id="106" name="Rectangle 105"/>
          <p:cNvSpPr/>
          <p:nvPr/>
        </p:nvSpPr>
        <p:spPr>
          <a:xfrm>
            <a:off x="5486400" y="2148840"/>
            <a:ext cx="2331720"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TextBox 106"/>
          <p:cNvSpPr txBox="1"/>
          <p:nvPr/>
        </p:nvSpPr>
        <p:spPr>
          <a:xfrm>
            <a:off x="5504688" y="2148840"/>
            <a:ext cx="2295144" cy="338328"/>
          </a:xfrm>
          <a:prstGeom prst="rect">
            <a:avLst/>
          </a:prstGeom>
          <a:noFill/>
        </p:spPr>
        <p:txBody>
          <a:bodyPr wrap="square" anchor="ctr" lIns="45720" rIns="45720" tIns="9144" bIns="9144">
            <a:spAutoFit/>
          </a:bodyPr>
          <a:lstStyle/>
          <a:p>
            <a:pPr algn="l"/>
            <a:r>
              <a:rPr sz="950" b="0" i="0">
                <a:solidFill>
                  <a:srgbClr val="334155"/>
                </a:solidFill>
                <a:latin typeface="Calibri"/>
              </a:rPr>
              <a:t>(−) Costos variables</a:t>
            </a:r>
          </a:p>
        </p:txBody>
      </p:sp>
      <p:sp>
        <p:nvSpPr>
          <p:cNvPr id="108" name="Rectangle 107"/>
          <p:cNvSpPr/>
          <p:nvPr/>
        </p:nvSpPr>
        <p:spPr>
          <a:xfrm>
            <a:off x="7818120" y="2148840"/>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TextBox 108"/>
          <p:cNvSpPr txBox="1"/>
          <p:nvPr/>
        </p:nvSpPr>
        <p:spPr>
          <a:xfrm>
            <a:off x="7836408" y="2148840"/>
            <a:ext cx="758952" cy="338328"/>
          </a:xfrm>
          <a:prstGeom prst="rect">
            <a:avLst/>
          </a:prstGeom>
          <a:noFill/>
        </p:spPr>
        <p:txBody>
          <a:bodyPr wrap="square" anchor="ctr" lIns="45720" rIns="45720" tIns="9144" bIns="9144">
            <a:spAutoFit/>
          </a:bodyPr>
          <a:lstStyle/>
          <a:p>
            <a:pPr algn="r"/>
            <a:r>
              <a:rPr sz="950" b="0" i="0">
                <a:solidFill>
                  <a:srgbClr val="334155"/>
                </a:solidFill>
                <a:latin typeface="Calibri"/>
              </a:rPr>
              <a:t>1,708,181</a:t>
            </a:r>
          </a:p>
        </p:txBody>
      </p:sp>
      <p:sp>
        <p:nvSpPr>
          <p:cNvPr id="110" name="Rectangle 109"/>
          <p:cNvSpPr/>
          <p:nvPr/>
        </p:nvSpPr>
        <p:spPr>
          <a:xfrm>
            <a:off x="8613648" y="2148840"/>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TextBox 110"/>
          <p:cNvSpPr txBox="1"/>
          <p:nvPr/>
        </p:nvSpPr>
        <p:spPr>
          <a:xfrm>
            <a:off x="8631936" y="2148840"/>
            <a:ext cx="758952" cy="338328"/>
          </a:xfrm>
          <a:prstGeom prst="rect">
            <a:avLst/>
          </a:prstGeom>
          <a:noFill/>
        </p:spPr>
        <p:txBody>
          <a:bodyPr wrap="square" anchor="ctr" lIns="45720" rIns="45720" tIns="9144" bIns="9144">
            <a:spAutoFit/>
          </a:bodyPr>
          <a:lstStyle/>
          <a:p>
            <a:pPr algn="r"/>
            <a:r>
              <a:rPr sz="950" b="0" i="0">
                <a:solidFill>
                  <a:srgbClr val="334155"/>
                </a:solidFill>
                <a:latin typeface="Calibri"/>
              </a:rPr>
              <a:t>2,975,081</a:t>
            </a:r>
          </a:p>
        </p:txBody>
      </p:sp>
      <p:sp>
        <p:nvSpPr>
          <p:cNvPr id="112" name="Rectangle 111"/>
          <p:cNvSpPr/>
          <p:nvPr/>
        </p:nvSpPr>
        <p:spPr>
          <a:xfrm>
            <a:off x="9409176" y="2148840"/>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TextBox 112"/>
          <p:cNvSpPr txBox="1"/>
          <p:nvPr/>
        </p:nvSpPr>
        <p:spPr>
          <a:xfrm>
            <a:off x="9427463" y="2148840"/>
            <a:ext cx="758952" cy="338328"/>
          </a:xfrm>
          <a:prstGeom prst="rect">
            <a:avLst/>
          </a:prstGeom>
          <a:noFill/>
        </p:spPr>
        <p:txBody>
          <a:bodyPr wrap="square" anchor="ctr" lIns="45720" rIns="45720" tIns="9144" bIns="9144">
            <a:spAutoFit/>
          </a:bodyPr>
          <a:lstStyle/>
          <a:p>
            <a:pPr algn="r"/>
            <a:r>
              <a:rPr sz="950" b="0" i="0">
                <a:solidFill>
                  <a:srgbClr val="334155"/>
                </a:solidFill>
                <a:latin typeface="Calibri"/>
              </a:rPr>
              <a:t>4,663,440</a:t>
            </a:r>
          </a:p>
        </p:txBody>
      </p:sp>
      <p:sp>
        <p:nvSpPr>
          <p:cNvPr id="114" name="Rectangle 113"/>
          <p:cNvSpPr/>
          <p:nvPr/>
        </p:nvSpPr>
        <p:spPr>
          <a:xfrm>
            <a:off x="10204703" y="2148840"/>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TextBox 114"/>
          <p:cNvSpPr txBox="1"/>
          <p:nvPr/>
        </p:nvSpPr>
        <p:spPr>
          <a:xfrm>
            <a:off x="10222991" y="2148840"/>
            <a:ext cx="758952" cy="338328"/>
          </a:xfrm>
          <a:prstGeom prst="rect">
            <a:avLst/>
          </a:prstGeom>
          <a:noFill/>
        </p:spPr>
        <p:txBody>
          <a:bodyPr wrap="square" anchor="ctr" lIns="45720" rIns="45720" tIns="9144" bIns="9144">
            <a:spAutoFit/>
          </a:bodyPr>
          <a:lstStyle/>
          <a:p>
            <a:pPr algn="r"/>
            <a:r>
              <a:rPr sz="950" b="0" i="0">
                <a:solidFill>
                  <a:srgbClr val="334155"/>
                </a:solidFill>
                <a:latin typeface="Calibri"/>
              </a:rPr>
              <a:t>9,506,174</a:t>
            </a:r>
          </a:p>
        </p:txBody>
      </p:sp>
      <p:sp>
        <p:nvSpPr>
          <p:cNvPr id="116" name="Rectangle 115"/>
          <p:cNvSpPr/>
          <p:nvPr/>
        </p:nvSpPr>
        <p:spPr>
          <a:xfrm>
            <a:off x="11000231" y="2148840"/>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TextBox 116"/>
          <p:cNvSpPr txBox="1"/>
          <p:nvPr/>
        </p:nvSpPr>
        <p:spPr>
          <a:xfrm>
            <a:off x="11018519" y="2148840"/>
            <a:ext cx="758952" cy="338328"/>
          </a:xfrm>
          <a:prstGeom prst="rect">
            <a:avLst/>
          </a:prstGeom>
          <a:noFill/>
        </p:spPr>
        <p:txBody>
          <a:bodyPr wrap="square" anchor="ctr" lIns="45720" rIns="45720" tIns="9144" bIns="9144">
            <a:spAutoFit/>
          </a:bodyPr>
          <a:lstStyle/>
          <a:p>
            <a:pPr algn="r"/>
            <a:r>
              <a:rPr sz="950" b="0" i="0">
                <a:solidFill>
                  <a:srgbClr val="334155"/>
                </a:solidFill>
                <a:latin typeface="Calibri"/>
              </a:rPr>
              <a:t>29,192,969</a:t>
            </a:r>
          </a:p>
        </p:txBody>
      </p:sp>
      <p:sp>
        <p:nvSpPr>
          <p:cNvPr id="118" name="Rectangle 117"/>
          <p:cNvSpPr/>
          <p:nvPr/>
        </p:nvSpPr>
        <p:spPr>
          <a:xfrm>
            <a:off x="5486400" y="2487168"/>
            <a:ext cx="2331720"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TextBox 118"/>
          <p:cNvSpPr txBox="1"/>
          <p:nvPr/>
        </p:nvSpPr>
        <p:spPr>
          <a:xfrm>
            <a:off x="5504688" y="2487168"/>
            <a:ext cx="2295144" cy="338328"/>
          </a:xfrm>
          <a:prstGeom prst="rect">
            <a:avLst/>
          </a:prstGeom>
          <a:noFill/>
        </p:spPr>
        <p:txBody>
          <a:bodyPr wrap="square" anchor="ctr" lIns="45720" rIns="45720" tIns="9144" bIns="9144">
            <a:spAutoFit/>
          </a:bodyPr>
          <a:lstStyle/>
          <a:p>
            <a:pPr algn="l"/>
            <a:r>
              <a:rPr sz="950" b="1" i="0">
                <a:solidFill>
                  <a:srgbClr val="0D2341"/>
                </a:solidFill>
                <a:latin typeface="Calibri"/>
              </a:rPr>
              <a:t>(=) Margen de contribución</a:t>
            </a:r>
          </a:p>
        </p:txBody>
      </p:sp>
      <p:sp>
        <p:nvSpPr>
          <p:cNvPr id="120" name="Rectangle 119"/>
          <p:cNvSpPr/>
          <p:nvPr/>
        </p:nvSpPr>
        <p:spPr>
          <a:xfrm>
            <a:off x="7818120" y="2487168"/>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TextBox 120"/>
          <p:cNvSpPr txBox="1"/>
          <p:nvPr/>
        </p:nvSpPr>
        <p:spPr>
          <a:xfrm>
            <a:off x="7836408" y="2487168"/>
            <a:ext cx="758952" cy="338328"/>
          </a:xfrm>
          <a:prstGeom prst="rect">
            <a:avLst/>
          </a:prstGeom>
          <a:noFill/>
        </p:spPr>
        <p:txBody>
          <a:bodyPr wrap="square" anchor="ctr" lIns="45720" rIns="45720" tIns="9144" bIns="9144">
            <a:spAutoFit/>
          </a:bodyPr>
          <a:lstStyle/>
          <a:p>
            <a:pPr algn="r"/>
            <a:r>
              <a:rPr sz="950" b="1" i="0">
                <a:solidFill>
                  <a:srgbClr val="0D2341"/>
                </a:solidFill>
                <a:latin typeface="Calibri"/>
              </a:rPr>
              <a:t>1,315,819</a:t>
            </a:r>
          </a:p>
        </p:txBody>
      </p:sp>
      <p:sp>
        <p:nvSpPr>
          <p:cNvPr id="122" name="Rectangle 121"/>
          <p:cNvSpPr/>
          <p:nvPr/>
        </p:nvSpPr>
        <p:spPr>
          <a:xfrm>
            <a:off x="8613648" y="2487168"/>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TextBox 122"/>
          <p:cNvSpPr txBox="1"/>
          <p:nvPr/>
        </p:nvSpPr>
        <p:spPr>
          <a:xfrm>
            <a:off x="8631936" y="2487168"/>
            <a:ext cx="758952" cy="338328"/>
          </a:xfrm>
          <a:prstGeom prst="rect">
            <a:avLst/>
          </a:prstGeom>
          <a:noFill/>
        </p:spPr>
        <p:txBody>
          <a:bodyPr wrap="square" anchor="ctr" lIns="45720" rIns="45720" tIns="9144" bIns="9144">
            <a:spAutoFit/>
          </a:bodyPr>
          <a:lstStyle/>
          <a:p>
            <a:pPr algn="r"/>
            <a:r>
              <a:rPr sz="950" b="1" i="0">
                <a:solidFill>
                  <a:srgbClr val="0D2341"/>
                </a:solidFill>
                <a:latin typeface="Calibri"/>
              </a:rPr>
              <a:t>2,291,719</a:t>
            </a:r>
          </a:p>
        </p:txBody>
      </p:sp>
      <p:sp>
        <p:nvSpPr>
          <p:cNvPr id="124" name="Rectangle 123"/>
          <p:cNvSpPr/>
          <p:nvPr/>
        </p:nvSpPr>
        <p:spPr>
          <a:xfrm>
            <a:off x="9409176" y="2487168"/>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TextBox 124"/>
          <p:cNvSpPr txBox="1"/>
          <p:nvPr/>
        </p:nvSpPr>
        <p:spPr>
          <a:xfrm>
            <a:off x="9427463" y="2487168"/>
            <a:ext cx="758952" cy="338328"/>
          </a:xfrm>
          <a:prstGeom prst="rect">
            <a:avLst/>
          </a:prstGeom>
          <a:noFill/>
        </p:spPr>
        <p:txBody>
          <a:bodyPr wrap="square" anchor="ctr" lIns="45720" rIns="45720" tIns="9144" bIns="9144">
            <a:spAutoFit/>
          </a:bodyPr>
          <a:lstStyle/>
          <a:p>
            <a:pPr algn="r"/>
            <a:r>
              <a:rPr sz="950" b="1" i="0">
                <a:solidFill>
                  <a:srgbClr val="0D2341"/>
                </a:solidFill>
                <a:latin typeface="Calibri"/>
              </a:rPr>
              <a:t>3,592,269</a:t>
            </a:r>
          </a:p>
        </p:txBody>
      </p:sp>
      <p:sp>
        <p:nvSpPr>
          <p:cNvPr id="126" name="Rectangle 125"/>
          <p:cNvSpPr/>
          <p:nvPr/>
        </p:nvSpPr>
        <p:spPr>
          <a:xfrm>
            <a:off x="10204703" y="2487168"/>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TextBox 126"/>
          <p:cNvSpPr txBox="1"/>
          <p:nvPr/>
        </p:nvSpPr>
        <p:spPr>
          <a:xfrm>
            <a:off x="10222991" y="2487168"/>
            <a:ext cx="758952" cy="338328"/>
          </a:xfrm>
          <a:prstGeom prst="rect">
            <a:avLst/>
          </a:prstGeom>
          <a:noFill/>
        </p:spPr>
        <p:txBody>
          <a:bodyPr wrap="square" anchor="ctr" lIns="45720" rIns="45720" tIns="9144" bIns="9144">
            <a:spAutoFit/>
          </a:bodyPr>
          <a:lstStyle/>
          <a:p>
            <a:pPr algn="r"/>
            <a:r>
              <a:rPr sz="950" b="1" i="0">
                <a:solidFill>
                  <a:srgbClr val="0D2341"/>
                </a:solidFill>
                <a:latin typeface="Calibri"/>
              </a:rPr>
              <a:t>7,322,649</a:t>
            </a:r>
          </a:p>
        </p:txBody>
      </p:sp>
      <p:sp>
        <p:nvSpPr>
          <p:cNvPr id="128" name="Rectangle 127"/>
          <p:cNvSpPr/>
          <p:nvPr/>
        </p:nvSpPr>
        <p:spPr>
          <a:xfrm>
            <a:off x="11000231" y="2487168"/>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TextBox 128"/>
          <p:cNvSpPr txBox="1"/>
          <p:nvPr/>
        </p:nvSpPr>
        <p:spPr>
          <a:xfrm>
            <a:off x="11018519" y="2487168"/>
            <a:ext cx="758952" cy="338328"/>
          </a:xfrm>
          <a:prstGeom prst="rect">
            <a:avLst/>
          </a:prstGeom>
          <a:noFill/>
        </p:spPr>
        <p:txBody>
          <a:bodyPr wrap="square" anchor="ctr" lIns="45720" rIns="45720" tIns="9144" bIns="9144">
            <a:spAutoFit/>
          </a:bodyPr>
          <a:lstStyle/>
          <a:p>
            <a:pPr algn="r"/>
            <a:r>
              <a:rPr sz="950" b="1" i="0">
                <a:solidFill>
                  <a:srgbClr val="0D2341"/>
                </a:solidFill>
                <a:latin typeface="Calibri"/>
              </a:rPr>
              <a:t>22,487,476</a:t>
            </a:r>
          </a:p>
        </p:txBody>
      </p:sp>
      <p:sp>
        <p:nvSpPr>
          <p:cNvPr id="130" name="Rectangle 129"/>
          <p:cNvSpPr/>
          <p:nvPr/>
        </p:nvSpPr>
        <p:spPr>
          <a:xfrm>
            <a:off x="5486400" y="2825496"/>
            <a:ext cx="2331720"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TextBox 130"/>
          <p:cNvSpPr txBox="1"/>
          <p:nvPr/>
        </p:nvSpPr>
        <p:spPr>
          <a:xfrm>
            <a:off x="5504688" y="2825496"/>
            <a:ext cx="2295144" cy="338328"/>
          </a:xfrm>
          <a:prstGeom prst="rect">
            <a:avLst/>
          </a:prstGeom>
          <a:noFill/>
        </p:spPr>
        <p:txBody>
          <a:bodyPr wrap="square" anchor="ctr" lIns="45720" rIns="45720" tIns="9144" bIns="9144">
            <a:spAutoFit/>
          </a:bodyPr>
          <a:lstStyle/>
          <a:p>
            <a:pPr algn="l"/>
            <a:r>
              <a:rPr sz="950" b="0" i="0">
                <a:solidFill>
                  <a:srgbClr val="334155"/>
                </a:solidFill>
                <a:latin typeface="Calibri"/>
              </a:rPr>
              <a:t>(−) Costos fijos (personal, operación, adm.)</a:t>
            </a:r>
          </a:p>
        </p:txBody>
      </p:sp>
      <p:sp>
        <p:nvSpPr>
          <p:cNvPr id="132" name="Rectangle 131"/>
          <p:cNvSpPr/>
          <p:nvPr/>
        </p:nvSpPr>
        <p:spPr>
          <a:xfrm>
            <a:off x="7818120" y="2825496"/>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TextBox 132"/>
          <p:cNvSpPr txBox="1"/>
          <p:nvPr/>
        </p:nvSpPr>
        <p:spPr>
          <a:xfrm>
            <a:off x="7836408" y="2825496"/>
            <a:ext cx="758952" cy="338328"/>
          </a:xfrm>
          <a:prstGeom prst="rect">
            <a:avLst/>
          </a:prstGeom>
          <a:noFill/>
        </p:spPr>
        <p:txBody>
          <a:bodyPr wrap="square" anchor="ctr" lIns="45720" rIns="45720" tIns="9144" bIns="9144">
            <a:spAutoFit/>
          </a:bodyPr>
          <a:lstStyle/>
          <a:p>
            <a:pPr algn="r"/>
            <a:r>
              <a:rPr sz="950" b="0" i="0">
                <a:solidFill>
                  <a:srgbClr val="334155"/>
                </a:solidFill>
                <a:latin typeface="Calibri"/>
              </a:rPr>
              <a:t>2,048,517</a:t>
            </a:r>
          </a:p>
        </p:txBody>
      </p:sp>
      <p:sp>
        <p:nvSpPr>
          <p:cNvPr id="134" name="Rectangle 133"/>
          <p:cNvSpPr/>
          <p:nvPr/>
        </p:nvSpPr>
        <p:spPr>
          <a:xfrm>
            <a:off x="8613648" y="2825496"/>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TextBox 134"/>
          <p:cNvSpPr txBox="1"/>
          <p:nvPr/>
        </p:nvSpPr>
        <p:spPr>
          <a:xfrm>
            <a:off x="8631936" y="2825496"/>
            <a:ext cx="758952" cy="338328"/>
          </a:xfrm>
          <a:prstGeom prst="rect">
            <a:avLst/>
          </a:prstGeom>
          <a:noFill/>
        </p:spPr>
        <p:txBody>
          <a:bodyPr wrap="square" anchor="ctr" lIns="45720" rIns="45720" tIns="9144" bIns="9144">
            <a:spAutoFit/>
          </a:bodyPr>
          <a:lstStyle/>
          <a:p>
            <a:pPr algn="r"/>
            <a:r>
              <a:rPr sz="950" b="0" i="0">
                <a:solidFill>
                  <a:srgbClr val="334155"/>
                </a:solidFill>
                <a:latin typeface="Calibri"/>
              </a:rPr>
              <a:t>2,140,700</a:t>
            </a:r>
          </a:p>
        </p:txBody>
      </p:sp>
      <p:sp>
        <p:nvSpPr>
          <p:cNvPr id="136" name="Rectangle 135"/>
          <p:cNvSpPr/>
          <p:nvPr/>
        </p:nvSpPr>
        <p:spPr>
          <a:xfrm>
            <a:off x="9409176" y="2825496"/>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TextBox 136"/>
          <p:cNvSpPr txBox="1"/>
          <p:nvPr/>
        </p:nvSpPr>
        <p:spPr>
          <a:xfrm>
            <a:off x="9427463" y="2825496"/>
            <a:ext cx="758952" cy="338328"/>
          </a:xfrm>
          <a:prstGeom prst="rect">
            <a:avLst/>
          </a:prstGeom>
          <a:noFill/>
        </p:spPr>
        <p:txBody>
          <a:bodyPr wrap="square" anchor="ctr" lIns="45720" rIns="45720" tIns="9144" bIns="9144">
            <a:spAutoFit/>
          </a:bodyPr>
          <a:lstStyle/>
          <a:p>
            <a:pPr algn="r"/>
            <a:r>
              <a:rPr sz="950" b="0" i="0">
                <a:solidFill>
                  <a:srgbClr val="334155"/>
                </a:solidFill>
                <a:latin typeface="Calibri"/>
              </a:rPr>
              <a:t>2,237,031</a:t>
            </a:r>
          </a:p>
        </p:txBody>
      </p:sp>
      <p:sp>
        <p:nvSpPr>
          <p:cNvPr id="138" name="Rectangle 137"/>
          <p:cNvSpPr/>
          <p:nvPr/>
        </p:nvSpPr>
        <p:spPr>
          <a:xfrm>
            <a:off x="10204703" y="2825496"/>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TextBox 138"/>
          <p:cNvSpPr txBox="1"/>
          <p:nvPr/>
        </p:nvSpPr>
        <p:spPr>
          <a:xfrm>
            <a:off x="10222991" y="2825496"/>
            <a:ext cx="758952" cy="338328"/>
          </a:xfrm>
          <a:prstGeom prst="rect">
            <a:avLst/>
          </a:prstGeom>
          <a:noFill/>
        </p:spPr>
        <p:txBody>
          <a:bodyPr wrap="square" anchor="ctr" lIns="45720" rIns="45720" tIns="9144" bIns="9144">
            <a:spAutoFit/>
          </a:bodyPr>
          <a:lstStyle/>
          <a:p>
            <a:pPr algn="r"/>
            <a:r>
              <a:rPr sz="950" b="0" i="0">
                <a:solidFill>
                  <a:srgbClr val="334155"/>
                </a:solidFill>
                <a:latin typeface="Calibri"/>
              </a:rPr>
              <a:t>2,442,894</a:t>
            </a:r>
          </a:p>
        </p:txBody>
      </p:sp>
      <p:sp>
        <p:nvSpPr>
          <p:cNvPr id="140" name="Rectangle 139"/>
          <p:cNvSpPr/>
          <p:nvPr/>
        </p:nvSpPr>
        <p:spPr>
          <a:xfrm>
            <a:off x="11000231" y="2825496"/>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TextBox 140"/>
          <p:cNvSpPr txBox="1"/>
          <p:nvPr/>
        </p:nvSpPr>
        <p:spPr>
          <a:xfrm>
            <a:off x="11018519" y="2825496"/>
            <a:ext cx="758952" cy="338328"/>
          </a:xfrm>
          <a:prstGeom prst="rect">
            <a:avLst/>
          </a:prstGeom>
          <a:noFill/>
        </p:spPr>
        <p:txBody>
          <a:bodyPr wrap="square" anchor="ctr" lIns="45720" rIns="45720" tIns="9144" bIns="9144">
            <a:spAutoFit/>
          </a:bodyPr>
          <a:lstStyle/>
          <a:p>
            <a:pPr algn="r"/>
            <a:r>
              <a:rPr sz="950" b="0" i="0">
                <a:solidFill>
                  <a:srgbClr val="334155"/>
                </a:solidFill>
                <a:latin typeface="Calibri"/>
              </a:rPr>
              <a:t>3,044,290</a:t>
            </a:r>
          </a:p>
        </p:txBody>
      </p:sp>
      <p:sp>
        <p:nvSpPr>
          <p:cNvPr id="142" name="Rectangle 141"/>
          <p:cNvSpPr/>
          <p:nvPr/>
        </p:nvSpPr>
        <p:spPr>
          <a:xfrm>
            <a:off x="5486400" y="3163824"/>
            <a:ext cx="2331720"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3" name="TextBox 142"/>
          <p:cNvSpPr txBox="1"/>
          <p:nvPr/>
        </p:nvSpPr>
        <p:spPr>
          <a:xfrm>
            <a:off x="5504688" y="3163824"/>
            <a:ext cx="2295144" cy="338328"/>
          </a:xfrm>
          <a:prstGeom prst="rect">
            <a:avLst/>
          </a:prstGeom>
          <a:noFill/>
        </p:spPr>
        <p:txBody>
          <a:bodyPr wrap="square" anchor="ctr" lIns="45720" rIns="45720" tIns="9144" bIns="9144">
            <a:spAutoFit/>
          </a:bodyPr>
          <a:lstStyle/>
          <a:p>
            <a:pPr algn="l"/>
            <a:r>
              <a:rPr sz="950" b="1" i="0">
                <a:solidFill>
                  <a:srgbClr val="0D2341"/>
                </a:solidFill>
                <a:latin typeface="Calibri"/>
              </a:rPr>
              <a:t>(=) EBITDA</a:t>
            </a:r>
          </a:p>
        </p:txBody>
      </p:sp>
      <p:sp>
        <p:nvSpPr>
          <p:cNvPr id="144" name="Rectangle 143"/>
          <p:cNvSpPr/>
          <p:nvPr/>
        </p:nvSpPr>
        <p:spPr>
          <a:xfrm>
            <a:off x="7818120" y="3163824"/>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TextBox 144"/>
          <p:cNvSpPr txBox="1"/>
          <p:nvPr/>
        </p:nvSpPr>
        <p:spPr>
          <a:xfrm>
            <a:off x="7836408" y="3163824"/>
            <a:ext cx="758952" cy="338328"/>
          </a:xfrm>
          <a:prstGeom prst="rect">
            <a:avLst/>
          </a:prstGeom>
          <a:noFill/>
        </p:spPr>
        <p:txBody>
          <a:bodyPr wrap="square" anchor="ctr" lIns="45720" rIns="45720" tIns="9144" bIns="9144">
            <a:spAutoFit/>
          </a:bodyPr>
          <a:lstStyle/>
          <a:p>
            <a:pPr algn="r"/>
            <a:r>
              <a:rPr sz="950" b="1" i="0">
                <a:solidFill>
                  <a:srgbClr val="0D2341"/>
                </a:solidFill>
                <a:latin typeface="Calibri"/>
              </a:rPr>
              <a:t>−732,697</a:t>
            </a:r>
          </a:p>
        </p:txBody>
      </p:sp>
      <p:sp>
        <p:nvSpPr>
          <p:cNvPr id="146" name="Rectangle 145"/>
          <p:cNvSpPr/>
          <p:nvPr/>
        </p:nvSpPr>
        <p:spPr>
          <a:xfrm>
            <a:off x="8613648" y="3163824"/>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7" name="TextBox 146"/>
          <p:cNvSpPr txBox="1"/>
          <p:nvPr/>
        </p:nvSpPr>
        <p:spPr>
          <a:xfrm>
            <a:off x="8631936" y="3163824"/>
            <a:ext cx="758952" cy="338328"/>
          </a:xfrm>
          <a:prstGeom prst="rect">
            <a:avLst/>
          </a:prstGeom>
          <a:noFill/>
        </p:spPr>
        <p:txBody>
          <a:bodyPr wrap="square" anchor="ctr" lIns="45720" rIns="45720" tIns="9144" bIns="9144">
            <a:spAutoFit/>
          </a:bodyPr>
          <a:lstStyle/>
          <a:p>
            <a:pPr algn="r"/>
            <a:r>
              <a:rPr sz="950" b="1" i="0">
                <a:solidFill>
                  <a:srgbClr val="0D2341"/>
                </a:solidFill>
                <a:latin typeface="Calibri"/>
              </a:rPr>
              <a:t>151,019</a:t>
            </a:r>
          </a:p>
        </p:txBody>
      </p:sp>
      <p:sp>
        <p:nvSpPr>
          <p:cNvPr id="148" name="Rectangle 147"/>
          <p:cNvSpPr/>
          <p:nvPr/>
        </p:nvSpPr>
        <p:spPr>
          <a:xfrm>
            <a:off x="9409176" y="3163824"/>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9" name="TextBox 148"/>
          <p:cNvSpPr txBox="1"/>
          <p:nvPr/>
        </p:nvSpPr>
        <p:spPr>
          <a:xfrm>
            <a:off x="9427463" y="3163824"/>
            <a:ext cx="758952" cy="338328"/>
          </a:xfrm>
          <a:prstGeom prst="rect">
            <a:avLst/>
          </a:prstGeom>
          <a:noFill/>
        </p:spPr>
        <p:txBody>
          <a:bodyPr wrap="square" anchor="ctr" lIns="45720" rIns="45720" tIns="9144" bIns="9144">
            <a:spAutoFit/>
          </a:bodyPr>
          <a:lstStyle/>
          <a:p>
            <a:pPr algn="r"/>
            <a:r>
              <a:rPr sz="950" b="1" i="0">
                <a:solidFill>
                  <a:srgbClr val="0D2341"/>
                </a:solidFill>
                <a:latin typeface="Calibri"/>
              </a:rPr>
              <a:t>1,355,238</a:t>
            </a:r>
          </a:p>
        </p:txBody>
      </p:sp>
      <p:sp>
        <p:nvSpPr>
          <p:cNvPr id="150" name="Rectangle 149"/>
          <p:cNvSpPr/>
          <p:nvPr/>
        </p:nvSpPr>
        <p:spPr>
          <a:xfrm>
            <a:off x="10204703" y="3163824"/>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1" name="TextBox 150"/>
          <p:cNvSpPr txBox="1"/>
          <p:nvPr/>
        </p:nvSpPr>
        <p:spPr>
          <a:xfrm>
            <a:off x="10222991" y="3163824"/>
            <a:ext cx="758952" cy="338328"/>
          </a:xfrm>
          <a:prstGeom prst="rect">
            <a:avLst/>
          </a:prstGeom>
          <a:noFill/>
        </p:spPr>
        <p:txBody>
          <a:bodyPr wrap="square" anchor="ctr" lIns="45720" rIns="45720" tIns="9144" bIns="9144">
            <a:spAutoFit/>
          </a:bodyPr>
          <a:lstStyle/>
          <a:p>
            <a:pPr algn="r"/>
            <a:r>
              <a:rPr sz="950" b="1" i="0">
                <a:solidFill>
                  <a:srgbClr val="0D2341"/>
                </a:solidFill>
                <a:latin typeface="Calibri"/>
              </a:rPr>
              <a:t>4,879,754</a:t>
            </a:r>
          </a:p>
        </p:txBody>
      </p:sp>
      <p:sp>
        <p:nvSpPr>
          <p:cNvPr id="152" name="Rectangle 151"/>
          <p:cNvSpPr/>
          <p:nvPr/>
        </p:nvSpPr>
        <p:spPr>
          <a:xfrm>
            <a:off x="11000231" y="3163824"/>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TextBox 152"/>
          <p:cNvSpPr txBox="1"/>
          <p:nvPr/>
        </p:nvSpPr>
        <p:spPr>
          <a:xfrm>
            <a:off x="11018519" y="3163824"/>
            <a:ext cx="758952" cy="338328"/>
          </a:xfrm>
          <a:prstGeom prst="rect">
            <a:avLst/>
          </a:prstGeom>
          <a:noFill/>
        </p:spPr>
        <p:txBody>
          <a:bodyPr wrap="square" anchor="ctr" lIns="45720" rIns="45720" tIns="9144" bIns="9144">
            <a:spAutoFit/>
          </a:bodyPr>
          <a:lstStyle/>
          <a:p>
            <a:pPr algn="r"/>
            <a:r>
              <a:rPr sz="950" b="1" i="0">
                <a:solidFill>
                  <a:srgbClr val="0D2341"/>
                </a:solidFill>
                <a:latin typeface="Calibri"/>
              </a:rPr>
              <a:t>19,443,185</a:t>
            </a:r>
          </a:p>
        </p:txBody>
      </p:sp>
      <p:sp>
        <p:nvSpPr>
          <p:cNvPr id="154" name="Rectangle 153"/>
          <p:cNvSpPr/>
          <p:nvPr/>
        </p:nvSpPr>
        <p:spPr>
          <a:xfrm>
            <a:off x="5486400" y="3502152"/>
            <a:ext cx="2331720"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TextBox 154"/>
          <p:cNvSpPr txBox="1"/>
          <p:nvPr/>
        </p:nvSpPr>
        <p:spPr>
          <a:xfrm>
            <a:off x="5504688" y="3502152"/>
            <a:ext cx="2295144" cy="338328"/>
          </a:xfrm>
          <a:prstGeom prst="rect">
            <a:avLst/>
          </a:prstGeom>
          <a:noFill/>
        </p:spPr>
        <p:txBody>
          <a:bodyPr wrap="square" anchor="ctr" lIns="45720" rIns="45720" tIns="9144" bIns="9144">
            <a:spAutoFit/>
          </a:bodyPr>
          <a:lstStyle/>
          <a:p>
            <a:pPr algn="l"/>
            <a:r>
              <a:rPr sz="950" b="0" i="0">
                <a:solidFill>
                  <a:srgbClr val="334155"/>
                </a:solidFill>
                <a:latin typeface="Calibri"/>
              </a:rPr>
              <a:t>(−) Depreciación y amortización</a:t>
            </a:r>
          </a:p>
        </p:txBody>
      </p:sp>
      <p:sp>
        <p:nvSpPr>
          <p:cNvPr id="156" name="Rectangle 155"/>
          <p:cNvSpPr/>
          <p:nvPr/>
        </p:nvSpPr>
        <p:spPr>
          <a:xfrm>
            <a:off x="7818120" y="3502152"/>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7" name="TextBox 156"/>
          <p:cNvSpPr txBox="1"/>
          <p:nvPr/>
        </p:nvSpPr>
        <p:spPr>
          <a:xfrm>
            <a:off x="7836408" y="3502152"/>
            <a:ext cx="758952" cy="338328"/>
          </a:xfrm>
          <a:prstGeom prst="rect">
            <a:avLst/>
          </a:prstGeom>
          <a:noFill/>
        </p:spPr>
        <p:txBody>
          <a:bodyPr wrap="square" anchor="ctr" lIns="45720" rIns="45720" tIns="9144" bIns="9144">
            <a:spAutoFit/>
          </a:bodyPr>
          <a:lstStyle/>
          <a:p>
            <a:pPr algn="r"/>
            <a:r>
              <a:rPr sz="950" b="0" i="0">
                <a:solidFill>
                  <a:srgbClr val="334155"/>
                </a:solidFill>
                <a:latin typeface="Calibri"/>
              </a:rPr>
              <a:t>204,700</a:t>
            </a:r>
          </a:p>
        </p:txBody>
      </p:sp>
      <p:sp>
        <p:nvSpPr>
          <p:cNvPr id="158" name="Rectangle 157"/>
          <p:cNvSpPr/>
          <p:nvPr/>
        </p:nvSpPr>
        <p:spPr>
          <a:xfrm>
            <a:off x="8613648" y="3502152"/>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TextBox 158"/>
          <p:cNvSpPr txBox="1"/>
          <p:nvPr/>
        </p:nvSpPr>
        <p:spPr>
          <a:xfrm>
            <a:off x="8631936" y="3502152"/>
            <a:ext cx="758952" cy="338328"/>
          </a:xfrm>
          <a:prstGeom prst="rect">
            <a:avLst/>
          </a:prstGeom>
          <a:noFill/>
        </p:spPr>
        <p:txBody>
          <a:bodyPr wrap="square" anchor="ctr" lIns="45720" rIns="45720" tIns="9144" bIns="9144">
            <a:spAutoFit/>
          </a:bodyPr>
          <a:lstStyle/>
          <a:p>
            <a:pPr algn="r"/>
            <a:r>
              <a:rPr sz="950" b="0" i="0">
                <a:solidFill>
                  <a:srgbClr val="334155"/>
                </a:solidFill>
                <a:latin typeface="Calibri"/>
              </a:rPr>
              <a:t>204,700</a:t>
            </a:r>
          </a:p>
        </p:txBody>
      </p:sp>
      <p:sp>
        <p:nvSpPr>
          <p:cNvPr id="160" name="Rectangle 159"/>
          <p:cNvSpPr/>
          <p:nvPr/>
        </p:nvSpPr>
        <p:spPr>
          <a:xfrm>
            <a:off x="9409176" y="3502152"/>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TextBox 160"/>
          <p:cNvSpPr txBox="1"/>
          <p:nvPr/>
        </p:nvSpPr>
        <p:spPr>
          <a:xfrm>
            <a:off x="9427463" y="3502152"/>
            <a:ext cx="758952" cy="338328"/>
          </a:xfrm>
          <a:prstGeom prst="rect">
            <a:avLst/>
          </a:prstGeom>
          <a:noFill/>
        </p:spPr>
        <p:txBody>
          <a:bodyPr wrap="square" anchor="ctr" lIns="45720" rIns="45720" tIns="9144" bIns="9144">
            <a:spAutoFit/>
          </a:bodyPr>
          <a:lstStyle/>
          <a:p>
            <a:pPr algn="r"/>
            <a:r>
              <a:rPr sz="950" b="0" i="0">
                <a:solidFill>
                  <a:srgbClr val="334155"/>
                </a:solidFill>
                <a:latin typeface="Calibri"/>
              </a:rPr>
              <a:t>204,700</a:t>
            </a:r>
          </a:p>
        </p:txBody>
      </p:sp>
      <p:sp>
        <p:nvSpPr>
          <p:cNvPr id="162" name="Rectangle 161"/>
          <p:cNvSpPr/>
          <p:nvPr/>
        </p:nvSpPr>
        <p:spPr>
          <a:xfrm>
            <a:off x="10204703" y="3502152"/>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TextBox 162"/>
          <p:cNvSpPr txBox="1"/>
          <p:nvPr/>
        </p:nvSpPr>
        <p:spPr>
          <a:xfrm>
            <a:off x="10222991" y="3502152"/>
            <a:ext cx="758952" cy="338328"/>
          </a:xfrm>
          <a:prstGeom prst="rect">
            <a:avLst/>
          </a:prstGeom>
          <a:noFill/>
        </p:spPr>
        <p:txBody>
          <a:bodyPr wrap="square" anchor="ctr" lIns="45720" rIns="45720" tIns="9144" bIns="9144">
            <a:spAutoFit/>
          </a:bodyPr>
          <a:lstStyle/>
          <a:p>
            <a:pPr algn="r"/>
            <a:r>
              <a:rPr sz="950" b="0" i="0">
                <a:solidFill>
                  <a:srgbClr val="334155"/>
                </a:solidFill>
                <a:latin typeface="Calibri"/>
              </a:rPr>
              <a:t>204,700</a:t>
            </a:r>
          </a:p>
        </p:txBody>
      </p:sp>
      <p:sp>
        <p:nvSpPr>
          <p:cNvPr id="164" name="Rectangle 163"/>
          <p:cNvSpPr/>
          <p:nvPr/>
        </p:nvSpPr>
        <p:spPr>
          <a:xfrm>
            <a:off x="11000231" y="3502152"/>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5" name="TextBox 164"/>
          <p:cNvSpPr txBox="1"/>
          <p:nvPr/>
        </p:nvSpPr>
        <p:spPr>
          <a:xfrm>
            <a:off x="11018519" y="3502152"/>
            <a:ext cx="758952" cy="338328"/>
          </a:xfrm>
          <a:prstGeom prst="rect">
            <a:avLst/>
          </a:prstGeom>
          <a:noFill/>
        </p:spPr>
        <p:txBody>
          <a:bodyPr wrap="square" anchor="ctr" lIns="45720" rIns="45720" tIns="9144" bIns="9144">
            <a:spAutoFit/>
          </a:bodyPr>
          <a:lstStyle/>
          <a:p>
            <a:pPr algn="r"/>
            <a:r>
              <a:rPr sz="950" b="0" i="0">
                <a:solidFill>
                  <a:srgbClr val="334155"/>
                </a:solidFill>
                <a:latin typeface="Calibri"/>
              </a:rPr>
              <a:t>89,500</a:t>
            </a:r>
          </a:p>
        </p:txBody>
      </p:sp>
      <p:sp>
        <p:nvSpPr>
          <p:cNvPr id="166" name="Rectangle 165"/>
          <p:cNvSpPr/>
          <p:nvPr/>
        </p:nvSpPr>
        <p:spPr>
          <a:xfrm>
            <a:off x="5486400" y="3840480"/>
            <a:ext cx="2331720"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7" name="TextBox 166"/>
          <p:cNvSpPr txBox="1"/>
          <p:nvPr/>
        </p:nvSpPr>
        <p:spPr>
          <a:xfrm>
            <a:off x="5504688" y="3840480"/>
            <a:ext cx="2295144" cy="338328"/>
          </a:xfrm>
          <a:prstGeom prst="rect">
            <a:avLst/>
          </a:prstGeom>
          <a:noFill/>
        </p:spPr>
        <p:txBody>
          <a:bodyPr wrap="square" anchor="ctr" lIns="45720" rIns="45720" tIns="9144" bIns="9144">
            <a:spAutoFit/>
          </a:bodyPr>
          <a:lstStyle/>
          <a:p>
            <a:pPr algn="l"/>
            <a:r>
              <a:rPr sz="950" b="0" i="0">
                <a:solidFill>
                  <a:srgbClr val="334155"/>
                </a:solidFill>
                <a:latin typeface="Calibri"/>
              </a:rPr>
              <a:t>(−) Intereses</a:t>
            </a:r>
          </a:p>
        </p:txBody>
      </p:sp>
      <p:sp>
        <p:nvSpPr>
          <p:cNvPr id="168" name="Rectangle 167"/>
          <p:cNvSpPr/>
          <p:nvPr/>
        </p:nvSpPr>
        <p:spPr>
          <a:xfrm>
            <a:off x="7818120" y="3840480"/>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9" name="TextBox 168"/>
          <p:cNvSpPr txBox="1"/>
          <p:nvPr/>
        </p:nvSpPr>
        <p:spPr>
          <a:xfrm>
            <a:off x="7836408" y="3840480"/>
            <a:ext cx="758952" cy="338328"/>
          </a:xfrm>
          <a:prstGeom prst="rect">
            <a:avLst/>
          </a:prstGeom>
          <a:noFill/>
        </p:spPr>
        <p:txBody>
          <a:bodyPr wrap="square" anchor="ctr" lIns="45720" rIns="45720" tIns="9144" bIns="9144">
            <a:spAutoFit/>
          </a:bodyPr>
          <a:lstStyle/>
          <a:p>
            <a:pPr algn="r"/>
            <a:r>
              <a:rPr sz="950" b="0" i="0">
                <a:solidFill>
                  <a:srgbClr val="334155"/>
                </a:solidFill>
                <a:latin typeface="Calibri"/>
              </a:rPr>
              <a:t>124,884</a:t>
            </a:r>
          </a:p>
        </p:txBody>
      </p:sp>
      <p:sp>
        <p:nvSpPr>
          <p:cNvPr id="170" name="Rectangle 169"/>
          <p:cNvSpPr/>
          <p:nvPr/>
        </p:nvSpPr>
        <p:spPr>
          <a:xfrm>
            <a:off x="8613648" y="3840480"/>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1" name="TextBox 170"/>
          <p:cNvSpPr txBox="1"/>
          <p:nvPr/>
        </p:nvSpPr>
        <p:spPr>
          <a:xfrm>
            <a:off x="8631936" y="3840480"/>
            <a:ext cx="758952" cy="338328"/>
          </a:xfrm>
          <a:prstGeom prst="rect">
            <a:avLst/>
          </a:prstGeom>
          <a:noFill/>
        </p:spPr>
        <p:txBody>
          <a:bodyPr wrap="square" anchor="ctr" lIns="45720" rIns="45720" tIns="9144" bIns="9144">
            <a:spAutoFit/>
          </a:bodyPr>
          <a:lstStyle/>
          <a:p>
            <a:pPr algn="r"/>
            <a:r>
              <a:rPr sz="950" b="0" i="0">
                <a:solidFill>
                  <a:srgbClr val="334155"/>
                </a:solidFill>
                <a:latin typeface="Calibri"/>
              </a:rPr>
              <a:t>105,991</a:t>
            </a:r>
          </a:p>
        </p:txBody>
      </p:sp>
      <p:sp>
        <p:nvSpPr>
          <p:cNvPr id="172" name="Rectangle 171"/>
          <p:cNvSpPr/>
          <p:nvPr/>
        </p:nvSpPr>
        <p:spPr>
          <a:xfrm>
            <a:off x="9409176" y="3840480"/>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3" name="TextBox 172"/>
          <p:cNvSpPr txBox="1"/>
          <p:nvPr/>
        </p:nvSpPr>
        <p:spPr>
          <a:xfrm>
            <a:off x="9427463" y="3840480"/>
            <a:ext cx="758952" cy="338328"/>
          </a:xfrm>
          <a:prstGeom prst="rect">
            <a:avLst/>
          </a:prstGeom>
          <a:noFill/>
        </p:spPr>
        <p:txBody>
          <a:bodyPr wrap="square" anchor="ctr" lIns="45720" rIns="45720" tIns="9144" bIns="9144">
            <a:spAutoFit/>
          </a:bodyPr>
          <a:lstStyle/>
          <a:p>
            <a:pPr algn="r"/>
            <a:r>
              <a:rPr sz="950" b="0" i="0">
                <a:solidFill>
                  <a:srgbClr val="334155"/>
                </a:solidFill>
                <a:latin typeface="Calibri"/>
              </a:rPr>
              <a:t>84,453</a:t>
            </a:r>
          </a:p>
        </p:txBody>
      </p:sp>
      <p:sp>
        <p:nvSpPr>
          <p:cNvPr id="174" name="Rectangle 173"/>
          <p:cNvSpPr/>
          <p:nvPr/>
        </p:nvSpPr>
        <p:spPr>
          <a:xfrm>
            <a:off x="10204703" y="3840480"/>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5" name="TextBox 174"/>
          <p:cNvSpPr txBox="1"/>
          <p:nvPr/>
        </p:nvSpPr>
        <p:spPr>
          <a:xfrm>
            <a:off x="10222991" y="3840480"/>
            <a:ext cx="758952" cy="338328"/>
          </a:xfrm>
          <a:prstGeom prst="rect">
            <a:avLst/>
          </a:prstGeom>
          <a:noFill/>
        </p:spPr>
        <p:txBody>
          <a:bodyPr wrap="square" anchor="ctr" lIns="45720" rIns="45720" tIns="9144" bIns="9144">
            <a:spAutoFit/>
          </a:bodyPr>
          <a:lstStyle/>
          <a:p>
            <a:pPr algn="r"/>
            <a:r>
              <a:rPr sz="950" b="0" i="0">
                <a:solidFill>
                  <a:srgbClr val="334155"/>
                </a:solidFill>
                <a:latin typeface="Calibri"/>
              </a:rPr>
              <a:t>31,909</a:t>
            </a:r>
          </a:p>
        </p:txBody>
      </p:sp>
      <p:sp>
        <p:nvSpPr>
          <p:cNvPr id="176" name="Rectangle 175"/>
          <p:cNvSpPr/>
          <p:nvPr/>
        </p:nvSpPr>
        <p:spPr>
          <a:xfrm>
            <a:off x="11000231" y="3840480"/>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7" name="TextBox 176"/>
          <p:cNvSpPr txBox="1"/>
          <p:nvPr/>
        </p:nvSpPr>
        <p:spPr>
          <a:xfrm>
            <a:off x="11018519" y="3840480"/>
            <a:ext cx="758952" cy="338328"/>
          </a:xfrm>
          <a:prstGeom prst="rect">
            <a:avLst/>
          </a:prstGeom>
          <a:noFill/>
        </p:spPr>
        <p:txBody>
          <a:bodyPr wrap="square" anchor="ctr" lIns="45720" rIns="45720" tIns="9144" bIns="9144">
            <a:spAutoFit/>
          </a:bodyPr>
          <a:lstStyle/>
          <a:p>
            <a:pPr algn="r"/>
            <a:r>
              <a:rPr sz="950" b="0" i="0">
                <a:solidFill>
                  <a:srgbClr val="334155"/>
                </a:solidFill>
                <a:latin typeface="Calibri"/>
              </a:rPr>
              <a:t>0</a:t>
            </a:r>
          </a:p>
        </p:txBody>
      </p:sp>
      <p:sp>
        <p:nvSpPr>
          <p:cNvPr id="178" name="Rectangle 177"/>
          <p:cNvSpPr/>
          <p:nvPr/>
        </p:nvSpPr>
        <p:spPr>
          <a:xfrm>
            <a:off x="5486400" y="4178808"/>
            <a:ext cx="2331720"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9" name="TextBox 178"/>
          <p:cNvSpPr txBox="1"/>
          <p:nvPr/>
        </p:nvSpPr>
        <p:spPr>
          <a:xfrm>
            <a:off x="5504688" y="4178808"/>
            <a:ext cx="2295144" cy="338328"/>
          </a:xfrm>
          <a:prstGeom prst="rect">
            <a:avLst/>
          </a:prstGeom>
          <a:noFill/>
        </p:spPr>
        <p:txBody>
          <a:bodyPr wrap="square" anchor="ctr" lIns="45720" rIns="45720" tIns="9144" bIns="9144">
            <a:spAutoFit/>
          </a:bodyPr>
          <a:lstStyle/>
          <a:p>
            <a:pPr algn="l"/>
            <a:r>
              <a:rPr sz="950" b="0" i="0">
                <a:solidFill>
                  <a:srgbClr val="334155"/>
                </a:solidFill>
                <a:latin typeface="Calibri"/>
              </a:rPr>
              <a:t>(−) Impuesto municipal (ICS)</a:t>
            </a:r>
          </a:p>
        </p:txBody>
      </p:sp>
      <p:sp>
        <p:nvSpPr>
          <p:cNvPr id="180" name="Rectangle 179"/>
          <p:cNvSpPr/>
          <p:nvPr/>
        </p:nvSpPr>
        <p:spPr>
          <a:xfrm>
            <a:off x="7818120" y="4178808"/>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1" name="TextBox 180"/>
          <p:cNvSpPr txBox="1"/>
          <p:nvPr/>
        </p:nvSpPr>
        <p:spPr>
          <a:xfrm>
            <a:off x="7836408" y="4178808"/>
            <a:ext cx="758952" cy="338328"/>
          </a:xfrm>
          <a:prstGeom prst="rect">
            <a:avLst/>
          </a:prstGeom>
          <a:noFill/>
        </p:spPr>
        <p:txBody>
          <a:bodyPr wrap="square" anchor="ctr" lIns="45720" rIns="45720" tIns="9144" bIns="9144">
            <a:spAutoFit/>
          </a:bodyPr>
          <a:lstStyle/>
          <a:p>
            <a:pPr algn="r"/>
            <a:r>
              <a:rPr sz="950" b="0" i="0">
                <a:solidFill>
                  <a:srgbClr val="334155"/>
                </a:solidFill>
                <a:latin typeface="Calibri"/>
              </a:rPr>
              <a:t>1,160</a:t>
            </a:r>
          </a:p>
        </p:txBody>
      </p:sp>
      <p:sp>
        <p:nvSpPr>
          <p:cNvPr id="182" name="Rectangle 181"/>
          <p:cNvSpPr/>
          <p:nvPr/>
        </p:nvSpPr>
        <p:spPr>
          <a:xfrm>
            <a:off x="8613648" y="4178808"/>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3" name="TextBox 182"/>
          <p:cNvSpPr txBox="1"/>
          <p:nvPr/>
        </p:nvSpPr>
        <p:spPr>
          <a:xfrm>
            <a:off x="8631936" y="4178808"/>
            <a:ext cx="758952" cy="338328"/>
          </a:xfrm>
          <a:prstGeom prst="rect">
            <a:avLst/>
          </a:prstGeom>
          <a:noFill/>
        </p:spPr>
        <p:txBody>
          <a:bodyPr wrap="square" anchor="ctr" lIns="45720" rIns="45720" tIns="9144" bIns="9144">
            <a:spAutoFit/>
          </a:bodyPr>
          <a:lstStyle/>
          <a:p>
            <a:pPr algn="r"/>
            <a:r>
              <a:rPr sz="950" b="0" i="0">
                <a:solidFill>
                  <a:srgbClr val="334155"/>
                </a:solidFill>
                <a:latin typeface="Calibri"/>
              </a:rPr>
              <a:t>2,057</a:t>
            </a:r>
          </a:p>
        </p:txBody>
      </p:sp>
      <p:sp>
        <p:nvSpPr>
          <p:cNvPr id="184" name="Rectangle 183"/>
          <p:cNvSpPr/>
          <p:nvPr/>
        </p:nvSpPr>
        <p:spPr>
          <a:xfrm>
            <a:off x="9409176" y="4178808"/>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5" name="TextBox 184"/>
          <p:cNvSpPr txBox="1"/>
          <p:nvPr/>
        </p:nvSpPr>
        <p:spPr>
          <a:xfrm>
            <a:off x="9427463" y="4178808"/>
            <a:ext cx="758952" cy="338328"/>
          </a:xfrm>
          <a:prstGeom prst="rect">
            <a:avLst/>
          </a:prstGeom>
          <a:noFill/>
        </p:spPr>
        <p:txBody>
          <a:bodyPr wrap="square" anchor="ctr" lIns="45720" rIns="45720" tIns="9144" bIns="9144">
            <a:spAutoFit/>
          </a:bodyPr>
          <a:lstStyle/>
          <a:p>
            <a:pPr algn="r"/>
            <a:r>
              <a:rPr sz="950" b="0" i="0">
                <a:solidFill>
                  <a:srgbClr val="334155"/>
                </a:solidFill>
                <a:latin typeface="Calibri"/>
              </a:rPr>
              <a:t>3,252</a:t>
            </a:r>
          </a:p>
        </p:txBody>
      </p:sp>
      <p:sp>
        <p:nvSpPr>
          <p:cNvPr id="186" name="Rectangle 185"/>
          <p:cNvSpPr/>
          <p:nvPr/>
        </p:nvSpPr>
        <p:spPr>
          <a:xfrm>
            <a:off x="10204703" y="4178808"/>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7" name="TextBox 186"/>
          <p:cNvSpPr txBox="1"/>
          <p:nvPr/>
        </p:nvSpPr>
        <p:spPr>
          <a:xfrm>
            <a:off x="10222991" y="4178808"/>
            <a:ext cx="758952" cy="338328"/>
          </a:xfrm>
          <a:prstGeom prst="rect">
            <a:avLst/>
          </a:prstGeom>
          <a:noFill/>
        </p:spPr>
        <p:txBody>
          <a:bodyPr wrap="square" anchor="ctr" lIns="45720" rIns="45720" tIns="9144" bIns="9144">
            <a:spAutoFit/>
          </a:bodyPr>
          <a:lstStyle/>
          <a:p>
            <a:pPr algn="r"/>
            <a:r>
              <a:rPr sz="950" b="0" i="0">
                <a:solidFill>
                  <a:srgbClr val="334155"/>
                </a:solidFill>
                <a:latin typeface="Calibri"/>
              </a:rPr>
              <a:t>5,999</a:t>
            </a:r>
          </a:p>
        </p:txBody>
      </p:sp>
      <p:sp>
        <p:nvSpPr>
          <p:cNvPr id="188" name="Rectangle 187"/>
          <p:cNvSpPr/>
          <p:nvPr/>
        </p:nvSpPr>
        <p:spPr>
          <a:xfrm>
            <a:off x="11000231" y="4178808"/>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9" name="TextBox 188"/>
          <p:cNvSpPr txBox="1"/>
          <p:nvPr/>
        </p:nvSpPr>
        <p:spPr>
          <a:xfrm>
            <a:off x="11018519" y="4178808"/>
            <a:ext cx="758952" cy="338328"/>
          </a:xfrm>
          <a:prstGeom prst="rect">
            <a:avLst/>
          </a:prstGeom>
          <a:noFill/>
        </p:spPr>
        <p:txBody>
          <a:bodyPr wrap="square" anchor="ctr" lIns="45720" rIns="45720" tIns="9144" bIns="9144">
            <a:spAutoFit/>
          </a:bodyPr>
          <a:lstStyle/>
          <a:p>
            <a:pPr algn="r"/>
            <a:r>
              <a:rPr sz="950" b="0" i="0">
                <a:solidFill>
                  <a:srgbClr val="334155"/>
                </a:solidFill>
                <a:latin typeface="Calibri"/>
              </a:rPr>
              <a:t>12,202</a:t>
            </a:r>
          </a:p>
        </p:txBody>
      </p:sp>
      <p:sp>
        <p:nvSpPr>
          <p:cNvPr id="190" name="Rectangle 189"/>
          <p:cNvSpPr/>
          <p:nvPr/>
        </p:nvSpPr>
        <p:spPr>
          <a:xfrm>
            <a:off x="5486400" y="4517136"/>
            <a:ext cx="2331720"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1" name="TextBox 190"/>
          <p:cNvSpPr txBox="1"/>
          <p:nvPr/>
        </p:nvSpPr>
        <p:spPr>
          <a:xfrm>
            <a:off x="5504688" y="4517136"/>
            <a:ext cx="2295144" cy="338328"/>
          </a:xfrm>
          <a:prstGeom prst="rect">
            <a:avLst/>
          </a:prstGeom>
          <a:noFill/>
        </p:spPr>
        <p:txBody>
          <a:bodyPr wrap="square" anchor="ctr" lIns="45720" rIns="45720" tIns="9144" bIns="9144">
            <a:spAutoFit/>
          </a:bodyPr>
          <a:lstStyle/>
          <a:p>
            <a:pPr algn="l"/>
            <a:r>
              <a:rPr sz="950" b="1" i="0">
                <a:solidFill>
                  <a:srgbClr val="0D2341"/>
                </a:solidFill>
                <a:latin typeface="Calibri"/>
              </a:rPr>
              <a:t>(=) Utilidad antes de impuestos</a:t>
            </a:r>
          </a:p>
        </p:txBody>
      </p:sp>
      <p:sp>
        <p:nvSpPr>
          <p:cNvPr id="192" name="Rectangle 191"/>
          <p:cNvSpPr/>
          <p:nvPr/>
        </p:nvSpPr>
        <p:spPr>
          <a:xfrm>
            <a:off x="7818120" y="4517136"/>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3" name="TextBox 192"/>
          <p:cNvSpPr txBox="1"/>
          <p:nvPr/>
        </p:nvSpPr>
        <p:spPr>
          <a:xfrm>
            <a:off x="7836408" y="4517136"/>
            <a:ext cx="758952" cy="338328"/>
          </a:xfrm>
          <a:prstGeom prst="rect">
            <a:avLst/>
          </a:prstGeom>
          <a:noFill/>
        </p:spPr>
        <p:txBody>
          <a:bodyPr wrap="square" anchor="ctr" lIns="45720" rIns="45720" tIns="9144" bIns="9144">
            <a:spAutoFit/>
          </a:bodyPr>
          <a:lstStyle/>
          <a:p>
            <a:pPr algn="r"/>
            <a:r>
              <a:rPr sz="950" b="1" i="0">
                <a:solidFill>
                  <a:srgbClr val="0D2341"/>
                </a:solidFill>
                <a:latin typeface="Calibri"/>
              </a:rPr>
              <a:t>−1,063,441</a:t>
            </a:r>
          </a:p>
        </p:txBody>
      </p:sp>
      <p:sp>
        <p:nvSpPr>
          <p:cNvPr id="194" name="Rectangle 193"/>
          <p:cNvSpPr/>
          <p:nvPr/>
        </p:nvSpPr>
        <p:spPr>
          <a:xfrm>
            <a:off x="8613648" y="4517136"/>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5" name="TextBox 194"/>
          <p:cNvSpPr txBox="1"/>
          <p:nvPr/>
        </p:nvSpPr>
        <p:spPr>
          <a:xfrm>
            <a:off x="8631936" y="4517136"/>
            <a:ext cx="758952" cy="338328"/>
          </a:xfrm>
          <a:prstGeom prst="rect">
            <a:avLst/>
          </a:prstGeom>
          <a:noFill/>
        </p:spPr>
        <p:txBody>
          <a:bodyPr wrap="square" anchor="ctr" lIns="45720" rIns="45720" tIns="9144" bIns="9144">
            <a:spAutoFit/>
          </a:bodyPr>
          <a:lstStyle/>
          <a:p>
            <a:pPr algn="r"/>
            <a:r>
              <a:rPr sz="950" b="1" i="0">
                <a:solidFill>
                  <a:srgbClr val="0D2341"/>
                </a:solidFill>
                <a:latin typeface="Calibri"/>
              </a:rPr>
              <a:t>−161,729</a:t>
            </a:r>
          </a:p>
        </p:txBody>
      </p:sp>
      <p:sp>
        <p:nvSpPr>
          <p:cNvPr id="196" name="Rectangle 195"/>
          <p:cNvSpPr/>
          <p:nvPr/>
        </p:nvSpPr>
        <p:spPr>
          <a:xfrm>
            <a:off x="9409176" y="4517136"/>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7" name="TextBox 196"/>
          <p:cNvSpPr txBox="1"/>
          <p:nvPr/>
        </p:nvSpPr>
        <p:spPr>
          <a:xfrm>
            <a:off x="9427463" y="4517136"/>
            <a:ext cx="758952" cy="338328"/>
          </a:xfrm>
          <a:prstGeom prst="rect">
            <a:avLst/>
          </a:prstGeom>
          <a:noFill/>
        </p:spPr>
        <p:txBody>
          <a:bodyPr wrap="square" anchor="ctr" lIns="45720" rIns="45720" tIns="9144" bIns="9144">
            <a:spAutoFit/>
          </a:bodyPr>
          <a:lstStyle/>
          <a:p>
            <a:pPr algn="r"/>
            <a:r>
              <a:rPr sz="950" b="1" i="0">
                <a:solidFill>
                  <a:srgbClr val="0D2341"/>
                </a:solidFill>
                <a:latin typeface="Calibri"/>
              </a:rPr>
              <a:t>1,062,832</a:t>
            </a:r>
          </a:p>
        </p:txBody>
      </p:sp>
      <p:sp>
        <p:nvSpPr>
          <p:cNvPr id="198" name="Rectangle 197"/>
          <p:cNvSpPr/>
          <p:nvPr/>
        </p:nvSpPr>
        <p:spPr>
          <a:xfrm>
            <a:off x="10204703" y="4517136"/>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9" name="TextBox 198"/>
          <p:cNvSpPr txBox="1"/>
          <p:nvPr/>
        </p:nvSpPr>
        <p:spPr>
          <a:xfrm>
            <a:off x="10222991" y="4517136"/>
            <a:ext cx="758952" cy="338328"/>
          </a:xfrm>
          <a:prstGeom prst="rect">
            <a:avLst/>
          </a:prstGeom>
          <a:noFill/>
        </p:spPr>
        <p:txBody>
          <a:bodyPr wrap="square" anchor="ctr" lIns="45720" rIns="45720" tIns="9144" bIns="9144">
            <a:spAutoFit/>
          </a:bodyPr>
          <a:lstStyle/>
          <a:p>
            <a:pPr algn="r"/>
            <a:r>
              <a:rPr sz="950" b="1" i="0">
                <a:solidFill>
                  <a:srgbClr val="0D2341"/>
                </a:solidFill>
                <a:latin typeface="Calibri"/>
              </a:rPr>
              <a:t>4,637,146</a:t>
            </a:r>
          </a:p>
        </p:txBody>
      </p:sp>
      <p:sp>
        <p:nvSpPr>
          <p:cNvPr id="200" name="Rectangle 199"/>
          <p:cNvSpPr/>
          <p:nvPr/>
        </p:nvSpPr>
        <p:spPr>
          <a:xfrm>
            <a:off x="11000231" y="4517136"/>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1" name="TextBox 200"/>
          <p:cNvSpPr txBox="1"/>
          <p:nvPr/>
        </p:nvSpPr>
        <p:spPr>
          <a:xfrm>
            <a:off x="11018519" y="4517136"/>
            <a:ext cx="758952" cy="338328"/>
          </a:xfrm>
          <a:prstGeom prst="rect">
            <a:avLst/>
          </a:prstGeom>
          <a:noFill/>
        </p:spPr>
        <p:txBody>
          <a:bodyPr wrap="square" anchor="ctr" lIns="45720" rIns="45720" tIns="9144" bIns="9144">
            <a:spAutoFit/>
          </a:bodyPr>
          <a:lstStyle/>
          <a:p>
            <a:pPr algn="r"/>
            <a:r>
              <a:rPr sz="950" b="1" i="0">
                <a:solidFill>
                  <a:srgbClr val="0D2341"/>
                </a:solidFill>
                <a:latin typeface="Calibri"/>
              </a:rPr>
              <a:t>19,341,483</a:t>
            </a:r>
          </a:p>
        </p:txBody>
      </p:sp>
      <p:sp>
        <p:nvSpPr>
          <p:cNvPr id="202" name="Rectangle 201"/>
          <p:cNvSpPr/>
          <p:nvPr/>
        </p:nvSpPr>
        <p:spPr>
          <a:xfrm>
            <a:off x="5486400" y="4855464"/>
            <a:ext cx="2331720"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3" name="TextBox 202"/>
          <p:cNvSpPr txBox="1"/>
          <p:nvPr/>
        </p:nvSpPr>
        <p:spPr>
          <a:xfrm>
            <a:off x="5504688" y="4855464"/>
            <a:ext cx="2295144" cy="338328"/>
          </a:xfrm>
          <a:prstGeom prst="rect">
            <a:avLst/>
          </a:prstGeom>
          <a:noFill/>
        </p:spPr>
        <p:txBody>
          <a:bodyPr wrap="square" anchor="ctr" lIns="45720" rIns="45720" tIns="9144" bIns="9144">
            <a:spAutoFit/>
          </a:bodyPr>
          <a:lstStyle/>
          <a:p>
            <a:pPr algn="l"/>
            <a:r>
              <a:rPr sz="950" b="0" i="0">
                <a:solidFill>
                  <a:srgbClr val="334155"/>
                </a:solidFill>
                <a:latin typeface="Calibri"/>
              </a:rPr>
              <a:t>(−) Impuesto sobre la renta</a:t>
            </a:r>
          </a:p>
        </p:txBody>
      </p:sp>
      <p:sp>
        <p:nvSpPr>
          <p:cNvPr id="204" name="Rectangle 203"/>
          <p:cNvSpPr/>
          <p:nvPr/>
        </p:nvSpPr>
        <p:spPr>
          <a:xfrm>
            <a:off x="7818120" y="4855464"/>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5" name="TextBox 204"/>
          <p:cNvSpPr txBox="1"/>
          <p:nvPr/>
        </p:nvSpPr>
        <p:spPr>
          <a:xfrm>
            <a:off x="7836408" y="4855464"/>
            <a:ext cx="758952" cy="338328"/>
          </a:xfrm>
          <a:prstGeom prst="rect">
            <a:avLst/>
          </a:prstGeom>
          <a:noFill/>
        </p:spPr>
        <p:txBody>
          <a:bodyPr wrap="square" anchor="ctr" lIns="45720" rIns="45720" tIns="9144" bIns="9144">
            <a:spAutoFit/>
          </a:bodyPr>
          <a:lstStyle/>
          <a:p>
            <a:pPr algn="r"/>
            <a:r>
              <a:rPr sz="950" b="0" i="0">
                <a:solidFill>
                  <a:srgbClr val="334155"/>
                </a:solidFill>
                <a:latin typeface="Calibri"/>
              </a:rPr>
              <a:t>0</a:t>
            </a:r>
          </a:p>
        </p:txBody>
      </p:sp>
      <p:sp>
        <p:nvSpPr>
          <p:cNvPr id="206" name="Rectangle 205"/>
          <p:cNvSpPr/>
          <p:nvPr/>
        </p:nvSpPr>
        <p:spPr>
          <a:xfrm>
            <a:off x="8613648" y="4855464"/>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7" name="TextBox 206"/>
          <p:cNvSpPr txBox="1"/>
          <p:nvPr/>
        </p:nvSpPr>
        <p:spPr>
          <a:xfrm>
            <a:off x="8631936" y="4855464"/>
            <a:ext cx="758952" cy="338328"/>
          </a:xfrm>
          <a:prstGeom prst="rect">
            <a:avLst/>
          </a:prstGeom>
          <a:noFill/>
        </p:spPr>
        <p:txBody>
          <a:bodyPr wrap="square" anchor="ctr" lIns="45720" rIns="45720" tIns="9144" bIns="9144">
            <a:spAutoFit/>
          </a:bodyPr>
          <a:lstStyle/>
          <a:p>
            <a:pPr algn="r"/>
            <a:r>
              <a:rPr sz="950" b="0" i="0">
                <a:solidFill>
                  <a:srgbClr val="334155"/>
                </a:solidFill>
                <a:latin typeface="Calibri"/>
              </a:rPr>
              <a:t>0</a:t>
            </a:r>
          </a:p>
        </p:txBody>
      </p:sp>
      <p:sp>
        <p:nvSpPr>
          <p:cNvPr id="208" name="Rectangle 207"/>
          <p:cNvSpPr/>
          <p:nvPr/>
        </p:nvSpPr>
        <p:spPr>
          <a:xfrm>
            <a:off x="9409176" y="4855464"/>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9" name="TextBox 208"/>
          <p:cNvSpPr txBox="1"/>
          <p:nvPr/>
        </p:nvSpPr>
        <p:spPr>
          <a:xfrm>
            <a:off x="9427463" y="4855464"/>
            <a:ext cx="758952" cy="338328"/>
          </a:xfrm>
          <a:prstGeom prst="rect">
            <a:avLst/>
          </a:prstGeom>
          <a:noFill/>
        </p:spPr>
        <p:txBody>
          <a:bodyPr wrap="square" anchor="ctr" lIns="45720" rIns="45720" tIns="9144" bIns="9144">
            <a:spAutoFit/>
          </a:bodyPr>
          <a:lstStyle/>
          <a:p>
            <a:pPr algn="r"/>
            <a:r>
              <a:rPr sz="950" b="0" i="0">
                <a:solidFill>
                  <a:srgbClr val="334155"/>
                </a:solidFill>
                <a:latin typeface="Calibri"/>
              </a:rPr>
              <a:t>0</a:t>
            </a:r>
          </a:p>
        </p:txBody>
      </p:sp>
      <p:sp>
        <p:nvSpPr>
          <p:cNvPr id="210" name="Rectangle 209"/>
          <p:cNvSpPr/>
          <p:nvPr/>
        </p:nvSpPr>
        <p:spPr>
          <a:xfrm>
            <a:off x="10204703" y="4855464"/>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1" name="TextBox 210"/>
          <p:cNvSpPr txBox="1"/>
          <p:nvPr/>
        </p:nvSpPr>
        <p:spPr>
          <a:xfrm>
            <a:off x="10222991" y="4855464"/>
            <a:ext cx="758952" cy="338328"/>
          </a:xfrm>
          <a:prstGeom prst="rect">
            <a:avLst/>
          </a:prstGeom>
          <a:noFill/>
        </p:spPr>
        <p:txBody>
          <a:bodyPr wrap="square" anchor="ctr" lIns="45720" rIns="45720" tIns="9144" bIns="9144">
            <a:spAutoFit/>
          </a:bodyPr>
          <a:lstStyle/>
          <a:p>
            <a:pPr algn="r"/>
            <a:r>
              <a:rPr sz="950" b="0" i="0">
                <a:solidFill>
                  <a:srgbClr val="334155"/>
                </a:solidFill>
                <a:latin typeface="Calibri"/>
              </a:rPr>
              <a:t>1,341,144</a:t>
            </a:r>
          </a:p>
        </p:txBody>
      </p:sp>
      <p:sp>
        <p:nvSpPr>
          <p:cNvPr id="212" name="Rectangle 211"/>
          <p:cNvSpPr/>
          <p:nvPr/>
        </p:nvSpPr>
        <p:spPr>
          <a:xfrm>
            <a:off x="11000231" y="4855464"/>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3" name="TextBox 212"/>
          <p:cNvSpPr txBox="1"/>
          <p:nvPr/>
        </p:nvSpPr>
        <p:spPr>
          <a:xfrm>
            <a:off x="11018519" y="4855464"/>
            <a:ext cx="758952" cy="338328"/>
          </a:xfrm>
          <a:prstGeom prst="rect">
            <a:avLst/>
          </a:prstGeom>
          <a:noFill/>
        </p:spPr>
        <p:txBody>
          <a:bodyPr wrap="square" anchor="ctr" lIns="45720" rIns="45720" tIns="9144" bIns="9144">
            <a:spAutoFit/>
          </a:bodyPr>
          <a:lstStyle/>
          <a:p>
            <a:pPr algn="r"/>
            <a:r>
              <a:rPr sz="950" b="0" i="0">
                <a:solidFill>
                  <a:srgbClr val="334155"/>
                </a:solidFill>
                <a:latin typeface="Calibri"/>
              </a:rPr>
              <a:t>5,752,445</a:t>
            </a:r>
          </a:p>
        </p:txBody>
      </p:sp>
      <p:sp>
        <p:nvSpPr>
          <p:cNvPr id="214" name="Rectangle 213"/>
          <p:cNvSpPr/>
          <p:nvPr/>
        </p:nvSpPr>
        <p:spPr>
          <a:xfrm>
            <a:off x="5486400" y="5193792"/>
            <a:ext cx="2331720" cy="338328"/>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5" name="TextBox 214"/>
          <p:cNvSpPr txBox="1"/>
          <p:nvPr/>
        </p:nvSpPr>
        <p:spPr>
          <a:xfrm>
            <a:off x="5504688" y="5193792"/>
            <a:ext cx="2295144" cy="338328"/>
          </a:xfrm>
          <a:prstGeom prst="rect">
            <a:avLst/>
          </a:prstGeom>
          <a:noFill/>
        </p:spPr>
        <p:txBody>
          <a:bodyPr wrap="square" anchor="ctr" lIns="45720" rIns="45720" tIns="9144" bIns="9144">
            <a:spAutoFit/>
          </a:bodyPr>
          <a:lstStyle/>
          <a:p>
            <a:pPr algn="l"/>
            <a:r>
              <a:rPr sz="950" b="1" i="0">
                <a:solidFill>
                  <a:srgbClr val="0D2341"/>
                </a:solidFill>
                <a:latin typeface="Calibri"/>
              </a:rPr>
              <a:t>(=) UTILIDAD NETA</a:t>
            </a:r>
          </a:p>
        </p:txBody>
      </p:sp>
      <p:sp>
        <p:nvSpPr>
          <p:cNvPr id="216" name="Rectangle 215"/>
          <p:cNvSpPr/>
          <p:nvPr/>
        </p:nvSpPr>
        <p:spPr>
          <a:xfrm>
            <a:off x="7818120" y="5193792"/>
            <a:ext cx="795528" cy="338328"/>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7" name="TextBox 216"/>
          <p:cNvSpPr txBox="1"/>
          <p:nvPr/>
        </p:nvSpPr>
        <p:spPr>
          <a:xfrm>
            <a:off x="7836408" y="5193792"/>
            <a:ext cx="758952" cy="338328"/>
          </a:xfrm>
          <a:prstGeom prst="rect">
            <a:avLst/>
          </a:prstGeom>
          <a:noFill/>
        </p:spPr>
        <p:txBody>
          <a:bodyPr wrap="square" anchor="ctr" lIns="45720" rIns="45720" tIns="9144" bIns="9144">
            <a:spAutoFit/>
          </a:bodyPr>
          <a:lstStyle/>
          <a:p>
            <a:pPr algn="r"/>
            <a:r>
              <a:rPr sz="950" b="1" i="0">
                <a:solidFill>
                  <a:srgbClr val="0D2341"/>
                </a:solidFill>
                <a:latin typeface="Calibri"/>
              </a:rPr>
              <a:t>−1,063,441</a:t>
            </a:r>
          </a:p>
        </p:txBody>
      </p:sp>
      <p:sp>
        <p:nvSpPr>
          <p:cNvPr id="218" name="Rectangle 217"/>
          <p:cNvSpPr/>
          <p:nvPr/>
        </p:nvSpPr>
        <p:spPr>
          <a:xfrm>
            <a:off x="8613648" y="5193792"/>
            <a:ext cx="795528" cy="338328"/>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9" name="TextBox 218"/>
          <p:cNvSpPr txBox="1"/>
          <p:nvPr/>
        </p:nvSpPr>
        <p:spPr>
          <a:xfrm>
            <a:off x="8631936" y="5193792"/>
            <a:ext cx="758952" cy="338328"/>
          </a:xfrm>
          <a:prstGeom prst="rect">
            <a:avLst/>
          </a:prstGeom>
          <a:noFill/>
        </p:spPr>
        <p:txBody>
          <a:bodyPr wrap="square" anchor="ctr" lIns="45720" rIns="45720" tIns="9144" bIns="9144">
            <a:spAutoFit/>
          </a:bodyPr>
          <a:lstStyle/>
          <a:p>
            <a:pPr algn="r"/>
            <a:r>
              <a:rPr sz="950" b="1" i="0">
                <a:solidFill>
                  <a:srgbClr val="0D2341"/>
                </a:solidFill>
                <a:latin typeface="Calibri"/>
              </a:rPr>
              <a:t>−161,729</a:t>
            </a:r>
          </a:p>
        </p:txBody>
      </p:sp>
      <p:sp>
        <p:nvSpPr>
          <p:cNvPr id="220" name="Rectangle 219"/>
          <p:cNvSpPr/>
          <p:nvPr/>
        </p:nvSpPr>
        <p:spPr>
          <a:xfrm>
            <a:off x="9409176" y="5193792"/>
            <a:ext cx="795528" cy="338328"/>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1" name="TextBox 220"/>
          <p:cNvSpPr txBox="1"/>
          <p:nvPr/>
        </p:nvSpPr>
        <p:spPr>
          <a:xfrm>
            <a:off x="9427463" y="5193792"/>
            <a:ext cx="758952" cy="338328"/>
          </a:xfrm>
          <a:prstGeom prst="rect">
            <a:avLst/>
          </a:prstGeom>
          <a:noFill/>
        </p:spPr>
        <p:txBody>
          <a:bodyPr wrap="square" anchor="ctr" lIns="45720" rIns="45720" tIns="9144" bIns="9144">
            <a:spAutoFit/>
          </a:bodyPr>
          <a:lstStyle/>
          <a:p>
            <a:pPr algn="r"/>
            <a:r>
              <a:rPr sz="950" b="1" i="0">
                <a:solidFill>
                  <a:srgbClr val="0D2341"/>
                </a:solidFill>
                <a:latin typeface="Calibri"/>
              </a:rPr>
              <a:t>1,062,832</a:t>
            </a:r>
          </a:p>
        </p:txBody>
      </p:sp>
      <p:sp>
        <p:nvSpPr>
          <p:cNvPr id="222" name="Rectangle 221"/>
          <p:cNvSpPr/>
          <p:nvPr/>
        </p:nvSpPr>
        <p:spPr>
          <a:xfrm>
            <a:off x="10204703" y="5193792"/>
            <a:ext cx="795528" cy="338328"/>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3" name="TextBox 222"/>
          <p:cNvSpPr txBox="1"/>
          <p:nvPr/>
        </p:nvSpPr>
        <p:spPr>
          <a:xfrm>
            <a:off x="10222991" y="5193792"/>
            <a:ext cx="758952" cy="338328"/>
          </a:xfrm>
          <a:prstGeom prst="rect">
            <a:avLst/>
          </a:prstGeom>
          <a:noFill/>
        </p:spPr>
        <p:txBody>
          <a:bodyPr wrap="square" anchor="ctr" lIns="45720" rIns="45720" tIns="9144" bIns="9144">
            <a:spAutoFit/>
          </a:bodyPr>
          <a:lstStyle/>
          <a:p>
            <a:pPr algn="r"/>
            <a:r>
              <a:rPr sz="950" b="1" i="0">
                <a:solidFill>
                  <a:srgbClr val="0D2341"/>
                </a:solidFill>
                <a:latin typeface="Calibri"/>
              </a:rPr>
              <a:t>3,296,003</a:t>
            </a:r>
          </a:p>
        </p:txBody>
      </p:sp>
      <p:sp>
        <p:nvSpPr>
          <p:cNvPr id="224" name="Rectangle 223"/>
          <p:cNvSpPr/>
          <p:nvPr/>
        </p:nvSpPr>
        <p:spPr>
          <a:xfrm>
            <a:off x="11000231" y="5193792"/>
            <a:ext cx="795528" cy="338328"/>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5" name="TextBox 224"/>
          <p:cNvSpPr txBox="1"/>
          <p:nvPr/>
        </p:nvSpPr>
        <p:spPr>
          <a:xfrm>
            <a:off x="11018519" y="5193792"/>
            <a:ext cx="758952" cy="338328"/>
          </a:xfrm>
          <a:prstGeom prst="rect">
            <a:avLst/>
          </a:prstGeom>
          <a:noFill/>
        </p:spPr>
        <p:txBody>
          <a:bodyPr wrap="square" anchor="ctr" lIns="45720" rIns="45720" tIns="9144" bIns="9144">
            <a:spAutoFit/>
          </a:bodyPr>
          <a:lstStyle/>
          <a:p>
            <a:pPr algn="r"/>
            <a:r>
              <a:rPr sz="950" b="1" i="0">
                <a:solidFill>
                  <a:srgbClr val="0D2341"/>
                </a:solidFill>
                <a:latin typeface="Calibri"/>
              </a:rPr>
              <a:t>13,589,038</a:t>
            </a:r>
          </a:p>
        </p:txBody>
      </p:sp>
      <p:sp>
        <p:nvSpPr>
          <p:cNvPr id="226" name="Rectangle 225"/>
          <p:cNvSpPr/>
          <p:nvPr/>
        </p:nvSpPr>
        <p:spPr>
          <a:xfrm>
            <a:off x="5486400" y="5532120"/>
            <a:ext cx="2331720"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7" name="TextBox 226"/>
          <p:cNvSpPr txBox="1"/>
          <p:nvPr/>
        </p:nvSpPr>
        <p:spPr>
          <a:xfrm>
            <a:off x="5504688" y="5532120"/>
            <a:ext cx="2295144" cy="338328"/>
          </a:xfrm>
          <a:prstGeom prst="rect">
            <a:avLst/>
          </a:prstGeom>
          <a:noFill/>
        </p:spPr>
        <p:txBody>
          <a:bodyPr wrap="square" anchor="ctr" lIns="45720" rIns="45720" tIns="9144" bIns="9144">
            <a:spAutoFit/>
          </a:bodyPr>
          <a:lstStyle/>
          <a:p>
            <a:pPr algn="l"/>
            <a:r>
              <a:rPr sz="950" b="0" i="0">
                <a:solidFill>
                  <a:srgbClr val="334155"/>
                </a:solidFill>
                <a:latin typeface="Calibri"/>
              </a:rPr>
              <a:t>Margen neto</a:t>
            </a:r>
          </a:p>
        </p:txBody>
      </p:sp>
      <p:sp>
        <p:nvSpPr>
          <p:cNvPr id="228" name="Rectangle 227"/>
          <p:cNvSpPr/>
          <p:nvPr/>
        </p:nvSpPr>
        <p:spPr>
          <a:xfrm>
            <a:off x="7818120" y="5532120"/>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9" name="TextBox 228"/>
          <p:cNvSpPr txBox="1"/>
          <p:nvPr/>
        </p:nvSpPr>
        <p:spPr>
          <a:xfrm>
            <a:off x="7836408" y="5532120"/>
            <a:ext cx="758952" cy="338328"/>
          </a:xfrm>
          <a:prstGeom prst="rect">
            <a:avLst/>
          </a:prstGeom>
          <a:noFill/>
        </p:spPr>
        <p:txBody>
          <a:bodyPr wrap="square" anchor="ctr" lIns="45720" rIns="45720" tIns="9144" bIns="9144">
            <a:spAutoFit/>
          </a:bodyPr>
          <a:lstStyle/>
          <a:p>
            <a:pPr algn="r"/>
            <a:r>
              <a:rPr sz="950" b="0" i="0">
                <a:solidFill>
                  <a:srgbClr val="334155"/>
                </a:solidFill>
                <a:latin typeface="Calibri"/>
              </a:rPr>
              <a:t>−35.2 %</a:t>
            </a:r>
          </a:p>
        </p:txBody>
      </p:sp>
      <p:sp>
        <p:nvSpPr>
          <p:cNvPr id="230" name="Rectangle 229"/>
          <p:cNvSpPr/>
          <p:nvPr/>
        </p:nvSpPr>
        <p:spPr>
          <a:xfrm>
            <a:off x="8613648" y="5532120"/>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1" name="TextBox 230"/>
          <p:cNvSpPr txBox="1"/>
          <p:nvPr/>
        </p:nvSpPr>
        <p:spPr>
          <a:xfrm>
            <a:off x="8631936" y="5532120"/>
            <a:ext cx="758952" cy="338328"/>
          </a:xfrm>
          <a:prstGeom prst="rect">
            <a:avLst/>
          </a:prstGeom>
          <a:noFill/>
        </p:spPr>
        <p:txBody>
          <a:bodyPr wrap="square" anchor="ctr" lIns="45720" rIns="45720" tIns="9144" bIns="9144">
            <a:spAutoFit/>
          </a:bodyPr>
          <a:lstStyle/>
          <a:p>
            <a:pPr algn="r"/>
            <a:r>
              <a:rPr sz="950" b="0" i="0">
                <a:solidFill>
                  <a:srgbClr val="334155"/>
                </a:solidFill>
                <a:latin typeface="Calibri"/>
              </a:rPr>
              <a:t>−3.1 %</a:t>
            </a:r>
          </a:p>
        </p:txBody>
      </p:sp>
      <p:sp>
        <p:nvSpPr>
          <p:cNvPr id="232" name="Rectangle 231"/>
          <p:cNvSpPr/>
          <p:nvPr/>
        </p:nvSpPr>
        <p:spPr>
          <a:xfrm>
            <a:off x="9409176" y="5532120"/>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3" name="TextBox 232"/>
          <p:cNvSpPr txBox="1"/>
          <p:nvPr/>
        </p:nvSpPr>
        <p:spPr>
          <a:xfrm>
            <a:off x="9427463" y="5532120"/>
            <a:ext cx="758952" cy="338328"/>
          </a:xfrm>
          <a:prstGeom prst="rect">
            <a:avLst/>
          </a:prstGeom>
          <a:noFill/>
        </p:spPr>
        <p:txBody>
          <a:bodyPr wrap="square" anchor="ctr" lIns="45720" rIns="45720" tIns="9144" bIns="9144">
            <a:spAutoFit/>
          </a:bodyPr>
          <a:lstStyle/>
          <a:p>
            <a:pPr algn="r"/>
            <a:r>
              <a:rPr sz="950" b="0" i="0">
                <a:solidFill>
                  <a:srgbClr val="334155"/>
                </a:solidFill>
                <a:latin typeface="Calibri"/>
              </a:rPr>
              <a:t>12.9 %</a:t>
            </a:r>
          </a:p>
        </p:txBody>
      </p:sp>
      <p:sp>
        <p:nvSpPr>
          <p:cNvPr id="234" name="Rectangle 233"/>
          <p:cNvSpPr/>
          <p:nvPr/>
        </p:nvSpPr>
        <p:spPr>
          <a:xfrm>
            <a:off x="10204703" y="5532120"/>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5" name="TextBox 234"/>
          <p:cNvSpPr txBox="1"/>
          <p:nvPr/>
        </p:nvSpPr>
        <p:spPr>
          <a:xfrm>
            <a:off x="10222991" y="5532120"/>
            <a:ext cx="758952" cy="338328"/>
          </a:xfrm>
          <a:prstGeom prst="rect">
            <a:avLst/>
          </a:prstGeom>
          <a:noFill/>
        </p:spPr>
        <p:txBody>
          <a:bodyPr wrap="square" anchor="ctr" lIns="45720" rIns="45720" tIns="9144" bIns="9144">
            <a:spAutoFit/>
          </a:bodyPr>
          <a:lstStyle/>
          <a:p>
            <a:pPr algn="r"/>
            <a:r>
              <a:rPr sz="950" b="0" i="0">
                <a:solidFill>
                  <a:srgbClr val="334155"/>
                </a:solidFill>
                <a:latin typeface="Calibri"/>
              </a:rPr>
              <a:t>19.6 %</a:t>
            </a:r>
          </a:p>
        </p:txBody>
      </p:sp>
      <p:sp>
        <p:nvSpPr>
          <p:cNvPr id="236" name="Rectangle 235"/>
          <p:cNvSpPr/>
          <p:nvPr/>
        </p:nvSpPr>
        <p:spPr>
          <a:xfrm>
            <a:off x="11000231" y="5532120"/>
            <a:ext cx="795528" cy="33832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7" name="TextBox 236"/>
          <p:cNvSpPr txBox="1"/>
          <p:nvPr/>
        </p:nvSpPr>
        <p:spPr>
          <a:xfrm>
            <a:off x="11018519" y="5532120"/>
            <a:ext cx="758952" cy="338328"/>
          </a:xfrm>
          <a:prstGeom prst="rect">
            <a:avLst/>
          </a:prstGeom>
          <a:noFill/>
        </p:spPr>
        <p:txBody>
          <a:bodyPr wrap="square" anchor="ctr" lIns="45720" rIns="45720" tIns="9144" bIns="9144">
            <a:spAutoFit/>
          </a:bodyPr>
          <a:lstStyle/>
          <a:p>
            <a:pPr algn="r"/>
            <a:r>
              <a:rPr sz="950" b="0" i="0">
                <a:solidFill>
                  <a:srgbClr val="334155"/>
                </a:solidFill>
                <a:latin typeface="Calibri"/>
              </a:rPr>
              <a:t>26.3 %</a:t>
            </a:r>
          </a:p>
        </p:txBody>
      </p:sp>
      <p:sp>
        <p:nvSpPr>
          <p:cNvPr id="238" name="TextBox 237"/>
          <p:cNvSpPr txBox="1"/>
          <p:nvPr/>
        </p:nvSpPr>
        <p:spPr>
          <a:xfrm>
            <a:off x="320040" y="6144768"/>
            <a:ext cx="11521440" cy="274320"/>
          </a:xfrm>
          <a:prstGeom prst="rect">
            <a:avLst/>
          </a:prstGeom>
          <a:noFill/>
        </p:spPr>
        <p:txBody>
          <a:bodyPr wrap="square" anchor="ctr">
            <a:spAutoFit/>
          </a:bodyPr>
          <a:lstStyle/>
          <a:p>
            <a:pPr algn="l"/>
            <a:r>
              <a:rPr sz="850" b="0" i="1">
                <a:solidFill>
                  <a:srgbClr val="64748B"/>
                </a:solidFill>
                <a:latin typeface="Calibri"/>
              </a:rPr>
              <a:t>Completo en el Anexo C; utilidad antes de impuestos idéntica a la Tabla 27. Cifras redondeadas: los subtotales pueden diferir en L 1 de la suma mostrada.</a:t>
            </a:r>
          </a:p>
        </p:txBody>
      </p:sp>
      <p:sp>
        <p:nvSpPr>
          <p:cNvPr id="239" name="TextBox 238"/>
          <p:cNvSpPr txBox="1"/>
          <p:nvPr/>
        </p:nvSpPr>
        <p:spPr>
          <a:xfrm>
            <a:off x="320040" y="6583680"/>
            <a:ext cx="11521440" cy="201168"/>
          </a:xfrm>
          <a:prstGeom prst="rect">
            <a:avLst/>
          </a:prstGeom>
          <a:noFill/>
        </p:spPr>
        <p:txBody>
          <a:bodyPr wrap="square" anchor="ctr">
            <a:spAutoFit/>
          </a:bodyPr>
          <a:lstStyle/>
          <a:p>
            <a:pPr algn="ctr"/>
            <a:r>
              <a:rPr sz="800" b="0" i="0">
                <a:solidFill>
                  <a:srgbClr val="64748B"/>
                </a:solidFill>
                <a:latin typeface="Calibri"/>
              </a:rPr>
              <a:t>Maestría en Agronegocios · Universidad EAFIT · Zamorano · 2026   |   Caballero · Valladares · Medal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3657600" cy="256032"/>
          </a:xfrm>
          <a:prstGeom prst="rect">
            <a:avLst/>
          </a:prstGeom>
          <a:noFill/>
        </p:spPr>
        <p:txBody>
          <a:bodyPr wrap="square" anchor="ctr">
            <a:spAutoFit/>
          </a:bodyPr>
          <a:lstStyle/>
          <a:p>
            <a:pPr algn="l"/>
            <a:r>
              <a:rPr sz="900" b="1" i="0">
                <a:solidFill>
                  <a:srgbClr val="1A7A8A"/>
                </a:solidFill>
                <a:latin typeface="Calibri"/>
              </a:rPr>
              <a:t>FINANCIERO</a:t>
            </a:r>
          </a:p>
        </p:txBody>
      </p:sp>
      <p:sp>
        <p:nvSpPr>
          <p:cNvPr id="3" name="TextBox 2"/>
          <p:cNvSpPr txBox="1"/>
          <p:nvPr/>
        </p:nvSpPr>
        <p:spPr>
          <a:xfrm>
            <a:off x="320040" y="475488"/>
            <a:ext cx="11521440" cy="502920"/>
          </a:xfrm>
          <a:prstGeom prst="rect">
            <a:avLst/>
          </a:prstGeom>
          <a:noFill/>
        </p:spPr>
        <p:txBody>
          <a:bodyPr wrap="square" anchor="ctr">
            <a:spAutoFit/>
          </a:bodyPr>
          <a:lstStyle/>
          <a:p>
            <a:pPr algn="l"/>
            <a:r>
              <a:rPr sz="2600" b="1" i="0">
                <a:solidFill>
                  <a:srgbClr val="0D2341"/>
                </a:solidFill>
                <a:latin typeface="Calibri"/>
              </a:rPr>
              <a:t>Punto de Equilibrio</a:t>
            </a:r>
          </a:p>
        </p:txBody>
      </p:sp>
      <p:sp>
        <p:nvSpPr>
          <p:cNvPr id="4" name="Rectangle 3"/>
          <p:cNvSpPr/>
          <p:nvPr/>
        </p:nvSpPr>
        <p:spPr>
          <a:xfrm>
            <a:off x="320040" y="1005840"/>
            <a:ext cx="11430000" cy="18288"/>
          </a:xfrm>
          <a:prstGeom prst="rect">
            <a:avLst/>
          </a:prstGeom>
          <a:solidFill>
            <a:srgbClr val="1A7A8A"/>
          </a:solidFill>
          <a:ln w="12700">
            <a:solidFill>
              <a:srgbClr val="1A7A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Chart 4"/>
          <p:cNvGraphicFramePr>
            <a:graphicFrameLocks noGrp="1"/>
          </p:cNvGraphicFramePr>
          <p:nvPr/>
        </p:nvGraphicFramePr>
        <p:xfrm>
          <a:off x="320040" y="1143000"/>
          <a:ext cx="6949440" cy="4480560"/>
        </p:xfrm>
        <a:graphic>
          <a:graphicData uri="http://schemas.openxmlformats.org/drawingml/2006/chart">
            <c:chart xmlns:c="http://schemas.openxmlformats.org/drawingml/2006/chart" r:id="rId2"/>
          </a:graphicData>
        </a:graphic>
      </p:graphicFrame>
      <p:sp>
        <p:nvSpPr>
          <p:cNvPr id="6" name="Rectangle 5"/>
          <p:cNvSpPr/>
          <p:nvPr/>
        </p:nvSpPr>
        <p:spPr>
          <a:xfrm>
            <a:off x="7498079" y="1143000"/>
            <a:ext cx="4251960" cy="914400"/>
          </a:xfrm>
          <a:prstGeom prst="rect">
            <a:avLst/>
          </a:prstGeom>
          <a:solidFill>
            <a:srgbClr val="E6F4F6"/>
          </a:solidFill>
          <a:ln w="12700">
            <a:solidFill>
              <a:srgbClr val="E6F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589519" y="1216152"/>
            <a:ext cx="4069080" cy="457200"/>
          </a:xfrm>
          <a:prstGeom prst="rect">
            <a:avLst/>
          </a:prstGeom>
          <a:noFill/>
        </p:spPr>
        <p:txBody>
          <a:bodyPr wrap="square" anchor="ctr">
            <a:spAutoFit/>
          </a:bodyPr>
          <a:lstStyle/>
          <a:p>
            <a:pPr algn="ctr"/>
            <a:r>
              <a:rPr sz="2000" b="1" i="0">
                <a:solidFill>
                  <a:srgbClr val="1A7A8A"/>
                </a:solidFill>
                <a:latin typeface="Calibri"/>
              </a:rPr>
              <a:t>L 12.18 por litro</a:t>
            </a:r>
          </a:p>
        </p:txBody>
      </p:sp>
      <p:sp>
        <p:nvSpPr>
          <p:cNvPr id="8" name="TextBox 7"/>
          <p:cNvSpPr txBox="1"/>
          <p:nvPr/>
        </p:nvSpPr>
        <p:spPr>
          <a:xfrm>
            <a:off x="7589519" y="1618488"/>
            <a:ext cx="4069080" cy="256032"/>
          </a:xfrm>
          <a:prstGeom prst="rect">
            <a:avLst/>
          </a:prstGeom>
          <a:noFill/>
        </p:spPr>
        <p:txBody>
          <a:bodyPr wrap="square" anchor="ctr">
            <a:spAutoFit/>
          </a:bodyPr>
          <a:lstStyle/>
          <a:p>
            <a:pPr algn="ctr"/>
            <a:r>
              <a:rPr sz="1000" b="0" i="0">
                <a:solidFill>
                  <a:srgbClr val="334155"/>
                </a:solidFill>
                <a:latin typeface="Calibri"/>
              </a:rPr>
              <a:t>Margen unitario, año 1: precio L 28.00 − costo variable L 15.82</a:t>
            </a:r>
          </a:p>
        </p:txBody>
      </p:sp>
      <p:sp>
        <p:nvSpPr>
          <p:cNvPr id="9" name="Rectangle 8"/>
          <p:cNvSpPr/>
          <p:nvPr/>
        </p:nvSpPr>
        <p:spPr>
          <a:xfrm>
            <a:off x="7498079" y="2148840"/>
            <a:ext cx="4251960" cy="914400"/>
          </a:xfrm>
          <a:prstGeom prst="rect">
            <a:avLst/>
          </a:prstGeom>
          <a:solidFill>
            <a:srgbClr val="F1F5F9"/>
          </a:solidFill>
          <a:ln w="12700">
            <a:solidFill>
              <a:srgbClr val="F1F5F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589519" y="2221992"/>
            <a:ext cx="4069080" cy="457200"/>
          </a:xfrm>
          <a:prstGeom prst="rect">
            <a:avLst/>
          </a:prstGeom>
          <a:noFill/>
        </p:spPr>
        <p:txBody>
          <a:bodyPr wrap="square" anchor="ctr">
            <a:spAutoFit/>
          </a:bodyPr>
          <a:lstStyle/>
          <a:p>
            <a:pPr algn="ctr"/>
            <a:r>
              <a:rPr sz="2000" b="1" i="0">
                <a:solidFill>
                  <a:srgbClr val="1B3A5C"/>
                </a:solidFill>
                <a:latin typeface="Calibri"/>
              </a:rPr>
              <a:t>184,940 L</a:t>
            </a:r>
          </a:p>
        </p:txBody>
      </p:sp>
      <p:sp>
        <p:nvSpPr>
          <p:cNvPr id="11" name="TextBox 10"/>
          <p:cNvSpPr txBox="1"/>
          <p:nvPr/>
        </p:nvSpPr>
        <p:spPr>
          <a:xfrm>
            <a:off x="7589519" y="2624328"/>
            <a:ext cx="4069080" cy="256032"/>
          </a:xfrm>
          <a:prstGeom prst="rect">
            <a:avLst/>
          </a:prstGeom>
          <a:noFill/>
        </p:spPr>
        <p:txBody>
          <a:bodyPr wrap="square" anchor="ctr">
            <a:spAutoFit/>
          </a:bodyPr>
          <a:lstStyle/>
          <a:p>
            <a:pPr algn="ctr"/>
            <a:r>
              <a:rPr sz="1000" b="0" i="0">
                <a:solidFill>
                  <a:srgbClr val="334155"/>
                </a:solidFill>
                <a:latin typeface="Calibri"/>
              </a:rPr>
              <a:t>Punto de equilibrio contable, año 1 (≈ 103 clientes)</a:t>
            </a:r>
          </a:p>
        </p:txBody>
      </p:sp>
      <p:sp>
        <p:nvSpPr>
          <p:cNvPr id="12" name="Rectangle 11"/>
          <p:cNvSpPr/>
          <p:nvPr/>
        </p:nvSpPr>
        <p:spPr>
          <a:xfrm>
            <a:off x="7498079" y="3154680"/>
            <a:ext cx="4251960" cy="914400"/>
          </a:xfrm>
          <a:prstGeom prst="rect">
            <a:avLst/>
          </a:prstGeom>
          <a:solidFill>
            <a:srgbClr val="E6F4F6"/>
          </a:solidFill>
          <a:ln w="12700">
            <a:solidFill>
              <a:srgbClr val="E6F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589519" y="3227832"/>
            <a:ext cx="4069080" cy="457200"/>
          </a:xfrm>
          <a:prstGeom prst="rect">
            <a:avLst/>
          </a:prstGeom>
          <a:noFill/>
        </p:spPr>
        <p:txBody>
          <a:bodyPr wrap="square" anchor="ctr">
            <a:spAutoFit/>
          </a:bodyPr>
          <a:lstStyle/>
          <a:p>
            <a:pPr algn="ctr"/>
            <a:r>
              <a:rPr sz="2000" b="1" i="0">
                <a:solidFill>
                  <a:srgbClr val="1A7A8A"/>
                </a:solidFill>
                <a:latin typeface="Calibri"/>
              </a:rPr>
              <a:t>32 %</a:t>
            </a:r>
          </a:p>
        </p:txBody>
      </p:sp>
      <p:sp>
        <p:nvSpPr>
          <p:cNvPr id="14" name="TextBox 13"/>
          <p:cNvSpPr txBox="1"/>
          <p:nvPr/>
        </p:nvSpPr>
        <p:spPr>
          <a:xfrm>
            <a:off x="7589519" y="3630168"/>
            <a:ext cx="4069080" cy="256032"/>
          </a:xfrm>
          <a:prstGeom prst="rect">
            <a:avLst/>
          </a:prstGeom>
          <a:noFill/>
        </p:spPr>
        <p:txBody>
          <a:bodyPr wrap="square" anchor="ctr">
            <a:spAutoFit/>
          </a:bodyPr>
          <a:lstStyle/>
          <a:p>
            <a:pPr algn="ctr"/>
            <a:r>
              <a:rPr sz="1000" b="0" i="0">
                <a:solidFill>
                  <a:srgbClr val="334155"/>
                </a:solidFill>
                <a:latin typeface="Calibri"/>
              </a:rPr>
              <a:t>Margen de seguridad en el año 3 (volumen 270,000 L)</a:t>
            </a:r>
          </a:p>
        </p:txBody>
      </p:sp>
      <p:sp>
        <p:nvSpPr>
          <p:cNvPr id="15" name="Rectangle 14"/>
          <p:cNvSpPr/>
          <p:nvPr/>
        </p:nvSpPr>
        <p:spPr>
          <a:xfrm>
            <a:off x="7498079" y="4160520"/>
            <a:ext cx="4251960" cy="914400"/>
          </a:xfrm>
          <a:prstGeom prst="rect">
            <a:avLst/>
          </a:prstGeom>
          <a:solidFill>
            <a:srgbClr val="F1F5F9"/>
          </a:solidFill>
          <a:ln w="12700">
            <a:solidFill>
              <a:srgbClr val="F1F5F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589519" y="4233672"/>
            <a:ext cx="4069080" cy="457200"/>
          </a:xfrm>
          <a:prstGeom prst="rect">
            <a:avLst/>
          </a:prstGeom>
          <a:noFill/>
        </p:spPr>
        <p:txBody>
          <a:bodyPr wrap="square" anchor="ctr">
            <a:spAutoFit/>
          </a:bodyPr>
          <a:lstStyle/>
          <a:p>
            <a:pPr algn="ctr"/>
            <a:r>
              <a:rPr sz="2000" b="1" i="0">
                <a:solidFill>
                  <a:srgbClr val="1B3A5C"/>
                </a:solidFill>
                <a:latin typeface="Calibri"/>
              </a:rPr>
              <a:t>86 %</a:t>
            </a:r>
          </a:p>
        </p:txBody>
      </p:sp>
      <p:sp>
        <p:nvSpPr>
          <p:cNvPr id="17" name="TextBox 16"/>
          <p:cNvSpPr txBox="1"/>
          <p:nvPr/>
        </p:nvSpPr>
        <p:spPr>
          <a:xfrm>
            <a:off x="7589519" y="4636008"/>
            <a:ext cx="4069080" cy="256032"/>
          </a:xfrm>
          <a:prstGeom prst="rect">
            <a:avLst/>
          </a:prstGeom>
          <a:noFill/>
        </p:spPr>
        <p:txBody>
          <a:bodyPr wrap="square" anchor="ctr">
            <a:spAutoFit/>
          </a:bodyPr>
          <a:lstStyle/>
          <a:p>
            <a:pPr algn="ctr"/>
            <a:r>
              <a:rPr sz="1000" b="0" i="0">
                <a:solidFill>
                  <a:srgbClr val="334155"/>
                </a:solidFill>
                <a:latin typeface="Calibri"/>
              </a:rPr>
              <a:t>Margen de seguridad en el año 10</a:t>
            </a:r>
          </a:p>
        </p:txBody>
      </p:sp>
      <p:sp>
        <p:nvSpPr>
          <p:cNvPr id="18" name="TextBox 17"/>
          <p:cNvSpPr txBox="1"/>
          <p:nvPr/>
        </p:nvSpPr>
        <p:spPr>
          <a:xfrm>
            <a:off x="320040" y="5669280"/>
            <a:ext cx="11430000" cy="640080"/>
          </a:xfrm>
          <a:prstGeom prst="rect">
            <a:avLst/>
          </a:prstGeom>
          <a:noFill/>
        </p:spPr>
        <p:txBody>
          <a:bodyPr wrap="square" anchor="t">
            <a:spAutoFit/>
          </a:bodyPr>
          <a:lstStyle/>
          <a:p>
            <a:pPr algn="l"/>
            <a:r>
              <a:rPr sz="1100" b="1" i="0">
                <a:solidFill>
                  <a:srgbClr val="334155"/>
                </a:solidFill>
                <a:latin typeface="Calibri"/>
              </a:rPr>
              <a:t>Punto de equilibrio: </a:t>
            </a:r>
            <a:r>
              <a:rPr sz="1100" b="0" i="0">
                <a:solidFill>
                  <a:srgbClr val="334155"/>
                </a:solidFill>
                <a:latin typeface="Calibri"/>
              </a:rPr>
              <a:t>litros que hay que vender para no ganar ni perder = (costos fijos + depreciación) ÷ margen por litro. </a:t>
            </a:r>
            <a:r>
              <a:rPr sz="1100" b="1" i="0">
                <a:solidFill>
                  <a:srgbClr val="334155"/>
                </a:solidFill>
                <a:latin typeface="Calibri"/>
              </a:rPr>
              <a:t>Margen de seguridad: </a:t>
            </a:r>
            <a:r>
              <a:rPr sz="1100" b="0" i="0">
                <a:solidFill>
                  <a:srgbClr val="334155"/>
                </a:solidFill>
                <a:latin typeface="Calibri"/>
              </a:rPr>
              <a:t>cuánto puede caer el volumen proyectado antes de llegar al equilibrio. Se supera desde el año 3.</a:t>
            </a:r>
          </a:p>
        </p:txBody>
      </p:sp>
      <p:sp>
        <p:nvSpPr>
          <p:cNvPr id="19" name="TextBox 18"/>
          <p:cNvSpPr txBox="1"/>
          <p:nvPr/>
        </p:nvSpPr>
        <p:spPr>
          <a:xfrm>
            <a:off x="320040" y="6583680"/>
            <a:ext cx="11521440" cy="201168"/>
          </a:xfrm>
          <a:prstGeom prst="rect">
            <a:avLst/>
          </a:prstGeom>
          <a:noFill/>
        </p:spPr>
        <p:txBody>
          <a:bodyPr wrap="square" anchor="ctr">
            <a:spAutoFit/>
          </a:bodyPr>
          <a:lstStyle/>
          <a:p>
            <a:pPr algn="ctr"/>
            <a:r>
              <a:rPr sz="800" b="0" i="0">
                <a:solidFill>
                  <a:srgbClr val="64748B"/>
                </a:solidFill>
                <a:latin typeface="Calibri"/>
              </a:rPr>
              <a:t>Maestría en Agronegocios · Universidad EAFIT · Zamorano · 2026   |   Caballero · Valladares · Medal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3657600" cy="256032"/>
          </a:xfrm>
          <a:prstGeom prst="rect">
            <a:avLst/>
          </a:prstGeom>
          <a:noFill/>
        </p:spPr>
        <p:txBody>
          <a:bodyPr wrap="square" anchor="ctr">
            <a:spAutoFit/>
          </a:bodyPr>
          <a:lstStyle/>
          <a:p>
            <a:pPr algn="l"/>
            <a:r>
              <a:rPr sz="900" b="1" i="0">
                <a:solidFill>
                  <a:srgbClr val="1A7A8A"/>
                </a:solidFill>
                <a:latin typeface="Calibri"/>
              </a:rPr>
              <a:t>SENSIBILIDAD</a:t>
            </a:r>
          </a:p>
        </p:txBody>
      </p:sp>
      <p:sp>
        <p:nvSpPr>
          <p:cNvPr id="3" name="TextBox 2"/>
          <p:cNvSpPr txBox="1"/>
          <p:nvPr/>
        </p:nvSpPr>
        <p:spPr>
          <a:xfrm>
            <a:off x="320040" y="475488"/>
            <a:ext cx="11521440" cy="502920"/>
          </a:xfrm>
          <a:prstGeom prst="rect">
            <a:avLst/>
          </a:prstGeom>
          <a:noFill/>
        </p:spPr>
        <p:txBody>
          <a:bodyPr wrap="square" anchor="ctr">
            <a:spAutoFit/>
          </a:bodyPr>
          <a:lstStyle/>
          <a:p>
            <a:pPr algn="l"/>
            <a:r>
              <a:rPr sz="2600" b="1" i="0">
                <a:solidFill>
                  <a:srgbClr val="0D2341"/>
                </a:solidFill>
                <a:latin typeface="Calibri"/>
              </a:rPr>
              <a:t>Gráfico de Tornado y Escenarios sobre el VAN</a:t>
            </a:r>
          </a:p>
        </p:txBody>
      </p:sp>
      <p:sp>
        <p:nvSpPr>
          <p:cNvPr id="4" name="Rectangle 3"/>
          <p:cNvSpPr/>
          <p:nvPr/>
        </p:nvSpPr>
        <p:spPr>
          <a:xfrm>
            <a:off x="320040" y="1005840"/>
            <a:ext cx="11430000" cy="18288"/>
          </a:xfrm>
          <a:prstGeom prst="rect">
            <a:avLst/>
          </a:prstGeom>
          <a:solidFill>
            <a:srgbClr val="1A7A8A"/>
          </a:solidFill>
          <a:ln w="12700">
            <a:solidFill>
              <a:srgbClr val="1A7A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Chart 4"/>
          <p:cNvGraphicFramePr>
            <a:graphicFrameLocks noGrp="1"/>
          </p:cNvGraphicFramePr>
          <p:nvPr/>
        </p:nvGraphicFramePr>
        <p:xfrm>
          <a:off x="320040" y="1097280"/>
          <a:ext cx="6675120" cy="5074920"/>
        </p:xfrm>
        <a:graphic>
          <a:graphicData uri="http://schemas.openxmlformats.org/drawingml/2006/chart">
            <c:chart xmlns:c="http://schemas.openxmlformats.org/drawingml/2006/chart" r:id="rId2"/>
          </a:graphicData>
        </a:graphic>
      </p:graphicFrame>
      <p:sp>
        <p:nvSpPr>
          <p:cNvPr id="6" name="TextBox 5"/>
          <p:cNvSpPr txBox="1"/>
          <p:nvPr/>
        </p:nvSpPr>
        <p:spPr>
          <a:xfrm>
            <a:off x="7223760" y="1097280"/>
            <a:ext cx="4526280" cy="310896"/>
          </a:xfrm>
          <a:prstGeom prst="rect">
            <a:avLst/>
          </a:prstGeom>
          <a:noFill/>
        </p:spPr>
        <p:txBody>
          <a:bodyPr wrap="square" anchor="ctr">
            <a:spAutoFit/>
          </a:bodyPr>
          <a:lstStyle/>
          <a:p>
            <a:pPr algn="l"/>
            <a:r>
              <a:rPr sz="1300" b="1" i="0">
                <a:solidFill>
                  <a:srgbClr val="1B3A5C"/>
                </a:solidFill>
                <a:latin typeface="Calibri"/>
              </a:rPr>
              <a:t>Escenarios (Tabla 39 de la tesis)</a:t>
            </a:r>
          </a:p>
        </p:txBody>
      </p:sp>
      <p:sp>
        <p:nvSpPr>
          <p:cNvPr id="7" name="Rectangle 6"/>
          <p:cNvSpPr/>
          <p:nvPr/>
        </p:nvSpPr>
        <p:spPr>
          <a:xfrm>
            <a:off x="7223760" y="1463040"/>
            <a:ext cx="1645920" cy="36576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242048" y="1463040"/>
            <a:ext cx="1609344" cy="365760"/>
          </a:xfrm>
          <a:prstGeom prst="rect">
            <a:avLst/>
          </a:prstGeom>
          <a:noFill/>
        </p:spPr>
        <p:txBody>
          <a:bodyPr wrap="square" anchor="ctr" lIns="45720" rIns="45720" tIns="9144" bIns="9144">
            <a:spAutoFit/>
          </a:bodyPr>
          <a:lstStyle/>
          <a:p>
            <a:pPr algn="l"/>
            <a:r>
              <a:rPr sz="1050" b="1" i="0">
                <a:solidFill>
                  <a:srgbClr val="FFFFFF"/>
                </a:solidFill>
                <a:latin typeface="Calibri"/>
              </a:rPr>
              <a:t>Indicador</a:t>
            </a:r>
          </a:p>
        </p:txBody>
      </p:sp>
      <p:sp>
        <p:nvSpPr>
          <p:cNvPr id="9" name="Rectangle 8"/>
          <p:cNvSpPr/>
          <p:nvPr/>
        </p:nvSpPr>
        <p:spPr>
          <a:xfrm>
            <a:off x="8869680" y="1463040"/>
            <a:ext cx="960120" cy="36576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887968" y="1463040"/>
            <a:ext cx="923544" cy="365760"/>
          </a:xfrm>
          <a:prstGeom prst="rect">
            <a:avLst/>
          </a:prstGeom>
          <a:noFill/>
        </p:spPr>
        <p:txBody>
          <a:bodyPr wrap="square" anchor="ctr" lIns="45720" rIns="45720" tIns="9144" bIns="9144">
            <a:spAutoFit/>
          </a:bodyPr>
          <a:lstStyle/>
          <a:p>
            <a:pPr algn="ctr"/>
            <a:r>
              <a:rPr sz="1050" b="1" i="0">
                <a:solidFill>
                  <a:srgbClr val="FFFFFF"/>
                </a:solidFill>
                <a:latin typeface="Calibri"/>
              </a:rPr>
              <a:t>Pesimista</a:t>
            </a:r>
          </a:p>
        </p:txBody>
      </p:sp>
      <p:sp>
        <p:nvSpPr>
          <p:cNvPr id="11" name="Rectangle 10"/>
          <p:cNvSpPr/>
          <p:nvPr/>
        </p:nvSpPr>
        <p:spPr>
          <a:xfrm>
            <a:off x="9829800" y="1463040"/>
            <a:ext cx="960120" cy="36576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848088" y="1463040"/>
            <a:ext cx="923544" cy="365760"/>
          </a:xfrm>
          <a:prstGeom prst="rect">
            <a:avLst/>
          </a:prstGeom>
          <a:noFill/>
        </p:spPr>
        <p:txBody>
          <a:bodyPr wrap="square" anchor="ctr" lIns="45720" rIns="45720" tIns="9144" bIns="9144">
            <a:spAutoFit/>
          </a:bodyPr>
          <a:lstStyle/>
          <a:p>
            <a:pPr algn="ctr"/>
            <a:r>
              <a:rPr sz="1050" b="1" i="0">
                <a:solidFill>
                  <a:srgbClr val="FFFFFF"/>
                </a:solidFill>
                <a:latin typeface="Calibri"/>
              </a:rPr>
              <a:t>Base</a:t>
            </a:r>
          </a:p>
        </p:txBody>
      </p:sp>
      <p:sp>
        <p:nvSpPr>
          <p:cNvPr id="13" name="Rectangle 12"/>
          <p:cNvSpPr/>
          <p:nvPr/>
        </p:nvSpPr>
        <p:spPr>
          <a:xfrm>
            <a:off x="10789920" y="1463040"/>
            <a:ext cx="960120" cy="36576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808208" y="1463040"/>
            <a:ext cx="923544" cy="365760"/>
          </a:xfrm>
          <a:prstGeom prst="rect">
            <a:avLst/>
          </a:prstGeom>
          <a:noFill/>
        </p:spPr>
        <p:txBody>
          <a:bodyPr wrap="square" anchor="ctr" lIns="45720" rIns="45720" tIns="9144" bIns="9144">
            <a:spAutoFit/>
          </a:bodyPr>
          <a:lstStyle/>
          <a:p>
            <a:pPr algn="ctr"/>
            <a:r>
              <a:rPr sz="1050" b="1" i="0">
                <a:solidFill>
                  <a:srgbClr val="FFFFFF"/>
                </a:solidFill>
                <a:latin typeface="Calibri"/>
              </a:rPr>
              <a:t>Optimista</a:t>
            </a:r>
          </a:p>
        </p:txBody>
      </p:sp>
      <p:sp>
        <p:nvSpPr>
          <p:cNvPr id="15" name="Rectangle 14"/>
          <p:cNvSpPr/>
          <p:nvPr/>
        </p:nvSpPr>
        <p:spPr>
          <a:xfrm>
            <a:off x="7223760" y="1828800"/>
            <a:ext cx="164592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242048" y="1828800"/>
            <a:ext cx="1609344" cy="365760"/>
          </a:xfrm>
          <a:prstGeom prst="rect">
            <a:avLst/>
          </a:prstGeom>
          <a:noFill/>
        </p:spPr>
        <p:txBody>
          <a:bodyPr wrap="square" anchor="ctr" lIns="45720" rIns="45720" tIns="9144" bIns="9144">
            <a:spAutoFit/>
          </a:bodyPr>
          <a:lstStyle/>
          <a:p>
            <a:pPr algn="l"/>
            <a:r>
              <a:rPr sz="1050" b="0" i="0">
                <a:solidFill>
                  <a:srgbClr val="334155"/>
                </a:solidFill>
                <a:latin typeface="Calibri"/>
              </a:rPr>
              <a:t>VAN sin fin. (L M)</a:t>
            </a:r>
          </a:p>
        </p:txBody>
      </p:sp>
      <p:sp>
        <p:nvSpPr>
          <p:cNvPr id="17" name="Rectangle 16"/>
          <p:cNvSpPr/>
          <p:nvPr/>
        </p:nvSpPr>
        <p:spPr>
          <a:xfrm>
            <a:off x="8869680" y="1828800"/>
            <a:ext cx="96012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887968" y="1828800"/>
            <a:ext cx="923544" cy="365760"/>
          </a:xfrm>
          <a:prstGeom prst="rect">
            <a:avLst/>
          </a:prstGeom>
          <a:noFill/>
        </p:spPr>
        <p:txBody>
          <a:bodyPr wrap="square" anchor="ctr" lIns="45720" rIns="45720" tIns="9144" bIns="9144">
            <a:spAutoFit/>
          </a:bodyPr>
          <a:lstStyle/>
          <a:p>
            <a:pPr algn="r"/>
            <a:r>
              <a:rPr sz="1050" b="0" i="0">
                <a:solidFill>
                  <a:srgbClr val="334155"/>
                </a:solidFill>
                <a:latin typeface="Calibri"/>
              </a:rPr>
              <a:t>2.02</a:t>
            </a:r>
          </a:p>
        </p:txBody>
      </p:sp>
      <p:sp>
        <p:nvSpPr>
          <p:cNvPr id="19" name="Rectangle 18"/>
          <p:cNvSpPr/>
          <p:nvPr/>
        </p:nvSpPr>
        <p:spPr>
          <a:xfrm>
            <a:off x="9829800" y="1828800"/>
            <a:ext cx="96012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848088" y="1828800"/>
            <a:ext cx="923544" cy="365760"/>
          </a:xfrm>
          <a:prstGeom prst="rect">
            <a:avLst/>
          </a:prstGeom>
          <a:noFill/>
        </p:spPr>
        <p:txBody>
          <a:bodyPr wrap="square" anchor="ctr" lIns="45720" rIns="45720" tIns="9144" bIns="9144">
            <a:spAutoFit/>
          </a:bodyPr>
          <a:lstStyle/>
          <a:p>
            <a:pPr algn="r"/>
            <a:r>
              <a:rPr sz="1050" b="0" i="0">
                <a:solidFill>
                  <a:srgbClr val="334155"/>
                </a:solidFill>
                <a:latin typeface="Calibri"/>
              </a:rPr>
              <a:t>15.37</a:t>
            </a:r>
          </a:p>
        </p:txBody>
      </p:sp>
      <p:sp>
        <p:nvSpPr>
          <p:cNvPr id="21" name="Rectangle 20"/>
          <p:cNvSpPr/>
          <p:nvPr/>
        </p:nvSpPr>
        <p:spPr>
          <a:xfrm>
            <a:off x="10789920" y="1828800"/>
            <a:ext cx="96012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808208" y="1828800"/>
            <a:ext cx="923544" cy="365760"/>
          </a:xfrm>
          <a:prstGeom prst="rect">
            <a:avLst/>
          </a:prstGeom>
          <a:noFill/>
        </p:spPr>
        <p:txBody>
          <a:bodyPr wrap="square" anchor="ctr" lIns="45720" rIns="45720" tIns="9144" bIns="9144">
            <a:spAutoFit/>
          </a:bodyPr>
          <a:lstStyle/>
          <a:p>
            <a:pPr algn="r"/>
            <a:r>
              <a:rPr sz="1050" b="0" i="0">
                <a:solidFill>
                  <a:srgbClr val="334155"/>
                </a:solidFill>
                <a:latin typeface="Calibri"/>
              </a:rPr>
              <a:t>31.17</a:t>
            </a:r>
          </a:p>
        </p:txBody>
      </p:sp>
      <p:sp>
        <p:nvSpPr>
          <p:cNvPr id="23" name="Rectangle 22"/>
          <p:cNvSpPr/>
          <p:nvPr/>
        </p:nvSpPr>
        <p:spPr>
          <a:xfrm>
            <a:off x="7223760" y="2194560"/>
            <a:ext cx="164592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242048" y="2194560"/>
            <a:ext cx="1609344" cy="365760"/>
          </a:xfrm>
          <a:prstGeom prst="rect">
            <a:avLst/>
          </a:prstGeom>
          <a:noFill/>
        </p:spPr>
        <p:txBody>
          <a:bodyPr wrap="square" anchor="ctr" lIns="45720" rIns="45720" tIns="9144" bIns="9144">
            <a:spAutoFit/>
          </a:bodyPr>
          <a:lstStyle/>
          <a:p>
            <a:pPr algn="l"/>
            <a:r>
              <a:rPr sz="1050" b="0" i="0">
                <a:solidFill>
                  <a:srgbClr val="334155"/>
                </a:solidFill>
                <a:latin typeface="Calibri"/>
              </a:rPr>
              <a:t>VAN con fin. (L M)</a:t>
            </a:r>
          </a:p>
        </p:txBody>
      </p:sp>
      <p:sp>
        <p:nvSpPr>
          <p:cNvPr id="25" name="Rectangle 24"/>
          <p:cNvSpPr/>
          <p:nvPr/>
        </p:nvSpPr>
        <p:spPr>
          <a:xfrm>
            <a:off x="8869680" y="2194560"/>
            <a:ext cx="96012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887968" y="2194560"/>
            <a:ext cx="923544" cy="365760"/>
          </a:xfrm>
          <a:prstGeom prst="rect">
            <a:avLst/>
          </a:prstGeom>
          <a:noFill/>
        </p:spPr>
        <p:txBody>
          <a:bodyPr wrap="square" anchor="ctr" lIns="45720" rIns="45720" tIns="9144" bIns="9144">
            <a:spAutoFit/>
          </a:bodyPr>
          <a:lstStyle/>
          <a:p>
            <a:pPr algn="r"/>
            <a:r>
              <a:rPr sz="1050" b="0" i="0">
                <a:solidFill>
                  <a:srgbClr val="334155"/>
                </a:solidFill>
                <a:latin typeface="Calibri"/>
              </a:rPr>
              <a:t>2.07</a:t>
            </a:r>
          </a:p>
        </p:txBody>
      </p:sp>
      <p:sp>
        <p:nvSpPr>
          <p:cNvPr id="27" name="Rectangle 26"/>
          <p:cNvSpPr/>
          <p:nvPr/>
        </p:nvSpPr>
        <p:spPr>
          <a:xfrm>
            <a:off x="9829800" y="2194560"/>
            <a:ext cx="96012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848088" y="2194560"/>
            <a:ext cx="923544" cy="365760"/>
          </a:xfrm>
          <a:prstGeom prst="rect">
            <a:avLst/>
          </a:prstGeom>
          <a:noFill/>
        </p:spPr>
        <p:txBody>
          <a:bodyPr wrap="square" anchor="ctr" lIns="45720" rIns="45720" tIns="9144" bIns="9144">
            <a:spAutoFit/>
          </a:bodyPr>
          <a:lstStyle/>
          <a:p>
            <a:pPr algn="r"/>
            <a:r>
              <a:rPr sz="1050" b="0" i="0">
                <a:solidFill>
                  <a:srgbClr val="334155"/>
                </a:solidFill>
                <a:latin typeface="Calibri"/>
              </a:rPr>
              <a:t>15.46</a:t>
            </a:r>
          </a:p>
        </p:txBody>
      </p:sp>
      <p:sp>
        <p:nvSpPr>
          <p:cNvPr id="29" name="Rectangle 28"/>
          <p:cNvSpPr/>
          <p:nvPr/>
        </p:nvSpPr>
        <p:spPr>
          <a:xfrm>
            <a:off x="10789920" y="2194560"/>
            <a:ext cx="96012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808208" y="2194560"/>
            <a:ext cx="923544" cy="365760"/>
          </a:xfrm>
          <a:prstGeom prst="rect">
            <a:avLst/>
          </a:prstGeom>
          <a:noFill/>
        </p:spPr>
        <p:txBody>
          <a:bodyPr wrap="square" anchor="ctr" lIns="45720" rIns="45720" tIns="9144" bIns="9144">
            <a:spAutoFit/>
          </a:bodyPr>
          <a:lstStyle/>
          <a:p>
            <a:pPr algn="r"/>
            <a:r>
              <a:rPr sz="1050" b="0" i="0">
                <a:solidFill>
                  <a:srgbClr val="334155"/>
                </a:solidFill>
                <a:latin typeface="Calibri"/>
              </a:rPr>
              <a:t>31.28</a:t>
            </a:r>
          </a:p>
        </p:txBody>
      </p:sp>
      <p:sp>
        <p:nvSpPr>
          <p:cNvPr id="31" name="Rectangle 30"/>
          <p:cNvSpPr/>
          <p:nvPr/>
        </p:nvSpPr>
        <p:spPr>
          <a:xfrm>
            <a:off x="7223760" y="2560320"/>
            <a:ext cx="164592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242048" y="2560320"/>
            <a:ext cx="1609344" cy="365760"/>
          </a:xfrm>
          <a:prstGeom prst="rect">
            <a:avLst/>
          </a:prstGeom>
          <a:noFill/>
        </p:spPr>
        <p:txBody>
          <a:bodyPr wrap="square" anchor="ctr" lIns="45720" rIns="45720" tIns="9144" bIns="9144">
            <a:spAutoFit/>
          </a:bodyPr>
          <a:lstStyle/>
          <a:p>
            <a:pPr algn="l"/>
            <a:r>
              <a:rPr sz="1050" b="0" i="0">
                <a:solidFill>
                  <a:srgbClr val="334155"/>
                </a:solidFill>
                <a:latin typeface="Calibri"/>
              </a:rPr>
              <a:t>TIR sin fin.</a:t>
            </a:r>
          </a:p>
        </p:txBody>
      </p:sp>
      <p:sp>
        <p:nvSpPr>
          <p:cNvPr id="33" name="Rectangle 32"/>
          <p:cNvSpPr/>
          <p:nvPr/>
        </p:nvSpPr>
        <p:spPr>
          <a:xfrm>
            <a:off x="8869680" y="2560320"/>
            <a:ext cx="96012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887968" y="2560320"/>
            <a:ext cx="923544" cy="365760"/>
          </a:xfrm>
          <a:prstGeom prst="rect">
            <a:avLst/>
          </a:prstGeom>
          <a:noFill/>
        </p:spPr>
        <p:txBody>
          <a:bodyPr wrap="square" anchor="ctr" lIns="45720" rIns="45720" tIns="9144" bIns="9144">
            <a:spAutoFit/>
          </a:bodyPr>
          <a:lstStyle/>
          <a:p>
            <a:pPr algn="r"/>
            <a:r>
              <a:rPr sz="1050" b="0" i="0">
                <a:solidFill>
                  <a:srgbClr val="334155"/>
                </a:solidFill>
                <a:latin typeface="Calibri"/>
              </a:rPr>
              <a:t>21.21 %</a:t>
            </a:r>
          </a:p>
        </p:txBody>
      </p:sp>
      <p:sp>
        <p:nvSpPr>
          <p:cNvPr id="35" name="Rectangle 34"/>
          <p:cNvSpPr/>
          <p:nvPr/>
        </p:nvSpPr>
        <p:spPr>
          <a:xfrm>
            <a:off x="9829800" y="2560320"/>
            <a:ext cx="96012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848088" y="2560320"/>
            <a:ext cx="923544" cy="365760"/>
          </a:xfrm>
          <a:prstGeom prst="rect">
            <a:avLst/>
          </a:prstGeom>
          <a:noFill/>
        </p:spPr>
        <p:txBody>
          <a:bodyPr wrap="square" anchor="ctr" lIns="45720" rIns="45720" tIns="9144" bIns="9144">
            <a:spAutoFit/>
          </a:bodyPr>
          <a:lstStyle/>
          <a:p>
            <a:pPr algn="r"/>
            <a:r>
              <a:rPr sz="1050" b="0" i="0">
                <a:solidFill>
                  <a:srgbClr val="334155"/>
                </a:solidFill>
                <a:latin typeface="Calibri"/>
              </a:rPr>
              <a:t>55.95 %</a:t>
            </a:r>
          </a:p>
        </p:txBody>
      </p:sp>
      <p:sp>
        <p:nvSpPr>
          <p:cNvPr id="37" name="Rectangle 36"/>
          <p:cNvSpPr/>
          <p:nvPr/>
        </p:nvSpPr>
        <p:spPr>
          <a:xfrm>
            <a:off x="10789920" y="2560320"/>
            <a:ext cx="96012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0808208" y="2560320"/>
            <a:ext cx="923544" cy="365760"/>
          </a:xfrm>
          <a:prstGeom prst="rect">
            <a:avLst/>
          </a:prstGeom>
          <a:noFill/>
        </p:spPr>
        <p:txBody>
          <a:bodyPr wrap="square" anchor="ctr" lIns="45720" rIns="45720" tIns="9144" bIns="9144">
            <a:spAutoFit/>
          </a:bodyPr>
          <a:lstStyle/>
          <a:p>
            <a:pPr algn="r"/>
            <a:r>
              <a:rPr sz="1050" b="0" i="0">
                <a:solidFill>
                  <a:srgbClr val="334155"/>
                </a:solidFill>
                <a:latin typeface="Calibri"/>
              </a:rPr>
              <a:t>93.91 %</a:t>
            </a:r>
          </a:p>
        </p:txBody>
      </p:sp>
      <p:sp>
        <p:nvSpPr>
          <p:cNvPr id="39" name="Rectangle 38"/>
          <p:cNvSpPr/>
          <p:nvPr/>
        </p:nvSpPr>
        <p:spPr>
          <a:xfrm>
            <a:off x="7223760" y="2926079"/>
            <a:ext cx="164592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242048" y="2926079"/>
            <a:ext cx="1609344" cy="365760"/>
          </a:xfrm>
          <a:prstGeom prst="rect">
            <a:avLst/>
          </a:prstGeom>
          <a:noFill/>
        </p:spPr>
        <p:txBody>
          <a:bodyPr wrap="square" anchor="ctr" lIns="45720" rIns="45720" tIns="9144" bIns="9144">
            <a:spAutoFit/>
          </a:bodyPr>
          <a:lstStyle/>
          <a:p>
            <a:pPr algn="l"/>
            <a:r>
              <a:rPr sz="1050" b="0" i="0">
                <a:solidFill>
                  <a:srgbClr val="334155"/>
                </a:solidFill>
                <a:latin typeface="Calibri"/>
              </a:rPr>
              <a:t>TIR con fin.</a:t>
            </a:r>
          </a:p>
        </p:txBody>
      </p:sp>
      <p:sp>
        <p:nvSpPr>
          <p:cNvPr id="41" name="Rectangle 40"/>
          <p:cNvSpPr/>
          <p:nvPr/>
        </p:nvSpPr>
        <p:spPr>
          <a:xfrm>
            <a:off x="8869680" y="2926079"/>
            <a:ext cx="96012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887968" y="2926079"/>
            <a:ext cx="923544" cy="365760"/>
          </a:xfrm>
          <a:prstGeom prst="rect">
            <a:avLst/>
          </a:prstGeom>
          <a:noFill/>
        </p:spPr>
        <p:txBody>
          <a:bodyPr wrap="square" anchor="ctr" lIns="45720" rIns="45720" tIns="9144" bIns="9144">
            <a:spAutoFit/>
          </a:bodyPr>
          <a:lstStyle/>
          <a:p>
            <a:pPr algn="r"/>
            <a:r>
              <a:rPr sz="1050" b="0" i="0">
                <a:solidFill>
                  <a:srgbClr val="334155"/>
                </a:solidFill>
                <a:latin typeface="Calibri"/>
              </a:rPr>
              <a:t>21.91 %</a:t>
            </a:r>
          </a:p>
        </p:txBody>
      </p:sp>
      <p:sp>
        <p:nvSpPr>
          <p:cNvPr id="43" name="Rectangle 42"/>
          <p:cNvSpPr/>
          <p:nvPr/>
        </p:nvSpPr>
        <p:spPr>
          <a:xfrm>
            <a:off x="9829800" y="2926079"/>
            <a:ext cx="96012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9848088" y="2926079"/>
            <a:ext cx="923544" cy="365760"/>
          </a:xfrm>
          <a:prstGeom prst="rect">
            <a:avLst/>
          </a:prstGeom>
          <a:noFill/>
        </p:spPr>
        <p:txBody>
          <a:bodyPr wrap="square" anchor="ctr" lIns="45720" rIns="45720" tIns="9144" bIns="9144">
            <a:spAutoFit/>
          </a:bodyPr>
          <a:lstStyle/>
          <a:p>
            <a:pPr algn="r"/>
            <a:r>
              <a:rPr sz="1050" b="0" i="0">
                <a:solidFill>
                  <a:srgbClr val="334155"/>
                </a:solidFill>
                <a:latin typeface="Calibri"/>
              </a:rPr>
              <a:t>63.62 %</a:t>
            </a:r>
          </a:p>
        </p:txBody>
      </p:sp>
      <p:sp>
        <p:nvSpPr>
          <p:cNvPr id="45" name="Rectangle 44"/>
          <p:cNvSpPr/>
          <p:nvPr/>
        </p:nvSpPr>
        <p:spPr>
          <a:xfrm>
            <a:off x="10789920" y="2926079"/>
            <a:ext cx="96012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0808208" y="2926079"/>
            <a:ext cx="923544" cy="365760"/>
          </a:xfrm>
          <a:prstGeom prst="rect">
            <a:avLst/>
          </a:prstGeom>
          <a:noFill/>
        </p:spPr>
        <p:txBody>
          <a:bodyPr wrap="square" anchor="ctr" lIns="45720" rIns="45720" tIns="9144" bIns="9144">
            <a:spAutoFit/>
          </a:bodyPr>
          <a:lstStyle/>
          <a:p>
            <a:pPr algn="r"/>
            <a:r>
              <a:rPr sz="1050" b="0" i="0">
                <a:solidFill>
                  <a:srgbClr val="334155"/>
                </a:solidFill>
                <a:latin typeface="Calibri"/>
              </a:rPr>
              <a:t>122.46 %</a:t>
            </a:r>
          </a:p>
        </p:txBody>
      </p:sp>
      <p:sp>
        <p:nvSpPr>
          <p:cNvPr id="47" name="Rectangle 46"/>
          <p:cNvSpPr/>
          <p:nvPr/>
        </p:nvSpPr>
        <p:spPr>
          <a:xfrm>
            <a:off x="7223760" y="3291839"/>
            <a:ext cx="164592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7242048" y="3291839"/>
            <a:ext cx="1609344" cy="365760"/>
          </a:xfrm>
          <a:prstGeom prst="rect">
            <a:avLst/>
          </a:prstGeom>
          <a:noFill/>
        </p:spPr>
        <p:txBody>
          <a:bodyPr wrap="square" anchor="ctr" lIns="45720" rIns="45720" tIns="9144" bIns="9144">
            <a:spAutoFit/>
          </a:bodyPr>
          <a:lstStyle/>
          <a:p>
            <a:pPr algn="l"/>
            <a:r>
              <a:rPr sz="1050" b="0" i="0">
                <a:solidFill>
                  <a:srgbClr val="334155"/>
                </a:solidFill>
                <a:latin typeface="Calibri"/>
              </a:rPr>
              <a:t>PRI sin fin. (años)</a:t>
            </a:r>
          </a:p>
        </p:txBody>
      </p:sp>
      <p:sp>
        <p:nvSpPr>
          <p:cNvPr id="49" name="Rectangle 48"/>
          <p:cNvSpPr/>
          <p:nvPr/>
        </p:nvSpPr>
        <p:spPr>
          <a:xfrm>
            <a:off x="8869680" y="3291839"/>
            <a:ext cx="96012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8887968" y="3291839"/>
            <a:ext cx="923544" cy="365760"/>
          </a:xfrm>
          <a:prstGeom prst="rect">
            <a:avLst/>
          </a:prstGeom>
          <a:noFill/>
        </p:spPr>
        <p:txBody>
          <a:bodyPr wrap="square" anchor="ctr" lIns="45720" rIns="45720" tIns="9144" bIns="9144">
            <a:spAutoFit/>
          </a:bodyPr>
          <a:lstStyle/>
          <a:p>
            <a:pPr algn="r"/>
            <a:r>
              <a:rPr sz="1050" b="0" i="0">
                <a:solidFill>
                  <a:srgbClr val="334155"/>
                </a:solidFill>
                <a:latin typeface="Calibri"/>
              </a:rPr>
              <a:t>7.03</a:t>
            </a:r>
          </a:p>
        </p:txBody>
      </p:sp>
      <p:sp>
        <p:nvSpPr>
          <p:cNvPr id="51" name="Rectangle 50"/>
          <p:cNvSpPr/>
          <p:nvPr/>
        </p:nvSpPr>
        <p:spPr>
          <a:xfrm>
            <a:off x="9829800" y="3291839"/>
            <a:ext cx="96012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9848088" y="3291839"/>
            <a:ext cx="923544" cy="365760"/>
          </a:xfrm>
          <a:prstGeom prst="rect">
            <a:avLst/>
          </a:prstGeom>
          <a:noFill/>
        </p:spPr>
        <p:txBody>
          <a:bodyPr wrap="square" anchor="ctr" lIns="45720" rIns="45720" tIns="9144" bIns="9144">
            <a:spAutoFit/>
          </a:bodyPr>
          <a:lstStyle/>
          <a:p>
            <a:pPr algn="r"/>
            <a:r>
              <a:rPr sz="1050" b="0" i="0">
                <a:solidFill>
                  <a:srgbClr val="334155"/>
                </a:solidFill>
                <a:latin typeface="Calibri"/>
              </a:rPr>
              <a:t>3.67</a:t>
            </a:r>
          </a:p>
        </p:txBody>
      </p:sp>
      <p:sp>
        <p:nvSpPr>
          <p:cNvPr id="53" name="Rectangle 52"/>
          <p:cNvSpPr/>
          <p:nvPr/>
        </p:nvSpPr>
        <p:spPr>
          <a:xfrm>
            <a:off x="10789920" y="3291839"/>
            <a:ext cx="96012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10808208" y="3291839"/>
            <a:ext cx="923544" cy="365760"/>
          </a:xfrm>
          <a:prstGeom prst="rect">
            <a:avLst/>
          </a:prstGeom>
          <a:noFill/>
        </p:spPr>
        <p:txBody>
          <a:bodyPr wrap="square" anchor="ctr" lIns="45720" rIns="45720" tIns="9144" bIns="9144">
            <a:spAutoFit/>
          </a:bodyPr>
          <a:lstStyle/>
          <a:p>
            <a:pPr algn="r"/>
            <a:r>
              <a:rPr sz="1050" b="0" i="0">
                <a:solidFill>
                  <a:srgbClr val="334155"/>
                </a:solidFill>
                <a:latin typeface="Calibri"/>
              </a:rPr>
              <a:t>2.12</a:t>
            </a:r>
          </a:p>
        </p:txBody>
      </p:sp>
      <p:sp>
        <p:nvSpPr>
          <p:cNvPr id="55" name="Rectangle 54"/>
          <p:cNvSpPr/>
          <p:nvPr/>
        </p:nvSpPr>
        <p:spPr>
          <a:xfrm>
            <a:off x="7223760" y="3657599"/>
            <a:ext cx="164592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7242048" y="3657599"/>
            <a:ext cx="1609344" cy="365760"/>
          </a:xfrm>
          <a:prstGeom prst="rect">
            <a:avLst/>
          </a:prstGeom>
          <a:noFill/>
        </p:spPr>
        <p:txBody>
          <a:bodyPr wrap="square" anchor="ctr" lIns="45720" rIns="45720" tIns="9144" bIns="9144">
            <a:spAutoFit/>
          </a:bodyPr>
          <a:lstStyle/>
          <a:p>
            <a:pPr algn="l"/>
            <a:r>
              <a:rPr sz="1050" b="0" i="0">
                <a:solidFill>
                  <a:srgbClr val="334155"/>
                </a:solidFill>
                <a:latin typeface="Calibri"/>
              </a:rPr>
              <a:t>B/C sin fin.</a:t>
            </a:r>
          </a:p>
        </p:txBody>
      </p:sp>
      <p:sp>
        <p:nvSpPr>
          <p:cNvPr id="57" name="Rectangle 56"/>
          <p:cNvSpPr/>
          <p:nvPr/>
        </p:nvSpPr>
        <p:spPr>
          <a:xfrm>
            <a:off x="8869680" y="3657599"/>
            <a:ext cx="96012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8887968" y="3657599"/>
            <a:ext cx="923544" cy="365760"/>
          </a:xfrm>
          <a:prstGeom prst="rect">
            <a:avLst/>
          </a:prstGeom>
          <a:noFill/>
        </p:spPr>
        <p:txBody>
          <a:bodyPr wrap="square" anchor="ctr" lIns="45720" rIns="45720" tIns="9144" bIns="9144">
            <a:spAutoFit/>
          </a:bodyPr>
          <a:lstStyle/>
          <a:p>
            <a:pPr algn="r"/>
            <a:r>
              <a:rPr sz="1050" b="0" i="0">
                <a:solidFill>
                  <a:srgbClr val="334155"/>
                </a:solidFill>
                <a:latin typeface="Calibri"/>
              </a:rPr>
              <a:t>1.05</a:t>
            </a:r>
          </a:p>
        </p:txBody>
      </p:sp>
      <p:sp>
        <p:nvSpPr>
          <p:cNvPr id="59" name="Rectangle 58"/>
          <p:cNvSpPr/>
          <p:nvPr/>
        </p:nvSpPr>
        <p:spPr>
          <a:xfrm>
            <a:off x="9829800" y="3657599"/>
            <a:ext cx="96012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9848088" y="3657599"/>
            <a:ext cx="923544" cy="365760"/>
          </a:xfrm>
          <a:prstGeom prst="rect">
            <a:avLst/>
          </a:prstGeom>
          <a:noFill/>
        </p:spPr>
        <p:txBody>
          <a:bodyPr wrap="square" anchor="ctr" lIns="45720" rIns="45720" tIns="9144" bIns="9144">
            <a:spAutoFit/>
          </a:bodyPr>
          <a:lstStyle/>
          <a:p>
            <a:pPr algn="r"/>
            <a:r>
              <a:rPr sz="1050" b="0" i="0">
                <a:solidFill>
                  <a:srgbClr val="334155"/>
                </a:solidFill>
                <a:latin typeface="Calibri"/>
              </a:rPr>
              <a:t>1.24</a:t>
            </a:r>
          </a:p>
        </p:txBody>
      </p:sp>
      <p:sp>
        <p:nvSpPr>
          <p:cNvPr id="61" name="Rectangle 60"/>
          <p:cNvSpPr/>
          <p:nvPr/>
        </p:nvSpPr>
        <p:spPr>
          <a:xfrm>
            <a:off x="10789920" y="3657599"/>
            <a:ext cx="96012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10808208" y="3657599"/>
            <a:ext cx="923544" cy="365760"/>
          </a:xfrm>
          <a:prstGeom prst="rect">
            <a:avLst/>
          </a:prstGeom>
          <a:noFill/>
        </p:spPr>
        <p:txBody>
          <a:bodyPr wrap="square" anchor="ctr" lIns="45720" rIns="45720" tIns="9144" bIns="9144">
            <a:spAutoFit/>
          </a:bodyPr>
          <a:lstStyle/>
          <a:p>
            <a:pPr algn="r"/>
            <a:r>
              <a:rPr sz="1050" b="0" i="0">
                <a:solidFill>
                  <a:srgbClr val="334155"/>
                </a:solidFill>
                <a:latin typeface="Calibri"/>
              </a:rPr>
              <a:t>1.41</a:t>
            </a:r>
          </a:p>
        </p:txBody>
      </p:sp>
      <p:sp>
        <p:nvSpPr>
          <p:cNvPr id="63" name="TextBox 62"/>
          <p:cNvSpPr txBox="1"/>
          <p:nvPr/>
        </p:nvSpPr>
        <p:spPr>
          <a:xfrm>
            <a:off x="7223760" y="4114800"/>
            <a:ext cx="4526280" cy="2103120"/>
          </a:xfrm>
          <a:prstGeom prst="rect">
            <a:avLst/>
          </a:prstGeom>
          <a:noFill/>
        </p:spPr>
        <p:txBody>
          <a:bodyPr wrap="square" anchor="t">
            <a:spAutoFit/>
          </a:bodyPr>
          <a:lstStyle/>
          <a:p>
            <a:pPr algn="l">
              <a:spcAft>
                <a:spcPts val="600"/>
              </a:spcAft>
            </a:pPr>
            <a:r>
              <a:rPr sz="1200" b="1" i="0">
                <a:solidFill>
                  <a:srgbClr val="334155"/>
                </a:solidFill>
                <a:latin typeface="Calibri"/>
              </a:rPr>
              <a:t>Pesimista: </a:t>
            </a:r>
            <a:r>
              <a:rPr sz="1200" b="0" i="0">
                <a:solidFill>
                  <a:srgbClr val="334155"/>
                </a:solidFill>
                <a:latin typeface="Calibri"/>
              </a:rPr>
              <a:t>las 11 variables en su extremo desfavorable.</a:t>
            </a:r>
          </a:p>
          <a:p>
            <a:pPr algn="l">
              <a:spcAft>
                <a:spcPts val="600"/>
              </a:spcAft>
            </a:pPr>
            <a:r>
              <a:rPr sz="1200" b="1" i="0">
                <a:solidFill>
                  <a:srgbClr val="334155"/>
                </a:solidFill>
                <a:latin typeface="Calibri"/>
              </a:rPr>
              <a:t>Optimista: </a:t>
            </a:r>
            <a:r>
              <a:rPr sz="1200" b="0" i="0">
                <a:solidFill>
                  <a:srgbClr val="334155"/>
                </a:solidFill>
                <a:latin typeface="Calibri"/>
              </a:rPr>
              <a:t>todas en su extremo favorable.</a:t>
            </a:r>
          </a:p>
          <a:p>
            <a:pPr algn="l">
              <a:spcAft>
                <a:spcPts val="600"/>
              </a:spcAft>
            </a:pPr>
            <a:r>
              <a:rPr sz="1200" b="1" i="0">
                <a:solidFill>
                  <a:srgbClr val="1A7A8A"/>
                </a:solidFill>
                <a:latin typeface="Calibri"/>
              </a:rPr>
              <a:t>Aun en el pesimista, VAN &gt; 0 y TIR 21.21 % &gt; 15 %.</a:t>
            </a:r>
          </a:p>
        </p:txBody>
      </p:sp>
      <p:sp>
        <p:nvSpPr>
          <p:cNvPr id="64" name="TextBox 63"/>
          <p:cNvSpPr txBox="1"/>
          <p:nvPr/>
        </p:nvSpPr>
        <p:spPr>
          <a:xfrm>
            <a:off x="320040" y="6583680"/>
            <a:ext cx="11521440" cy="201168"/>
          </a:xfrm>
          <a:prstGeom prst="rect">
            <a:avLst/>
          </a:prstGeom>
          <a:noFill/>
        </p:spPr>
        <p:txBody>
          <a:bodyPr wrap="square" anchor="ctr">
            <a:spAutoFit/>
          </a:bodyPr>
          <a:lstStyle/>
          <a:p>
            <a:pPr algn="ctr"/>
            <a:r>
              <a:rPr sz="800" b="0" i="0">
                <a:solidFill>
                  <a:srgbClr val="64748B"/>
                </a:solidFill>
                <a:latin typeface="Calibri"/>
              </a:rPr>
              <a:t>Maestría en Agronegocios · Universidad EAFIT · Zamorano · 2026   |   Caballero · Valladares · Medal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3657600" cy="256032"/>
          </a:xfrm>
          <a:prstGeom prst="rect">
            <a:avLst/>
          </a:prstGeom>
          <a:noFill/>
        </p:spPr>
        <p:txBody>
          <a:bodyPr wrap="square" anchor="ctr">
            <a:spAutoFit/>
          </a:bodyPr>
          <a:lstStyle/>
          <a:p>
            <a:pPr algn="l"/>
            <a:r>
              <a:rPr sz="900" b="1" i="0">
                <a:solidFill>
                  <a:srgbClr val="1A7A8A"/>
                </a:solidFill>
                <a:latin typeface="Calibri"/>
              </a:rPr>
              <a:t>RIESGOS</a:t>
            </a:r>
          </a:p>
        </p:txBody>
      </p:sp>
      <p:sp>
        <p:nvSpPr>
          <p:cNvPr id="3" name="TextBox 2"/>
          <p:cNvSpPr txBox="1"/>
          <p:nvPr/>
        </p:nvSpPr>
        <p:spPr>
          <a:xfrm>
            <a:off x="320040" y="475488"/>
            <a:ext cx="11521440" cy="502920"/>
          </a:xfrm>
          <a:prstGeom prst="rect">
            <a:avLst/>
          </a:prstGeom>
          <a:noFill/>
        </p:spPr>
        <p:txBody>
          <a:bodyPr wrap="square" anchor="ctr">
            <a:spAutoFit/>
          </a:bodyPr>
          <a:lstStyle/>
          <a:p>
            <a:pPr algn="l"/>
            <a:r>
              <a:rPr sz="2600" b="1" i="0">
                <a:solidFill>
                  <a:srgbClr val="0D2341"/>
                </a:solidFill>
                <a:latin typeface="Calibri"/>
              </a:rPr>
              <a:t>VAN Determinístico vs. VPN Medio de @RISK: qué mide cada uno</a:t>
            </a:r>
          </a:p>
        </p:txBody>
      </p:sp>
      <p:sp>
        <p:nvSpPr>
          <p:cNvPr id="4" name="Rectangle 3"/>
          <p:cNvSpPr/>
          <p:nvPr/>
        </p:nvSpPr>
        <p:spPr>
          <a:xfrm>
            <a:off x="320040" y="1005840"/>
            <a:ext cx="11430000" cy="18288"/>
          </a:xfrm>
          <a:prstGeom prst="rect">
            <a:avLst/>
          </a:prstGeom>
          <a:solidFill>
            <a:srgbClr val="1A7A8A"/>
          </a:solidFill>
          <a:ln w="12700">
            <a:solidFill>
              <a:srgbClr val="1A7A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320040" y="1188720"/>
            <a:ext cx="3611880" cy="2240280"/>
          </a:xfrm>
          <a:prstGeom prst="rect">
            <a:avLst/>
          </a:prstGeom>
          <a:solidFill>
            <a:srgbClr val="E6F4F6"/>
          </a:solidFill>
          <a:ln w="12700">
            <a:solidFill>
              <a:srgbClr val="E6F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57200" y="1243584"/>
            <a:ext cx="3337560" cy="320040"/>
          </a:xfrm>
          <a:prstGeom prst="rect">
            <a:avLst/>
          </a:prstGeom>
          <a:noFill/>
        </p:spPr>
        <p:txBody>
          <a:bodyPr wrap="square" anchor="ctr">
            <a:spAutoFit/>
          </a:bodyPr>
          <a:lstStyle/>
          <a:p>
            <a:pPr algn="ctr"/>
            <a:r>
              <a:rPr sz="1200" b="1" i="0">
                <a:solidFill>
                  <a:srgbClr val="1A7A8A"/>
                </a:solidFill>
                <a:latin typeface="Calibri"/>
              </a:rPr>
              <a:t>VAN determinístico</a:t>
            </a:r>
          </a:p>
        </p:txBody>
      </p:sp>
      <p:sp>
        <p:nvSpPr>
          <p:cNvPr id="7" name="TextBox 6"/>
          <p:cNvSpPr txBox="1"/>
          <p:nvPr/>
        </p:nvSpPr>
        <p:spPr>
          <a:xfrm>
            <a:off x="457200" y="1572768"/>
            <a:ext cx="3337560" cy="548640"/>
          </a:xfrm>
          <a:prstGeom prst="rect">
            <a:avLst/>
          </a:prstGeom>
          <a:noFill/>
        </p:spPr>
        <p:txBody>
          <a:bodyPr wrap="square" anchor="ctr">
            <a:spAutoFit/>
          </a:bodyPr>
          <a:lstStyle/>
          <a:p>
            <a:pPr algn="ctr"/>
            <a:r>
              <a:rPr sz="2400" b="1" i="0">
                <a:solidFill>
                  <a:srgbClr val="1A7A8A"/>
                </a:solidFill>
                <a:latin typeface="Calibri"/>
              </a:rPr>
              <a:t>L 15,459,686</a:t>
            </a:r>
          </a:p>
        </p:txBody>
      </p:sp>
      <p:sp>
        <p:nvSpPr>
          <p:cNvPr id="8" name="TextBox 7"/>
          <p:cNvSpPr txBox="1"/>
          <p:nvPr/>
        </p:nvSpPr>
        <p:spPr>
          <a:xfrm>
            <a:off x="457200" y="2148840"/>
            <a:ext cx="3337560" cy="1234440"/>
          </a:xfrm>
          <a:prstGeom prst="rect">
            <a:avLst/>
          </a:prstGeom>
          <a:noFill/>
        </p:spPr>
        <p:txBody>
          <a:bodyPr wrap="square" anchor="t">
            <a:spAutoFit/>
          </a:bodyPr>
          <a:lstStyle/>
          <a:p>
            <a:pPr algn="ctr"/>
            <a:r>
              <a:rPr sz="1250" b="0" i="0">
                <a:solidFill>
                  <a:srgbClr val="334155"/>
                </a:solidFill>
                <a:latin typeface="Calibri"/>
              </a:rPr>
              <a:t>Supuestos puntuales; costos indexados a la inflación. Valor de decisión (Tabla 31).</a:t>
            </a:r>
          </a:p>
        </p:txBody>
      </p:sp>
      <p:sp>
        <p:nvSpPr>
          <p:cNvPr id="9" name="Rectangle 8"/>
          <p:cNvSpPr/>
          <p:nvPr/>
        </p:nvSpPr>
        <p:spPr>
          <a:xfrm>
            <a:off x="4160520" y="1188720"/>
            <a:ext cx="3611880" cy="2240280"/>
          </a:xfrm>
          <a:prstGeom prst="rect">
            <a:avLst/>
          </a:prstGeom>
          <a:solidFill>
            <a:srgbClr val="F1F5F9"/>
          </a:solidFill>
          <a:ln w="12700">
            <a:solidFill>
              <a:srgbClr val="F1F5F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297680" y="1243584"/>
            <a:ext cx="3337560" cy="320040"/>
          </a:xfrm>
          <a:prstGeom prst="rect">
            <a:avLst/>
          </a:prstGeom>
          <a:noFill/>
        </p:spPr>
        <p:txBody>
          <a:bodyPr wrap="square" anchor="ctr">
            <a:spAutoFit/>
          </a:bodyPr>
          <a:lstStyle/>
          <a:p>
            <a:pPr algn="ctr"/>
            <a:r>
              <a:rPr sz="1200" b="1" i="0">
                <a:solidFill>
                  <a:srgbClr val="1B3A5C"/>
                </a:solidFill>
                <a:latin typeface="Calibri"/>
              </a:rPr>
              <a:t>VPN medio @RISK</a:t>
            </a:r>
          </a:p>
        </p:txBody>
      </p:sp>
      <p:sp>
        <p:nvSpPr>
          <p:cNvPr id="11" name="TextBox 10"/>
          <p:cNvSpPr txBox="1"/>
          <p:nvPr/>
        </p:nvSpPr>
        <p:spPr>
          <a:xfrm>
            <a:off x="4297680" y="1572768"/>
            <a:ext cx="3337560" cy="548640"/>
          </a:xfrm>
          <a:prstGeom prst="rect">
            <a:avLst/>
          </a:prstGeom>
          <a:noFill/>
        </p:spPr>
        <p:txBody>
          <a:bodyPr wrap="square" anchor="ctr">
            <a:spAutoFit/>
          </a:bodyPr>
          <a:lstStyle/>
          <a:p>
            <a:pPr algn="ctr"/>
            <a:r>
              <a:rPr sz="2400" b="1" i="0">
                <a:solidFill>
                  <a:srgbClr val="1B3A5C"/>
                </a:solidFill>
                <a:latin typeface="Calibri"/>
              </a:rPr>
              <a:t>L 23,999,077</a:t>
            </a:r>
          </a:p>
        </p:txBody>
      </p:sp>
      <p:sp>
        <p:nvSpPr>
          <p:cNvPr id="12" name="TextBox 11"/>
          <p:cNvSpPr txBox="1"/>
          <p:nvPr/>
        </p:nvSpPr>
        <p:spPr>
          <a:xfrm>
            <a:off x="4297680" y="2148840"/>
            <a:ext cx="3337560" cy="1234440"/>
          </a:xfrm>
          <a:prstGeom prst="rect">
            <a:avLst/>
          </a:prstGeom>
          <a:noFill/>
        </p:spPr>
        <p:txBody>
          <a:bodyPr wrap="square" anchor="t">
            <a:spAutoFit/>
          </a:bodyPr>
          <a:lstStyle/>
          <a:p>
            <a:pPr algn="ctr"/>
            <a:r>
              <a:rPr sz="1250" b="0" i="0">
                <a:solidFill>
                  <a:srgbClr val="334155"/>
                </a:solidFill>
                <a:latin typeface="Calibri"/>
              </a:rPr>
              <a:t>Promedio de 10,000 iteraciones. Mide la dispersión.</a:t>
            </a:r>
          </a:p>
        </p:txBody>
      </p:sp>
      <p:sp>
        <p:nvSpPr>
          <p:cNvPr id="13" name="Rectangle 12"/>
          <p:cNvSpPr/>
          <p:nvPr/>
        </p:nvSpPr>
        <p:spPr>
          <a:xfrm>
            <a:off x="8001000" y="1188720"/>
            <a:ext cx="3611880" cy="2240280"/>
          </a:xfrm>
          <a:prstGeom prst="rect">
            <a:avLst/>
          </a:prstGeom>
          <a:solidFill>
            <a:srgbClr val="E6F4F6"/>
          </a:solidFill>
          <a:ln w="12700">
            <a:solidFill>
              <a:srgbClr val="E6F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138160" y="1243584"/>
            <a:ext cx="3337560" cy="320040"/>
          </a:xfrm>
          <a:prstGeom prst="rect">
            <a:avLst/>
          </a:prstGeom>
          <a:noFill/>
        </p:spPr>
        <p:txBody>
          <a:bodyPr wrap="square" anchor="ctr">
            <a:spAutoFit/>
          </a:bodyPr>
          <a:lstStyle/>
          <a:p>
            <a:pPr algn="ctr"/>
            <a:r>
              <a:rPr sz="1200" b="1" i="0">
                <a:solidFill>
                  <a:srgbClr val="1A7A8A"/>
                </a:solidFill>
                <a:latin typeface="Calibri"/>
              </a:rPr>
              <a:t>VPN de evaluación</a:t>
            </a:r>
          </a:p>
        </p:txBody>
      </p:sp>
      <p:sp>
        <p:nvSpPr>
          <p:cNvPr id="15" name="TextBox 14"/>
          <p:cNvSpPr txBox="1"/>
          <p:nvPr/>
        </p:nvSpPr>
        <p:spPr>
          <a:xfrm>
            <a:off x="8138160" y="1572768"/>
            <a:ext cx="3337560" cy="548640"/>
          </a:xfrm>
          <a:prstGeom prst="rect">
            <a:avLst/>
          </a:prstGeom>
          <a:noFill/>
        </p:spPr>
        <p:txBody>
          <a:bodyPr wrap="square" anchor="ctr">
            <a:spAutoFit/>
          </a:bodyPr>
          <a:lstStyle/>
          <a:p>
            <a:pPr algn="ctr"/>
            <a:r>
              <a:rPr sz="2400" b="1" i="0">
                <a:solidFill>
                  <a:srgbClr val="1A7A8A"/>
                </a:solidFill>
                <a:latin typeface="Calibri"/>
              </a:rPr>
              <a:t>L 20,384,429</a:t>
            </a:r>
          </a:p>
        </p:txBody>
      </p:sp>
      <p:sp>
        <p:nvSpPr>
          <p:cNvPr id="16" name="TextBox 15"/>
          <p:cNvSpPr txBox="1"/>
          <p:nvPr/>
        </p:nvSpPr>
        <p:spPr>
          <a:xfrm>
            <a:off x="8138160" y="2148840"/>
            <a:ext cx="3337560" cy="1234440"/>
          </a:xfrm>
          <a:prstGeom prst="rect">
            <a:avLst/>
          </a:prstGeom>
          <a:noFill/>
        </p:spPr>
        <p:txBody>
          <a:bodyPr wrap="square" anchor="t">
            <a:spAutoFit/>
          </a:bodyPr>
          <a:lstStyle/>
          <a:p>
            <a:pPr algn="ctr"/>
            <a:r>
              <a:rPr sz="1250" b="0" i="0">
                <a:solidFill>
                  <a:srgbClr val="334155"/>
                </a:solidFill>
                <a:latin typeface="Calibri"/>
              </a:rPr>
              <a:t>VPN medio − pérdida esperada (L 3.61 M). Ajustado por riesgo.</a:t>
            </a:r>
          </a:p>
        </p:txBody>
      </p:sp>
      <p:sp>
        <p:nvSpPr>
          <p:cNvPr id="17" name="TextBox 16"/>
          <p:cNvSpPr txBox="1"/>
          <p:nvPr/>
        </p:nvSpPr>
        <p:spPr>
          <a:xfrm>
            <a:off x="320040" y="3611880"/>
            <a:ext cx="11430000" cy="310896"/>
          </a:xfrm>
          <a:prstGeom prst="rect">
            <a:avLst/>
          </a:prstGeom>
          <a:noFill/>
        </p:spPr>
        <p:txBody>
          <a:bodyPr wrap="square" anchor="ctr">
            <a:spAutoFit/>
          </a:bodyPr>
          <a:lstStyle/>
          <a:p>
            <a:pPr algn="l"/>
            <a:r>
              <a:rPr sz="1300" b="1" i="0">
                <a:solidFill>
                  <a:srgbClr val="1B3A5C"/>
                </a:solidFill>
                <a:latin typeface="Calibri"/>
              </a:rPr>
              <a:t>¿Por qué difieren? Conciliación</a:t>
            </a:r>
          </a:p>
        </p:txBody>
      </p:sp>
      <p:sp>
        <p:nvSpPr>
          <p:cNvPr id="18" name="Rectangle 17"/>
          <p:cNvSpPr/>
          <p:nvPr/>
        </p:nvSpPr>
        <p:spPr>
          <a:xfrm>
            <a:off x="320040" y="3959352"/>
            <a:ext cx="9418320" cy="310896"/>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38328" y="3959352"/>
            <a:ext cx="9381744" cy="310896"/>
          </a:xfrm>
          <a:prstGeom prst="rect">
            <a:avLst/>
          </a:prstGeom>
          <a:noFill/>
        </p:spPr>
        <p:txBody>
          <a:bodyPr wrap="square" anchor="ctr" lIns="45720" rIns="45720" tIns="9144" bIns="9144">
            <a:spAutoFit/>
          </a:bodyPr>
          <a:lstStyle/>
          <a:p>
            <a:pPr algn="l"/>
            <a:r>
              <a:rPr sz="1050" b="1" i="0">
                <a:solidFill>
                  <a:srgbClr val="FFFFFF"/>
                </a:solidFill>
                <a:latin typeface="Calibri"/>
              </a:rPr>
              <a:t>Concepto</a:t>
            </a:r>
          </a:p>
        </p:txBody>
      </p:sp>
      <p:sp>
        <p:nvSpPr>
          <p:cNvPr id="20" name="Rectangle 19"/>
          <p:cNvSpPr/>
          <p:nvPr/>
        </p:nvSpPr>
        <p:spPr>
          <a:xfrm>
            <a:off x="9738360" y="3959352"/>
            <a:ext cx="2011680" cy="310896"/>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756648" y="3959352"/>
            <a:ext cx="1975104" cy="310896"/>
          </a:xfrm>
          <a:prstGeom prst="rect">
            <a:avLst/>
          </a:prstGeom>
          <a:noFill/>
        </p:spPr>
        <p:txBody>
          <a:bodyPr wrap="square" anchor="ctr" lIns="45720" rIns="45720" tIns="9144" bIns="9144">
            <a:spAutoFit/>
          </a:bodyPr>
          <a:lstStyle/>
          <a:p>
            <a:pPr algn="ctr"/>
            <a:r>
              <a:rPr sz="1050" b="1" i="0">
                <a:solidFill>
                  <a:srgbClr val="FFFFFF"/>
                </a:solidFill>
                <a:latin typeface="Calibri"/>
              </a:rPr>
              <a:t>Valor (L)</a:t>
            </a:r>
          </a:p>
        </p:txBody>
      </p:sp>
      <p:sp>
        <p:nvSpPr>
          <p:cNvPr id="22" name="Rectangle 21"/>
          <p:cNvSpPr/>
          <p:nvPr/>
        </p:nvSpPr>
        <p:spPr>
          <a:xfrm>
            <a:off x="320040" y="4270248"/>
            <a:ext cx="941832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38328" y="4270248"/>
            <a:ext cx="9381744" cy="329184"/>
          </a:xfrm>
          <a:prstGeom prst="rect">
            <a:avLst/>
          </a:prstGeom>
          <a:noFill/>
        </p:spPr>
        <p:txBody>
          <a:bodyPr wrap="square" anchor="ctr" lIns="45720" rIns="45720" tIns="9144" bIns="9144">
            <a:spAutoFit/>
          </a:bodyPr>
          <a:lstStyle/>
          <a:p>
            <a:pPr algn="l"/>
            <a:r>
              <a:rPr sz="1050" b="0" i="0">
                <a:solidFill>
                  <a:srgbClr val="334155"/>
                </a:solidFill>
                <a:latin typeface="Calibri"/>
              </a:rPr>
              <a:t>VAN determinístico con financiamiento</a:t>
            </a:r>
          </a:p>
        </p:txBody>
      </p:sp>
      <p:sp>
        <p:nvSpPr>
          <p:cNvPr id="24" name="Rectangle 23"/>
          <p:cNvSpPr/>
          <p:nvPr/>
        </p:nvSpPr>
        <p:spPr>
          <a:xfrm>
            <a:off x="9738360" y="4270248"/>
            <a:ext cx="201168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756648" y="4270248"/>
            <a:ext cx="1975104" cy="329184"/>
          </a:xfrm>
          <a:prstGeom prst="rect">
            <a:avLst/>
          </a:prstGeom>
          <a:noFill/>
        </p:spPr>
        <p:txBody>
          <a:bodyPr wrap="square" anchor="ctr" lIns="45720" rIns="45720" tIns="9144" bIns="9144">
            <a:spAutoFit/>
          </a:bodyPr>
          <a:lstStyle/>
          <a:p>
            <a:pPr algn="r"/>
            <a:r>
              <a:rPr sz="1050" b="0" i="0">
                <a:solidFill>
                  <a:srgbClr val="334155"/>
                </a:solidFill>
                <a:latin typeface="Calibri"/>
              </a:rPr>
              <a:t>15,459,686</a:t>
            </a:r>
          </a:p>
        </p:txBody>
      </p:sp>
      <p:sp>
        <p:nvSpPr>
          <p:cNvPr id="26" name="Rectangle 25"/>
          <p:cNvSpPr/>
          <p:nvPr/>
        </p:nvSpPr>
        <p:spPr>
          <a:xfrm>
            <a:off x="320040" y="4599432"/>
            <a:ext cx="941832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338328" y="4599432"/>
            <a:ext cx="9381744" cy="329184"/>
          </a:xfrm>
          <a:prstGeom prst="rect">
            <a:avLst/>
          </a:prstGeom>
          <a:noFill/>
        </p:spPr>
        <p:txBody>
          <a:bodyPr wrap="square" anchor="ctr" lIns="45720" rIns="45720" tIns="9144" bIns="9144">
            <a:spAutoFit/>
          </a:bodyPr>
          <a:lstStyle/>
          <a:p>
            <a:pPr algn="l"/>
            <a:r>
              <a:rPr sz="1050" b="0" i="0">
                <a:solidFill>
                  <a:srgbClr val="334155"/>
                </a:solidFill>
                <a:latin typeface="Calibri"/>
              </a:rPr>
              <a:t>(+) Costos sin indexar a la inflación (lógica de @RISK)</a:t>
            </a:r>
          </a:p>
        </p:txBody>
      </p:sp>
      <p:sp>
        <p:nvSpPr>
          <p:cNvPr id="28" name="Rectangle 27"/>
          <p:cNvSpPr/>
          <p:nvPr/>
        </p:nvSpPr>
        <p:spPr>
          <a:xfrm>
            <a:off x="9738360" y="4599432"/>
            <a:ext cx="201168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756648" y="4599432"/>
            <a:ext cx="1975104" cy="329184"/>
          </a:xfrm>
          <a:prstGeom prst="rect">
            <a:avLst/>
          </a:prstGeom>
          <a:noFill/>
        </p:spPr>
        <p:txBody>
          <a:bodyPr wrap="square" anchor="ctr" lIns="45720" rIns="45720" tIns="9144" bIns="9144">
            <a:spAutoFit/>
          </a:bodyPr>
          <a:lstStyle/>
          <a:p>
            <a:pPr algn="r"/>
            <a:r>
              <a:rPr sz="1050" b="0" i="0">
                <a:solidFill>
                  <a:srgbClr val="334155"/>
                </a:solidFill>
                <a:latin typeface="Calibri"/>
              </a:rPr>
              <a:t>+8,655,398</a:t>
            </a:r>
          </a:p>
        </p:txBody>
      </p:sp>
      <p:sp>
        <p:nvSpPr>
          <p:cNvPr id="30" name="Rectangle 29"/>
          <p:cNvSpPr/>
          <p:nvPr/>
        </p:nvSpPr>
        <p:spPr>
          <a:xfrm>
            <a:off x="320040" y="4928616"/>
            <a:ext cx="941832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338328" y="4928616"/>
            <a:ext cx="9381744" cy="329184"/>
          </a:xfrm>
          <a:prstGeom prst="rect">
            <a:avLst/>
          </a:prstGeom>
          <a:noFill/>
        </p:spPr>
        <p:txBody>
          <a:bodyPr wrap="square" anchor="ctr" lIns="45720" rIns="45720" tIns="9144" bIns="9144">
            <a:spAutoFit/>
          </a:bodyPr>
          <a:lstStyle/>
          <a:p>
            <a:pPr algn="l"/>
            <a:r>
              <a:rPr sz="1050" b="1" i="0">
                <a:solidFill>
                  <a:srgbClr val="0D2341"/>
                </a:solidFill>
                <a:latin typeface="Calibri"/>
              </a:rPr>
              <a:t>(=) Mismo modelo con esa lógica y valores base</a:t>
            </a:r>
          </a:p>
        </p:txBody>
      </p:sp>
      <p:sp>
        <p:nvSpPr>
          <p:cNvPr id="32" name="Rectangle 31"/>
          <p:cNvSpPr/>
          <p:nvPr/>
        </p:nvSpPr>
        <p:spPr>
          <a:xfrm>
            <a:off x="9738360" y="4928616"/>
            <a:ext cx="201168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756648" y="4928616"/>
            <a:ext cx="1975104" cy="329184"/>
          </a:xfrm>
          <a:prstGeom prst="rect">
            <a:avLst/>
          </a:prstGeom>
          <a:noFill/>
        </p:spPr>
        <p:txBody>
          <a:bodyPr wrap="square" anchor="ctr" lIns="45720" rIns="45720" tIns="9144" bIns="9144">
            <a:spAutoFit/>
          </a:bodyPr>
          <a:lstStyle/>
          <a:p>
            <a:pPr algn="r"/>
            <a:r>
              <a:rPr sz="1050" b="1" i="0">
                <a:solidFill>
                  <a:srgbClr val="0D2341"/>
                </a:solidFill>
                <a:latin typeface="Calibri"/>
              </a:rPr>
              <a:t>24,115,084</a:t>
            </a:r>
          </a:p>
        </p:txBody>
      </p:sp>
      <p:sp>
        <p:nvSpPr>
          <p:cNvPr id="34" name="Rectangle 33"/>
          <p:cNvSpPr/>
          <p:nvPr/>
        </p:nvSpPr>
        <p:spPr>
          <a:xfrm>
            <a:off x="320040" y="5257800"/>
            <a:ext cx="941832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38328" y="5257800"/>
            <a:ext cx="9381744" cy="329184"/>
          </a:xfrm>
          <a:prstGeom prst="rect">
            <a:avLst/>
          </a:prstGeom>
          <a:noFill/>
        </p:spPr>
        <p:txBody>
          <a:bodyPr wrap="square" anchor="ctr" lIns="45720" rIns="45720" tIns="9144" bIns="9144">
            <a:spAutoFit/>
          </a:bodyPr>
          <a:lstStyle/>
          <a:p>
            <a:pPr algn="l"/>
            <a:r>
              <a:rPr sz="1050" b="0" i="0">
                <a:solidFill>
                  <a:srgbClr val="334155"/>
                </a:solidFill>
                <a:latin typeface="Calibri"/>
              </a:rPr>
              <a:t>(±) Efecto de simular las variables con distribuciones de probabilidad</a:t>
            </a:r>
          </a:p>
        </p:txBody>
      </p:sp>
      <p:sp>
        <p:nvSpPr>
          <p:cNvPr id="36" name="Rectangle 35"/>
          <p:cNvSpPr/>
          <p:nvPr/>
        </p:nvSpPr>
        <p:spPr>
          <a:xfrm>
            <a:off x="9738360" y="5257800"/>
            <a:ext cx="2011680" cy="329184"/>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756648" y="5257800"/>
            <a:ext cx="1975104" cy="329184"/>
          </a:xfrm>
          <a:prstGeom prst="rect">
            <a:avLst/>
          </a:prstGeom>
          <a:noFill/>
        </p:spPr>
        <p:txBody>
          <a:bodyPr wrap="square" anchor="ctr" lIns="45720" rIns="45720" tIns="9144" bIns="9144">
            <a:spAutoFit/>
          </a:bodyPr>
          <a:lstStyle/>
          <a:p>
            <a:pPr algn="r"/>
            <a:r>
              <a:rPr sz="1050" b="0" i="0">
                <a:solidFill>
                  <a:srgbClr val="334155"/>
                </a:solidFill>
                <a:latin typeface="Calibri"/>
              </a:rPr>
              <a:t>−116,007</a:t>
            </a:r>
          </a:p>
        </p:txBody>
      </p:sp>
      <p:sp>
        <p:nvSpPr>
          <p:cNvPr id="38" name="Rectangle 37"/>
          <p:cNvSpPr/>
          <p:nvPr/>
        </p:nvSpPr>
        <p:spPr>
          <a:xfrm>
            <a:off x="320040" y="5586984"/>
            <a:ext cx="9418320" cy="329184"/>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338328" y="5586984"/>
            <a:ext cx="9381744" cy="329184"/>
          </a:xfrm>
          <a:prstGeom prst="rect">
            <a:avLst/>
          </a:prstGeom>
          <a:noFill/>
        </p:spPr>
        <p:txBody>
          <a:bodyPr wrap="square" anchor="ctr" lIns="45720" rIns="45720" tIns="9144" bIns="9144">
            <a:spAutoFit/>
          </a:bodyPr>
          <a:lstStyle/>
          <a:p>
            <a:pPr algn="l"/>
            <a:r>
              <a:rPr sz="1050" b="1" i="0">
                <a:solidFill>
                  <a:srgbClr val="0D2341"/>
                </a:solidFill>
                <a:latin typeface="Calibri"/>
              </a:rPr>
              <a:t>(=) VPN medio @RISK</a:t>
            </a:r>
          </a:p>
        </p:txBody>
      </p:sp>
      <p:sp>
        <p:nvSpPr>
          <p:cNvPr id="40" name="Rectangle 39"/>
          <p:cNvSpPr/>
          <p:nvPr/>
        </p:nvSpPr>
        <p:spPr>
          <a:xfrm>
            <a:off x="9738360" y="5586984"/>
            <a:ext cx="2011680" cy="329184"/>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9756648" y="5586984"/>
            <a:ext cx="1975104" cy="329184"/>
          </a:xfrm>
          <a:prstGeom prst="rect">
            <a:avLst/>
          </a:prstGeom>
          <a:noFill/>
        </p:spPr>
        <p:txBody>
          <a:bodyPr wrap="square" anchor="ctr" lIns="45720" rIns="45720" tIns="9144" bIns="9144">
            <a:spAutoFit/>
          </a:bodyPr>
          <a:lstStyle/>
          <a:p>
            <a:pPr algn="r"/>
            <a:r>
              <a:rPr sz="1050" b="1" i="0">
                <a:solidFill>
                  <a:srgbClr val="0D2341"/>
                </a:solidFill>
                <a:latin typeface="Calibri"/>
              </a:rPr>
              <a:t>23,999,077</a:t>
            </a:r>
          </a:p>
        </p:txBody>
      </p:sp>
      <p:sp>
        <p:nvSpPr>
          <p:cNvPr id="42" name="TextBox 41"/>
          <p:cNvSpPr txBox="1"/>
          <p:nvPr/>
        </p:nvSpPr>
        <p:spPr>
          <a:xfrm>
            <a:off x="320040" y="5989320"/>
            <a:ext cx="11430000" cy="457200"/>
          </a:xfrm>
          <a:prstGeom prst="rect">
            <a:avLst/>
          </a:prstGeom>
          <a:noFill/>
        </p:spPr>
        <p:txBody>
          <a:bodyPr wrap="square" anchor="ctr">
            <a:spAutoFit/>
          </a:bodyPr>
          <a:lstStyle/>
          <a:p>
            <a:pPr algn="l"/>
            <a:r>
              <a:rPr sz="1200" b="1" i="0">
                <a:solidFill>
                  <a:srgbClr val="334155"/>
                </a:solidFill>
                <a:latin typeface="Calibri"/>
              </a:rPr>
              <a:t>Lectura conservadora: </a:t>
            </a:r>
            <a:r>
              <a:rPr sz="1200" b="0" i="0">
                <a:solidFill>
                  <a:srgbClr val="334155"/>
                </a:solidFill>
                <a:latin typeface="Calibri"/>
              </a:rPr>
              <a:t>pérdida esperada = 15.06 % del VPN medio y 23.38 % del VAN; margen amplio.</a:t>
            </a:r>
          </a:p>
        </p:txBody>
      </p:sp>
      <p:sp>
        <p:nvSpPr>
          <p:cNvPr id="43" name="TextBox 42"/>
          <p:cNvSpPr txBox="1"/>
          <p:nvPr/>
        </p:nvSpPr>
        <p:spPr>
          <a:xfrm>
            <a:off x="320040" y="6583680"/>
            <a:ext cx="11521440" cy="201168"/>
          </a:xfrm>
          <a:prstGeom prst="rect">
            <a:avLst/>
          </a:prstGeom>
          <a:noFill/>
        </p:spPr>
        <p:txBody>
          <a:bodyPr wrap="square" anchor="ctr">
            <a:spAutoFit/>
          </a:bodyPr>
          <a:lstStyle/>
          <a:p>
            <a:pPr algn="ctr"/>
            <a:r>
              <a:rPr sz="800" b="0" i="0">
                <a:solidFill>
                  <a:srgbClr val="64748B"/>
                </a:solidFill>
                <a:latin typeface="Calibri"/>
              </a:rPr>
              <a:t>Maestría en Agronegocios · Universidad EAFIT · Zamorano · 2026   |   Caballero · Valladares · Medal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3657600" cy="256032"/>
          </a:xfrm>
          <a:prstGeom prst="rect">
            <a:avLst/>
          </a:prstGeom>
          <a:noFill/>
        </p:spPr>
        <p:txBody>
          <a:bodyPr wrap="square" anchor="ctr">
            <a:spAutoFit/>
          </a:bodyPr>
          <a:lstStyle/>
          <a:p>
            <a:pPr algn="l"/>
            <a:r>
              <a:rPr sz="900" b="1" i="0">
                <a:solidFill>
                  <a:srgbClr val="1A7A8A"/>
                </a:solidFill>
                <a:latin typeface="Calibri"/>
              </a:rPr>
              <a:t>LIMITACIONES</a:t>
            </a:r>
          </a:p>
        </p:txBody>
      </p:sp>
      <p:sp>
        <p:nvSpPr>
          <p:cNvPr id="3" name="TextBox 2"/>
          <p:cNvSpPr txBox="1"/>
          <p:nvPr/>
        </p:nvSpPr>
        <p:spPr>
          <a:xfrm>
            <a:off x="320040" y="475488"/>
            <a:ext cx="11521440" cy="502920"/>
          </a:xfrm>
          <a:prstGeom prst="rect">
            <a:avLst/>
          </a:prstGeom>
          <a:noFill/>
        </p:spPr>
        <p:txBody>
          <a:bodyPr wrap="square" anchor="ctr">
            <a:spAutoFit/>
          </a:bodyPr>
          <a:lstStyle/>
          <a:p>
            <a:pPr algn="l"/>
            <a:r>
              <a:rPr sz="2600" b="1" i="0">
                <a:solidFill>
                  <a:srgbClr val="0D2341"/>
                </a:solidFill>
                <a:latin typeface="Calibri"/>
              </a:rPr>
              <a:t>Limitaciones del Estudio</a:t>
            </a:r>
          </a:p>
        </p:txBody>
      </p:sp>
      <p:sp>
        <p:nvSpPr>
          <p:cNvPr id="4" name="Rectangle 3"/>
          <p:cNvSpPr/>
          <p:nvPr/>
        </p:nvSpPr>
        <p:spPr>
          <a:xfrm>
            <a:off x="320040" y="1005840"/>
            <a:ext cx="11430000" cy="18288"/>
          </a:xfrm>
          <a:prstGeom prst="rect">
            <a:avLst/>
          </a:prstGeom>
          <a:solidFill>
            <a:srgbClr val="1A7A8A"/>
          </a:solidFill>
          <a:ln w="12700">
            <a:solidFill>
              <a:srgbClr val="1A7A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320040" y="1188720"/>
            <a:ext cx="5669280" cy="1600200"/>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429768" y="1298448"/>
            <a:ext cx="411480" cy="411480"/>
          </a:xfrm>
          <a:prstGeom prst="ellipse">
            <a:avLst/>
          </a:prstGeom>
          <a:solidFill>
            <a:srgbClr val="1B3A5C"/>
          </a:solidFill>
          <a:ln w="12700">
            <a:solidFill>
              <a:srgbClr val="1B3A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29768" y="1298448"/>
            <a:ext cx="411480" cy="411480"/>
          </a:xfrm>
          <a:prstGeom prst="rect">
            <a:avLst/>
          </a:prstGeom>
          <a:noFill/>
        </p:spPr>
        <p:txBody>
          <a:bodyPr wrap="square" anchor="ctr">
            <a:spAutoFit/>
          </a:bodyPr>
          <a:lstStyle/>
          <a:p>
            <a:pPr algn="ctr"/>
            <a:r>
              <a:rPr sz="1200" b="1" i="0">
                <a:solidFill>
                  <a:srgbClr val="FFFFFF"/>
                </a:solidFill>
                <a:latin typeface="Calibri"/>
              </a:rPr>
              <a:t>1</a:t>
            </a:r>
          </a:p>
        </p:txBody>
      </p:sp>
      <p:sp>
        <p:nvSpPr>
          <p:cNvPr id="8" name="TextBox 7"/>
          <p:cNvSpPr txBox="1"/>
          <p:nvPr/>
        </p:nvSpPr>
        <p:spPr>
          <a:xfrm>
            <a:off x="941832" y="1298448"/>
            <a:ext cx="4937760" cy="411480"/>
          </a:xfrm>
          <a:prstGeom prst="rect">
            <a:avLst/>
          </a:prstGeom>
          <a:noFill/>
        </p:spPr>
        <p:txBody>
          <a:bodyPr wrap="square" anchor="ctr">
            <a:spAutoFit/>
          </a:bodyPr>
          <a:lstStyle/>
          <a:p>
            <a:pPr algn="l"/>
            <a:r>
              <a:rPr sz="1250" b="1" i="0">
                <a:solidFill>
                  <a:srgbClr val="1B3A5C"/>
                </a:solidFill>
                <a:latin typeface="Calibri"/>
              </a:rPr>
              <a:t>Muestra no probabilística</a:t>
            </a:r>
          </a:p>
        </p:txBody>
      </p:sp>
      <p:sp>
        <p:nvSpPr>
          <p:cNvPr id="9" name="TextBox 8"/>
          <p:cNvSpPr txBox="1"/>
          <p:nvPr/>
        </p:nvSpPr>
        <p:spPr>
          <a:xfrm>
            <a:off x="429768" y="1737360"/>
            <a:ext cx="5449824" cy="996695"/>
          </a:xfrm>
          <a:prstGeom prst="rect">
            <a:avLst/>
          </a:prstGeom>
          <a:noFill/>
        </p:spPr>
        <p:txBody>
          <a:bodyPr wrap="square" anchor="t">
            <a:spAutoFit/>
          </a:bodyPr>
          <a:lstStyle/>
          <a:p>
            <a:pPr algn="l"/>
            <a:r>
              <a:rPr sz="1400" b="0" i="0">
                <a:solidFill>
                  <a:srgbClr val="334155"/>
                </a:solidFill>
                <a:latin typeface="Calibri"/>
              </a:rPr>
              <a:t>63 encuestas de 500 (± 11.55 %); para ± 5 % se requerían 218.</a:t>
            </a:r>
          </a:p>
        </p:txBody>
      </p:sp>
      <p:sp>
        <p:nvSpPr>
          <p:cNvPr id="10" name="Rectangle 9"/>
          <p:cNvSpPr/>
          <p:nvPr/>
        </p:nvSpPr>
        <p:spPr>
          <a:xfrm>
            <a:off x="6080759" y="1188720"/>
            <a:ext cx="5669280" cy="1600200"/>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190488" y="1298448"/>
            <a:ext cx="411480" cy="411480"/>
          </a:xfrm>
          <a:prstGeom prst="ellipse">
            <a:avLst/>
          </a:prstGeom>
          <a:solidFill>
            <a:srgbClr val="1B3A5C"/>
          </a:solidFill>
          <a:ln w="12700">
            <a:solidFill>
              <a:srgbClr val="1B3A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190488" y="1298448"/>
            <a:ext cx="411480" cy="411480"/>
          </a:xfrm>
          <a:prstGeom prst="rect">
            <a:avLst/>
          </a:prstGeom>
          <a:noFill/>
        </p:spPr>
        <p:txBody>
          <a:bodyPr wrap="square" anchor="ctr">
            <a:spAutoFit/>
          </a:bodyPr>
          <a:lstStyle/>
          <a:p>
            <a:pPr algn="ctr"/>
            <a:r>
              <a:rPr sz="1200" b="1" i="0">
                <a:solidFill>
                  <a:srgbClr val="FFFFFF"/>
                </a:solidFill>
                <a:latin typeface="Calibri"/>
              </a:rPr>
              <a:t>2</a:t>
            </a:r>
          </a:p>
        </p:txBody>
      </p:sp>
      <p:sp>
        <p:nvSpPr>
          <p:cNvPr id="13" name="TextBox 12"/>
          <p:cNvSpPr txBox="1"/>
          <p:nvPr/>
        </p:nvSpPr>
        <p:spPr>
          <a:xfrm>
            <a:off x="6702551" y="1298448"/>
            <a:ext cx="4937760" cy="411480"/>
          </a:xfrm>
          <a:prstGeom prst="rect">
            <a:avLst/>
          </a:prstGeom>
          <a:noFill/>
        </p:spPr>
        <p:txBody>
          <a:bodyPr wrap="square" anchor="ctr">
            <a:spAutoFit/>
          </a:bodyPr>
          <a:lstStyle/>
          <a:p>
            <a:pPr algn="l"/>
            <a:r>
              <a:rPr sz="1250" b="1" i="0">
                <a:solidFill>
                  <a:srgbClr val="1B3A5C"/>
                </a:solidFill>
                <a:latin typeface="Calibri"/>
              </a:rPr>
              <a:t>Información de prefactibilidad</a:t>
            </a:r>
          </a:p>
        </p:txBody>
      </p:sp>
      <p:sp>
        <p:nvSpPr>
          <p:cNvPr id="14" name="TextBox 13"/>
          <p:cNvSpPr txBox="1"/>
          <p:nvPr/>
        </p:nvSpPr>
        <p:spPr>
          <a:xfrm>
            <a:off x="6190488" y="1737360"/>
            <a:ext cx="5449824" cy="996695"/>
          </a:xfrm>
          <a:prstGeom prst="rect">
            <a:avLst/>
          </a:prstGeom>
          <a:noFill/>
        </p:spPr>
        <p:txBody>
          <a:bodyPr wrap="square" anchor="t">
            <a:spAutoFit/>
          </a:bodyPr>
          <a:lstStyle/>
          <a:p>
            <a:pPr algn="l"/>
            <a:r>
              <a:rPr sz="1400" b="0" i="0">
                <a:solidFill>
                  <a:srgbClr val="334155"/>
                </a:solidFill>
                <a:latin typeface="Calibri"/>
              </a:rPr>
              <a:t>Fuentes secundarias y cotizaciones referenciales.</a:t>
            </a:r>
          </a:p>
        </p:txBody>
      </p:sp>
      <p:sp>
        <p:nvSpPr>
          <p:cNvPr id="15" name="Rectangle 14"/>
          <p:cNvSpPr/>
          <p:nvPr/>
        </p:nvSpPr>
        <p:spPr>
          <a:xfrm>
            <a:off x="320040" y="2926080"/>
            <a:ext cx="5669280" cy="1600200"/>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29768" y="3035808"/>
            <a:ext cx="411480" cy="411480"/>
          </a:xfrm>
          <a:prstGeom prst="ellipse">
            <a:avLst/>
          </a:prstGeom>
          <a:solidFill>
            <a:srgbClr val="1B3A5C"/>
          </a:solidFill>
          <a:ln w="12700">
            <a:solidFill>
              <a:srgbClr val="1B3A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29768" y="3035808"/>
            <a:ext cx="411480" cy="411480"/>
          </a:xfrm>
          <a:prstGeom prst="rect">
            <a:avLst/>
          </a:prstGeom>
          <a:noFill/>
        </p:spPr>
        <p:txBody>
          <a:bodyPr wrap="square" anchor="ctr">
            <a:spAutoFit/>
          </a:bodyPr>
          <a:lstStyle/>
          <a:p>
            <a:pPr algn="ctr"/>
            <a:r>
              <a:rPr sz="1200" b="1" i="0">
                <a:solidFill>
                  <a:srgbClr val="FFFFFF"/>
                </a:solidFill>
                <a:latin typeface="Calibri"/>
              </a:rPr>
              <a:t>3</a:t>
            </a:r>
          </a:p>
        </p:txBody>
      </p:sp>
      <p:sp>
        <p:nvSpPr>
          <p:cNvPr id="18" name="TextBox 17"/>
          <p:cNvSpPr txBox="1"/>
          <p:nvPr/>
        </p:nvSpPr>
        <p:spPr>
          <a:xfrm>
            <a:off x="941832" y="3035808"/>
            <a:ext cx="4937760" cy="411480"/>
          </a:xfrm>
          <a:prstGeom prst="rect">
            <a:avLst/>
          </a:prstGeom>
          <a:noFill/>
        </p:spPr>
        <p:txBody>
          <a:bodyPr wrap="square" anchor="ctr">
            <a:spAutoFit/>
          </a:bodyPr>
          <a:lstStyle/>
          <a:p>
            <a:pPr algn="l"/>
            <a:r>
              <a:rPr sz="1250" b="1" i="0">
                <a:solidFill>
                  <a:srgbClr val="1B3A5C"/>
                </a:solidFill>
                <a:latin typeface="Calibri"/>
              </a:rPr>
              <a:t>Evaluación económica y social</a:t>
            </a:r>
          </a:p>
        </p:txBody>
      </p:sp>
      <p:sp>
        <p:nvSpPr>
          <p:cNvPr id="19" name="TextBox 18"/>
          <p:cNvSpPr txBox="1"/>
          <p:nvPr/>
        </p:nvSpPr>
        <p:spPr>
          <a:xfrm>
            <a:off x="429768" y="3474720"/>
            <a:ext cx="5449824" cy="996695"/>
          </a:xfrm>
          <a:prstGeom prst="rect">
            <a:avLst/>
          </a:prstGeom>
          <a:noFill/>
        </p:spPr>
        <p:txBody>
          <a:bodyPr wrap="square" anchor="t">
            <a:spAutoFit/>
          </a:bodyPr>
          <a:lstStyle/>
          <a:p>
            <a:pPr algn="l"/>
            <a:r>
              <a:rPr sz="1400" b="0" i="0">
                <a:solidFill>
                  <a:srgbClr val="334155"/>
                </a:solidFill>
                <a:latin typeface="Calibri"/>
              </a:rPr>
              <a:t>Sin cuantificar empleos indirectos, valor agregado ni divisas.</a:t>
            </a:r>
          </a:p>
        </p:txBody>
      </p:sp>
      <p:sp>
        <p:nvSpPr>
          <p:cNvPr id="20" name="Rectangle 19"/>
          <p:cNvSpPr/>
          <p:nvPr/>
        </p:nvSpPr>
        <p:spPr>
          <a:xfrm>
            <a:off x="6080759" y="2926080"/>
            <a:ext cx="5669280" cy="1600200"/>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190488" y="3035808"/>
            <a:ext cx="411480" cy="411480"/>
          </a:xfrm>
          <a:prstGeom prst="ellipse">
            <a:avLst/>
          </a:prstGeom>
          <a:solidFill>
            <a:srgbClr val="B5862A"/>
          </a:solidFill>
          <a:ln w="12700">
            <a:solidFill>
              <a:srgbClr val="B58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190488" y="3035808"/>
            <a:ext cx="411480" cy="411480"/>
          </a:xfrm>
          <a:prstGeom prst="rect">
            <a:avLst/>
          </a:prstGeom>
          <a:noFill/>
        </p:spPr>
        <p:txBody>
          <a:bodyPr wrap="square" anchor="ctr">
            <a:spAutoFit/>
          </a:bodyPr>
          <a:lstStyle/>
          <a:p>
            <a:pPr algn="ctr"/>
            <a:r>
              <a:rPr sz="1200" b="1" i="0">
                <a:solidFill>
                  <a:srgbClr val="FFFFFF"/>
                </a:solidFill>
                <a:latin typeface="Calibri"/>
              </a:rPr>
              <a:t>4</a:t>
            </a:r>
          </a:p>
        </p:txBody>
      </p:sp>
      <p:sp>
        <p:nvSpPr>
          <p:cNvPr id="23" name="TextBox 22"/>
          <p:cNvSpPr txBox="1"/>
          <p:nvPr/>
        </p:nvSpPr>
        <p:spPr>
          <a:xfrm>
            <a:off x="6702551" y="3035808"/>
            <a:ext cx="4937760" cy="411480"/>
          </a:xfrm>
          <a:prstGeom prst="rect">
            <a:avLst/>
          </a:prstGeom>
          <a:noFill/>
        </p:spPr>
        <p:txBody>
          <a:bodyPr wrap="square" anchor="ctr">
            <a:spAutoFit/>
          </a:bodyPr>
          <a:lstStyle/>
          <a:p>
            <a:pPr algn="l"/>
            <a:r>
              <a:rPr sz="1250" b="1" i="0">
                <a:solidFill>
                  <a:srgbClr val="B5862A"/>
                </a:solidFill>
                <a:latin typeface="Calibri"/>
              </a:rPr>
              <a:t>Modelo de riesgos</a:t>
            </a:r>
          </a:p>
        </p:txBody>
      </p:sp>
      <p:sp>
        <p:nvSpPr>
          <p:cNvPr id="24" name="TextBox 23"/>
          <p:cNvSpPr txBox="1"/>
          <p:nvPr/>
        </p:nvSpPr>
        <p:spPr>
          <a:xfrm>
            <a:off x="6190488" y="3474720"/>
            <a:ext cx="5449824" cy="996695"/>
          </a:xfrm>
          <a:prstGeom prst="rect">
            <a:avLst/>
          </a:prstGeom>
          <a:noFill/>
        </p:spPr>
        <p:txBody>
          <a:bodyPr wrap="square" anchor="t">
            <a:spAutoFit/>
          </a:bodyPr>
          <a:lstStyle/>
          <a:p>
            <a:pPr algn="l"/>
            <a:r>
              <a:rPr sz="1400" b="0" i="0">
                <a:solidFill>
                  <a:srgbClr val="334155"/>
                </a:solidFill>
                <a:latin typeface="Calibri"/>
              </a:rPr>
              <a:t>Parámetros por juicio experto; eventos independientes.</a:t>
            </a:r>
          </a:p>
        </p:txBody>
      </p:sp>
      <p:sp>
        <p:nvSpPr>
          <p:cNvPr id="25" name="Rectangle 24"/>
          <p:cNvSpPr/>
          <p:nvPr/>
        </p:nvSpPr>
        <p:spPr>
          <a:xfrm>
            <a:off x="320040" y="4663440"/>
            <a:ext cx="11430000" cy="1600200"/>
          </a:xfrm>
          <a:prstGeom prst="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429768" y="4773168"/>
            <a:ext cx="411480" cy="411480"/>
          </a:xfrm>
          <a:prstGeom prst="ellipse">
            <a:avLst/>
          </a:prstGeom>
          <a:solidFill>
            <a:srgbClr val="B5862A"/>
          </a:solidFill>
          <a:ln w="12700">
            <a:solidFill>
              <a:srgbClr val="B58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29768" y="4773168"/>
            <a:ext cx="411480" cy="411480"/>
          </a:xfrm>
          <a:prstGeom prst="rect">
            <a:avLst/>
          </a:prstGeom>
          <a:noFill/>
        </p:spPr>
        <p:txBody>
          <a:bodyPr wrap="square" anchor="ctr">
            <a:spAutoFit/>
          </a:bodyPr>
          <a:lstStyle/>
          <a:p>
            <a:pPr algn="ctr"/>
            <a:r>
              <a:rPr sz="1200" b="1" i="0">
                <a:solidFill>
                  <a:srgbClr val="FFFFFF"/>
                </a:solidFill>
                <a:latin typeface="Calibri"/>
              </a:rPr>
              <a:t>5</a:t>
            </a:r>
          </a:p>
        </p:txBody>
      </p:sp>
      <p:sp>
        <p:nvSpPr>
          <p:cNvPr id="28" name="TextBox 27"/>
          <p:cNvSpPr txBox="1"/>
          <p:nvPr/>
        </p:nvSpPr>
        <p:spPr>
          <a:xfrm>
            <a:off x="941832" y="4773168"/>
            <a:ext cx="10698480" cy="411480"/>
          </a:xfrm>
          <a:prstGeom prst="rect">
            <a:avLst/>
          </a:prstGeom>
          <a:noFill/>
        </p:spPr>
        <p:txBody>
          <a:bodyPr wrap="square" anchor="ctr">
            <a:spAutoFit/>
          </a:bodyPr>
          <a:lstStyle/>
          <a:p>
            <a:pPr algn="l"/>
            <a:r>
              <a:rPr sz="1250" b="1" i="0">
                <a:solidFill>
                  <a:srgbClr val="B5862A"/>
                </a:solidFill>
                <a:latin typeface="Calibri"/>
              </a:rPr>
              <a:t>Financiamiento de arranque</a:t>
            </a:r>
          </a:p>
        </p:txBody>
      </p:sp>
      <p:sp>
        <p:nvSpPr>
          <p:cNvPr id="29" name="TextBox 28"/>
          <p:cNvSpPr txBox="1"/>
          <p:nvPr/>
        </p:nvSpPr>
        <p:spPr>
          <a:xfrm>
            <a:off x="429768" y="5212079"/>
            <a:ext cx="11210544" cy="996695"/>
          </a:xfrm>
          <a:prstGeom prst="rect">
            <a:avLst/>
          </a:prstGeom>
          <a:noFill/>
        </p:spPr>
        <p:txBody>
          <a:bodyPr wrap="square" anchor="t">
            <a:spAutoFit/>
          </a:bodyPr>
          <a:lstStyle/>
          <a:p>
            <a:pPr algn="l"/>
            <a:r>
              <a:rPr sz="1400" b="0" i="0">
                <a:solidFill>
                  <a:srgbClr val="334155"/>
                </a:solidFill>
                <a:latin typeface="Calibri"/>
              </a:rPr>
              <a:t>Déficit de los años 1 y 2 (L 1.22 M) cubierto por los socios.</a:t>
            </a:r>
          </a:p>
        </p:txBody>
      </p:sp>
      <p:sp>
        <p:nvSpPr>
          <p:cNvPr id="30" name="TextBox 29"/>
          <p:cNvSpPr txBox="1"/>
          <p:nvPr/>
        </p:nvSpPr>
        <p:spPr>
          <a:xfrm>
            <a:off x="320040" y="6583680"/>
            <a:ext cx="11521440" cy="201168"/>
          </a:xfrm>
          <a:prstGeom prst="rect">
            <a:avLst/>
          </a:prstGeom>
          <a:noFill/>
        </p:spPr>
        <p:txBody>
          <a:bodyPr wrap="square" anchor="ctr">
            <a:spAutoFit/>
          </a:bodyPr>
          <a:lstStyle/>
          <a:p>
            <a:pPr algn="ctr"/>
            <a:r>
              <a:rPr sz="800" b="0" i="0">
                <a:solidFill>
                  <a:srgbClr val="64748B"/>
                </a:solidFill>
                <a:latin typeface="Calibri"/>
              </a:rPr>
              <a:t>Maestría en Agronegocios · Universidad EAFIT · Zamorano · 2026   |   Caballero · Valladares · Medal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3657600" cy="256032"/>
          </a:xfrm>
          <a:prstGeom prst="rect">
            <a:avLst/>
          </a:prstGeom>
          <a:noFill/>
        </p:spPr>
        <p:txBody>
          <a:bodyPr wrap="square" anchor="ctr">
            <a:spAutoFit/>
          </a:bodyPr>
          <a:lstStyle/>
          <a:p>
            <a:pPr algn="l"/>
            <a:r>
              <a:rPr sz="900" b="1" i="0">
                <a:solidFill>
                  <a:srgbClr val="1A7A8A"/>
                </a:solidFill>
                <a:latin typeface="Calibri"/>
              </a:rPr>
              <a:t>REFERENCIAS</a:t>
            </a:r>
          </a:p>
        </p:txBody>
      </p:sp>
      <p:sp>
        <p:nvSpPr>
          <p:cNvPr id="3" name="TextBox 2"/>
          <p:cNvSpPr txBox="1"/>
          <p:nvPr/>
        </p:nvSpPr>
        <p:spPr>
          <a:xfrm>
            <a:off x="320040" y="475488"/>
            <a:ext cx="11521440" cy="502920"/>
          </a:xfrm>
          <a:prstGeom prst="rect">
            <a:avLst/>
          </a:prstGeom>
          <a:noFill/>
        </p:spPr>
        <p:txBody>
          <a:bodyPr wrap="square" anchor="ctr">
            <a:spAutoFit/>
          </a:bodyPr>
          <a:lstStyle/>
          <a:p>
            <a:pPr algn="l"/>
            <a:r>
              <a:rPr sz="2600" b="1" i="0">
                <a:solidFill>
                  <a:srgbClr val="0D2341"/>
                </a:solidFill>
                <a:latin typeface="Calibri"/>
              </a:rPr>
              <a:t>Bibliografía</a:t>
            </a:r>
          </a:p>
        </p:txBody>
      </p:sp>
      <p:sp>
        <p:nvSpPr>
          <p:cNvPr id="4" name="Rectangle 3"/>
          <p:cNvSpPr/>
          <p:nvPr/>
        </p:nvSpPr>
        <p:spPr>
          <a:xfrm>
            <a:off x="320040" y="1005840"/>
            <a:ext cx="11430000" cy="18288"/>
          </a:xfrm>
          <a:prstGeom prst="rect">
            <a:avLst/>
          </a:prstGeom>
          <a:solidFill>
            <a:srgbClr val="1A7A8A"/>
          </a:solidFill>
          <a:ln w="12700">
            <a:solidFill>
              <a:srgbClr val="1A7A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320040" y="1143000"/>
            <a:ext cx="5669280" cy="5303520"/>
          </a:xfrm>
          <a:prstGeom prst="rect">
            <a:avLst/>
          </a:prstGeom>
          <a:noFill/>
        </p:spPr>
        <p:txBody>
          <a:bodyPr wrap="square" anchor="t">
            <a:spAutoFit/>
          </a:bodyPr>
          <a:lstStyle/>
          <a:p>
            <a:pPr algn="l">
              <a:spcAft>
                <a:spcPts val="700"/>
              </a:spcAft>
            </a:pPr>
            <a:r>
              <a:rPr sz="1050" b="0" i="0">
                <a:solidFill>
                  <a:srgbClr val="334155"/>
                </a:solidFill>
                <a:latin typeface="Calibri"/>
              </a:rPr>
              <a:t>Agencia de Regulación Sanitaria. (2024). Reglamento para el control sanitario de alimentos y bebidas (Acuerdo 0632-ARSA-2023). ARSA.</a:t>
            </a:r>
          </a:p>
          <a:p>
            <a:pPr algn="l">
              <a:spcAft>
                <a:spcPts val="700"/>
              </a:spcAft>
            </a:pPr>
            <a:r>
              <a:rPr sz="1050" b="0" i="0">
                <a:solidFill>
                  <a:srgbClr val="334155"/>
                </a:solidFill>
                <a:latin typeface="Calibri"/>
              </a:rPr>
              <a:t>Ardón Alvarenga, N. L. (2009). Estudio de prefactibilidad para establecer una planta procesadora de leche en Jocón, Yoro, Honduras.</a:t>
            </a:r>
          </a:p>
          <a:p>
            <a:pPr algn="l">
              <a:spcAft>
                <a:spcPts val="700"/>
              </a:spcAft>
            </a:pPr>
            <a:r>
              <a:rPr sz="1050" b="0" i="0">
                <a:solidFill>
                  <a:srgbClr val="334155"/>
                </a:solidFill>
                <a:latin typeface="Calibri"/>
              </a:rPr>
              <a:t>Banco Central de Honduras. (2024). Encuesta Nacional de Ingresos y Gastos de los Hogares (ENIGH) 2023-2024. BCH.</a:t>
            </a:r>
          </a:p>
          <a:p>
            <a:pPr algn="l">
              <a:spcAft>
                <a:spcPts val="700"/>
              </a:spcAft>
            </a:pPr>
            <a:r>
              <a:rPr sz="1050" b="0" i="0">
                <a:solidFill>
                  <a:srgbClr val="334155"/>
                </a:solidFill>
                <a:latin typeface="Calibri"/>
              </a:rPr>
              <a:t>Banco Central de Honduras. (2026). Índice de precios al consumidor, diciembre 2025. BCH.</a:t>
            </a:r>
          </a:p>
          <a:p>
            <a:pPr algn="l">
              <a:spcAft>
                <a:spcPts val="700"/>
              </a:spcAft>
            </a:pPr>
            <a:r>
              <a:rPr sz="1050" b="0" i="0">
                <a:solidFill>
                  <a:srgbClr val="334155"/>
                </a:solidFill>
                <a:latin typeface="Calibri"/>
              </a:rPr>
              <a:t>Banco Mundial. (2026). Honduras: panorama general. https://www.bancomundial.org/ext/es/country/honduras</a:t>
            </a:r>
          </a:p>
          <a:p>
            <a:pPr algn="l">
              <a:spcAft>
                <a:spcPts val="700"/>
              </a:spcAft>
            </a:pPr>
            <a:r>
              <a:rPr sz="1050" b="0" i="0">
                <a:solidFill>
                  <a:srgbClr val="334155"/>
                </a:solidFill>
                <a:latin typeface="Calibri"/>
              </a:rPr>
              <a:t>CNP+L Honduras. (2017). Sector lácteos. Centro Nacional de Producción más Limpia de Honduras.</a:t>
            </a:r>
          </a:p>
          <a:p>
            <a:pPr algn="l">
              <a:spcAft>
                <a:spcPts val="700"/>
              </a:spcAft>
            </a:pPr>
            <a:r>
              <a:rPr sz="1050" b="0" i="0">
                <a:solidFill>
                  <a:srgbClr val="334155"/>
                </a:solidFill>
                <a:latin typeface="Calibri"/>
              </a:rPr>
              <a:t>El Heraldo. (2024). Honduras está perdiendo entre 30 % a 40 % en la producción de la leche este 2024.</a:t>
            </a:r>
          </a:p>
          <a:p>
            <a:pPr algn="l">
              <a:spcAft>
                <a:spcPts val="700"/>
              </a:spcAft>
            </a:pPr>
            <a:r>
              <a:rPr sz="1050" b="0" i="0">
                <a:solidFill>
                  <a:srgbClr val="334155"/>
                </a:solidFill>
                <a:latin typeface="Calibri"/>
              </a:rPr>
              <a:t>Franco, M. A., Montoya, L. M. y Gómez, E. (2012). Aplicación de la metodología ONUDI para proyectos de crecimiento orgánico en Grupo EMI.</a:t>
            </a:r>
          </a:p>
          <a:p>
            <a:pPr algn="l">
              <a:spcAft>
                <a:spcPts val="700"/>
              </a:spcAft>
            </a:pPr>
            <a:r>
              <a:rPr sz="1050" b="0" i="0">
                <a:solidFill>
                  <a:srgbClr val="334155"/>
                </a:solidFill>
                <a:latin typeface="Calibri"/>
              </a:rPr>
              <a:t>Holmann, F. (2001). Milk market of small scale artisan cheese factories in selected livestock watersheds of Honduras and Nicaragua.</a:t>
            </a:r>
          </a:p>
          <a:p>
            <a:pPr algn="l">
              <a:spcAft>
                <a:spcPts val="700"/>
              </a:spcAft>
            </a:pPr>
            <a:r>
              <a:rPr sz="1050" b="0" i="0">
                <a:solidFill>
                  <a:srgbClr val="334155"/>
                </a:solidFill>
                <a:latin typeface="Calibri"/>
              </a:rPr>
              <a:t>La Tribuna. (2026, 6 de enero). Ingreso de remesas en 2025 ascendió a $12,211 millones [datos del Banco Central de Honduras].</a:t>
            </a:r>
          </a:p>
        </p:txBody>
      </p:sp>
      <p:sp>
        <p:nvSpPr>
          <p:cNvPr id="6" name="TextBox 5"/>
          <p:cNvSpPr txBox="1"/>
          <p:nvPr/>
        </p:nvSpPr>
        <p:spPr>
          <a:xfrm>
            <a:off x="6126480" y="1143000"/>
            <a:ext cx="5623560" cy="5303520"/>
          </a:xfrm>
          <a:prstGeom prst="rect">
            <a:avLst/>
          </a:prstGeom>
          <a:noFill/>
        </p:spPr>
        <p:txBody>
          <a:bodyPr wrap="square" anchor="t">
            <a:spAutoFit/>
          </a:bodyPr>
          <a:lstStyle/>
          <a:p>
            <a:pPr algn="l">
              <a:spcAft>
                <a:spcPts val="700"/>
              </a:spcAft>
            </a:pPr>
            <a:r>
              <a:rPr sz="1050" b="0" i="0">
                <a:solidFill>
                  <a:srgbClr val="334155"/>
                </a:solidFill>
                <a:latin typeface="Calibri"/>
              </a:rPr>
              <a:t>Instituto Nacional de Estadística. (2025a). Estadísticas de género en Honduras, julio 2025. INE.</a:t>
            </a:r>
          </a:p>
          <a:p>
            <a:pPr algn="l">
              <a:spcAft>
                <a:spcPts val="700"/>
              </a:spcAft>
            </a:pPr>
            <a:r>
              <a:rPr sz="1050" b="0" i="0">
                <a:solidFill>
                  <a:srgbClr val="334155"/>
                </a:solidFill>
                <a:latin typeface="Calibri"/>
              </a:rPr>
              <a:t>Instituto Nacional de Estadística. (2025b). Encuesta Permanente de Hogares de Propósitos Múltiples, EPHPM 2025. INE.</a:t>
            </a:r>
          </a:p>
          <a:p>
            <a:pPr algn="l">
              <a:spcAft>
                <a:spcPts val="700"/>
              </a:spcAft>
            </a:pPr>
            <a:r>
              <a:rPr sz="1050" b="0" i="0">
                <a:solidFill>
                  <a:srgbClr val="334155"/>
                </a:solidFill>
                <a:latin typeface="Calibri"/>
              </a:rPr>
              <a:t>Instituto Nacional de Estadística. (2025c). Informalidad laboral 2024. INE.</a:t>
            </a:r>
          </a:p>
          <a:p>
            <a:pPr algn="l">
              <a:spcAft>
                <a:spcPts val="700"/>
              </a:spcAft>
            </a:pPr>
            <a:r>
              <a:rPr sz="1050" b="0" i="0">
                <a:solidFill>
                  <a:srgbClr val="334155"/>
                </a:solidFill>
                <a:latin typeface="Calibri"/>
              </a:rPr>
              <a:t>Navarro Monterroza, C. A. y Pérez Extremor, J. L. (2014). Guía de implementación de sistema integrado de gestión ISO 9001:2008 – ISO 22000:2005.</a:t>
            </a:r>
          </a:p>
          <a:p>
            <a:pPr algn="l">
              <a:spcAft>
                <a:spcPts val="700"/>
              </a:spcAft>
            </a:pPr>
            <a:r>
              <a:rPr sz="1050" b="0" i="0">
                <a:solidFill>
                  <a:srgbClr val="334155"/>
                </a:solidFill>
                <a:latin typeface="Calibri"/>
              </a:rPr>
              <a:t>OHN 18. (2018). Leche cruda de vaca. Requisitos. Organismo Hondureño de Normalización.</a:t>
            </a:r>
          </a:p>
          <a:p>
            <a:pPr algn="l">
              <a:spcAft>
                <a:spcPts val="700"/>
              </a:spcAft>
            </a:pPr>
            <a:r>
              <a:rPr sz="1050" b="0" i="0">
                <a:solidFill>
                  <a:srgbClr val="334155"/>
                </a:solidFill>
                <a:latin typeface="Calibri"/>
              </a:rPr>
              <a:t>ONUDI. (2019). Guía de transferencia metodológica. Organización de las Naciones Unidas para el Desarrollo Industrial.</a:t>
            </a:r>
          </a:p>
          <a:p>
            <a:pPr algn="l">
              <a:spcAft>
                <a:spcPts val="700"/>
              </a:spcAft>
            </a:pPr>
            <a:r>
              <a:rPr sz="1050" b="0" i="0">
                <a:solidFill>
                  <a:srgbClr val="334155"/>
                </a:solidFill>
                <a:latin typeface="Calibri"/>
              </a:rPr>
              <a:t>Sapag Chain, N. (2008). Preparación y evaluación de proyectos (5.ª ed.). McGraw-Hill.</a:t>
            </a:r>
          </a:p>
          <a:p>
            <a:pPr algn="l">
              <a:spcAft>
                <a:spcPts val="700"/>
              </a:spcAft>
            </a:pPr>
            <a:r>
              <a:rPr sz="1050" b="0" i="0">
                <a:solidFill>
                  <a:srgbClr val="334155"/>
                </a:solidFill>
                <a:latin typeface="Calibri"/>
              </a:rPr>
              <a:t>Secretaría de Agricultura y Ganadería. (2026, 18 de julio). Gobierno, productores e industria revisan los desafíos del sector lácteo. SAG.</a:t>
            </a:r>
          </a:p>
          <a:p>
            <a:pPr algn="l">
              <a:spcAft>
                <a:spcPts val="700"/>
              </a:spcAft>
            </a:pPr>
            <a:r>
              <a:rPr sz="1050" b="0" i="0">
                <a:solidFill>
                  <a:srgbClr val="334155"/>
                </a:solidFill>
                <a:latin typeface="Calibri"/>
              </a:rPr>
              <a:t>Universidad Nacional Autónoma de Honduras. (2026). Remesas alcanzan cifra récord en Honduras: ya representan el 29.4 % del PIB. UNAH.</a:t>
            </a:r>
          </a:p>
        </p:txBody>
      </p:sp>
      <p:sp>
        <p:nvSpPr>
          <p:cNvPr id="7" name="TextBox 6"/>
          <p:cNvSpPr txBox="1"/>
          <p:nvPr/>
        </p:nvSpPr>
        <p:spPr>
          <a:xfrm>
            <a:off x="320040" y="6583680"/>
            <a:ext cx="11521440" cy="201168"/>
          </a:xfrm>
          <a:prstGeom prst="rect">
            <a:avLst/>
          </a:prstGeom>
          <a:noFill/>
        </p:spPr>
        <p:txBody>
          <a:bodyPr wrap="square" anchor="ctr">
            <a:spAutoFit/>
          </a:bodyPr>
          <a:lstStyle/>
          <a:p>
            <a:pPr algn="ctr"/>
            <a:r>
              <a:rPr sz="800" b="0" i="0">
                <a:solidFill>
                  <a:srgbClr val="64748B"/>
                </a:solidFill>
                <a:latin typeface="Calibri"/>
              </a:rPr>
              <a:t>Maestría en Agronegocios · Universidad EAFIT · Zamorano · 2026   |   Caballero · Valladares · Medal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3657600" cy="256032"/>
          </a:xfrm>
          <a:prstGeom prst="rect">
            <a:avLst/>
          </a:prstGeom>
          <a:noFill/>
        </p:spPr>
        <p:txBody>
          <a:bodyPr wrap="square" anchor="ctr">
            <a:spAutoFit/>
          </a:bodyPr>
          <a:lstStyle/>
          <a:p>
            <a:pPr algn="l"/>
            <a:r>
              <a:rPr sz="900" b="1" i="0">
                <a:solidFill>
                  <a:srgbClr val="1A7A8A"/>
                </a:solidFill>
                <a:latin typeface="Calibri"/>
              </a:rPr>
              <a:t>ANEXO A</a:t>
            </a:r>
          </a:p>
        </p:txBody>
      </p:sp>
      <p:sp>
        <p:nvSpPr>
          <p:cNvPr id="3" name="TextBox 2"/>
          <p:cNvSpPr txBox="1"/>
          <p:nvPr/>
        </p:nvSpPr>
        <p:spPr>
          <a:xfrm>
            <a:off x="320040" y="475488"/>
            <a:ext cx="11521440" cy="502920"/>
          </a:xfrm>
          <a:prstGeom prst="rect">
            <a:avLst/>
          </a:prstGeom>
          <a:noFill/>
        </p:spPr>
        <p:txBody>
          <a:bodyPr wrap="square" anchor="ctr">
            <a:spAutoFit/>
          </a:bodyPr>
          <a:lstStyle/>
          <a:p>
            <a:pPr algn="l"/>
            <a:r>
              <a:rPr sz="2600" b="1" i="0">
                <a:solidFill>
                  <a:srgbClr val="0D2341"/>
                </a:solidFill>
                <a:latin typeface="Calibri"/>
              </a:rPr>
              <a:t>Anexo A · Instrumento de Encuesta Comercial</a:t>
            </a:r>
          </a:p>
        </p:txBody>
      </p:sp>
      <p:sp>
        <p:nvSpPr>
          <p:cNvPr id="4" name="Rectangle 3"/>
          <p:cNvSpPr/>
          <p:nvPr/>
        </p:nvSpPr>
        <p:spPr>
          <a:xfrm>
            <a:off x="320040" y="1005840"/>
            <a:ext cx="11430000" cy="18288"/>
          </a:xfrm>
          <a:prstGeom prst="rect">
            <a:avLst/>
          </a:prstGeom>
          <a:solidFill>
            <a:srgbClr val="1A7A8A"/>
          </a:solidFill>
          <a:ln w="12700">
            <a:solidFill>
              <a:srgbClr val="1A7A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320040" y="1371600"/>
            <a:ext cx="3703320" cy="4754880"/>
          </a:xfrm>
          <a:prstGeom prst="rect">
            <a:avLst/>
          </a:prstGeom>
          <a:noFill/>
        </p:spPr>
        <p:txBody>
          <a:bodyPr wrap="square" anchor="t">
            <a:spAutoFit/>
          </a:bodyPr>
          <a:lstStyle/>
          <a:p>
            <a:pPr algn="l">
              <a:spcAft>
                <a:spcPts val="700"/>
              </a:spcAft>
            </a:pPr>
            <a:r>
              <a:rPr sz="1100" b="0" i="0">
                <a:solidFill>
                  <a:srgbClr val="334155"/>
                </a:solidFill>
                <a:latin typeface="Calibri"/>
              </a:rPr>
              <a:t>1. ¿Cuál es su edad?</a:t>
            </a:r>
          </a:p>
          <a:p>
            <a:pPr algn="l">
              <a:spcAft>
                <a:spcPts val="700"/>
              </a:spcAft>
            </a:pPr>
            <a:r>
              <a:rPr sz="1100" b="0" i="0">
                <a:solidFill>
                  <a:srgbClr val="334155"/>
                </a:solidFill>
                <a:latin typeface="Calibri"/>
              </a:rPr>
              <a:t>2. ¿Dónde reside?</a:t>
            </a:r>
          </a:p>
          <a:p>
            <a:pPr algn="l">
              <a:spcAft>
                <a:spcPts val="700"/>
              </a:spcAft>
            </a:pPr>
            <a:r>
              <a:rPr sz="1100" b="0" i="0">
                <a:solidFill>
                  <a:srgbClr val="334155"/>
                </a:solidFill>
                <a:latin typeface="Calibri"/>
              </a:rPr>
              <a:t>3. ¿Qué tipo de establecimiento administra o representa?</a:t>
            </a:r>
          </a:p>
          <a:p>
            <a:pPr algn="l">
              <a:spcAft>
                <a:spcPts val="700"/>
              </a:spcAft>
            </a:pPr>
            <a:r>
              <a:rPr sz="1100" b="0" i="0">
                <a:solidFill>
                  <a:srgbClr val="334155"/>
                </a:solidFill>
                <a:latin typeface="Calibri"/>
              </a:rPr>
              <a:t>4. ¿Cuál es el volumen mensual de productos lácteos que utiliza?</a:t>
            </a:r>
          </a:p>
          <a:p>
            <a:pPr algn="l">
              <a:spcAft>
                <a:spcPts val="700"/>
              </a:spcAft>
            </a:pPr>
            <a:r>
              <a:rPr sz="1100" b="0" i="0">
                <a:solidFill>
                  <a:srgbClr val="334155"/>
                </a:solidFill>
                <a:latin typeface="Calibri"/>
              </a:rPr>
              <a:t>5. ¿Qué tipo de leche utiliza actualmente?</a:t>
            </a:r>
          </a:p>
          <a:p>
            <a:pPr algn="l">
              <a:spcAft>
                <a:spcPts val="700"/>
              </a:spcAft>
            </a:pPr>
            <a:r>
              <a:rPr sz="1100" b="0" i="0">
                <a:solidFill>
                  <a:srgbClr val="334155"/>
                </a:solidFill>
                <a:latin typeface="Calibri"/>
              </a:rPr>
              <a:t>6. ¿Quién es su principal proveedor?</a:t>
            </a:r>
          </a:p>
          <a:p>
            <a:pPr algn="l">
              <a:spcAft>
                <a:spcPts val="700"/>
              </a:spcAft>
            </a:pPr>
            <a:r>
              <a:rPr sz="1100" b="0" i="0">
                <a:solidFill>
                  <a:srgbClr val="334155"/>
                </a:solidFill>
                <a:latin typeface="Calibri"/>
              </a:rPr>
              <a:t>7. ¿Qué dificultades presenta la leche que utiliza?</a:t>
            </a:r>
          </a:p>
          <a:p>
            <a:pPr algn="l">
              <a:spcAft>
                <a:spcPts val="700"/>
              </a:spcAft>
            </a:pPr>
            <a:r>
              <a:rPr sz="1100" b="0" i="0">
                <a:solidFill>
                  <a:srgbClr val="334155"/>
                </a:solidFill>
                <a:latin typeface="Calibri"/>
              </a:rPr>
              <a:t>8. ¿Cómo afectan estos problemas a su negocio?</a:t>
            </a:r>
          </a:p>
          <a:p>
            <a:pPr algn="l">
              <a:spcAft>
                <a:spcPts val="700"/>
              </a:spcAft>
            </a:pPr>
            <a:r>
              <a:rPr sz="1100" b="0" i="0">
                <a:solidFill>
                  <a:srgbClr val="334155"/>
                </a:solidFill>
                <a:latin typeface="Calibri"/>
              </a:rPr>
              <a:t>9. ¿Con qué frecuencia compra productos lácteos?</a:t>
            </a:r>
          </a:p>
          <a:p>
            <a:pPr algn="l">
              <a:spcAft>
                <a:spcPts val="700"/>
              </a:spcAft>
            </a:pPr>
            <a:r>
              <a:rPr sz="1100" b="0" i="0">
                <a:solidFill>
                  <a:srgbClr val="334155"/>
                </a:solidFill>
                <a:latin typeface="Calibri"/>
              </a:rPr>
              <a:t>10. ¿Dónde suele comprar este tipo de productos?</a:t>
            </a:r>
          </a:p>
          <a:p>
            <a:pPr algn="l">
              <a:spcAft>
                <a:spcPts val="700"/>
              </a:spcAft>
            </a:pPr>
            <a:r>
              <a:rPr sz="1100" b="0" i="0">
                <a:solidFill>
                  <a:srgbClr val="334155"/>
                </a:solidFill>
                <a:latin typeface="Calibri"/>
              </a:rPr>
              <a:t>11. ¿Cuál es su presupuesto aproximado para lácteos?</a:t>
            </a:r>
          </a:p>
        </p:txBody>
      </p:sp>
      <p:sp>
        <p:nvSpPr>
          <p:cNvPr id="6" name="TextBox 5"/>
          <p:cNvSpPr txBox="1"/>
          <p:nvPr/>
        </p:nvSpPr>
        <p:spPr>
          <a:xfrm>
            <a:off x="4160520" y="1371600"/>
            <a:ext cx="3703320" cy="4754880"/>
          </a:xfrm>
          <a:prstGeom prst="rect">
            <a:avLst/>
          </a:prstGeom>
          <a:noFill/>
        </p:spPr>
        <p:txBody>
          <a:bodyPr wrap="square" anchor="t">
            <a:spAutoFit/>
          </a:bodyPr>
          <a:lstStyle/>
          <a:p>
            <a:pPr algn="l">
              <a:spcAft>
                <a:spcPts val="700"/>
              </a:spcAft>
            </a:pPr>
            <a:r>
              <a:rPr sz="1100" b="0" i="0">
                <a:solidFill>
                  <a:srgbClr val="334155"/>
                </a:solidFill>
                <a:latin typeface="Calibri"/>
              </a:rPr>
              <a:t>12. ¿Cómo percibe los precios de los lácteos en la actualidad?</a:t>
            </a:r>
          </a:p>
          <a:p>
            <a:pPr algn="l">
              <a:spcAft>
                <a:spcPts val="700"/>
              </a:spcAft>
            </a:pPr>
            <a:r>
              <a:rPr sz="1100" b="0" i="0">
                <a:solidFill>
                  <a:srgbClr val="334155"/>
                </a:solidFill>
                <a:latin typeface="Calibri"/>
              </a:rPr>
              <a:t>13. ¿Cómo percibe la calidad del producto por su presentación?</a:t>
            </a:r>
          </a:p>
          <a:p>
            <a:pPr algn="l">
              <a:spcAft>
                <a:spcPts val="700"/>
              </a:spcAft>
            </a:pPr>
            <a:r>
              <a:rPr sz="1100" b="0" i="0">
                <a:solidFill>
                  <a:srgbClr val="334155"/>
                </a:solidFill>
                <a:latin typeface="Calibri"/>
              </a:rPr>
              <a:t>14. ¿Qué marcas de leche conoce?</a:t>
            </a:r>
          </a:p>
          <a:p>
            <a:pPr algn="l">
              <a:spcAft>
                <a:spcPts val="700"/>
              </a:spcAft>
            </a:pPr>
            <a:r>
              <a:rPr sz="1100" b="0" i="0">
                <a:solidFill>
                  <a:srgbClr val="334155"/>
                </a:solidFill>
                <a:latin typeface="Calibri"/>
              </a:rPr>
              <a:t>15. ¿Qué marca de leche prefiere y por qué?</a:t>
            </a:r>
          </a:p>
          <a:p>
            <a:pPr algn="l">
              <a:spcAft>
                <a:spcPts val="700"/>
              </a:spcAft>
            </a:pPr>
            <a:r>
              <a:rPr sz="1100" b="0" i="0">
                <a:solidFill>
                  <a:srgbClr val="334155"/>
                </a:solidFill>
                <a:latin typeface="Calibri"/>
              </a:rPr>
              <a:t>16. ¿Qué le impide adquirir las marcas actuales?</a:t>
            </a:r>
          </a:p>
          <a:p>
            <a:pPr algn="l">
              <a:spcAft>
                <a:spcPts val="700"/>
              </a:spcAft>
            </a:pPr>
            <a:r>
              <a:rPr sz="1100" b="0" i="0">
                <a:solidFill>
                  <a:srgbClr val="334155"/>
                </a:solidFill>
                <a:latin typeface="Calibri"/>
              </a:rPr>
              <a:t>17. ¿Cómo evalúa las marcas de leche disponibles?</a:t>
            </a:r>
          </a:p>
          <a:p>
            <a:pPr algn="l">
              <a:spcAft>
                <a:spcPts val="700"/>
              </a:spcAft>
            </a:pPr>
            <a:r>
              <a:rPr sz="1100" b="0" i="0">
                <a:solidFill>
                  <a:srgbClr val="334155"/>
                </a:solidFill>
                <a:latin typeface="Calibri"/>
              </a:rPr>
              <a:t>18. ¿Qué porcentaje de su volumen cambiaría a una nueva leche?</a:t>
            </a:r>
          </a:p>
          <a:p>
            <a:pPr algn="l">
              <a:spcAft>
                <a:spcPts val="700"/>
              </a:spcAft>
            </a:pPr>
            <a:r>
              <a:rPr sz="1100" b="0" i="0">
                <a:solidFill>
                  <a:srgbClr val="334155"/>
                </a:solidFill>
                <a:latin typeface="Calibri"/>
              </a:rPr>
              <a:t>19. ¿Qué condiciones son indispensables para cambiar de proveedor?</a:t>
            </a:r>
          </a:p>
          <a:p>
            <a:pPr algn="l">
              <a:spcAft>
                <a:spcPts val="700"/>
              </a:spcAft>
            </a:pPr>
            <a:r>
              <a:rPr sz="1100" b="0" i="0">
                <a:solidFill>
                  <a:srgbClr val="334155"/>
                </a:solidFill>
                <a:latin typeface="Calibri"/>
              </a:rPr>
              <a:t>20. Si esta marca fuera una persona, ¿cómo la describiría?</a:t>
            </a:r>
          </a:p>
          <a:p>
            <a:pPr algn="l">
              <a:spcAft>
                <a:spcPts val="700"/>
              </a:spcAft>
            </a:pPr>
            <a:r>
              <a:rPr sz="1100" b="0" i="0">
                <a:solidFill>
                  <a:srgbClr val="334155"/>
                </a:solidFill>
                <a:latin typeface="Calibri"/>
              </a:rPr>
              <a:t>21. ¿Cómo percibe esta marca de leche?</a:t>
            </a:r>
          </a:p>
          <a:p>
            <a:pPr algn="l">
              <a:spcAft>
                <a:spcPts val="700"/>
              </a:spcAft>
            </a:pPr>
            <a:r>
              <a:rPr sz="1100" b="0" i="0">
                <a:solidFill>
                  <a:srgbClr val="334155"/>
                </a:solidFill>
                <a:latin typeface="Calibri"/>
              </a:rPr>
              <a:t>22. ¿Qué empaque o diseño le parece más atractivo?</a:t>
            </a:r>
          </a:p>
        </p:txBody>
      </p:sp>
      <p:sp>
        <p:nvSpPr>
          <p:cNvPr id="7" name="TextBox 6"/>
          <p:cNvSpPr txBox="1"/>
          <p:nvPr/>
        </p:nvSpPr>
        <p:spPr>
          <a:xfrm>
            <a:off x="8001000" y="1371600"/>
            <a:ext cx="3703320" cy="4754880"/>
          </a:xfrm>
          <a:prstGeom prst="rect">
            <a:avLst/>
          </a:prstGeom>
          <a:noFill/>
        </p:spPr>
        <p:txBody>
          <a:bodyPr wrap="square" anchor="t">
            <a:spAutoFit/>
          </a:bodyPr>
          <a:lstStyle/>
          <a:p>
            <a:pPr algn="l">
              <a:spcAft>
                <a:spcPts val="700"/>
              </a:spcAft>
            </a:pPr>
            <a:r>
              <a:rPr sz="1100" b="0" i="0">
                <a:solidFill>
                  <a:srgbClr val="334155"/>
                </a:solidFill>
                <a:latin typeface="Calibri"/>
              </a:rPr>
              <a:t>23. ¿Cuál es el precio que paga hoy por litro?</a:t>
            </a:r>
          </a:p>
          <a:p>
            <a:pPr algn="l">
              <a:spcAft>
                <a:spcPts val="700"/>
              </a:spcAft>
            </a:pPr>
            <a:r>
              <a:rPr sz="1100" b="0" i="0">
                <a:solidFill>
                  <a:srgbClr val="334155"/>
                </a:solidFill>
                <a:latin typeface="Calibri"/>
              </a:rPr>
              <a:t>24. ¿En qué presentación compra la leche?</a:t>
            </a:r>
          </a:p>
          <a:p>
            <a:pPr algn="l">
              <a:spcAft>
                <a:spcPts val="700"/>
              </a:spcAft>
            </a:pPr>
            <a:r>
              <a:rPr sz="1100" b="0" i="0">
                <a:solidFill>
                  <a:srgbClr val="334155"/>
                </a:solidFill>
                <a:latin typeface="Calibri"/>
              </a:rPr>
              <a:t>25. ¿Precio máximo por una leche especial para café o panadería?</a:t>
            </a:r>
          </a:p>
          <a:p>
            <a:pPr algn="l">
              <a:spcAft>
                <a:spcPts val="700"/>
              </a:spcAft>
            </a:pPr>
            <a:r>
              <a:rPr sz="1100" b="0" i="0">
                <a:solidFill>
                  <a:srgbClr val="334155"/>
                </a:solidFill>
                <a:latin typeface="Calibri"/>
              </a:rPr>
              <a:t>26. ¿Cuál es su preferencia de pago?</a:t>
            </a:r>
          </a:p>
          <a:p>
            <a:pPr algn="l">
              <a:spcAft>
                <a:spcPts val="700"/>
              </a:spcAft>
            </a:pPr>
            <a:r>
              <a:rPr sz="1100" b="0" i="0">
                <a:solidFill>
                  <a:srgbClr val="334155"/>
                </a:solidFill>
                <a:latin typeface="Calibri"/>
              </a:rPr>
              <a:t>27. ¿Cuál es la frecuencia ideal de entrega?</a:t>
            </a:r>
          </a:p>
          <a:p>
            <a:pPr algn="l">
              <a:spcAft>
                <a:spcPts val="700"/>
              </a:spcAft>
            </a:pPr>
            <a:r>
              <a:rPr sz="1100" b="0" i="0">
                <a:solidFill>
                  <a:srgbClr val="334155"/>
                </a:solidFill>
                <a:latin typeface="Calibri"/>
              </a:rPr>
              <a:t>28. ¿Cuáles son sus días preferidos de recepción?</a:t>
            </a:r>
          </a:p>
          <a:p>
            <a:pPr algn="l">
              <a:spcAft>
                <a:spcPts val="700"/>
              </a:spcAft>
            </a:pPr>
            <a:r>
              <a:rPr sz="1100" b="0" i="0">
                <a:solidFill>
                  <a:srgbClr val="334155"/>
                </a:solidFill>
                <a:latin typeface="Calibri"/>
              </a:rPr>
              <a:t>29. ¿Qué formas de contacto y pedido prefiere?</a:t>
            </a:r>
          </a:p>
          <a:p>
            <a:pPr algn="l">
              <a:spcAft>
                <a:spcPts val="700"/>
              </a:spcAft>
            </a:pPr>
            <a:r>
              <a:rPr sz="1100" b="0" i="0">
                <a:solidFill>
                  <a:srgbClr val="334155"/>
                </a:solidFill>
                <a:latin typeface="Calibri"/>
              </a:rPr>
              <a:t>30. Si la marca lanzara una nueva leche, ¿qué tan probable es que la compre?</a:t>
            </a:r>
          </a:p>
          <a:p>
            <a:pPr algn="l">
              <a:spcAft>
                <a:spcPts val="700"/>
              </a:spcAft>
            </a:pPr>
            <a:r>
              <a:rPr sz="1100" b="0" i="0">
                <a:solidFill>
                  <a:srgbClr val="334155"/>
                </a:solidFill>
                <a:latin typeface="Calibri"/>
              </a:rPr>
              <a:t>31. ¿Cuál considera un precio justo por esta leche?</a:t>
            </a:r>
          </a:p>
          <a:p>
            <a:pPr algn="l">
              <a:spcAft>
                <a:spcPts val="700"/>
              </a:spcAft>
            </a:pPr>
            <a:r>
              <a:rPr sz="1100" b="0" i="0">
                <a:solidFill>
                  <a:srgbClr val="334155"/>
                </a:solidFill>
                <a:latin typeface="Calibri"/>
              </a:rPr>
              <a:t>32. ¿Recomendaría esta leche a otras personas?</a:t>
            </a:r>
          </a:p>
        </p:txBody>
      </p:sp>
      <p:sp>
        <p:nvSpPr>
          <p:cNvPr id="8" name="TextBox 7"/>
          <p:cNvSpPr txBox="1"/>
          <p:nvPr/>
        </p:nvSpPr>
        <p:spPr>
          <a:xfrm>
            <a:off x="320040" y="1051560"/>
            <a:ext cx="11430000" cy="292608"/>
          </a:xfrm>
          <a:prstGeom prst="rect">
            <a:avLst/>
          </a:prstGeom>
          <a:noFill/>
        </p:spPr>
        <p:txBody>
          <a:bodyPr wrap="square" anchor="ctr">
            <a:spAutoFit/>
          </a:bodyPr>
          <a:lstStyle/>
          <a:p>
            <a:pPr algn="l"/>
            <a:r>
              <a:rPr sz="1000" b="0" i="1">
                <a:solidFill>
                  <a:srgbClr val="64748B"/>
                </a:solidFill>
                <a:latin typeface="Calibri"/>
              </a:rPr>
              <a:t>Formulario en línea (Forms) aplicado a 63 establecimientos HoReCa y del canal detalle de la región central (abril–mayo de 2026). Incluye además datos de control: hora, correo y nombre.</a:t>
            </a:r>
          </a:p>
        </p:txBody>
      </p:sp>
      <p:sp>
        <p:nvSpPr>
          <p:cNvPr id="9" name="TextBox 8"/>
          <p:cNvSpPr txBox="1"/>
          <p:nvPr/>
        </p:nvSpPr>
        <p:spPr>
          <a:xfrm>
            <a:off x="320040" y="6583680"/>
            <a:ext cx="11521440" cy="201168"/>
          </a:xfrm>
          <a:prstGeom prst="rect">
            <a:avLst/>
          </a:prstGeom>
          <a:noFill/>
        </p:spPr>
        <p:txBody>
          <a:bodyPr wrap="square" anchor="ctr">
            <a:spAutoFit/>
          </a:bodyPr>
          <a:lstStyle/>
          <a:p>
            <a:pPr algn="ctr"/>
            <a:r>
              <a:rPr sz="800" b="0" i="0">
                <a:solidFill>
                  <a:srgbClr val="64748B"/>
                </a:solidFill>
                <a:latin typeface="Calibri"/>
              </a:rPr>
              <a:t>Maestría en Agronegocios · Universidad EAFIT · Zamorano · 2026   |   Caballero · Valladares · Medal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3657600" cy="256032"/>
          </a:xfrm>
          <a:prstGeom prst="rect">
            <a:avLst/>
          </a:prstGeom>
          <a:noFill/>
        </p:spPr>
        <p:txBody>
          <a:bodyPr wrap="square" anchor="ctr">
            <a:spAutoFit/>
          </a:bodyPr>
          <a:lstStyle/>
          <a:p>
            <a:pPr algn="l"/>
            <a:r>
              <a:rPr sz="900" b="1" i="0">
                <a:solidFill>
                  <a:srgbClr val="1A7A8A"/>
                </a:solidFill>
                <a:latin typeface="Calibri"/>
              </a:rPr>
              <a:t>ANEXO B</a:t>
            </a:r>
          </a:p>
        </p:txBody>
      </p:sp>
      <p:sp>
        <p:nvSpPr>
          <p:cNvPr id="3" name="TextBox 2"/>
          <p:cNvSpPr txBox="1"/>
          <p:nvPr/>
        </p:nvSpPr>
        <p:spPr>
          <a:xfrm>
            <a:off x="320040" y="475488"/>
            <a:ext cx="11521440" cy="502920"/>
          </a:xfrm>
          <a:prstGeom prst="rect">
            <a:avLst/>
          </a:prstGeom>
          <a:noFill/>
        </p:spPr>
        <p:txBody>
          <a:bodyPr wrap="square" anchor="ctr">
            <a:spAutoFit/>
          </a:bodyPr>
          <a:lstStyle/>
          <a:p>
            <a:pPr algn="l"/>
            <a:r>
              <a:rPr sz="2200" b="1" i="0">
                <a:solidFill>
                  <a:srgbClr val="0D2341"/>
                </a:solidFill>
                <a:latin typeface="Calibri"/>
              </a:rPr>
              <a:t>Anexo B · Flujo de Caja Proyectado sin Financiamiento</a:t>
            </a:r>
          </a:p>
        </p:txBody>
      </p:sp>
      <p:sp>
        <p:nvSpPr>
          <p:cNvPr id="4" name="Rectangle 3"/>
          <p:cNvSpPr/>
          <p:nvPr/>
        </p:nvSpPr>
        <p:spPr>
          <a:xfrm>
            <a:off x="320040" y="1005840"/>
            <a:ext cx="11430000" cy="18288"/>
          </a:xfrm>
          <a:prstGeom prst="rect">
            <a:avLst/>
          </a:prstGeom>
          <a:solidFill>
            <a:srgbClr val="1A7A8A"/>
          </a:solidFill>
          <a:ln w="12700">
            <a:solidFill>
              <a:srgbClr val="1A7A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320040" y="1143000"/>
            <a:ext cx="2377440" cy="310896"/>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38328" y="1143000"/>
            <a:ext cx="2340864" cy="310896"/>
          </a:xfrm>
          <a:prstGeom prst="rect">
            <a:avLst/>
          </a:prstGeom>
          <a:noFill/>
        </p:spPr>
        <p:txBody>
          <a:bodyPr wrap="square" anchor="ctr" lIns="45720" rIns="45720" tIns="9144" bIns="9144">
            <a:spAutoFit/>
          </a:bodyPr>
          <a:lstStyle/>
          <a:p>
            <a:pPr algn="l"/>
            <a:r>
              <a:rPr sz="850" b="1" i="0">
                <a:solidFill>
                  <a:srgbClr val="FFFFFF"/>
                </a:solidFill>
                <a:latin typeface="Calibri"/>
              </a:rPr>
              <a:t>Concepto</a:t>
            </a:r>
          </a:p>
        </p:txBody>
      </p:sp>
      <p:sp>
        <p:nvSpPr>
          <p:cNvPr id="7" name="Rectangle 6"/>
          <p:cNvSpPr/>
          <p:nvPr/>
        </p:nvSpPr>
        <p:spPr>
          <a:xfrm>
            <a:off x="2697480" y="1143000"/>
            <a:ext cx="822960" cy="310896"/>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715768" y="1143000"/>
            <a:ext cx="786384" cy="310896"/>
          </a:xfrm>
          <a:prstGeom prst="rect">
            <a:avLst/>
          </a:prstGeom>
          <a:noFill/>
        </p:spPr>
        <p:txBody>
          <a:bodyPr wrap="square" anchor="ctr" lIns="45720" rIns="45720" tIns="9144" bIns="9144">
            <a:spAutoFit/>
          </a:bodyPr>
          <a:lstStyle/>
          <a:p>
            <a:pPr algn="ctr"/>
            <a:r>
              <a:rPr sz="850" b="1" i="0">
                <a:solidFill>
                  <a:srgbClr val="FFFFFF"/>
                </a:solidFill>
                <a:latin typeface="Calibri"/>
              </a:rPr>
              <a:t>Año 0</a:t>
            </a:r>
          </a:p>
        </p:txBody>
      </p:sp>
      <p:sp>
        <p:nvSpPr>
          <p:cNvPr id="9" name="Rectangle 8"/>
          <p:cNvSpPr/>
          <p:nvPr/>
        </p:nvSpPr>
        <p:spPr>
          <a:xfrm>
            <a:off x="3520440" y="1143000"/>
            <a:ext cx="822960" cy="310896"/>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538728" y="1143000"/>
            <a:ext cx="786384" cy="310896"/>
          </a:xfrm>
          <a:prstGeom prst="rect">
            <a:avLst/>
          </a:prstGeom>
          <a:noFill/>
        </p:spPr>
        <p:txBody>
          <a:bodyPr wrap="square" anchor="ctr" lIns="45720" rIns="45720" tIns="9144" bIns="9144">
            <a:spAutoFit/>
          </a:bodyPr>
          <a:lstStyle/>
          <a:p>
            <a:pPr algn="ctr"/>
            <a:r>
              <a:rPr sz="850" b="1" i="0">
                <a:solidFill>
                  <a:srgbClr val="FFFFFF"/>
                </a:solidFill>
                <a:latin typeface="Calibri"/>
              </a:rPr>
              <a:t>Año 1</a:t>
            </a:r>
          </a:p>
        </p:txBody>
      </p:sp>
      <p:sp>
        <p:nvSpPr>
          <p:cNvPr id="11" name="Rectangle 10"/>
          <p:cNvSpPr/>
          <p:nvPr/>
        </p:nvSpPr>
        <p:spPr>
          <a:xfrm>
            <a:off x="4343400" y="1143000"/>
            <a:ext cx="822960" cy="310896"/>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361688" y="1143000"/>
            <a:ext cx="786384" cy="310896"/>
          </a:xfrm>
          <a:prstGeom prst="rect">
            <a:avLst/>
          </a:prstGeom>
          <a:noFill/>
        </p:spPr>
        <p:txBody>
          <a:bodyPr wrap="square" anchor="ctr" lIns="45720" rIns="45720" tIns="9144" bIns="9144">
            <a:spAutoFit/>
          </a:bodyPr>
          <a:lstStyle/>
          <a:p>
            <a:pPr algn="ctr"/>
            <a:r>
              <a:rPr sz="850" b="1" i="0">
                <a:solidFill>
                  <a:srgbClr val="FFFFFF"/>
                </a:solidFill>
                <a:latin typeface="Calibri"/>
              </a:rPr>
              <a:t>Año 2</a:t>
            </a:r>
          </a:p>
        </p:txBody>
      </p:sp>
      <p:sp>
        <p:nvSpPr>
          <p:cNvPr id="13" name="Rectangle 12"/>
          <p:cNvSpPr/>
          <p:nvPr/>
        </p:nvSpPr>
        <p:spPr>
          <a:xfrm>
            <a:off x="5166360" y="1143000"/>
            <a:ext cx="822960" cy="310896"/>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184648" y="1143000"/>
            <a:ext cx="786384" cy="310896"/>
          </a:xfrm>
          <a:prstGeom prst="rect">
            <a:avLst/>
          </a:prstGeom>
          <a:noFill/>
        </p:spPr>
        <p:txBody>
          <a:bodyPr wrap="square" anchor="ctr" lIns="45720" rIns="45720" tIns="9144" bIns="9144">
            <a:spAutoFit/>
          </a:bodyPr>
          <a:lstStyle/>
          <a:p>
            <a:pPr algn="ctr"/>
            <a:r>
              <a:rPr sz="850" b="1" i="0">
                <a:solidFill>
                  <a:srgbClr val="FFFFFF"/>
                </a:solidFill>
                <a:latin typeface="Calibri"/>
              </a:rPr>
              <a:t>Año 3</a:t>
            </a:r>
          </a:p>
        </p:txBody>
      </p:sp>
      <p:sp>
        <p:nvSpPr>
          <p:cNvPr id="15" name="Rectangle 14"/>
          <p:cNvSpPr/>
          <p:nvPr/>
        </p:nvSpPr>
        <p:spPr>
          <a:xfrm>
            <a:off x="5989320" y="1143000"/>
            <a:ext cx="822960" cy="310896"/>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007608" y="1143000"/>
            <a:ext cx="786384" cy="310896"/>
          </a:xfrm>
          <a:prstGeom prst="rect">
            <a:avLst/>
          </a:prstGeom>
          <a:noFill/>
        </p:spPr>
        <p:txBody>
          <a:bodyPr wrap="square" anchor="ctr" lIns="45720" rIns="45720" tIns="9144" bIns="9144">
            <a:spAutoFit/>
          </a:bodyPr>
          <a:lstStyle/>
          <a:p>
            <a:pPr algn="ctr"/>
            <a:r>
              <a:rPr sz="850" b="1" i="0">
                <a:solidFill>
                  <a:srgbClr val="FFFFFF"/>
                </a:solidFill>
                <a:latin typeface="Calibri"/>
              </a:rPr>
              <a:t>Año 4</a:t>
            </a:r>
          </a:p>
        </p:txBody>
      </p:sp>
      <p:sp>
        <p:nvSpPr>
          <p:cNvPr id="17" name="Rectangle 16"/>
          <p:cNvSpPr/>
          <p:nvPr/>
        </p:nvSpPr>
        <p:spPr>
          <a:xfrm>
            <a:off x="6812280" y="1143000"/>
            <a:ext cx="822960" cy="310896"/>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830568" y="1143000"/>
            <a:ext cx="786384" cy="310896"/>
          </a:xfrm>
          <a:prstGeom prst="rect">
            <a:avLst/>
          </a:prstGeom>
          <a:noFill/>
        </p:spPr>
        <p:txBody>
          <a:bodyPr wrap="square" anchor="ctr" lIns="45720" rIns="45720" tIns="9144" bIns="9144">
            <a:spAutoFit/>
          </a:bodyPr>
          <a:lstStyle/>
          <a:p>
            <a:pPr algn="ctr"/>
            <a:r>
              <a:rPr sz="850" b="1" i="0">
                <a:solidFill>
                  <a:srgbClr val="FFFFFF"/>
                </a:solidFill>
                <a:latin typeface="Calibri"/>
              </a:rPr>
              <a:t>Año 5</a:t>
            </a:r>
          </a:p>
        </p:txBody>
      </p:sp>
      <p:sp>
        <p:nvSpPr>
          <p:cNvPr id="19" name="Rectangle 18"/>
          <p:cNvSpPr/>
          <p:nvPr/>
        </p:nvSpPr>
        <p:spPr>
          <a:xfrm>
            <a:off x="7635240" y="1143000"/>
            <a:ext cx="822960" cy="310896"/>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653528" y="1143000"/>
            <a:ext cx="786384" cy="310896"/>
          </a:xfrm>
          <a:prstGeom prst="rect">
            <a:avLst/>
          </a:prstGeom>
          <a:noFill/>
        </p:spPr>
        <p:txBody>
          <a:bodyPr wrap="square" anchor="ctr" lIns="45720" rIns="45720" tIns="9144" bIns="9144">
            <a:spAutoFit/>
          </a:bodyPr>
          <a:lstStyle/>
          <a:p>
            <a:pPr algn="ctr"/>
            <a:r>
              <a:rPr sz="850" b="1" i="0">
                <a:solidFill>
                  <a:srgbClr val="FFFFFF"/>
                </a:solidFill>
                <a:latin typeface="Calibri"/>
              </a:rPr>
              <a:t>Año 6</a:t>
            </a:r>
          </a:p>
        </p:txBody>
      </p:sp>
      <p:sp>
        <p:nvSpPr>
          <p:cNvPr id="21" name="Rectangle 20"/>
          <p:cNvSpPr/>
          <p:nvPr/>
        </p:nvSpPr>
        <p:spPr>
          <a:xfrm>
            <a:off x="8458200" y="1143000"/>
            <a:ext cx="822960" cy="310896"/>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76488" y="1143000"/>
            <a:ext cx="786384" cy="310896"/>
          </a:xfrm>
          <a:prstGeom prst="rect">
            <a:avLst/>
          </a:prstGeom>
          <a:noFill/>
        </p:spPr>
        <p:txBody>
          <a:bodyPr wrap="square" anchor="ctr" lIns="45720" rIns="45720" tIns="9144" bIns="9144">
            <a:spAutoFit/>
          </a:bodyPr>
          <a:lstStyle/>
          <a:p>
            <a:pPr algn="ctr"/>
            <a:r>
              <a:rPr sz="850" b="1" i="0">
                <a:solidFill>
                  <a:srgbClr val="FFFFFF"/>
                </a:solidFill>
                <a:latin typeface="Calibri"/>
              </a:rPr>
              <a:t>Año 7</a:t>
            </a:r>
          </a:p>
        </p:txBody>
      </p:sp>
      <p:sp>
        <p:nvSpPr>
          <p:cNvPr id="23" name="Rectangle 22"/>
          <p:cNvSpPr/>
          <p:nvPr/>
        </p:nvSpPr>
        <p:spPr>
          <a:xfrm>
            <a:off x="9281160" y="1143000"/>
            <a:ext cx="822960" cy="310896"/>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299448" y="1143000"/>
            <a:ext cx="786384" cy="310896"/>
          </a:xfrm>
          <a:prstGeom prst="rect">
            <a:avLst/>
          </a:prstGeom>
          <a:noFill/>
        </p:spPr>
        <p:txBody>
          <a:bodyPr wrap="square" anchor="ctr" lIns="45720" rIns="45720" tIns="9144" bIns="9144">
            <a:spAutoFit/>
          </a:bodyPr>
          <a:lstStyle/>
          <a:p>
            <a:pPr algn="ctr"/>
            <a:r>
              <a:rPr sz="850" b="1" i="0">
                <a:solidFill>
                  <a:srgbClr val="FFFFFF"/>
                </a:solidFill>
                <a:latin typeface="Calibri"/>
              </a:rPr>
              <a:t>Año 8</a:t>
            </a:r>
          </a:p>
        </p:txBody>
      </p:sp>
      <p:sp>
        <p:nvSpPr>
          <p:cNvPr id="25" name="Rectangle 24"/>
          <p:cNvSpPr/>
          <p:nvPr/>
        </p:nvSpPr>
        <p:spPr>
          <a:xfrm>
            <a:off x="10104120" y="1143000"/>
            <a:ext cx="822960" cy="310896"/>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122408" y="1143000"/>
            <a:ext cx="786384" cy="310896"/>
          </a:xfrm>
          <a:prstGeom prst="rect">
            <a:avLst/>
          </a:prstGeom>
          <a:noFill/>
        </p:spPr>
        <p:txBody>
          <a:bodyPr wrap="square" anchor="ctr" lIns="45720" rIns="45720" tIns="9144" bIns="9144">
            <a:spAutoFit/>
          </a:bodyPr>
          <a:lstStyle/>
          <a:p>
            <a:pPr algn="ctr"/>
            <a:r>
              <a:rPr sz="850" b="1" i="0">
                <a:solidFill>
                  <a:srgbClr val="FFFFFF"/>
                </a:solidFill>
                <a:latin typeface="Calibri"/>
              </a:rPr>
              <a:t>Año 9</a:t>
            </a:r>
          </a:p>
        </p:txBody>
      </p:sp>
      <p:sp>
        <p:nvSpPr>
          <p:cNvPr id="27" name="Rectangle 26"/>
          <p:cNvSpPr/>
          <p:nvPr/>
        </p:nvSpPr>
        <p:spPr>
          <a:xfrm>
            <a:off x="10927080" y="1143000"/>
            <a:ext cx="822960" cy="310896"/>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0945368" y="1143000"/>
            <a:ext cx="786384" cy="310896"/>
          </a:xfrm>
          <a:prstGeom prst="rect">
            <a:avLst/>
          </a:prstGeom>
          <a:noFill/>
        </p:spPr>
        <p:txBody>
          <a:bodyPr wrap="square" anchor="ctr" lIns="45720" rIns="45720" tIns="9144" bIns="9144">
            <a:spAutoFit/>
          </a:bodyPr>
          <a:lstStyle/>
          <a:p>
            <a:pPr algn="ctr"/>
            <a:r>
              <a:rPr sz="850" b="1" i="0">
                <a:solidFill>
                  <a:srgbClr val="FFFFFF"/>
                </a:solidFill>
                <a:latin typeface="Calibri"/>
              </a:rPr>
              <a:t>Año 10</a:t>
            </a:r>
          </a:p>
        </p:txBody>
      </p:sp>
      <p:sp>
        <p:nvSpPr>
          <p:cNvPr id="29" name="Rectangle 28"/>
          <p:cNvSpPr/>
          <p:nvPr/>
        </p:nvSpPr>
        <p:spPr>
          <a:xfrm>
            <a:off x="320040" y="1453896"/>
            <a:ext cx="237744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38328" y="1453896"/>
            <a:ext cx="2340864" cy="310896"/>
          </a:xfrm>
          <a:prstGeom prst="rect">
            <a:avLst/>
          </a:prstGeom>
          <a:noFill/>
        </p:spPr>
        <p:txBody>
          <a:bodyPr wrap="square" anchor="ctr" lIns="45720" rIns="45720" tIns="9144" bIns="9144">
            <a:spAutoFit/>
          </a:bodyPr>
          <a:lstStyle/>
          <a:p>
            <a:pPr algn="l"/>
            <a:r>
              <a:rPr sz="850" b="0" i="0">
                <a:solidFill>
                  <a:srgbClr val="334155"/>
                </a:solidFill>
                <a:latin typeface="Calibri"/>
              </a:rPr>
              <a:t>(+) Ingresos por ventas</a:t>
            </a:r>
          </a:p>
        </p:txBody>
      </p:sp>
      <p:sp>
        <p:nvSpPr>
          <p:cNvPr id="31" name="Rectangle 30"/>
          <p:cNvSpPr/>
          <p:nvPr/>
        </p:nvSpPr>
        <p:spPr>
          <a:xfrm>
            <a:off x="2697480" y="1453896"/>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2715768" y="1453896"/>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33" name="Rectangle 32"/>
          <p:cNvSpPr/>
          <p:nvPr/>
        </p:nvSpPr>
        <p:spPr>
          <a:xfrm>
            <a:off x="3520440" y="1453896"/>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3538728" y="1453896"/>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3,024,000</a:t>
            </a:r>
          </a:p>
        </p:txBody>
      </p:sp>
      <p:sp>
        <p:nvSpPr>
          <p:cNvPr id="35" name="Rectangle 34"/>
          <p:cNvSpPr/>
          <p:nvPr/>
        </p:nvSpPr>
        <p:spPr>
          <a:xfrm>
            <a:off x="4343400" y="1453896"/>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361688" y="1453896"/>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5,266,800</a:t>
            </a:r>
          </a:p>
        </p:txBody>
      </p:sp>
      <p:sp>
        <p:nvSpPr>
          <p:cNvPr id="37" name="Rectangle 36"/>
          <p:cNvSpPr/>
          <p:nvPr/>
        </p:nvSpPr>
        <p:spPr>
          <a:xfrm>
            <a:off x="5166360" y="1453896"/>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5184648" y="1453896"/>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8,255,709</a:t>
            </a:r>
          </a:p>
        </p:txBody>
      </p:sp>
      <p:sp>
        <p:nvSpPr>
          <p:cNvPr id="39" name="Rectangle 38"/>
          <p:cNvSpPr/>
          <p:nvPr/>
        </p:nvSpPr>
        <p:spPr>
          <a:xfrm>
            <a:off x="5989320" y="1453896"/>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007608" y="1453896"/>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12,078,102</a:t>
            </a:r>
          </a:p>
        </p:txBody>
      </p:sp>
      <p:sp>
        <p:nvSpPr>
          <p:cNvPr id="41" name="Rectangle 40"/>
          <p:cNvSpPr/>
          <p:nvPr/>
        </p:nvSpPr>
        <p:spPr>
          <a:xfrm>
            <a:off x="6812280" y="1453896"/>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830568" y="1453896"/>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16,828,822</a:t>
            </a:r>
          </a:p>
        </p:txBody>
      </p:sp>
      <p:sp>
        <p:nvSpPr>
          <p:cNvPr id="43" name="Rectangle 42"/>
          <p:cNvSpPr/>
          <p:nvPr/>
        </p:nvSpPr>
        <p:spPr>
          <a:xfrm>
            <a:off x="7635240" y="1453896"/>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7653528" y="1453896"/>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21,982,649</a:t>
            </a:r>
          </a:p>
        </p:txBody>
      </p:sp>
      <p:sp>
        <p:nvSpPr>
          <p:cNvPr id="45" name="Rectangle 44"/>
          <p:cNvSpPr/>
          <p:nvPr/>
        </p:nvSpPr>
        <p:spPr>
          <a:xfrm>
            <a:off x="8458200" y="1453896"/>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8476488" y="1453896"/>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28,222,581</a:t>
            </a:r>
          </a:p>
        </p:txBody>
      </p:sp>
      <p:sp>
        <p:nvSpPr>
          <p:cNvPr id="47" name="Rectangle 46"/>
          <p:cNvSpPr/>
          <p:nvPr/>
        </p:nvSpPr>
        <p:spPr>
          <a:xfrm>
            <a:off x="9281160" y="1453896"/>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9299448" y="1453896"/>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34,979,592</a:t>
            </a:r>
          </a:p>
        </p:txBody>
      </p:sp>
      <p:sp>
        <p:nvSpPr>
          <p:cNvPr id="49" name="Rectangle 48"/>
          <p:cNvSpPr/>
          <p:nvPr/>
        </p:nvSpPr>
        <p:spPr>
          <a:xfrm>
            <a:off x="10104120" y="1453896"/>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10122408" y="1453896"/>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43,004,323</a:t>
            </a:r>
          </a:p>
        </p:txBody>
      </p:sp>
      <p:sp>
        <p:nvSpPr>
          <p:cNvPr id="51" name="Rectangle 50"/>
          <p:cNvSpPr/>
          <p:nvPr/>
        </p:nvSpPr>
        <p:spPr>
          <a:xfrm>
            <a:off x="10927080" y="1453896"/>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10945368" y="1453896"/>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51,680,445</a:t>
            </a:r>
          </a:p>
        </p:txBody>
      </p:sp>
      <p:sp>
        <p:nvSpPr>
          <p:cNvPr id="53" name="Rectangle 52"/>
          <p:cNvSpPr/>
          <p:nvPr/>
        </p:nvSpPr>
        <p:spPr>
          <a:xfrm>
            <a:off x="320040" y="1764792"/>
            <a:ext cx="237744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338328" y="1764792"/>
            <a:ext cx="2340864" cy="310896"/>
          </a:xfrm>
          <a:prstGeom prst="rect">
            <a:avLst/>
          </a:prstGeom>
          <a:noFill/>
        </p:spPr>
        <p:txBody>
          <a:bodyPr wrap="square" anchor="ctr" lIns="45720" rIns="45720" tIns="9144" bIns="9144">
            <a:spAutoFit/>
          </a:bodyPr>
          <a:lstStyle/>
          <a:p>
            <a:pPr algn="l"/>
            <a:r>
              <a:rPr sz="850" b="0" i="0">
                <a:solidFill>
                  <a:srgbClr val="334155"/>
                </a:solidFill>
                <a:latin typeface="Calibri"/>
              </a:rPr>
              <a:t>(−) Costos variables</a:t>
            </a:r>
          </a:p>
        </p:txBody>
      </p:sp>
      <p:sp>
        <p:nvSpPr>
          <p:cNvPr id="55" name="Rectangle 54"/>
          <p:cNvSpPr/>
          <p:nvPr/>
        </p:nvSpPr>
        <p:spPr>
          <a:xfrm>
            <a:off x="2697480" y="1764792"/>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2715768" y="1764792"/>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57" name="Rectangle 56"/>
          <p:cNvSpPr/>
          <p:nvPr/>
        </p:nvSpPr>
        <p:spPr>
          <a:xfrm>
            <a:off x="3520440" y="1764792"/>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3538728" y="1764792"/>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1,708,181</a:t>
            </a:r>
          </a:p>
        </p:txBody>
      </p:sp>
      <p:sp>
        <p:nvSpPr>
          <p:cNvPr id="59" name="Rectangle 58"/>
          <p:cNvSpPr/>
          <p:nvPr/>
        </p:nvSpPr>
        <p:spPr>
          <a:xfrm>
            <a:off x="4343400" y="1764792"/>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4361688" y="1764792"/>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2,975,081</a:t>
            </a:r>
          </a:p>
        </p:txBody>
      </p:sp>
      <p:sp>
        <p:nvSpPr>
          <p:cNvPr id="61" name="Rectangle 60"/>
          <p:cNvSpPr/>
          <p:nvPr/>
        </p:nvSpPr>
        <p:spPr>
          <a:xfrm>
            <a:off x="5166360" y="1764792"/>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5184648" y="1764792"/>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4,663,440</a:t>
            </a:r>
          </a:p>
        </p:txBody>
      </p:sp>
      <p:sp>
        <p:nvSpPr>
          <p:cNvPr id="63" name="Rectangle 62"/>
          <p:cNvSpPr/>
          <p:nvPr/>
        </p:nvSpPr>
        <p:spPr>
          <a:xfrm>
            <a:off x="5989320" y="1764792"/>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6007608" y="1764792"/>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6,822,613</a:t>
            </a:r>
          </a:p>
        </p:txBody>
      </p:sp>
      <p:sp>
        <p:nvSpPr>
          <p:cNvPr id="65" name="Rectangle 64"/>
          <p:cNvSpPr/>
          <p:nvPr/>
        </p:nvSpPr>
        <p:spPr>
          <a:xfrm>
            <a:off x="6812280" y="1764792"/>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6830568" y="1764792"/>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9,506,174</a:t>
            </a:r>
          </a:p>
        </p:txBody>
      </p:sp>
      <p:sp>
        <p:nvSpPr>
          <p:cNvPr id="67" name="Rectangle 66"/>
          <p:cNvSpPr/>
          <p:nvPr/>
        </p:nvSpPr>
        <p:spPr>
          <a:xfrm>
            <a:off x="7635240" y="1764792"/>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7653528" y="1764792"/>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12,417,440</a:t>
            </a:r>
          </a:p>
        </p:txBody>
      </p:sp>
      <p:sp>
        <p:nvSpPr>
          <p:cNvPr id="69" name="Rectangle 68"/>
          <p:cNvSpPr/>
          <p:nvPr/>
        </p:nvSpPr>
        <p:spPr>
          <a:xfrm>
            <a:off x="8458200" y="1764792"/>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8476488" y="1764792"/>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15,942,219</a:t>
            </a:r>
          </a:p>
        </p:txBody>
      </p:sp>
      <p:sp>
        <p:nvSpPr>
          <p:cNvPr id="71" name="Rectangle 70"/>
          <p:cNvSpPr/>
          <p:nvPr/>
        </p:nvSpPr>
        <p:spPr>
          <a:xfrm>
            <a:off x="9281160" y="1764792"/>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9299448" y="1764792"/>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19,759,082</a:t>
            </a:r>
          </a:p>
        </p:txBody>
      </p:sp>
      <p:sp>
        <p:nvSpPr>
          <p:cNvPr id="73" name="Rectangle 72"/>
          <p:cNvSpPr/>
          <p:nvPr/>
        </p:nvSpPr>
        <p:spPr>
          <a:xfrm>
            <a:off x="10104120" y="1764792"/>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Box 73"/>
          <p:cNvSpPr txBox="1"/>
          <p:nvPr/>
        </p:nvSpPr>
        <p:spPr>
          <a:xfrm>
            <a:off x="10122408" y="1764792"/>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24,292,048</a:t>
            </a:r>
          </a:p>
        </p:txBody>
      </p:sp>
      <p:sp>
        <p:nvSpPr>
          <p:cNvPr id="75" name="Rectangle 74"/>
          <p:cNvSpPr/>
          <p:nvPr/>
        </p:nvSpPr>
        <p:spPr>
          <a:xfrm>
            <a:off x="10927080" y="1764792"/>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Box 75"/>
          <p:cNvSpPr txBox="1"/>
          <p:nvPr/>
        </p:nvSpPr>
        <p:spPr>
          <a:xfrm>
            <a:off x="10945368" y="1764792"/>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29,192,969</a:t>
            </a:r>
          </a:p>
        </p:txBody>
      </p:sp>
      <p:sp>
        <p:nvSpPr>
          <p:cNvPr id="77" name="Rectangle 76"/>
          <p:cNvSpPr/>
          <p:nvPr/>
        </p:nvSpPr>
        <p:spPr>
          <a:xfrm>
            <a:off x="320040" y="2075688"/>
            <a:ext cx="237744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338328" y="2075688"/>
            <a:ext cx="2340864" cy="310896"/>
          </a:xfrm>
          <a:prstGeom prst="rect">
            <a:avLst/>
          </a:prstGeom>
          <a:noFill/>
        </p:spPr>
        <p:txBody>
          <a:bodyPr wrap="square" anchor="ctr" lIns="45720" rIns="45720" tIns="9144" bIns="9144">
            <a:spAutoFit/>
          </a:bodyPr>
          <a:lstStyle/>
          <a:p>
            <a:pPr algn="l"/>
            <a:r>
              <a:rPr sz="850" b="0" i="0">
                <a:solidFill>
                  <a:srgbClr val="334155"/>
                </a:solidFill>
                <a:latin typeface="Calibri"/>
              </a:rPr>
              <a:t>(−) Costos fijos</a:t>
            </a:r>
          </a:p>
        </p:txBody>
      </p:sp>
      <p:sp>
        <p:nvSpPr>
          <p:cNvPr id="79" name="Rectangle 78"/>
          <p:cNvSpPr/>
          <p:nvPr/>
        </p:nvSpPr>
        <p:spPr>
          <a:xfrm>
            <a:off x="2697480" y="2075688"/>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TextBox 79"/>
          <p:cNvSpPr txBox="1"/>
          <p:nvPr/>
        </p:nvSpPr>
        <p:spPr>
          <a:xfrm>
            <a:off x="2715768" y="2075688"/>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81" name="Rectangle 80"/>
          <p:cNvSpPr/>
          <p:nvPr/>
        </p:nvSpPr>
        <p:spPr>
          <a:xfrm>
            <a:off x="3520440" y="2075688"/>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Box 81"/>
          <p:cNvSpPr txBox="1"/>
          <p:nvPr/>
        </p:nvSpPr>
        <p:spPr>
          <a:xfrm>
            <a:off x="3538728" y="2075688"/>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2,048,517</a:t>
            </a:r>
          </a:p>
        </p:txBody>
      </p:sp>
      <p:sp>
        <p:nvSpPr>
          <p:cNvPr id="83" name="Rectangle 82"/>
          <p:cNvSpPr/>
          <p:nvPr/>
        </p:nvSpPr>
        <p:spPr>
          <a:xfrm>
            <a:off x="4343400" y="2075688"/>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Box 83"/>
          <p:cNvSpPr txBox="1"/>
          <p:nvPr/>
        </p:nvSpPr>
        <p:spPr>
          <a:xfrm>
            <a:off x="4361688" y="2075688"/>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2,140,700</a:t>
            </a:r>
          </a:p>
        </p:txBody>
      </p:sp>
      <p:sp>
        <p:nvSpPr>
          <p:cNvPr id="85" name="Rectangle 84"/>
          <p:cNvSpPr/>
          <p:nvPr/>
        </p:nvSpPr>
        <p:spPr>
          <a:xfrm>
            <a:off x="5166360" y="2075688"/>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TextBox 85"/>
          <p:cNvSpPr txBox="1"/>
          <p:nvPr/>
        </p:nvSpPr>
        <p:spPr>
          <a:xfrm>
            <a:off x="5184648" y="2075688"/>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2,237,031</a:t>
            </a:r>
          </a:p>
        </p:txBody>
      </p:sp>
      <p:sp>
        <p:nvSpPr>
          <p:cNvPr id="87" name="Rectangle 86"/>
          <p:cNvSpPr/>
          <p:nvPr/>
        </p:nvSpPr>
        <p:spPr>
          <a:xfrm>
            <a:off x="5989320" y="2075688"/>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Box 87"/>
          <p:cNvSpPr txBox="1"/>
          <p:nvPr/>
        </p:nvSpPr>
        <p:spPr>
          <a:xfrm>
            <a:off x="6007608" y="2075688"/>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2,337,698</a:t>
            </a:r>
          </a:p>
        </p:txBody>
      </p:sp>
      <p:sp>
        <p:nvSpPr>
          <p:cNvPr id="89" name="Rectangle 88"/>
          <p:cNvSpPr/>
          <p:nvPr/>
        </p:nvSpPr>
        <p:spPr>
          <a:xfrm>
            <a:off x="6812280" y="2075688"/>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TextBox 89"/>
          <p:cNvSpPr txBox="1"/>
          <p:nvPr/>
        </p:nvSpPr>
        <p:spPr>
          <a:xfrm>
            <a:off x="6830568" y="2075688"/>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2,442,894</a:t>
            </a:r>
          </a:p>
        </p:txBody>
      </p:sp>
      <p:sp>
        <p:nvSpPr>
          <p:cNvPr id="91" name="Rectangle 90"/>
          <p:cNvSpPr/>
          <p:nvPr/>
        </p:nvSpPr>
        <p:spPr>
          <a:xfrm>
            <a:off x="7635240" y="2075688"/>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TextBox 91"/>
          <p:cNvSpPr txBox="1"/>
          <p:nvPr/>
        </p:nvSpPr>
        <p:spPr>
          <a:xfrm>
            <a:off x="7653528" y="2075688"/>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2,552,824</a:t>
            </a:r>
          </a:p>
        </p:txBody>
      </p:sp>
      <p:sp>
        <p:nvSpPr>
          <p:cNvPr id="93" name="Rectangle 92"/>
          <p:cNvSpPr/>
          <p:nvPr/>
        </p:nvSpPr>
        <p:spPr>
          <a:xfrm>
            <a:off x="8458200" y="2075688"/>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TextBox 93"/>
          <p:cNvSpPr txBox="1"/>
          <p:nvPr/>
        </p:nvSpPr>
        <p:spPr>
          <a:xfrm>
            <a:off x="8476488" y="2075688"/>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2,667,701</a:t>
            </a:r>
          </a:p>
        </p:txBody>
      </p:sp>
      <p:sp>
        <p:nvSpPr>
          <p:cNvPr id="95" name="Rectangle 94"/>
          <p:cNvSpPr/>
          <p:nvPr/>
        </p:nvSpPr>
        <p:spPr>
          <a:xfrm>
            <a:off x="9281160" y="2075688"/>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TextBox 95"/>
          <p:cNvSpPr txBox="1"/>
          <p:nvPr/>
        </p:nvSpPr>
        <p:spPr>
          <a:xfrm>
            <a:off x="9299448" y="2075688"/>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2,787,748</a:t>
            </a:r>
          </a:p>
        </p:txBody>
      </p:sp>
      <p:sp>
        <p:nvSpPr>
          <p:cNvPr id="97" name="Rectangle 96"/>
          <p:cNvSpPr/>
          <p:nvPr/>
        </p:nvSpPr>
        <p:spPr>
          <a:xfrm>
            <a:off x="10104120" y="2075688"/>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TextBox 97"/>
          <p:cNvSpPr txBox="1"/>
          <p:nvPr/>
        </p:nvSpPr>
        <p:spPr>
          <a:xfrm>
            <a:off x="10122408" y="2075688"/>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2,913,197</a:t>
            </a:r>
          </a:p>
        </p:txBody>
      </p:sp>
      <p:sp>
        <p:nvSpPr>
          <p:cNvPr id="99" name="Rectangle 98"/>
          <p:cNvSpPr/>
          <p:nvPr/>
        </p:nvSpPr>
        <p:spPr>
          <a:xfrm>
            <a:off x="10927080" y="2075688"/>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Box 99"/>
          <p:cNvSpPr txBox="1"/>
          <p:nvPr/>
        </p:nvSpPr>
        <p:spPr>
          <a:xfrm>
            <a:off x="10945368" y="2075688"/>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3,044,290</a:t>
            </a:r>
          </a:p>
        </p:txBody>
      </p:sp>
      <p:sp>
        <p:nvSpPr>
          <p:cNvPr id="101" name="Rectangle 100"/>
          <p:cNvSpPr/>
          <p:nvPr/>
        </p:nvSpPr>
        <p:spPr>
          <a:xfrm>
            <a:off x="320040" y="2386584"/>
            <a:ext cx="237744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Box 101"/>
          <p:cNvSpPr txBox="1"/>
          <p:nvPr/>
        </p:nvSpPr>
        <p:spPr>
          <a:xfrm>
            <a:off x="338328" y="2386584"/>
            <a:ext cx="2340864" cy="310896"/>
          </a:xfrm>
          <a:prstGeom prst="rect">
            <a:avLst/>
          </a:prstGeom>
          <a:noFill/>
        </p:spPr>
        <p:txBody>
          <a:bodyPr wrap="square" anchor="ctr" lIns="45720" rIns="45720" tIns="9144" bIns="9144">
            <a:spAutoFit/>
          </a:bodyPr>
          <a:lstStyle/>
          <a:p>
            <a:pPr algn="l"/>
            <a:r>
              <a:rPr sz="850" b="0" i="0">
                <a:solidFill>
                  <a:srgbClr val="334155"/>
                </a:solidFill>
                <a:latin typeface="Calibri"/>
              </a:rPr>
              <a:t>(−) Depreciación y amortización</a:t>
            </a:r>
          </a:p>
        </p:txBody>
      </p:sp>
      <p:sp>
        <p:nvSpPr>
          <p:cNvPr id="103" name="Rectangle 102"/>
          <p:cNvSpPr/>
          <p:nvPr/>
        </p:nvSpPr>
        <p:spPr>
          <a:xfrm>
            <a:off x="2697480" y="2386584"/>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TextBox 103"/>
          <p:cNvSpPr txBox="1"/>
          <p:nvPr/>
        </p:nvSpPr>
        <p:spPr>
          <a:xfrm>
            <a:off x="2715768" y="2386584"/>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105" name="Rectangle 104"/>
          <p:cNvSpPr/>
          <p:nvPr/>
        </p:nvSpPr>
        <p:spPr>
          <a:xfrm>
            <a:off x="3520440" y="2386584"/>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TextBox 105"/>
          <p:cNvSpPr txBox="1"/>
          <p:nvPr/>
        </p:nvSpPr>
        <p:spPr>
          <a:xfrm>
            <a:off x="3538728" y="2386584"/>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204,700</a:t>
            </a:r>
          </a:p>
        </p:txBody>
      </p:sp>
      <p:sp>
        <p:nvSpPr>
          <p:cNvPr id="107" name="Rectangle 106"/>
          <p:cNvSpPr/>
          <p:nvPr/>
        </p:nvSpPr>
        <p:spPr>
          <a:xfrm>
            <a:off x="4343400" y="2386584"/>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TextBox 107"/>
          <p:cNvSpPr txBox="1"/>
          <p:nvPr/>
        </p:nvSpPr>
        <p:spPr>
          <a:xfrm>
            <a:off x="4361688" y="2386584"/>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204,700</a:t>
            </a:r>
          </a:p>
        </p:txBody>
      </p:sp>
      <p:sp>
        <p:nvSpPr>
          <p:cNvPr id="109" name="Rectangle 108"/>
          <p:cNvSpPr/>
          <p:nvPr/>
        </p:nvSpPr>
        <p:spPr>
          <a:xfrm>
            <a:off x="5166360" y="2386584"/>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TextBox 109"/>
          <p:cNvSpPr txBox="1"/>
          <p:nvPr/>
        </p:nvSpPr>
        <p:spPr>
          <a:xfrm>
            <a:off x="5184648" y="2386584"/>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204,700</a:t>
            </a:r>
          </a:p>
        </p:txBody>
      </p:sp>
      <p:sp>
        <p:nvSpPr>
          <p:cNvPr id="111" name="Rectangle 110"/>
          <p:cNvSpPr/>
          <p:nvPr/>
        </p:nvSpPr>
        <p:spPr>
          <a:xfrm>
            <a:off x="5989320" y="2386584"/>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TextBox 111"/>
          <p:cNvSpPr txBox="1"/>
          <p:nvPr/>
        </p:nvSpPr>
        <p:spPr>
          <a:xfrm>
            <a:off x="6007608" y="2386584"/>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204,700</a:t>
            </a:r>
          </a:p>
        </p:txBody>
      </p:sp>
      <p:sp>
        <p:nvSpPr>
          <p:cNvPr id="113" name="Rectangle 112"/>
          <p:cNvSpPr/>
          <p:nvPr/>
        </p:nvSpPr>
        <p:spPr>
          <a:xfrm>
            <a:off x="6812280" y="2386584"/>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TextBox 113"/>
          <p:cNvSpPr txBox="1"/>
          <p:nvPr/>
        </p:nvSpPr>
        <p:spPr>
          <a:xfrm>
            <a:off x="6830568" y="2386584"/>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204,700</a:t>
            </a:r>
          </a:p>
        </p:txBody>
      </p:sp>
      <p:sp>
        <p:nvSpPr>
          <p:cNvPr id="115" name="Rectangle 114"/>
          <p:cNvSpPr/>
          <p:nvPr/>
        </p:nvSpPr>
        <p:spPr>
          <a:xfrm>
            <a:off x="7635240" y="2386584"/>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TextBox 115"/>
          <p:cNvSpPr txBox="1"/>
          <p:nvPr/>
        </p:nvSpPr>
        <p:spPr>
          <a:xfrm>
            <a:off x="7653528" y="2386584"/>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89,500</a:t>
            </a:r>
          </a:p>
        </p:txBody>
      </p:sp>
      <p:sp>
        <p:nvSpPr>
          <p:cNvPr id="117" name="Rectangle 116"/>
          <p:cNvSpPr/>
          <p:nvPr/>
        </p:nvSpPr>
        <p:spPr>
          <a:xfrm>
            <a:off x="8458200" y="2386584"/>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TextBox 117"/>
          <p:cNvSpPr txBox="1"/>
          <p:nvPr/>
        </p:nvSpPr>
        <p:spPr>
          <a:xfrm>
            <a:off x="8476488" y="2386584"/>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89,500</a:t>
            </a:r>
          </a:p>
        </p:txBody>
      </p:sp>
      <p:sp>
        <p:nvSpPr>
          <p:cNvPr id="119" name="Rectangle 118"/>
          <p:cNvSpPr/>
          <p:nvPr/>
        </p:nvSpPr>
        <p:spPr>
          <a:xfrm>
            <a:off x="9281160" y="2386584"/>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TextBox 119"/>
          <p:cNvSpPr txBox="1"/>
          <p:nvPr/>
        </p:nvSpPr>
        <p:spPr>
          <a:xfrm>
            <a:off x="9299448" y="2386584"/>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89,500</a:t>
            </a:r>
          </a:p>
        </p:txBody>
      </p:sp>
      <p:sp>
        <p:nvSpPr>
          <p:cNvPr id="121" name="Rectangle 120"/>
          <p:cNvSpPr/>
          <p:nvPr/>
        </p:nvSpPr>
        <p:spPr>
          <a:xfrm>
            <a:off x="10104120" y="2386584"/>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TextBox 121"/>
          <p:cNvSpPr txBox="1"/>
          <p:nvPr/>
        </p:nvSpPr>
        <p:spPr>
          <a:xfrm>
            <a:off x="10122408" y="2386584"/>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89,500</a:t>
            </a:r>
          </a:p>
        </p:txBody>
      </p:sp>
      <p:sp>
        <p:nvSpPr>
          <p:cNvPr id="123" name="Rectangle 122"/>
          <p:cNvSpPr/>
          <p:nvPr/>
        </p:nvSpPr>
        <p:spPr>
          <a:xfrm>
            <a:off x="10927080" y="2386584"/>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TextBox 123"/>
          <p:cNvSpPr txBox="1"/>
          <p:nvPr/>
        </p:nvSpPr>
        <p:spPr>
          <a:xfrm>
            <a:off x="10945368" y="2386584"/>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89,500</a:t>
            </a:r>
          </a:p>
        </p:txBody>
      </p:sp>
      <p:sp>
        <p:nvSpPr>
          <p:cNvPr id="125" name="Rectangle 124"/>
          <p:cNvSpPr/>
          <p:nvPr/>
        </p:nvSpPr>
        <p:spPr>
          <a:xfrm>
            <a:off x="320040" y="2697479"/>
            <a:ext cx="237744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TextBox 125"/>
          <p:cNvSpPr txBox="1"/>
          <p:nvPr/>
        </p:nvSpPr>
        <p:spPr>
          <a:xfrm>
            <a:off x="338328" y="2697479"/>
            <a:ext cx="2340864" cy="310896"/>
          </a:xfrm>
          <a:prstGeom prst="rect">
            <a:avLst/>
          </a:prstGeom>
          <a:noFill/>
        </p:spPr>
        <p:txBody>
          <a:bodyPr wrap="square" anchor="ctr" lIns="45720" rIns="45720" tIns="9144" bIns="9144">
            <a:spAutoFit/>
          </a:bodyPr>
          <a:lstStyle/>
          <a:p>
            <a:pPr algn="l"/>
            <a:r>
              <a:rPr sz="850" b="0" i="0">
                <a:solidFill>
                  <a:srgbClr val="334155"/>
                </a:solidFill>
                <a:latin typeface="Calibri"/>
              </a:rPr>
              <a:t>(−) ICS</a:t>
            </a:r>
          </a:p>
        </p:txBody>
      </p:sp>
      <p:sp>
        <p:nvSpPr>
          <p:cNvPr id="127" name="Rectangle 126"/>
          <p:cNvSpPr/>
          <p:nvPr/>
        </p:nvSpPr>
        <p:spPr>
          <a:xfrm>
            <a:off x="2697480" y="2697479"/>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TextBox 127"/>
          <p:cNvSpPr txBox="1"/>
          <p:nvPr/>
        </p:nvSpPr>
        <p:spPr>
          <a:xfrm>
            <a:off x="2715768" y="2697479"/>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129" name="Rectangle 128"/>
          <p:cNvSpPr/>
          <p:nvPr/>
        </p:nvSpPr>
        <p:spPr>
          <a:xfrm>
            <a:off x="3520440" y="2697479"/>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TextBox 129"/>
          <p:cNvSpPr txBox="1"/>
          <p:nvPr/>
        </p:nvSpPr>
        <p:spPr>
          <a:xfrm>
            <a:off x="3538728" y="2697479"/>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1,160</a:t>
            </a:r>
          </a:p>
        </p:txBody>
      </p:sp>
      <p:sp>
        <p:nvSpPr>
          <p:cNvPr id="131" name="Rectangle 130"/>
          <p:cNvSpPr/>
          <p:nvPr/>
        </p:nvSpPr>
        <p:spPr>
          <a:xfrm>
            <a:off x="4343400" y="2697479"/>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TextBox 131"/>
          <p:cNvSpPr txBox="1"/>
          <p:nvPr/>
        </p:nvSpPr>
        <p:spPr>
          <a:xfrm>
            <a:off x="4361688" y="2697479"/>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2,057</a:t>
            </a:r>
          </a:p>
        </p:txBody>
      </p:sp>
      <p:sp>
        <p:nvSpPr>
          <p:cNvPr id="133" name="Rectangle 132"/>
          <p:cNvSpPr/>
          <p:nvPr/>
        </p:nvSpPr>
        <p:spPr>
          <a:xfrm>
            <a:off x="5166360" y="2697479"/>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4" name="TextBox 133"/>
          <p:cNvSpPr txBox="1"/>
          <p:nvPr/>
        </p:nvSpPr>
        <p:spPr>
          <a:xfrm>
            <a:off x="5184648" y="2697479"/>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3,252</a:t>
            </a:r>
          </a:p>
        </p:txBody>
      </p:sp>
      <p:sp>
        <p:nvSpPr>
          <p:cNvPr id="135" name="Rectangle 134"/>
          <p:cNvSpPr/>
          <p:nvPr/>
        </p:nvSpPr>
        <p:spPr>
          <a:xfrm>
            <a:off x="5989320" y="2697479"/>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TextBox 135"/>
          <p:cNvSpPr txBox="1"/>
          <p:nvPr/>
        </p:nvSpPr>
        <p:spPr>
          <a:xfrm>
            <a:off x="6007608" y="2697479"/>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4,573</a:t>
            </a:r>
          </a:p>
        </p:txBody>
      </p:sp>
      <p:sp>
        <p:nvSpPr>
          <p:cNvPr id="137" name="Rectangle 136"/>
          <p:cNvSpPr/>
          <p:nvPr/>
        </p:nvSpPr>
        <p:spPr>
          <a:xfrm>
            <a:off x="6812280" y="2697479"/>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TextBox 137"/>
          <p:cNvSpPr txBox="1"/>
          <p:nvPr/>
        </p:nvSpPr>
        <p:spPr>
          <a:xfrm>
            <a:off x="6830568" y="2697479"/>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5,999</a:t>
            </a:r>
          </a:p>
        </p:txBody>
      </p:sp>
      <p:sp>
        <p:nvSpPr>
          <p:cNvPr id="139" name="Rectangle 138"/>
          <p:cNvSpPr/>
          <p:nvPr/>
        </p:nvSpPr>
        <p:spPr>
          <a:xfrm>
            <a:off x="7635240" y="2697479"/>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TextBox 139"/>
          <p:cNvSpPr txBox="1"/>
          <p:nvPr/>
        </p:nvSpPr>
        <p:spPr>
          <a:xfrm>
            <a:off x="7653528" y="2697479"/>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7,347</a:t>
            </a:r>
          </a:p>
        </p:txBody>
      </p:sp>
      <p:sp>
        <p:nvSpPr>
          <p:cNvPr id="141" name="Rectangle 140"/>
          <p:cNvSpPr/>
          <p:nvPr/>
        </p:nvSpPr>
        <p:spPr>
          <a:xfrm>
            <a:off x="8458200" y="2697479"/>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2" name="TextBox 141"/>
          <p:cNvSpPr txBox="1"/>
          <p:nvPr/>
        </p:nvSpPr>
        <p:spPr>
          <a:xfrm>
            <a:off x="8476488" y="2697479"/>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8,595</a:t>
            </a:r>
          </a:p>
        </p:txBody>
      </p:sp>
      <p:sp>
        <p:nvSpPr>
          <p:cNvPr id="143" name="Rectangle 142"/>
          <p:cNvSpPr/>
          <p:nvPr/>
        </p:nvSpPr>
        <p:spPr>
          <a:xfrm>
            <a:off x="9281160" y="2697479"/>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4" name="TextBox 143"/>
          <p:cNvSpPr txBox="1"/>
          <p:nvPr/>
        </p:nvSpPr>
        <p:spPr>
          <a:xfrm>
            <a:off x="9299448" y="2697479"/>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9,697</a:t>
            </a:r>
          </a:p>
        </p:txBody>
      </p:sp>
      <p:sp>
        <p:nvSpPr>
          <p:cNvPr id="145" name="Rectangle 144"/>
          <p:cNvSpPr/>
          <p:nvPr/>
        </p:nvSpPr>
        <p:spPr>
          <a:xfrm>
            <a:off x="10104120" y="2697479"/>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6" name="TextBox 145"/>
          <p:cNvSpPr txBox="1"/>
          <p:nvPr/>
        </p:nvSpPr>
        <p:spPr>
          <a:xfrm>
            <a:off x="10122408" y="2697479"/>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10,901</a:t>
            </a:r>
          </a:p>
        </p:txBody>
      </p:sp>
      <p:sp>
        <p:nvSpPr>
          <p:cNvPr id="147" name="Rectangle 146"/>
          <p:cNvSpPr/>
          <p:nvPr/>
        </p:nvSpPr>
        <p:spPr>
          <a:xfrm>
            <a:off x="10927080" y="2697479"/>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8" name="TextBox 147"/>
          <p:cNvSpPr txBox="1"/>
          <p:nvPr/>
        </p:nvSpPr>
        <p:spPr>
          <a:xfrm>
            <a:off x="10945368" y="2697479"/>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12,202</a:t>
            </a:r>
          </a:p>
        </p:txBody>
      </p:sp>
      <p:sp>
        <p:nvSpPr>
          <p:cNvPr id="149" name="Rectangle 148"/>
          <p:cNvSpPr/>
          <p:nvPr/>
        </p:nvSpPr>
        <p:spPr>
          <a:xfrm>
            <a:off x="320040" y="3008375"/>
            <a:ext cx="237744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TextBox 149"/>
          <p:cNvSpPr txBox="1"/>
          <p:nvPr/>
        </p:nvSpPr>
        <p:spPr>
          <a:xfrm>
            <a:off x="338328" y="3008375"/>
            <a:ext cx="2340864" cy="310896"/>
          </a:xfrm>
          <a:prstGeom prst="rect">
            <a:avLst/>
          </a:prstGeom>
          <a:noFill/>
        </p:spPr>
        <p:txBody>
          <a:bodyPr wrap="square" anchor="ctr" lIns="45720" rIns="45720" tIns="9144" bIns="9144">
            <a:spAutoFit/>
          </a:bodyPr>
          <a:lstStyle/>
          <a:p>
            <a:pPr algn="l"/>
            <a:r>
              <a:rPr sz="850" b="1" i="0">
                <a:solidFill>
                  <a:srgbClr val="0D2341"/>
                </a:solidFill>
                <a:latin typeface="Calibri"/>
              </a:rPr>
              <a:t>(=) Utilidad antes de impuestos</a:t>
            </a:r>
          </a:p>
        </p:txBody>
      </p:sp>
      <p:sp>
        <p:nvSpPr>
          <p:cNvPr id="151" name="Rectangle 150"/>
          <p:cNvSpPr/>
          <p:nvPr/>
        </p:nvSpPr>
        <p:spPr>
          <a:xfrm>
            <a:off x="2697480" y="3008375"/>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2" name="TextBox 151"/>
          <p:cNvSpPr txBox="1"/>
          <p:nvPr/>
        </p:nvSpPr>
        <p:spPr>
          <a:xfrm>
            <a:off x="2715768" y="3008375"/>
            <a:ext cx="786384" cy="310896"/>
          </a:xfrm>
          <a:prstGeom prst="rect">
            <a:avLst/>
          </a:prstGeom>
          <a:noFill/>
        </p:spPr>
        <p:txBody>
          <a:bodyPr wrap="square" anchor="ctr" lIns="45720" rIns="45720" tIns="9144" bIns="9144">
            <a:spAutoFit/>
          </a:bodyPr>
          <a:lstStyle/>
          <a:p>
            <a:pPr algn="r"/>
            <a:r>
              <a:rPr sz="850" b="1" i="0">
                <a:solidFill>
                  <a:srgbClr val="0D2341"/>
                </a:solidFill>
                <a:latin typeface="Calibri"/>
              </a:rPr>
              <a:t>0</a:t>
            </a:r>
          </a:p>
        </p:txBody>
      </p:sp>
      <p:sp>
        <p:nvSpPr>
          <p:cNvPr id="153" name="Rectangle 152"/>
          <p:cNvSpPr/>
          <p:nvPr/>
        </p:nvSpPr>
        <p:spPr>
          <a:xfrm>
            <a:off x="3520440" y="3008375"/>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 name="TextBox 153"/>
          <p:cNvSpPr txBox="1"/>
          <p:nvPr/>
        </p:nvSpPr>
        <p:spPr>
          <a:xfrm>
            <a:off x="3538728" y="3008375"/>
            <a:ext cx="786384" cy="310896"/>
          </a:xfrm>
          <a:prstGeom prst="rect">
            <a:avLst/>
          </a:prstGeom>
          <a:noFill/>
        </p:spPr>
        <p:txBody>
          <a:bodyPr wrap="square" anchor="ctr" lIns="45720" rIns="45720" tIns="9144" bIns="9144">
            <a:spAutoFit/>
          </a:bodyPr>
          <a:lstStyle/>
          <a:p>
            <a:pPr algn="r"/>
            <a:r>
              <a:rPr sz="850" b="1" i="0">
                <a:solidFill>
                  <a:srgbClr val="0D2341"/>
                </a:solidFill>
                <a:latin typeface="Calibri"/>
              </a:rPr>
              <a:t>−938,557</a:t>
            </a:r>
          </a:p>
        </p:txBody>
      </p:sp>
      <p:sp>
        <p:nvSpPr>
          <p:cNvPr id="155" name="Rectangle 154"/>
          <p:cNvSpPr/>
          <p:nvPr/>
        </p:nvSpPr>
        <p:spPr>
          <a:xfrm>
            <a:off x="4343400" y="3008375"/>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TextBox 155"/>
          <p:cNvSpPr txBox="1"/>
          <p:nvPr/>
        </p:nvSpPr>
        <p:spPr>
          <a:xfrm>
            <a:off x="4361688" y="3008375"/>
            <a:ext cx="786384" cy="310896"/>
          </a:xfrm>
          <a:prstGeom prst="rect">
            <a:avLst/>
          </a:prstGeom>
          <a:noFill/>
        </p:spPr>
        <p:txBody>
          <a:bodyPr wrap="square" anchor="ctr" lIns="45720" rIns="45720" tIns="9144" bIns="9144">
            <a:spAutoFit/>
          </a:bodyPr>
          <a:lstStyle/>
          <a:p>
            <a:pPr algn="r"/>
            <a:r>
              <a:rPr sz="850" b="1" i="0">
                <a:solidFill>
                  <a:srgbClr val="0D2341"/>
                </a:solidFill>
                <a:latin typeface="Calibri"/>
              </a:rPr>
              <a:t>−55,738</a:t>
            </a:r>
          </a:p>
        </p:txBody>
      </p:sp>
      <p:sp>
        <p:nvSpPr>
          <p:cNvPr id="157" name="Rectangle 156"/>
          <p:cNvSpPr/>
          <p:nvPr/>
        </p:nvSpPr>
        <p:spPr>
          <a:xfrm>
            <a:off x="5166360" y="3008375"/>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TextBox 157"/>
          <p:cNvSpPr txBox="1"/>
          <p:nvPr/>
        </p:nvSpPr>
        <p:spPr>
          <a:xfrm>
            <a:off x="5184648" y="3008375"/>
            <a:ext cx="786384" cy="310896"/>
          </a:xfrm>
          <a:prstGeom prst="rect">
            <a:avLst/>
          </a:prstGeom>
          <a:noFill/>
        </p:spPr>
        <p:txBody>
          <a:bodyPr wrap="square" anchor="ctr" lIns="45720" rIns="45720" tIns="9144" bIns="9144">
            <a:spAutoFit/>
          </a:bodyPr>
          <a:lstStyle/>
          <a:p>
            <a:pPr algn="r"/>
            <a:r>
              <a:rPr sz="850" b="1" i="0">
                <a:solidFill>
                  <a:srgbClr val="0D2341"/>
                </a:solidFill>
                <a:latin typeface="Calibri"/>
              </a:rPr>
              <a:t>1,147,285</a:t>
            </a:r>
          </a:p>
        </p:txBody>
      </p:sp>
      <p:sp>
        <p:nvSpPr>
          <p:cNvPr id="159" name="Rectangle 158"/>
          <p:cNvSpPr/>
          <p:nvPr/>
        </p:nvSpPr>
        <p:spPr>
          <a:xfrm>
            <a:off x="5989320" y="3008375"/>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0" name="TextBox 159"/>
          <p:cNvSpPr txBox="1"/>
          <p:nvPr/>
        </p:nvSpPr>
        <p:spPr>
          <a:xfrm>
            <a:off x="6007608" y="3008375"/>
            <a:ext cx="786384" cy="310896"/>
          </a:xfrm>
          <a:prstGeom prst="rect">
            <a:avLst/>
          </a:prstGeom>
          <a:noFill/>
        </p:spPr>
        <p:txBody>
          <a:bodyPr wrap="square" anchor="ctr" lIns="45720" rIns="45720" tIns="9144" bIns="9144">
            <a:spAutoFit/>
          </a:bodyPr>
          <a:lstStyle/>
          <a:p>
            <a:pPr algn="r"/>
            <a:r>
              <a:rPr sz="850" b="1" i="0">
                <a:solidFill>
                  <a:srgbClr val="0D2341"/>
                </a:solidFill>
                <a:latin typeface="Calibri"/>
              </a:rPr>
              <a:t>2,708,518</a:t>
            </a:r>
          </a:p>
        </p:txBody>
      </p:sp>
      <p:sp>
        <p:nvSpPr>
          <p:cNvPr id="161" name="Rectangle 160"/>
          <p:cNvSpPr/>
          <p:nvPr/>
        </p:nvSpPr>
        <p:spPr>
          <a:xfrm>
            <a:off x="6812280" y="3008375"/>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TextBox 161"/>
          <p:cNvSpPr txBox="1"/>
          <p:nvPr/>
        </p:nvSpPr>
        <p:spPr>
          <a:xfrm>
            <a:off x="6830568" y="3008375"/>
            <a:ext cx="786384" cy="310896"/>
          </a:xfrm>
          <a:prstGeom prst="rect">
            <a:avLst/>
          </a:prstGeom>
          <a:noFill/>
        </p:spPr>
        <p:txBody>
          <a:bodyPr wrap="square" anchor="ctr" lIns="45720" rIns="45720" tIns="9144" bIns="9144">
            <a:spAutoFit/>
          </a:bodyPr>
          <a:lstStyle/>
          <a:p>
            <a:pPr algn="r"/>
            <a:r>
              <a:rPr sz="850" b="1" i="0">
                <a:solidFill>
                  <a:srgbClr val="0D2341"/>
                </a:solidFill>
                <a:latin typeface="Calibri"/>
              </a:rPr>
              <a:t>4,669,056</a:t>
            </a:r>
          </a:p>
        </p:txBody>
      </p:sp>
      <p:sp>
        <p:nvSpPr>
          <p:cNvPr id="163" name="Rectangle 162"/>
          <p:cNvSpPr/>
          <p:nvPr/>
        </p:nvSpPr>
        <p:spPr>
          <a:xfrm>
            <a:off x="7635240" y="3008375"/>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4" name="TextBox 163"/>
          <p:cNvSpPr txBox="1"/>
          <p:nvPr/>
        </p:nvSpPr>
        <p:spPr>
          <a:xfrm>
            <a:off x="7653528" y="3008375"/>
            <a:ext cx="786384" cy="310896"/>
          </a:xfrm>
          <a:prstGeom prst="rect">
            <a:avLst/>
          </a:prstGeom>
          <a:noFill/>
        </p:spPr>
        <p:txBody>
          <a:bodyPr wrap="square" anchor="ctr" lIns="45720" rIns="45720" tIns="9144" bIns="9144">
            <a:spAutoFit/>
          </a:bodyPr>
          <a:lstStyle/>
          <a:p>
            <a:pPr algn="r"/>
            <a:r>
              <a:rPr sz="850" b="1" i="0">
                <a:solidFill>
                  <a:srgbClr val="0D2341"/>
                </a:solidFill>
                <a:latin typeface="Calibri"/>
              </a:rPr>
              <a:t>6,915,539</a:t>
            </a:r>
          </a:p>
        </p:txBody>
      </p:sp>
      <p:sp>
        <p:nvSpPr>
          <p:cNvPr id="165" name="Rectangle 164"/>
          <p:cNvSpPr/>
          <p:nvPr/>
        </p:nvSpPr>
        <p:spPr>
          <a:xfrm>
            <a:off x="8458200" y="3008375"/>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6" name="TextBox 165"/>
          <p:cNvSpPr txBox="1"/>
          <p:nvPr/>
        </p:nvSpPr>
        <p:spPr>
          <a:xfrm>
            <a:off x="8476488" y="3008375"/>
            <a:ext cx="786384" cy="310896"/>
          </a:xfrm>
          <a:prstGeom prst="rect">
            <a:avLst/>
          </a:prstGeom>
          <a:noFill/>
        </p:spPr>
        <p:txBody>
          <a:bodyPr wrap="square" anchor="ctr" lIns="45720" rIns="45720" tIns="9144" bIns="9144">
            <a:spAutoFit/>
          </a:bodyPr>
          <a:lstStyle/>
          <a:p>
            <a:pPr algn="r"/>
            <a:r>
              <a:rPr sz="850" b="1" i="0">
                <a:solidFill>
                  <a:srgbClr val="0D2341"/>
                </a:solidFill>
                <a:latin typeface="Calibri"/>
              </a:rPr>
              <a:t>9,514,567</a:t>
            </a:r>
          </a:p>
        </p:txBody>
      </p:sp>
      <p:sp>
        <p:nvSpPr>
          <p:cNvPr id="167" name="Rectangle 166"/>
          <p:cNvSpPr/>
          <p:nvPr/>
        </p:nvSpPr>
        <p:spPr>
          <a:xfrm>
            <a:off x="9281160" y="3008375"/>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8" name="TextBox 167"/>
          <p:cNvSpPr txBox="1"/>
          <p:nvPr/>
        </p:nvSpPr>
        <p:spPr>
          <a:xfrm>
            <a:off x="9299448" y="3008375"/>
            <a:ext cx="786384" cy="310896"/>
          </a:xfrm>
          <a:prstGeom prst="rect">
            <a:avLst/>
          </a:prstGeom>
          <a:noFill/>
        </p:spPr>
        <p:txBody>
          <a:bodyPr wrap="square" anchor="ctr" lIns="45720" rIns="45720" tIns="9144" bIns="9144">
            <a:spAutoFit/>
          </a:bodyPr>
          <a:lstStyle/>
          <a:p>
            <a:pPr algn="r"/>
            <a:r>
              <a:rPr sz="850" b="1" i="0">
                <a:solidFill>
                  <a:srgbClr val="0D2341"/>
                </a:solidFill>
                <a:latin typeface="Calibri"/>
              </a:rPr>
              <a:t>12,333,565</a:t>
            </a:r>
          </a:p>
        </p:txBody>
      </p:sp>
      <p:sp>
        <p:nvSpPr>
          <p:cNvPr id="169" name="Rectangle 168"/>
          <p:cNvSpPr/>
          <p:nvPr/>
        </p:nvSpPr>
        <p:spPr>
          <a:xfrm>
            <a:off x="10104120" y="3008375"/>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0" name="TextBox 169"/>
          <p:cNvSpPr txBox="1"/>
          <p:nvPr/>
        </p:nvSpPr>
        <p:spPr>
          <a:xfrm>
            <a:off x="10122408" y="3008375"/>
            <a:ext cx="786384" cy="310896"/>
          </a:xfrm>
          <a:prstGeom prst="rect">
            <a:avLst/>
          </a:prstGeom>
          <a:noFill/>
        </p:spPr>
        <p:txBody>
          <a:bodyPr wrap="square" anchor="ctr" lIns="45720" rIns="45720" tIns="9144" bIns="9144">
            <a:spAutoFit/>
          </a:bodyPr>
          <a:lstStyle/>
          <a:p>
            <a:pPr algn="r"/>
            <a:r>
              <a:rPr sz="850" b="1" i="0">
                <a:solidFill>
                  <a:srgbClr val="0D2341"/>
                </a:solidFill>
                <a:latin typeface="Calibri"/>
              </a:rPr>
              <a:t>15,698,677</a:t>
            </a:r>
          </a:p>
        </p:txBody>
      </p:sp>
      <p:sp>
        <p:nvSpPr>
          <p:cNvPr id="171" name="Rectangle 170"/>
          <p:cNvSpPr/>
          <p:nvPr/>
        </p:nvSpPr>
        <p:spPr>
          <a:xfrm>
            <a:off x="10927080" y="3008375"/>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2" name="TextBox 171"/>
          <p:cNvSpPr txBox="1"/>
          <p:nvPr/>
        </p:nvSpPr>
        <p:spPr>
          <a:xfrm>
            <a:off x="10945368" y="3008375"/>
            <a:ext cx="786384" cy="310896"/>
          </a:xfrm>
          <a:prstGeom prst="rect">
            <a:avLst/>
          </a:prstGeom>
          <a:noFill/>
        </p:spPr>
        <p:txBody>
          <a:bodyPr wrap="square" anchor="ctr" lIns="45720" rIns="45720" tIns="9144" bIns="9144">
            <a:spAutoFit/>
          </a:bodyPr>
          <a:lstStyle/>
          <a:p>
            <a:pPr algn="r"/>
            <a:r>
              <a:rPr sz="850" b="1" i="0">
                <a:solidFill>
                  <a:srgbClr val="0D2341"/>
                </a:solidFill>
                <a:latin typeface="Calibri"/>
              </a:rPr>
              <a:t>19,341,483</a:t>
            </a:r>
          </a:p>
        </p:txBody>
      </p:sp>
      <p:sp>
        <p:nvSpPr>
          <p:cNvPr id="173" name="Rectangle 172"/>
          <p:cNvSpPr/>
          <p:nvPr/>
        </p:nvSpPr>
        <p:spPr>
          <a:xfrm>
            <a:off x="320040" y="3319271"/>
            <a:ext cx="237744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 name="TextBox 173"/>
          <p:cNvSpPr txBox="1"/>
          <p:nvPr/>
        </p:nvSpPr>
        <p:spPr>
          <a:xfrm>
            <a:off x="338328" y="3319271"/>
            <a:ext cx="2340864" cy="310896"/>
          </a:xfrm>
          <a:prstGeom prst="rect">
            <a:avLst/>
          </a:prstGeom>
          <a:noFill/>
        </p:spPr>
        <p:txBody>
          <a:bodyPr wrap="square" anchor="ctr" lIns="45720" rIns="45720" tIns="9144" bIns="9144">
            <a:spAutoFit/>
          </a:bodyPr>
          <a:lstStyle/>
          <a:p>
            <a:pPr algn="l"/>
            <a:r>
              <a:rPr sz="850" b="0" i="0">
                <a:solidFill>
                  <a:srgbClr val="334155"/>
                </a:solidFill>
                <a:latin typeface="Calibri"/>
              </a:rPr>
              <a:t>(−) ISR</a:t>
            </a:r>
          </a:p>
        </p:txBody>
      </p:sp>
      <p:sp>
        <p:nvSpPr>
          <p:cNvPr id="175" name="Rectangle 174"/>
          <p:cNvSpPr/>
          <p:nvPr/>
        </p:nvSpPr>
        <p:spPr>
          <a:xfrm>
            <a:off x="2697480" y="3319271"/>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6" name="TextBox 175"/>
          <p:cNvSpPr txBox="1"/>
          <p:nvPr/>
        </p:nvSpPr>
        <p:spPr>
          <a:xfrm>
            <a:off x="2715768" y="3319271"/>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177" name="Rectangle 176"/>
          <p:cNvSpPr/>
          <p:nvPr/>
        </p:nvSpPr>
        <p:spPr>
          <a:xfrm>
            <a:off x="3520440" y="3319271"/>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8" name="TextBox 177"/>
          <p:cNvSpPr txBox="1"/>
          <p:nvPr/>
        </p:nvSpPr>
        <p:spPr>
          <a:xfrm>
            <a:off x="3538728" y="3319271"/>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179" name="Rectangle 178"/>
          <p:cNvSpPr/>
          <p:nvPr/>
        </p:nvSpPr>
        <p:spPr>
          <a:xfrm>
            <a:off x="4343400" y="3319271"/>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0" name="TextBox 179"/>
          <p:cNvSpPr txBox="1"/>
          <p:nvPr/>
        </p:nvSpPr>
        <p:spPr>
          <a:xfrm>
            <a:off x="4361688" y="3319271"/>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181" name="Rectangle 180"/>
          <p:cNvSpPr/>
          <p:nvPr/>
        </p:nvSpPr>
        <p:spPr>
          <a:xfrm>
            <a:off x="5166360" y="3319271"/>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2" name="TextBox 181"/>
          <p:cNvSpPr txBox="1"/>
          <p:nvPr/>
        </p:nvSpPr>
        <p:spPr>
          <a:xfrm>
            <a:off x="5184648" y="3319271"/>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38,248</a:t>
            </a:r>
          </a:p>
        </p:txBody>
      </p:sp>
      <p:sp>
        <p:nvSpPr>
          <p:cNvPr id="183" name="Rectangle 182"/>
          <p:cNvSpPr/>
          <p:nvPr/>
        </p:nvSpPr>
        <p:spPr>
          <a:xfrm>
            <a:off x="5989320" y="3319271"/>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4" name="TextBox 183"/>
          <p:cNvSpPr txBox="1"/>
          <p:nvPr/>
        </p:nvSpPr>
        <p:spPr>
          <a:xfrm>
            <a:off x="6007608" y="3319271"/>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762,555</a:t>
            </a:r>
          </a:p>
        </p:txBody>
      </p:sp>
      <p:sp>
        <p:nvSpPr>
          <p:cNvPr id="185" name="Rectangle 184"/>
          <p:cNvSpPr/>
          <p:nvPr/>
        </p:nvSpPr>
        <p:spPr>
          <a:xfrm>
            <a:off x="6812280" y="3319271"/>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6" name="TextBox 185"/>
          <p:cNvSpPr txBox="1"/>
          <p:nvPr/>
        </p:nvSpPr>
        <p:spPr>
          <a:xfrm>
            <a:off x="6830568" y="3319271"/>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1,350,717</a:t>
            </a:r>
          </a:p>
        </p:txBody>
      </p:sp>
      <p:sp>
        <p:nvSpPr>
          <p:cNvPr id="187" name="Rectangle 186"/>
          <p:cNvSpPr/>
          <p:nvPr/>
        </p:nvSpPr>
        <p:spPr>
          <a:xfrm>
            <a:off x="7635240" y="3319271"/>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8" name="TextBox 187"/>
          <p:cNvSpPr txBox="1"/>
          <p:nvPr/>
        </p:nvSpPr>
        <p:spPr>
          <a:xfrm>
            <a:off x="7653528" y="3319271"/>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2,024,662</a:t>
            </a:r>
          </a:p>
        </p:txBody>
      </p:sp>
      <p:sp>
        <p:nvSpPr>
          <p:cNvPr id="189" name="Rectangle 188"/>
          <p:cNvSpPr/>
          <p:nvPr/>
        </p:nvSpPr>
        <p:spPr>
          <a:xfrm>
            <a:off x="8458200" y="3319271"/>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0" name="TextBox 189"/>
          <p:cNvSpPr txBox="1"/>
          <p:nvPr/>
        </p:nvSpPr>
        <p:spPr>
          <a:xfrm>
            <a:off x="8476488" y="3319271"/>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2,804,370</a:t>
            </a:r>
          </a:p>
        </p:txBody>
      </p:sp>
      <p:sp>
        <p:nvSpPr>
          <p:cNvPr id="191" name="Rectangle 190"/>
          <p:cNvSpPr/>
          <p:nvPr/>
        </p:nvSpPr>
        <p:spPr>
          <a:xfrm>
            <a:off x="9281160" y="3319271"/>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2" name="TextBox 191"/>
          <p:cNvSpPr txBox="1"/>
          <p:nvPr/>
        </p:nvSpPr>
        <p:spPr>
          <a:xfrm>
            <a:off x="9299448" y="3319271"/>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3,650,070</a:t>
            </a:r>
          </a:p>
        </p:txBody>
      </p:sp>
      <p:sp>
        <p:nvSpPr>
          <p:cNvPr id="193" name="Rectangle 192"/>
          <p:cNvSpPr/>
          <p:nvPr/>
        </p:nvSpPr>
        <p:spPr>
          <a:xfrm>
            <a:off x="10104120" y="3319271"/>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4" name="TextBox 193"/>
          <p:cNvSpPr txBox="1"/>
          <p:nvPr/>
        </p:nvSpPr>
        <p:spPr>
          <a:xfrm>
            <a:off x="10122408" y="3319271"/>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4,659,603</a:t>
            </a:r>
          </a:p>
        </p:txBody>
      </p:sp>
      <p:sp>
        <p:nvSpPr>
          <p:cNvPr id="195" name="Rectangle 194"/>
          <p:cNvSpPr/>
          <p:nvPr/>
        </p:nvSpPr>
        <p:spPr>
          <a:xfrm>
            <a:off x="10927080" y="3319271"/>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6" name="TextBox 195"/>
          <p:cNvSpPr txBox="1"/>
          <p:nvPr/>
        </p:nvSpPr>
        <p:spPr>
          <a:xfrm>
            <a:off x="10945368" y="3319271"/>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5,752,445</a:t>
            </a:r>
          </a:p>
        </p:txBody>
      </p:sp>
      <p:sp>
        <p:nvSpPr>
          <p:cNvPr id="197" name="Rectangle 196"/>
          <p:cNvSpPr/>
          <p:nvPr/>
        </p:nvSpPr>
        <p:spPr>
          <a:xfrm>
            <a:off x="320040" y="3630167"/>
            <a:ext cx="237744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8" name="TextBox 197"/>
          <p:cNvSpPr txBox="1"/>
          <p:nvPr/>
        </p:nvSpPr>
        <p:spPr>
          <a:xfrm>
            <a:off x="338328" y="3630167"/>
            <a:ext cx="2340864" cy="310896"/>
          </a:xfrm>
          <a:prstGeom prst="rect">
            <a:avLst/>
          </a:prstGeom>
          <a:noFill/>
        </p:spPr>
        <p:txBody>
          <a:bodyPr wrap="square" anchor="ctr" lIns="45720" rIns="45720" tIns="9144" bIns="9144">
            <a:spAutoFit/>
          </a:bodyPr>
          <a:lstStyle/>
          <a:p>
            <a:pPr algn="l"/>
            <a:r>
              <a:rPr sz="850" b="1" i="0">
                <a:solidFill>
                  <a:srgbClr val="0D2341"/>
                </a:solidFill>
                <a:latin typeface="Calibri"/>
              </a:rPr>
              <a:t>(=) Utilidad después de impuestos</a:t>
            </a:r>
          </a:p>
        </p:txBody>
      </p:sp>
      <p:sp>
        <p:nvSpPr>
          <p:cNvPr id="199" name="Rectangle 198"/>
          <p:cNvSpPr/>
          <p:nvPr/>
        </p:nvSpPr>
        <p:spPr>
          <a:xfrm>
            <a:off x="2697480" y="3630167"/>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0" name="TextBox 199"/>
          <p:cNvSpPr txBox="1"/>
          <p:nvPr/>
        </p:nvSpPr>
        <p:spPr>
          <a:xfrm>
            <a:off x="2715768" y="3630167"/>
            <a:ext cx="786384" cy="310896"/>
          </a:xfrm>
          <a:prstGeom prst="rect">
            <a:avLst/>
          </a:prstGeom>
          <a:noFill/>
        </p:spPr>
        <p:txBody>
          <a:bodyPr wrap="square" anchor="ctr" lIns="45720" rIns="45720" tIns="9144" bIns="9144">
            <a:spAutoFit/>
          </a:bodyPr>
          <a:lstStyle/>
          <a:p>
            <a:pPr algn="r"/>
            <a:r>
              <a:rPr sz="850" b="1" i="0">
                <a:solidFill>
                  <a:srgbClr val="0D2341"/>
                </a:solidFill>
                <a:latin typeface="Calibri"/>
              </a:rPr>
              <a:t>0</a:t>
            </a:r>
          </a:p>
        </p:txBody>
      </p:sp>
      <p:sp>
        <p:nvSpPr>
          <p:cNvPr id="201" name="Rectangle 200"/>
          <p:cNvSpPr/>
          <p:nvPr/>
        </p:nvSpPr>
        <p:spPr>
          <a:xfrm>
            <a:off x="3520440" y="3630167"/>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2" name="TextBox 201"/>
          <p:cNvSpPr txBox="1"/>
          <p:nvPr/>
        </p:nvSpPr>
        <p:spPr>
          <a:xfrm>
            <a:off x="3538728" y="3630167"/>
            <a:ext cx="786384" cy="310896"/>
          </a:xfrm>
          <a:prstGeom prst="rect">
            <a:avLst/>
          </a:prstGeom>
          <a:noFill/>
        </p:spPr>
        <p:txBody>
          <a:bodyPr wrap="square" anchor="ctr" lIns="45720" rIns="45720" tIns="9144" bIns="9144">
            <a:spAutoFit/>
          </a:bodyPr>
          <a:lstStyle/>
          <a:p>
            <a:pPr algn="r"/>
            <a:r>
              <a:rPr sz="850" b="1" i="0">
                <a:solidFill>
                  <a:srgbClr val="0D2341"/>
                </a:solidFill>
                <a:latin typeface="Calibri"/>
              </a:rPr>
              <a:t>−938,557</a:t>
            </a:r>
          </a:p>
        </p:txBody>
      </p:sp>
      <p:sp>
        <p:nvSpPr>
          <p:cNvPr id="203" name="Rectangle 202"/>
          <p:cNvSpPr/>
          <p:nvPr/>
        </p:nvSpPr>
        <p:spPr>
          <a:xfrm>
            <a:off x="4343400" y="3630167"/>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4" name="TextBox 203"/>
          <p:cNvSpPr txBox="1"/>
          <p:nvPr/>
        </p:nvSpPr>
        <p:spPr>
          <a:xfrm>
            <a:off x="4361688" y="3630167"/>
            <a:ext cx="786384" cy="310896"/>
          </a:xfrm>
          <a:prstGeom prst="rect">
            <a:avLst/>
          </a:prstGeom>
          <a:noFill/>
        </p:spPr>
        <p:txBody>
          <a:bodyPr wrap="square" anchor="ctr" lIns="45720" rIns="45720" tIns="9144" bIns="9144">
            <a:spAutoFit/>
          </a:bodyPr>
          <a:lstStyle/>
          <a:p>
            <a:pPr algn="r"/>
            <a:r>
              <a:rPr sz="850" b="1" i="0">
                <a:solidFill>
                  <a:srgbClr val="0D2341"/>
                </a:solidFill>
                <a:latin typeface="Calibri"/>
              </a:rPr>
              <a:t>−55,738</a:t>
            </a:r>
          </a:p>
        </p:txBody>
      </p:sp>
      <p:sp>
        <p:nvSpPr>
          <p:cNvPr id="205" name="Rectangle 204"/>
          <p:cNvSpPr/>
          <p:nvPr/>
        </p:nvSpPr>
        <p:spPr>
          <a:xfrm>
            <a:off x="5166360" y="3630167"/>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 name="TextBox 205"/>
          <p:cNvSpPr txBox="1"/>
          <p:nvPr/>
        </p:nvSpPr>
        <p:spPr>
          <a:xfrm>
            <a:off x="5184648" y="3630167"/>
            <a:ext cx="786384" cy="310896"/>
          </a:xfrm>
          <a:prstGeom prst="rect">
            <a:avLst/>
          </a:prstGeom>
          <a:noFill/>
        </p:spPr>
        <p:txBody>
          <a:bodyPr wrap="square" anchor="ctr" lIns="45720" rIns="45720" tIns="9144" bIns="9144">
            <a:spAutoFit/>
          </a:bodyPr>
          <a:lstStyle/>
          <a:p>
            <a:pPr algn="r"/>
            <a:r>
              <a:rPr sz="850" b="1" i="0">
                <a:solidFill>
                  <a:srgbClr val="0D2341"/>
                </a:solidFill>
                <a:latin typeface="Calibri"/>
              </a:rPr>
              <a:t>1,109,038</a:t>
            </a:r>
          </a:p>
        </p:txBody>
      </p:sp>
      <p:sp>
        <p:nvSpPr>
          <p:cNvPr id="207" name="Rectangle 206"/>
          <p:cNvSpPr/>
          <p:nvPr/>
        </p:nvSpPr>
        <p:spPr>
          <a:xfrm>
            <a:off x="5989320" y="3630167"/>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8" name="TextBox 207"/>
          <p:cNvSpPr txBox="1"/>
          <p:nvPr/>
        </p:nvSpPr>
        <p:spPr>
          <a:xfrm>
            <a:off x="6007608" y="3630167"/>
            <a:ext cx="786384" cy="310896"/>
          </a:xfrm>
          <a:prstGeom prst="rect">
            <a:avLst/>
          </a:prstGeom>
          <a:noFill/>
        </p:spPr>
        <p:txBody>
          <a:bodyPr wrap="square" anchor="ctr" lIns="45720" rIns="45720" tIns="9144" bIns="9144">
            <a:spAutoFit/>
          </a:bodyPr>
          <a:lstStyle/>
          <a:p>
            <a:pPr algn="r"/>
            <a:r>
              <a:rPr sz="850" b="1" i="0">
                <a:solidFill>
                  <a:srgbClr val="0D2341"/>
                </a:solidFill>
                <a:latin typeface="Calibri"/>
              </a:rPr>
              <a:t>1,945,963</a:t>
            </a:r>
          </a:p>
        </p:txBody>
      </p:sp>
      <p:sp>
        <p:nvSpPr>
          <p:cNvPr id="209" name="Rectangle 208"/>
          <p:cNvSpPr/>
          <p:nvPr/>
        </p:nvSpPr>
        <p:spPr>
          <a:xfrm>
            <a:off x="6812280" y="3630167"/>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0" name="TextBox 209"/>
          <p:cNvSpPr txBox="1"/>
          <p:nvPr/>
        </p:nvSpPr>
        <p:spPr>
          <a:xfrm>
            <a:off x="6830568" y="3630167"/>
            <a:ext cx="786384" cy="310896"/>
          </a:xfrm>
          <a:prstGeom prst="rect">
            <a:avLst/>
          </a:prstGeom>
          <a:noFill/>
        </p:spPr>
        <p:txBody>
          <a:bodyPr wrap="square" anchor="ctr" lIns="45720" rIns="45720" tIns="9144" bIns="9144">
            <a:spAutoFit/>
          </a:bodyPr>
          <a:lstStyle/>
          <a:p>
            <a:pPr algn="r"/>
            <a:r>
              <a:rPr sz="850" b="1" i="0">
                <a:solidFill>
                  <a:srgbClr val="0D2341"/>
                </a:solidFill>
                <a:latin typeface="Calibri"/>
              </a:rPr>
              <a:t>3,318,339</a:t>
            </a:r>
          </a:p>
        </p:txBody>
      </p:sp>
      <p:sp>
        <p:nvSpPr>
          <p:cNvPr id="211" name="Rectangle 210"/>
          <p:cNvSpPr/>
          <p:nvPr/>
        </p:nvSpPr>
        <p:spPr>
          <a:xfrm>
            <a:off x="7635240" y="3630167"/>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2" name="TextBox 211"/>
          <p:cNvSpPr txBox="1"/>
          <p:nvPr/>
        </p:nvSpPr>
        <p:spPr>
          <a:xfrm>
            <a:off x="7653528" y="3630167"/>
            <a:ext cx="786384" cy="310896"/>
          </a:xfrm>
          <a:prstGeom prst="rect">
            <a:avLst/>
          </a:prstGeom>
          <a:noFill/>
        </p:spPr>
        <p:txBody>
          <a:bodyPr wrap="square" anchor="ctr" lIns="45720" rIns="45720" tIns="9144" bIns="9144">
            <a:spAutoFit/>
          </a:bodyPr>
          <a:lstStyle/>
          <a:p>
            <a:pPr algn="r"/>
            <a:r>
              <a:rPr sz="850" b="1" i="0">
                <a:solidFill>
                  <a:srgbClr val="0D2341"/>
                </a:solidFill>
                <a:latin typeface="Calibri"/>
              </a:rPr>
              <a:t>4,890,877</a:t>
            </a:r>
          </a:p>
        </p:txBody>
      </p:sp>
      <p:sp>
        <p:nvSpPr>
          <p:cNvPr id="213" name="Rectangle 212"/>
          <p:cNvSpPr/>
          <p:nvPr/>
        </p:nvSpPr>
        <p:spPr>
          <a:xfrm>
            <a:off x="8458200" y="3630167"/>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4" name="TextBox 213"/>
          <p:cNvSpPr txBox="1"/>
          <p:nvPr/>
        </p:nvSpPr>
        <p:spPr>
          <a:xfrm>
            <a:off x="8476488" y="3630167"/>
            <a:ext cx="786384" cy="310896"/>
          </a:xfrm>
          <a:prstGeom prst="rect">
            <a:avLst/>
          </a:prstGeom>
          <a:noFill/>
        </p:spPr>
        <p:txBody>
          <a:bodyPr wrap="square" anchor="ctr" lIns="45720" rIns="45720" tIns="9144" bIns="9144">
            <a:spAutoFit/>
          </a:bodyPr>
          <a:lstStyle/>
          <a:p>
            <a:pPr algn="r"/>
            <a:r>
              <a:rPr sz="850" b="1" i="0">
                <a:solidFill>
                  <a:srgbClr val="0D2341"/>
                </a:solidFill>
                <a:latin typeface="Calibri"/>
              </a:rPr>
              <a:t>6,710,197</a:t>
            </a:r>
          </a:p>
        </p:txBody>
      </p:sp>
      <p:sp>
        <p:nvSpPr>
          <p:cNvPr id="215" name="Rectangle 214"/>
          <p:cNvSpPr/>
          <p:nvPr/>
        </p:nvSpPr>
        <p:spPr>
          <a:xfrm>
            <a:off x="9281160" y="3630167"/>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6" name="TextBox 215"/>
          <p:cNvSpPr txBox="1"/>
          <p:nvPr/>
        </p:nvSpPr>
        <p:spPr>
          <a:xfrm>
            <a:off x="9299448" y="3630167"/>
            <a:ext cx="786384" cy="310896"/>
          </a:xfrm>
          <a:prstGeom prst="rect">
            <a:avLst/>
          </a:prstGeom>
          <a:noFill/>
        </p:spPr>
        <p:txBody>
          <a:bodyPr wrap="square" anchor="ctr" lIns="45720" rIns="45720" tIns="9144" bIns="9144">
            <a:spAutoFit/>
          </a:bodyPr>
          <a:lstStyle/>
          <a:p>
            <a:pPr algn="r"/>
            <a:r>
              <a:rPr sz="850" b="1" i="0">
                <a:solidFill>
                  <a:srgbClr val="0D2341"/>
                </a:solidFill>
                <a:latin typeface="Calibri"/>
              </a:rPr>
              <a:t>8,683,496</a:t>
            </a:r>
          </a:p>
        </p:txBody>
      </p:sp>
      <p:sp>
        <p:nvSpPr>
          <p:cNvPr id="217" name="Rectangle 216"/>
          <p:cNvSpPr/>
          <p:nvPr/>
        </p:nvSpPr>
        <p:spPr>
          <a:xfrm>
            <a:off x="10104120" y="3630167"/>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8" name="TextBox 217"/>
          <p:cNvSpPr txBox="1"/>
          <p:nvPr/>
        </p:nvSpPr>
        <p:spPr>
          <a:xfrm>
            <a:off x="10122408" y="3630167"/>
            <a:ext cx="786384" cy="310896"/>
          </a:xfrm>
          <a:prstGeom prst="rect">
            <a:avLst/>
          </a:prstGeom>
          <a:noFill/>
        </p:spPr>
        <p:txBody>
          <a:bodyPr wrap="square" anchor="ctr" lIns="45720" rIns="45720" tIns="9144" bIns="9144">
            <a:spAutoFit/>
          </a:bodyPr>
          <a:lstStyle/>
          <a:p>
            <a:pPr algn="r"/>
            <a:r>
              <a:rPr sz="850" b="1" i="0">
                <a:solidFill>
                  <a:srgbClr val="0D2341"/>
                </a:solidFill>
                <a:latin typeface="Calibri"/>
              </a:rPr>
              <a:t>11,039,074</a:t>
            </a:r>
          </a:p>
        </p:txBody>
      </p:sp>
      <p:sp>
        <p:nvSpPr>
          <p:cNvPr id="219" name="Rectangle 218"/>
          <p:cNvSpPr/>
          <p:nvPr/>
        </p:nvSpPr>
        <p:spPr>
          <a:xfrm>
            <a:off x="10927080" y="3630167"/>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0" name="TextBox 219"/>
          <p:cNvSpPr txBox="1"/>
          <p:nvPr/>
        </p:nvSpPr>
        <p:spPr>
          <a:xfrm>
            <a:off x="10945368" y="3630167"/>
            <a:ext cx="786384" cy="310896"/>
          </a:xfrm>
          <a:prstGeom prst="rect">
            <a:avLst/>
          </a:prstGeom>
          <a:noFill/>
        </p:spPr>
        <p:txBody>
          <a:bodyPr wrap="square" anchor="ctr" lIns="45720" rIns="45720" tIns="9144" bIns="9144">
            <a:spAutoFit/>
          </a:bodyPr>
          <a:lstStyle/>
          <a:p>
            <a:pPr algn="r"/>
            <a:r>
              <a:rPr sz="850" b="1" i="0">
                <a:solidFill>
                  <a:srgbClr val="0D2341"/>
                </a:solidFill>
                <a:latin typeface="Calibri"/>
              </a:rPr>
              <a:t>13,589,038</a:t>
            </a:r>
          </a:p>
        </p:txBody>
      </p:sp>
      <p:sp>
        <p:nvSpPr>
          <p:cNvPr id="221" name="Rectangle 220"/>
          <p:cNvSpPr/>
          <p:nvPr/>
        </p:nvSpPr>
        <p:spPr>
          <a:xfrm>
            <a:off x="320040" y="3941063"/>
            <a:ext cx="237744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2" name="TextBox 221"/>
          <p:cNvSpPr txBox="1"/>
          <p:nvPr/>
        </p:nvSpPr>
        <p:spPr>
          <a:xfrm>
            <a:off x="338328" y="3941063"/>
            <a:ext cx="2340864" cy="310896"/>
          </a:xfrm>
          <a:prstGeom prst="rect">
            <a:avLst/>
          </a:prstGeom>
          <a:noFill/>
        </p:spPr>
        <p:txBody>
          <a:bodyPr wrap="square" anchor="ctr" lIns="45720" rIns="45720" tIns="9144" bIns="9144">
            <a:spAutoFit/>
          </a:bodyPr>
          <a:lstStyle/>
          <a:p>
            <a:pPr algn="l"/>
            <a:r>
              <a:rPr sz="850" b="0" i="0">
                <a:solidFill>
                  <a:srgbClr val="334155"/>
                </a:solidFill>
                <a:latin typeface="Calibri"/>
              </a:rPr>
              <a:t>(+) Depreciación y amortización</a:t>
            </a:r>
          </a:p>
        </p:txBody>
      </p:sp>
      <p:sp>
        <p:nvSpPr>
          <p:cNvPr id="223" name="Rectangle 222"/>
          <p:cNvSpPr/>
          <p:nvPr/>
        </p:nvSpPr>
        <p:spPr>
          <a:xfrm>
            <a:off x="2697480" y="3941063"/>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4" name="TextBox 223"/>
          <p:cNvSpPr txBox="1"/>
          <p:nvPr/>
        </p:nvSpPr>
        <p:spPr>
          <a:xfrm>
            <a:off x="2715768" y="3941063"/>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25" name="Rectangle 224"/>
          <p:cNvSpPr/>
          <p:nvPr/>
        </p:nvSpPr>
        <p:spPr>
          <a:xfrm>
            <a:off x="3520440" y="3941063"/>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6" name="TextBox 225"/>
          <p:cNvSpPr txBox="1"/>
          <p:nvPr/>
        </p:nvSpPr>
        <p:spPr>
          <a:xfrm>
            <a:off x="3538728" y="3941063"/>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204,700</a:t>
            </a:r>
          </a:p>
        </p:txBody>
      </p:sp>
      <p:sp>
        <p:nvSpPr>
          <p:cNvPr id="227" name="Rectangle 226"/>
          <p:cNvSpPr/>
          <p:nvPr/>
        </p:nvSpPr>
        <p:spPr>
          <a:xfrm>
            <a:off x="4343400" y="3941063"/>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8" name="TextBox 227"/>
          <p:cNvSpPr txBox="1"/>
          <p:nvPr/>
        </p:nvSpPr>
        <p:spPr>
          <a:xfrm>
            <a:off x="4361688" y="3941063"/>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204,700</a:t>
            </a:r>
          </a:p>
        </p:txBody>
      </p:sp>
      <p:sp>
        <p:nvSpPr>
          <p:cNvPr id="229" name="Rectangle 228"/>
          <p:cNvSpPr/>
          <p:nvPr/>
        </p:nvSpPr>
        <p:spPr>
          <a:xfrm>
            <a:off x="5166360" y="3941063"/>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0" name="TextBox 229"/>
          <p:cNvSpPr txBox="1"/>
          <p:nvPr/>
        </p:nvSpPr>
        <p:spPr>
          <a:xfrm>
            <a:off x="5184648" y="3941063"/>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204,700</a:t>
            </a:r>
          </a:p>
        </p:txBody>
      </p:sp>
      <p:sp>
        <p:nvSpPr>
          <p:cNvPr id="231" name="Rectangle 230"/>
          <p:cNvSpPr/>
          <p:nvPr/>
        </p:nvSpPr>
        <p:spPr>
          <a:xfrm>
            <a:off x="5989320" y="3941063"/>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2" name="TextBox 231"/>
          <p:cNvSpPr txBox="1"/>
          <p:nvPr/>
        </p:nvSpPr>
        <p:spPr>
          <a:xfrm>
            <a:off x="6007608" y="3941063"/>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204,700</a:t>
            </a:r>
          </a:p>
        </p:txBody>
      </p:sp>
      <p:sp>
        <p:nvSpPr>
          <p:cNvPr id="233" name="Rectangle 232"/>
          <p:cNvSpPr/>
          <p:nvPr/>
        </p:nvSpPr>
        <p:spPr>
          <a:xfrm>
            <a:off x="6812280" y="3941063"/>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4" name="TextBox 233"/>
          <p:cNvSpPr txBox="1"/>
          <p:nvPr/>
        </p:nvSpPr>
        <p:spPr>
          <a:xfrm>
            <a:off x="6830568" y="3941063"/>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204,700</a:t>
            </a:r>
          </a:p>
        </p:txBody>
      </p:sp>
      <p:sp>
        <p:nvSpPr>
          <p:cNvPr id="235" name="Rectangle 234"/>
          <p:cNvSpPr/>
          <p:nvPr/>
        </p:nvSpPr>
        <p:spPr>
          <a:xfrm>
            <a:off x="7635240" y="3941063"/>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6" name="TextBox 235"/>
          <p:cNvSpPr txBox="1"/>
          <p:nvPr/>
        </p:nvSpPr>
        <p:spPr>
          <a:xfrm>
            <a:off x="7653528" y="3941063"/>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89,500</a:t>
            </a:r>
          </a:p>
        </p:txBody>
      </p:sp>
      <p:sp>
        <p:nvSpPr>
          <p:cNvPr id="237" name="Rectangle 236"/>
          <p:cNvSpPr/>
          <p:nvPr/>
        </p:nvSpPr>
        <p:spPr>
          <a:xfrm>
            <a:off x="8458200" y="3941063"/>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8" name="TextBox 237"/>
          <p:cNvSpPr txBox="1"/>
          <p:nvPr/>
        </p:nvSpPr>
        <p:spPr>
          <a:xfrm>
            <a:off x="8476488" y="3941063"/>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89,500</a:t>
            </a:r>
          </a:p>
        </p:txBody>
      </p:sp>
      <p:sp>
        <p:nvSpPr>
          <p:cNvPr id="239" name="Rectangle 238"/>
          <p:cNvSpPr/>
          <p:nvPr/>
        </p:nvSpPr>
        <p:spPr>
          <a:xfrm>
            <a:off x="9281160" y="3941063"/>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0" name="TextBox 239"/>
          <p:cNvSpPr txBox="1"/>
          <p:nvPr/>
        </p:nvSpPr>
        <p:spPr>
          <a:xfrm>
            <a:off x="9299448" y="3941063"/>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89,500</a:t>
            </a:r>
          </a:p>
        </p:txBody>
      </p:sp>
      <p:sp>
        <p:nvSpPr>
          <p:cNvPr id="241" name="Rectangle 240"/>
          <p:cNvSpPr/>
          <p:nvPr/>
        </p:nvSpPr>
        <p:spPr>
          <a:xfrm>
            <a:off x="10104120" y="3941063"/>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2" name="TextBox 241"/>
          <p:cNvSpPr txBox="1"/>
          <p:nvPr/>
        </p:nvSpPr>
        <p:spPr>
          <a:xfrm>
            <a:off x="10122408" y="3941063"/>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89,500</a:t>
            </a:r>
          </a:p>
        </p:txBody>
      </p:sp>
      <p:sp>
        <p:nvSpPr>
          <p:cNvPr id="243" name="Rectangle 242"/>
          <p:cNvSpPr/>
          <p:nvPr/>
        </p:nvSpPr>
        <p:spPr>
          <a:xfrm>
            <a:off x="10927080" y="3941063"/>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4" name="TextBox 243"/>
          <p:cNvSpPr txBox="1"/>
          <p:nvPr/>
        </p:nvSpPr>
        <p:spPr>
          <a:xfrm>
            <a:off x="10945368" y="3941063"/>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89,500</a:t>
            </a:r>
          </a:p>
        </p:txBody>
      </p:sp>
      <p:sp>
        <p:nvSpPr>
          <p:cNvPr id="245" name="Rectangle 244"/>
          <p:cNvSpPr/>
          <p:nvPr/>
        </p:nvSpPr>
        <p:spPr>
          <a:xfrm>
            <a:off x="320040" y="4251959"/>
            <a:ext cx="237744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6" name="TextBox 245"/>
          <p:cNvSpPr txBox="1"/>
          <p:nvPr/>
        </p:nvSpPr>
        <p:spPr>
          <a:xfrm>
            <a:off x="338328" y="4251959"/>
            <a:ext cx="2340864" cy="310896"/>
          </a:xfrm>
          <a:prstGeom prst="rect">
            <a:avLst/>
          </a:prstGeom>
          <a:noFill/>
        </p:spPr>
        <p:txBody>
          <a:bodyPr wrap="square" anchor="ctr" lIns="45720" rIns="45720" tIns="9144" bIns="9144">
            <a:spAutoFit/>
          </a:bodyPr>
          <a:lstStyle/>
          <a:p>
            <a:pPr algn="l"/>
            <a:r>
              <a:rPr sz="850" b="0" i="0">
                <a:solidFill>
                  <a:srgbClr val="334155"/>
                </a:solidFill>
                <a:latin typeface="Calibri"/>
              </a:rPr>
              <a:t>(+) Recuperación de capital de trabajo</a:t>
            </a:r>
          </a:p>
        </p:txBody>
      </p:sp>
      <p:sp>
        <p:nvSpPr>
          <p:cNvPr id="247" name="Rectangle 246"/>
          <p:cNvSpPr/>
          <p:nvPr/>
        </p:nvSpPr>
        <p:spPr>
          <a:xfrm>
            <a:off x="2697480" y="4251959"/>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8" name="TextBox 247"/>
          <p:cNvSpPr txBox="1"/>
          <p:nvPr/>
        </p:nvSpPr>
        <p:spPr>
          <a:xfrm>
            <a:off x="2715768" y="4251959"/>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49" name="Rectangle 248"/>
          <p:cNvSpPr/>
          <p:nvPr/>
        </p:nvSpPr>
        <p:spPr>
          <a:xfrm>
            <a:off x="3520440" y="4251959"/>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0" name="TextBox 249"/>
          <p:cNvSpPr txBox="1"/>
          <p:nvPr/>
        </p:nvSpPr>
        <p:spPr>
          <a:xfrm>
            <a:off x="3538728" y="4251959"/>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51" name="Rectangle 250"/>
          <p:cNvSpPr/>
          <p:nvPr/>
        </p:nvSpPr>
        <p:spPr>
          <a:xfrm>
            <a:off x="4343400" y="4251959"/>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2" name="TextBox 251"/>
          <p:cNvSpPr txBox="1"/>
          <p:nvPr/>
        </p:nvSpPr>
        <p:spPr>
          <a:xfrm>
            <a:off x="4361688" y="4251959"/>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53" name="Rectangle 252"/>
          <p:cNvSpPr/>
          <p:nvPr/>
        </p:nvSpPr>
        <p:spPr>
          <a:xfrm>
            <a:off x="5166360" y="4251959"/>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4" name="TextBox 253"/>
          <p:cNvSpPr txBox="1"/>
          <p:nvPr/>
        </p:nvSpPr>
        <p:spPr>
          <a:xfrm>
            <a:off x="5184648" y="4251959"/>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55" name="Rectangle 254"/>
          <p:cNvSpPr/>
          <p:nvPr/>
        </p:nvSpPr>
        <p:spPr>
          <a:xfrm>
            <a:off x="5989320" y="4251959"/>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6" name="TextBox 255"/>
          <p:cNvSpPr txBox="1"/>
          <p:nvPr/>
        </p:nvSpPr>
        <p:spPr>
          <a:xfrm>
            <a:off x="6007608" y="4251959"/>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57" name="Rectangle 256"/>
          <p:cNvSpPr/>
          <p:nvPr/>
        </p:nvSpPr>
        <p:spPr>
          <a:xfrm>
            <a:off x="6812280" y="4251959"/>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8" name="TextBox 257"/>
          <p:cNvSpPr txBox="1"/>
          <p:nvPr/>
        </p:nvSpPr>
        <p:spPr>
          <a:xfrm>
            <a:off x="6830568" y="4251959"/>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59" name="Rectangle 258"/>
          <p:cNvSpPr/>
          <p:nvPr/>
        </p:nvSpPr>
        <p:spPr>
          <a:xfrm>
            <a:off x="7635240" y="4251959"/>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0" name="TextBox 259"/>
          <p:cNvSpPr txBox="1"/>
          <p:nvPr/>
        </p:nvSpPr>
        <p:spPr>
          <a:xfrm>
            <a:off x="7653528" y="4251959"/>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61" name="Rectangle 260"/>
          <p:cNvSpPr/>
          <p:nvPr/>
        </p:nvSpPr>
        <p:spPr>
          <a:xfrm>
            <a:off x="8458200" y="4251959"/>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2" name="TextBox 261"/>
          <p:cNvSpPr txBox="1"/>
          <p:nvPr/>
        </p:nvSpPr>
        <p:spPr>
          <a:xfrm>
            <a:off x="8476488" y="4251959"/>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63" name="Rectangle 262"/>
          <p:cNvSpPr/>
          <p:nvPr/>
        </p:nvSpPr>
        <p:spPr>
          <a:xfrm>
            <a:off x="9281160" y="4251959"/>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4" name="TextBox 263"/>
          <p:cNvSpPr txBox="1"/>
          <p:nvPr/>
        </p:nvSpPr>
        <p:spPr>
          <a:xfrm>
            <a:off x="9299448" y="4251959"/>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65" name="Rectangle 264"/>
          <p:cNvSpPr/>
          <p:nvPr/>
        </p:nvSpPr>
        <p:spPr>
          <a:xfrm>
            <a:off x="10104120" y="4251959"/>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6" name="TextBox 265"/>
          <p:cNvSpPr txBox="1"/>
          <p:nvPr/>
        </p:nvSpPr>
        <p:spPr>
          <a:xfrm>
            <a:off x="10122408" y="4251959"/>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67" name="Rectangle 266"/>
          <p:cNvSpPr/>
          <p:nvPr/>
        </p:nvSpPr>
        <p:spPr>
          <a:xfrm>
            <a:off x="10927080" y="4251959"/>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8" name="TextBox 267"/>
          <p:cNvSpPr txBox="1"/>
          <p:nvPr/>
        </p:nvSpPr>
        <p:spPr>
          <a:xfrm>
            <a:off x="10945368" y="4251959"/>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2,686,438</a:t>
            </a:r>
          </a:p>
        </p:txBody>
      </p:sp>
      <p:sp>
        <p:nvSpPr>
          <p:cNvPr id="269" name="Rectangle 268"/>
          <p:cNvSpPr/>
          <p:nvPr/>
        </p:nvSpPr>
        <p:spPr>
          <a:xfrm>
            <a:off x="320040" y="4562855"/>
            <a:ext cx="237744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0" name="TextBox 269"/>
          <p:cNvSpPr txBox="1"/>
          <p:nvPr/>
        </p:nvSpPr>
        <p:spPr>
          <a:xfrm>
            <a:off x="338328" y="4562855"/>
            <a:ext cx="2340864" cy="310896"/>
          </a:xfrm>
          <a:prstGeom prst="rect">
            <a:avLst/>
          </a:prstGeom>
          <a:noFill/>
        </p:spPr>
        <p:txBody>
          <a:bodyPr wrap="square" anchor="ctr" lIns="45720" rIns="45720" tIns="9144" bIns="9144">
            <a:spAutoFit/>
          </a:bodyPr>
          <a:lstStyle/>
          <a:p>
            <a:pPr algn="l"/>
            <a:r>
              <a:rPr sz="850" b="0" i="0">
                <a:solidFill>
                  <a:srgbClr val="334155"/>
                </a:solidFill>
                <a:latin typeface="Calibri"/>
              </a:rPr>
              <a:t>(−) Inversión en activos fijos y diferidos</a:t>
            </a:r>
          </a:p>
        </p:txBody>
      </p:sp>
      <p:sp>
        <p:nvSpPr>
          <p:cNvPr id="271" name="Rectangle 270"/>
          <p:cNvSpPr/>
          <p:nvPr/>
        </p:nvSpPr>
        <p:spPr>
          <a:xfrm>
            <a:off x="2697480" y="4562855"/>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2" name="TextBox 271"/>
          <p:cNvSpPr txBox="1"/>
          <p:nvPr/>
        </p:nvSpPr>
        <p:spPr>
          <a:xfrm>
            <a:off x="2715768" y="4562855"/>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1,471,000</a:t>
            </a:r>
          </a:p>
        </p:txBody>
      </p:sp>
      <p:sp>
        <p:nvSpPr>
          <p:cNvPr id="273" name="Rectangle 272"/>
          <p:cNvSpPr/>
          <p:nvPr/>
        </p:nvSpPr>
        <p:spPr>
          <a:xfrm>
            <a:off x="3520440" y="4562855"/>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4" name="TextBox 273"/>
          <p:cNvSpPr txBox="1"/>
          <p:nvPr/>
        </p:nvSpPr>
        <p:spPr>
          <a:xfrm>
            <a:off x="3538728" y="4562855"/>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75" name="Rectangle 274"/>
          <p:cNvSpPr/>
          <p:nvPr/>
        </p:nvSpPr>
        <p:spPr>
          <a:xfrm>
            <a:off x="4343400" y="4562855"/>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6" name="TextBox 275"/>
          <p:cNvSpPr txBox="1"/>
          <p:nvPr/>
        </p:nvSpPr>
        <p:spPr>
          <a:xfrm>
            <a:off x="4361688" y="4562855"/>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77" name="Rectangle 276"/>
          <p:cNvSpPr/>
          <p:nvPr/>
        </p:nvSpPr>
        <p:spPr>
          <a:xfrm>
            <a:off x="5166360" y="4562855"/>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 name="TextBox 277"/>
          <p:cNvSpPr txBox="1"/>
          <p:nvPr/>
        </p:nvSpPr>
        <p:spPr>
          <a:xfrm>
            <a:off x="5184648" y="4562855"/>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79" name="Rectangle 278"/>
          <p:cNvSpPr/>
          <p:nvPr/>
        </p:nvSpPr>
        <p:spPr>
          <a:xfrm>
            <a:off x="5989320" y="4562855"/>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0" name="TextBox 279"/>
          <p:cNvSpPr txBox="1"/>
          <p:nvPr/>
        </p:nvSpPr>
        <p:spPr>
          <a:xfrm>
            <a:off x="6007608" y="4562855"/>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81" name="Rectangle 280"/>
          <p:cNvSpPr/>
          <p:nvPr/>
        </p:nvSpPr>
        <p:spPr>
          <a:xfrm>
            <a:off x="6812280" y="4562855"/>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2" name="TextBox 281"/>
          <p:cNvSpPr txBox="1"/>
          <p:nvPr/>
        </p:nvSpPr>
        <p:spPr>
          <a:xfrm>
            <a:off x="6830568" y="4562855"/>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83" name="Rectangle 282"/>
          <p:cNvSpPr/>
          <p:nvPr/>
        </p:nvSpPr>
        <p:spPr>
          <a:xfrm>
            <a:off x="7635240" y="4562855"/>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4" name="TextBox 283"/>
          <p:cNvSpPr txBox="1"/>
          <p:nvPr/>
        </p:nvSpPr>
        <p:spPr>
          <a:xfrm>
            <a:off x="7653528" y="4562855"/>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85" name="Rectangle 284"/>
          <p:cNvSpPr/>
          <p:nvPr/>
        </p:nvSpPr>
        <p:spPr>
          <a:xfrm>
            <a:off x="8458200" y="4562855"/>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6" name="TextBox 285"/>
          <p:cNvSpPr txBox="1"/>
          <p:nvPr/>
        </p:nvSpPr>
        <p:spPr>
          <a:xfrm>
            <a:off x="8476488" y="4562855"/>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87" name="Rectangle 286"/>
          <p:cNvSpPr/>
          <p:nvPr/>
        </p:nvSpPr>
        <p:spPr>
          <a:xfrm>
            <a:off x="9281160" y="4562855"/>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8" name="TextBox 287"/>
          <p:cNvSpPr txBox="1"/>
          <p:nvPr/>
        </p:nvSpPr>
        <p:spPr>
          <a:xfrm>
            <a:off x="9299448" y="4562855"/>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89" name="Rectangle 288"/>
          <p:cNvSpPr/>
          <p:nvPr/>
        </p:nvSpPr>
        <p:spPr>
          <a:xfrm>
            <a:off x="10104120" y="4562855"/>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0" name="TextBox 289"/>
          <p:cNvSpPr txBox="1"/>
          <p:nvPr/>
        </p:nvSpPr>
        <p:spPr>
          <a:xfrm>
            <a:off x="10122408" y="4562855"/>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91" name="Rectangle 290"/>
          <p:cNvSpPr/>
          <p:nvPr/>
        </p:nvSpPr>
        <p:spPr>
          <a:xfrm>
            <a:off x="10927080" y="4562855"/>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2" name="TextBox 291"/>
          <p:cNvSpPr txBox="1"/>
          <p:nvPr/>
        </p:nvSpPr>
        <p:spPr>
          <a:xfrm>
            <a:off x="10945368" y="4562855"/>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93" name="Rectangle 292"/>
          <p:cNvSpPr/>
          <p:nvPr/>
        </p:nvSpPr>
        <p:spPr>
          <a:xfrm>
            <a:off x="320040" y="4873751"/>
            <a:ext cx="237744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4" name="TextBox 293"/>
          <p:cNvSpPr txBox="1"/>
          <p:nvPr/>
        </p:nvSpPr>
        <p:spPr>
          <a:xfrm>
            <a:off x="338328" y="4873751"/>
            <a:ext cx="2340864" cy="310896"/>
          </a:xfrm>
          <a:prstGeom prst="rect">
            <a:avLst/>
          </a:prstGeom>
          <a:noFill/>
        </p:spPr>
        <p:txBody>
          <a:bodyPr wrap="square" anchor="ctr" lIns="45720" rIns="45720" tIns="9144" bIns="9144">
            <a:spAutoFit/>
          </a:bodyPr>
          <a:lstStyle/>
          <a:p>
            <a:pPr algn="l"/>
            <a:r>
              <a:rPr sz="850" b="0" i="0">
                <a:solidFill>
                  <a:srgbClr val="334155"/>
                </a:solidFill>
                <a:latin typeface="Calibri"/>
              </a:rPr>
              <a:t>(−) Inversión en capital de trabajo</a:t>
            </a:r>
          </a:p>
        </p:txBody>
      </p:sp>
      <p:sp>
        <p:nvSpPr>
          <p:cNvPr id="295" name="Rectangle 294"/>
          <p:cNvSpPr/>
          <p:nvPr/>
        </p:nvSpPr>
        <p:spPr>
          <a:xfrm>
            <a:off x="2697480" y="4873751"/>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6" name="TextBox 295"/>
          <p:cNvSpPr txBox="1"/>
          <p:nvPr/>
        </p:nvSpPr>
        <p:spPr>
          <a:xfrm>
            <a:off x="2715768" y="4873751"/>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313,058</a:t>
            </a:r>
          </a:p>
        </p:txBody>
      </p:sp>
      <p:sp>
        <p:nvSpPr>
          <p:cNvPr id="297" name="Rectangle 296"/>
          <p:cNvSpPr/>
          <p:nvPr/>
        </p:nvSpPr>
        <p:spPr>
          <a:xfrm>
            <a:off x="3520440" y="4873751"/>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8" name="TextBox 297"/>
          <p:cNvSpPr txBox="1"/>
          <p:nvPr/>
        </p:nvSpPr>
        <p:spPr>
          <a:xfrm>
            <a:off x="3538728" y="4873751"/>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99" name="Rectangle 298"/>
          <p:cNvSpPr/>
          <p:nvPr/>
        </p:nvSpPr>
        <p:spPr>
          <a:xfrm>
            <a:off x="4343400" y="4873751"/>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0" name="TextBox 299"/>
          <p:cNvSpPr txBox="1"/>
          <p:nvPr/>
        </p:nvSpPr>
        <p:spPr>
          <a:xfrm>
            <a:off x="4361688" y="4873751"/>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113,257</a:t>
            </a:r>
          </a:p>
        </p:txBody>
      </p:sp>
      <p:sp>
        <p:nvSpPr>
          <p:cNvPr id="301" name="Rectangle 300"/>
          <p:cNvSpPr/>
          <p:nvPr/>
        </p:nvSpPr>
        <p:spPr>
          <a:xfrm>
            <a:off x="5166360" y="4873751"/>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2" name="TextBox 301"/>
          <p:cNvSpPr txBox="1"/>
          <p:nvPr/>
        </p:nvSpPr>
        <p:spPr>
          <a:xfrm>
            <a:off x="5184648" y="4873751"/>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148,724</a:t>
            </a:r>
          </a:p>
        </p:txBody>
      </p:sp>
      <p:sp>
        <p:nvSpPr>
          <p:cNvPr id="303" name="Rectangle 302"/>
          <p:cNvSpPr/>
          <p:nvPr/>
        </p:nvSpPr>
        <p:spPr>
          <a:xfrm>
            <a:off x="5989320" y="4873751"/>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4" name="TextBox 303"/>
          <p:cNvSpPr txBox="1"/>
          <p:nvPr/>
        </p:nvSpPr>
        <p:spPr>
          <a:xfrm>
            <a:off x="6007608" y="4873751"/>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188,320</a:t>
            </a:r>
          </a:p>
        </p:txBody>
      </p:sp>
      <p:sp>
        <p:nvSpPr>
          <p:cNvPr id="305" name="Rectangle 304"/>
          <p:cNvSpPr/>
          <p:nvPr/>
        </p:nvSpPr>
        <p:spPr>
          <a:xfrm>
            <a:off x="6812280" y="4873751"/>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6" name="TextBox 305"/>
          <p:cNvSpPr txBox="1"/>
          <p:nvPr/>
        </p:nvSpPr>
        <p:spPr>
          <a:xfrm>
            <a:off x="6830568" y="4873751"/>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232,396</a:t>
            </a:r>
          </a:p>
        </p:txBody>
      </p:sp>
      <p:sp>
        <p:nvSpPr>
          <p:cNvPr id="307" name="Rectangle 306"/>
          <p:cNvSpPr/>
          <p:nvPr/>
        </p:nvSpPr>
        <p:spPr>
          <a:xfrm>
            <a:off x="7635240" y="4873751"/>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8" name="TextBox 307"/>
          <p:cNvSpPr txBox="1"/>
          <p:nvPr/>
        </p:nvSpPr>
        <p:spPr>
          <a:xfrm>
            <a:off x="7653528" y="4873751"/>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251,766</a:t>
            </a:r>
          </a:p>
        </p:txBody>
      </p:sp>
      <p:sp>
        <p:nvSpPr>
          <p:cNvPr id="309" name="Rectangle 308"/>
          <p:cNvSpPr/>
          <p:nvPr/>
        </p:nvSpPr>
        <p:spPr>
          <a:xfrm>
            <a:off x="8458200" y="4873751"/>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0" name="TextBox 309"/>
          <p:cNvSpPr txBox="1"/>
          <p:nvPr/>
        </p:nvSpPr>
        <p:spPr>
          <a:xfrm>
            <a:off x="8476488" y="4873751"/>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303,305</a:t>
            </a:r>
          </a:p>
        </p:txBody>
      </p:sp>
      <p:sp>
        <p:nvSpPr>
          <p:cNvPr id="311" name="Rectangle 310"/>
          <p:cNvSpPr/>
          <p:nvPr/>
        </p:nvSpPr>
        <p:spPr>
          <a:xfrm>
            <a:off x="9281160" y="4873751"/>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2" name="TextBox 311"/>
          <p:cNvSpPr txBox="1"/>
          <p:nvPr/>
        </p:nvSpPr>
        <p:spPr>
          <a:xfrm>
            <a:off x="9299448" y="4873751"/>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328,076</a:t>
            </a:r>
          </a:p>
        </p:txBody>
      </p:sp>
      <p:sp>
        <p:nvSpPr>
          <p:cNvPr id="313" name="Rectangle 312"/>
          <p:cNvSpPr/>
          <p:nvPr/>
        </p:nvSpPr>
        <p:spPr>
          <a:xfrm>
            <a:off x="10104120" y="4873751"/>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4" name="TextBox 313"/>
          <p:cNvSpPr txBox="1"/>
          <p:nvPr/>
        </p:nvSpPr>
        <p:spPr>
          <a:xfrm>
            <a:off x="10122408" y="4873751"/>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388,201</a:t>
            </a:r>
          </a:p>
        </p:txBody>
      </p:sp>
      <p:sp>
        <p:nvSpPr>
          <p:cNvPr id="315" name="Rectangle 314"/>
          <p:cNvSpPr/>
          <p:nvPr/>
        </p:nvSpPr>
        <p:spPr>
          <a:xfrm>
            <a:off x="10927080" y="4873751"/>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6" name="TextBox 315"/>
          <p:cNvSpPr txBox="1"/>
          <p:nvPr/>
        </p:nvSpPr>
        <p:spPr>
          <a:xfrm>
            <a:off x="10945368" y="4873751"/>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419,335</a:t>
            </a:r>
          </a:p>
        </p:txBody>
      </p:sp>
      <p:sp>
        <p:nvSpPr>
          <p:cNvPr id="317" name="Rectangle 316"/>
          <p:cNvSpPr/>
          <p:nvPr/>
        </p:nvSpPr>
        <p:spPr>
          <a:xfrm>
            <a:off x="320040" y="5184647"/>
            <a:ext cx="2377440" cy="310896"/>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8" name="TextBox 317"/>
          <p:cNvSpPr txBox="1"/>
          <p:nvPr/>
        </p:nvSpPr>
        <p:spPr>
          <a:xfrm>
            <a:off x="338328" y="5184647"/>
            <a:ext cx="2340864" cy="310896"/>
          </a:xfrm>
          <a:prstGeom prst="rect">
            <a:avLst/>
          </a:prstGeom>
          <a:noFill/>
        </p:spPr>
        <p:txBody>
          <a:bodyPr wrap="square" anchor="ctr" lIns="45720" rIns="45720" tIns="9144" bIns="9144">
            <a:spAutoFit/>
          </a:bodyPr>
          <a:lstStyle/>
          <a:p>
            <a:pPr algn="l"/>
            <a:r>
              <a:rPr sz="850" b="1" i="0">
                <a:solidFill>
                  <a:srgbClr val="0D2341"/>
                </a:solidFill>
                <a:latin typeface="Calibri"/>
              </a:rPr>
              <a:t>(=) FLUJO DE CAJA NETO</a:t>
            </a:r>
          </a:p>
        </p:txBody>
      </p:sp>
      <p:sp>
        <p:nvSpPr>
          <p:cNvPr id="319" name="Rectangle 318"/>
          <p:cNvSpPr/>
          <p:nvPr/>
        </p:nvSpPr>
        <p:spPr>
          <a:xfrm>
            <a:off x="2697480" y="5184647"/>
            <a:ext cx="822960" cy="310896"/>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0" name="TextBox 319"/>
          <p:cNvSpPr txBox="1"/>
          <p:nvPr/>
        </p:nvSpPr>
        <p:spPr>
          <a:xfrm>
            <a:off x="2715768" y="5184647"/>
            <a:ext cx="786384" cy="310896"/>
          </a:xfrm>
          <a:prstGeom prst="rect">
            <a:avLst/>
          </a:prstGeom>
          <a:noFill/>
        </p:spPr>
        <p:txBody>
          <a:bodyPr wrap="square" anchor="ctr" lIns="45720" rIns="45720" tIns="9144" bIns="9144">
            <a:spAutoFit/>
          </a:bodyPr>
          <a:lstStyle/>
          <a:p>
            <a:pPr algn="r"/>
            <a:r>
              <a:rPr sz="850" b="1" i="0">
                <a:solidFill>
                  <a:srgbClr val="0D2341"/>
                </a:solidFill>
                <a:latin typeface="Calibri"/>
              </a:rPr>
              <a:t>−1,784,058</a:t>
            </a:r>
          </a:p>
        </p:txBody>
      </p:sp>
      <p:sp>
        <p:nvSpPr>
          <p:cNvPr id="321" name="Rectangle 320"/>
          <p:cNvSpPr/>
          <p:nvPr/>
        </p:nvSpPr>
        <p:spPr>
          <a:xfrm>
            <a:off x="3520440" y="5184647"/>
            <a:ext cx="822960" cy="310896"/>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2" name="TextBox 321"/>
          <p:cNvSpPr txBox="1"/>
          <p:nvPr/>
        </p:nvSpPr>
        <p:spPr>
          <a:xfrm>
            <a:off x="3538728" y="5184647"/>
            <a:ext cx="786384" cy="310896"/>
          </a:xfrm>
          <a:prstGeom prst="rect">
            <a:avLst/>
          </a:prstGeom>
          <a:noFill/>
        </p:spPr>
        <p:txBody>
          <a:bodyPr wrap="square" anchor="ctr" lIns="45720" rIns="45720" tIns="9144" bIns="9144">
            <a:spAutoFit/>
          </a:bodyPr>
          <a:lstStyle/>
          <a:p>
            <a:pPr algn="r"/>
            <a:r>
              <a:rPr sz="850" b="1" i="0">
                <a:solidFill>
                  <a:srgbClr val="0D2341"/>
                </a:solidFill>
                <a:latin typeface="Calibri"/>
              </a:rPr>
              <a:t>−733,857</a:t>
            </a:r>
          </a:p>
        </p:txBody>
      </p:sp>
      <p:sp>
        <p:nvSpPr>
          <p:cNvPr id="323" name="Rectangle 322"/>
          <p:cNvSpPr/>
          <p:nvPr/>
        </p:nvSpPr>
        <p:spPr>
          <a:xfrm>
            <a:off x="4343400" y="5184647"/>
            <a:ext cx="822960" cy="310896"/>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4" name="TextBox 323"/>
          <p:cNvSpPr txBox="1"/>
          <p:nvPr/>
        </p:nvSpPr>
        <p:spPr>
          <a:xfrm>
            <a:off x="4361688" y="5184647"/>
            <a:ext cx="786384" cy="310896"/>
          </a:xfrm>
          <a:prstGeom prst="rect">
            <a:avLst/>
          </a:prstGeom>
          <a:noFill/>
        </p:spPr>
        <p:txBody>
          <a:bodyPr wrap="square" anchor="ctr" lIns="45720" rIns="45720" tIns="9144" bIns="9144">
            <a:spAutoFit/>
          </a:bodyPr>
          <a:lstStyle/>
          <a:p>
            <a:pPr algn="r"/>
            <a:r>
              <a:rPr sz="850" b="1" i="0">
                <a:solidFill>
                  <a:srgbClr val="0D2341"/>
                </a:solidFill>
                <a:latin typeface="Calibri"/>
              </a:rPr>
              <a:t>35,705</a:t>
            </a:r>
          </a:p>
        </p:txBody>
      </p:sp>
      <p:sp>
        <p:nvSpPr>
          <p:cNvPr id="325" name="Rectangle 324"/>
          <p:cNvSpPr/>
          <p:nvPr/>
        </p:nvSpPr>
        <p:spPr>
          <a:xfrm>
            <a:off x="5166360" y="5184647"/>
            <a:ext cx="822960" cy="310896"/>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6" name="TextBox 325"/>
          <p:cNvSpPr txBox="1"/>
          <p:nvPr/>
        </p:nvSpPr>
        <p:spPr>
          <a:xfrm>
            <a:off x="5184648" y="5184647"/>
            <a:ext cx="786384" cy="310896"/>
          </a:xfrm>
          <a:prstGeom prst="rect">
            <a:avLst/>
          </a:prstGeom>
          <a:noFill/>
        </p:spPr>
        <p:txBody>
          <a:bodyPr wrap="square" anchor="ctr" lIns="45720" rIns="45720" tIns="9144" bIns="9144">
            <a:spAutoFit/>
          </a:bodyPr>
          <a:lstStyle/>
          <a:p>
            <a:pPr algn="r"/>
            <a:r>
              <a:rPr sz="850" b="1" i="0">
                <a:solidFill>
                  <a:srgbClr val="0D2341"/>
                </a:solidFill>
                <a:latin typeface="Calibri"/>
              </a:rPr>
              <a:t>1,165,014</a:t>
            </a:r>
          </a:p>
        </p:txBody>
      </p:sp>
      <p:sp>
        <p:nvSpPr>
          <p:cNvPr id="327" name="Rectangle 326"/>
          <p:cNvSpPr/>
          <p:nvPr/>
        </p:nvSpPr>
        <p:spPr>
          <a:xfrm>
            <a:off x="5989320" y="5184647"/>
            <a:ext cx="822960" cy="310896"/>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8" name="TextBox 327"/>
          <p:cNvSpPr txBox="1"/>
          <p:nvPr/>
        </p:nvSpPr>
        <p:spPr>
          <a:xfrm>
            <a:off x="6007608" y="5184647"/>
            <a:ext cx="786384" cy="310896"/>
          </a:xfrm>
          <a:prstGeom prst="rect">
            <a:avLst/>
          </a:prstGeom>
          <a:noFill/>
        </p:spPr>
        <p:txBody>
          <a:bodyPr wrap="square" anchor="ctr" lIns="45720" rIns="45720" tIns="9144" bIns="9144">
            <a:spAutoFit/>
          </a:bodyPr>
          <a:lstStyle/>
          <a:p>
            <a:pPr algn="r"/>
            <a:r>
              <a:rPr sz="850" b="1" i="0">
                <a:solidFill>
                  <a:srgbClr val="0D2341"/>
                </a:solidFill>
                <a:latin typeface="Calibri"/>
              </a:rPr>
              <a:t>1,962,343</a:t>
            </a:r>
          </a:p>
        </p:txBody>
      </p:sp>
      <p:sp>
        <p:nvSpPr>
          <p:cNvPr id="329" name="Rectangle 328"/>
          <p:cNvSpPr/>
          <p:nvPr/>
        </p:nvSpPr>
        <p:spPr>
          <a:xfrm>
            <a:off x="6812280" y="5184647"/>
            <a:ext cx="822960" cy="310896"/>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0" name="TextBox 329"/>
          <p:cNvSpPr txBox="1"/>
          <p:nvPr/>
        </p:nvSpPr>
        <p:spPr>
          <a:xfrm>
            <a:off x="6830568" y="5184647"/>
            <a:ext cx="786384" cy="310896"/>
          </a:xfrm>
          <a:prstGeom prst="rect">
            <a:avLst/>
          </a:prstGeom>
          <a:noFill/>
        </p:spPr>
        <p:txBody>
          <a:bodyPr wrap="square" anchor="ctr" lIns="45720" rIns="45720" tIns="9144" bIns="9144">
            <a:spAutoFit/>
          </a:bodyPr>
          <a:lstStyle/>
          <a:p>
            <a:pPr algn="r"/>
            <a:r>
              <a:rPr sz="850" b="1" i="0">
                <a:solidFill>
                  <a:srgbClr val="0D2341"/>
                </a:solidFill>
                <a:latin typeface="Calibri"/>
              </a:rPr>
              <a:t>3,290,643</a:t>
            </a:r>
          </a:p>
        </p:txBody>
      </p:sp>
      <p:sp>
        <p:nvSpPr>
          <p:cNvPr id="331" name="Rectangle 330"/>
          <p:cNvSpPr/>
          <p:nvPr/>
        </p:nvSpPr>
        <p:spPr>
          <a:xfrm>
            <a:off x="7635240" y="5184647"/>
            <a:ext cx="822960" cy="310896"/>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2" name="TextBox 331"/>
          <p:cNvSpPr txBox="1"/>
          <p:nvPr/>
        </p:nvSpPr>
        <p:spPr>
          <a:xfrm>
            <a:off x="7653528" y="5184647"/>
            <a:ext cx="786384" cy="310896"/>
          </a:xfrm>
          <a:prstGeom prst="rect">
            <a:avLst/>
          </a:prstGeom>
          <a:noFill/>
        </p:spPr>
        <p:txBody>
          <a:bodyPr wrap="square" anchor="ctr" lIns="45720" rIns="45720" tIns="9144" bIns="9144">
            <a:spAutoFit/>
          </a:bodyPr>
          <a:lstStyle/>
          <a:p>
            <a:pPr algn="r"/>
            <a:r>
              <a:rPr sz="850" b="1" i="0">
                <a:solidFill>
                  <a:srgbClr val="0D2341"/>
                </a:solidFill>
                <a:latin typeface="Calibri"/>
              </a:rPr>
              <a:t>4,728,611</a:t>
            </a:r>
          </a:p>
        </p:txBody>
      </p:sp>
      <p:sp>
        <p:nvSpPr>
          <p:cNvPr id="333" name="Rectangle 332"/>
          <p:cNvSpPr/>
          <p:nvPr/>
        </p:nvSpPr>
        <p:spPr>
          <a:xfrm>
            <a:off x="8458200" y="5184647"/>
            <a:ext cx="822960" cy="310896"/>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4" name="TextBox 333"/>
          <p:cNvSpPr txBox="1"/>
          <p:nvPr/>
        </p:nvSpPr>
        <p:spPr>
          <a:xfrm>
            <a:off x="8476488" y="5184647"/>
            <a:ext cx="786384" cy="310896"/>
          </a:xfrm>
          <a:prstGeom prst="rect">
            <a:avLst/>
          </a:prstGeom>
          <a:noFill/>
        </p:spPr>
        <p:txBody>
          <a:bodyPr wrap="square" anchor="ctr" lIns="45720" rIns="45720" tIns="9144" bIns="9144">
            <a:spAutoFit/>
          </a:bodyPr>
          <a:lstStyle/>
          <a:p>
            <a:pPr algn="r"/>
            <a:r>
              <a:rPr sz="850" b="1" i="0">
                <a:solidFill>
                  <a:srgbClr val="0D2341"/>
                </a:solidFill>
                <a:latin typeface="Calibri"/>
              </a:rPr>
              <a:t>6,496,392</a:t>
            </a:r>
          </a:p>
        </p:txBody>
      </p:sp>
      <p:sp>
        <p:nvSpPr>
          <p:cNvPr id="335" name="Rectangle 334"/>
          <p:cNvSpPr/>
          <p:nvPr/>
        </p:nvSpPr>
        <p:spPr>
          <a:xfrm>
            <a:off x="9281160" y="5184647"/>
            <a:ext cx="822960" cy="310896"/>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6" name="TextBox 335"/>
          <p:cNvSpPr txBox="1"/>
          <p:nvPr/>
        </p:nvSpPr>
        <p:spPr>
          <a:xfrm>
            <a:off x="9299448" y="5184647"/>
            <a:ext cx="786384" cy="310896"/>
          </a:xfrm>
          <a:prstGeom prst="rect">
            <a:avLst/>
          </a:prstGeom>
          <a:noFill/>
        </p:spPr>
        <p:txBody>
          <a:bodyPr wrap="square" anchor="ctr" lIns="45720" rIns="45720" tIns="9144" bIns="9144">
            <a:spAutoFit/>
          </a:bodyPr>
          <a:lstStyle/>
          <a:p>
            <a:pPr algn="r"/>
            <a:r>
              <a:rPr sz="850" b="1" i="0">
                <a:solidFill>
                  <a:srgbClr val="0D2341"/>
                </a:solidFill>
                <a:latin typeface="Calibri"/>
              </a:rPr>
              <a:t>8,444,920</a:t>
            </a:r>
          </a:p>
        </p:txBody>
      </p:sp>
      <p:sp>
        <p:nvSpPr>
          <p:cNvPr id="337" name="Rectangle 336"/>
          <p:cNvSpPr/>
          <p:nvPr/>
        </p:nvSpPr>
        <p:spPr>
          <a:xfrm>
            <a:off x="10104120" y="5184647"/>
            <a:ext cx="822960" cy="310896"/>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8" name="TextBox 337"/>
          <p:cNvSpPr txBox="1"/>
          <p:nvPr/>
        </p:nvSpPr>
        <p:spPr>
          <a:xfrm>
            <a:off x="10122408" y="5184647"/>
            <a:ext cx="786384" cy="310896"/>
          </a:xfrm>
          <a:prstGeom prst="rect">
            <a:avLst/>
          </a:prstGeom>
          <a:noFill/>
        </p:spPr>
        <p:txBody>
          <a:bodyPr wrap="square" anchor="ctr" lIns="45720" rIns="45720" tIns="9144" bIns="9144">
            <a:spAutoFit/>
          </a:bodyPr>
          <a:lstStyle/>
          <a:p>
            <a:pPr algn="r"/>
            <a:r>
              <a:rPr sz="850" b="1" i="0">
                <a:solidFill>
                  <a:srgbClr val="0D2341"/>
                </a:solidFill>
                <a:latin typeface="Calibri"/>
              </a:rPr>
              <a:t>10,740,373</a:t>
            </a:r>
          </a:p>
        </p:txBody>
      </p:sp>
      <p:sp>
        <p:nvSpPr>
          <p:cNvPr id="339" name="Rectangle 338"/>
          <p:cNvSpPr/>
          <p:nvPr/>
        </p:nvSpPr>
        <p:spPr>
          <a:xfrm>
            <a:off x="10927080" y="5184647"/>
            <a:ext cx="822960" cy="310896"/>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0" name="TextBox 339"/>
          <p:cNvSpPr txBox="1"/>
          <p:nvPr/>
        </p:nvSpPr>
        <p:spPr>
          <a:xfrm>
            <a:off x="10945368" y="5184647"/>
            <a:ext cx="786384" cy="310896"/>
          </a:xfrm>
          <a:prstGeom prst="rect">
            <a:avLst/>
          </a:prstGeom>
          <a:noFill/>
        </p:spPr>
        <p:txBody>
          <a:bodyPr wrap="square" anchor="ctr" lIns="45720" rIns="45720" tIns="9144" bIns="9144">
            <a:spAutoFit/>
          </a:bodyPr>
          <a:lstStyle/>
          <a:p>
            <a:pPr algn="r"/>
            <a:r>
              <a:rPr sz="850" b="1" i="0">
                <a:solidFill>
                  <a:srgbClr val="0D2341"/>
                </a:solidFill>
                <a:latin typeface="Calibri"/>
              </a:rPr>
              <a:t>15,945,642</a:t>
            </a:r>
          </a:p>
        </p:txBody>
      </p:sp>
      <p:sp>
        <p:nvSpPr>
          <p:cNvPr id="341" name="Rectangle 340"/>
          <p:cNvSpPr/>
          <p:nvPr/>
        </p:nvSpPr>
        <p:spPr>
          <a:xfrm>
            <a:off x="320040" y="5495543"/>
            <a:ext cx="237744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2" name="TextBox 341"/>
          <p:cNvSpPr txBox="1"/>
          <p:nvPr/>
        </p:nvSpPr>
        <p:spPr>
          <a:xfrm>
            <a:off x="338328" y="5495543"/>
            <a:ext cx="2340864" cy="310896"/>
          </a:xfrm>
          <a:prstGeom prst="rect">
            <a:avLst/>
          </a:prstGeom>
          <a:noFill/>
        </p:spPr>
        <p:txBody>
          <a:bodyPr wrap="square" anchor="ctr" lIns="45720" rIns="45720" tIns="9144" bIns="9144">
            <a:spAutoFit/>
          </a:bodyPr>
          <a:lstStyle/>
          <a:p>
            <a:pPr algn="l"/>
            <a:r>
              <a:rPr sz="850" b="0" i="0">
                <a:solidFill>
                  <a:srgbClr val="334155"/>
                </a:solidFill>
                <a:latin typeface="Calibri"/>
              </a:rPr>
              <a:t>Flujo acumulado</a:t>
            </a:r>
          </a:p>
        </p:txBody>
      </p:sp>
      <p:sp>
        <p:nvSpPr>
          <p:cNvPr id="343" name="Rectangle 342"/>
          <p:cNvSpPr/>
          <p:nvPr/>
        </p:nvSpPr>
        <p:spPr>
          <a:xfrm>
            <a:off x="2697480" y="5495543"/>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4" name="TextBox 343"/>
          <p:cNvSpPr txBox="1"/>
          <p:nvPr/>
        </p:nvSpPr>
        <p:spPr>
          <a:xfrm>
            <a:off x="2715768" y="5495543"/>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−1,784,058</a:t>
            </a:r>
          </a:p>
        </p:txBody>
      </p:sp>
      <p:sp>
        <p:nvSpPr>
          <p:cNvPr id="345" name="Rectangle 344"/>
          <p:cNvSpPr/>
          <p:nvPr/>
        </p:nvSpPr>
        <p:spPr>
          <a:xfrm>
            <a:off x="3520440" y="5495543"/>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6" name="TextBox 345"/>
          <p:cNvSpPr txBox="1"/>
          <p:nvPr/>
        </p:nvSpPr>
        <p:spPr>
          <a:xfrm>
            <a:off x="3538728" y="5495543"/>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−2,517,915</a:t>
            </a:r>
          </a:p>
        </p:txBody>
      </p:sp>
      <p:sp>
        <p:nvSpPr>
          <p:cNvPr id="347" name="Rectangle 346"/>
          <p:cNvSpPr/>
          <p:nvPr/>
        </p:nvSpPr>
        <p:spPr>
          <a:xfrm>
            <a:off x="4343400" y="5495543"/>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8" name="TextBox 347"/>
          <p:cNvSpPr txBox="1"/>
          <p:nvPr/>
        </p:nvSpPr>
        <p:spPr>
          <a:xfrm>
            <a:off x="4361688" y="5495543"/>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−2,482,210</a:t>
            </a:r>
          </a:p>
        </p:txBody>
      </p:sp>
      <p:sp>
        <p:nvSpPr>
          <p:cNvPr id="349" name="Rectangle 348"/>
          <p:cNvSpPr/>
          <p:nvPr/>
        </p:nvSpPr>
        <p:spPr>
          <a:xfrm>
            <a:off x="5166360" y="5495543"/>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0" name="TextBox 349"/>
          <p:cNvSpPr txBox="1"/>
          <p:nvPr/>
        </p:nvSpPr>
        <p:spPr>
          <a:xfrm>
            <a:off x="5184648" y="5495543"/>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−1,317,196</a:t>
            </a:r>
          </a:p>
        </p:txBody>
      </p:sp>
      <p:sp>
        <p:nvSpPr>
          <p:cNvPr id="351" name="Rectangle 350"/>
          <p:cNvSpPr/>
          <p:nvPr/>
        </p:nvSpPr>
        <p:spPr>
          <a:xfrm>
            <a:off x="5989320" y="5495543"/>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2" name="TextBox 351"/>
          <p:cNvSpPr txBox="1"/>
          <p:nvPr/>
        </p:nvSpPr>
        <p:spPr>
          <a:xfrm>
            <a:off x="6007608" y="5495543"/>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645,146</a:t>
            </a:r>
          </a:p>
        </p:txBody>
      </p:sp>
      <p:sp>
        <p:nvSpPr>
          <p:cNvPr id="353" name="Rectangle 352"/>
          <p:cNvSpPr/>
          <p:nvPr/>
        </p:nvSpPr>
        <p:spPr>
          <a:xfrm>
            <a:off x="6812280" y="5495543"/>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4" name="TextBox 353"/>
          <p:cNvSpPr txBox="1"/>
          <p:nvPr/>
        </p:nvSpPr>
        <p:spPr>
          <a:xfrm>
            <a:off x="6830568" y="5495543"/>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3,935,789</a:t>
            </a:r>
          </a:p>
        </p:txBody>
      </p:sp>
      <p:sp>
        <p:nvSpPr>
          <p:cNvPr id="355" name="Rectangle 354"/>
          <p:cNvSpPr/>
          <p:nvPr/>
        </p:nvSpPr>
        <p:spPr>
          <a:xfrm>
            <a:off x="7635240" y="5495543"/>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6" name="TextBox 355"/>
          <p:cNvSpPr txBox="1"/>
          <p:nvPr/>
        </p:nvSpPr>
        <p:spPr>
          <a:xfrm>
            <a:off x="7653528" y="5495543"/>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8,664,400</a:t>
            </a:r>
          </a:p>
        </p:txBody>
      </p:sp>
      <p:sp>
        <p:nvSpPr>
          <p:cNvPr id="357" name="Rectangle 356"/>
          <p:cNvSpPr/>
          <p:nvPr/>
        </p:nvSpPr>
        <p:spPr>
          <a:xfrm>
            <a:off x="8458200" y="5495543"/>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8" name="TextBox 357"/>
          <p:cNvSpPr txBox="1"/>
          <p:nvPr/>
        </p:nvSpPr>
        <p:spPr>
          <a:xfrm>
            <a:off x="8476488" y="5495543"/>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15,160,792</a:t>
            </a:r>
          </a:p>
        </p:txBody>
      </p:sp>
      <p:sp>
        <p:nvSpPr>
          <p:cNvPr id="359" name="Rectangle 358"/>
          <p:cNvSpPr/>
          <p:nvPr/>
        </p:nvSpPr>
        <p:spPr>
          <a:xfrm>
            <a:off x="9281160" y="5495543"/>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0" name="TextBox 359"/>
          <p:cNvSpPr txBox="1"/>
          <p:nvPr/>
        </p:nvSpPr>
        <p:spPr>
          <a:xfrm>
            <a:off x="9299448" y="5495543"/>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23,605,712</a:t>
            </a:r>
          </a:p>
        </p:txBody>
      </p:sp>
      <p:sp>
        <p:nvSpPr>
          <p:cNvPr id="361" name="Rectangle 360"/>
          <p:cNvSpPr/>
          <p:nvPr/>
        </p:nvSpPr>
        <p:spPr>
          <a:xfrm>
            <a:off x="10104120" y="5495543"/>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2" name="TextBox 361"/>
          <p:cNvSpPr txBox="1"/>
          <p:nvPr/>
        </p:nvSpPr>
        <p:spPr>
          <a:xfrm>
            <a:off x="10122408" y="5495543"/>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34,346,085</a:t>
            </a:r>
          </a:p>
        </p:txBody>
      </p:sp>
      <p:sp>
        <p:nvSpPr>
          <p:cNvPr id="363" name="Rectangle 362"/>
          <p:cNvSpPr/>
          <p:nvPr/>
        </p:nvSpPr>
        <p:spPr>
          <a:xfrm>
            <a:off x="10927080" y="5495543"/>
            <a:ext cx="82296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4" name="TextBox 363"/>
          <p:cNvSpPr txBox="1"/>
          <p:nvPr/>
        </p:nvSpPr>
        <p:spPr>
          <a:xfrm>
            <a:off x="10945368" y="5495543"/>
            <a:ext cx="786384" cy="310896"/>
          </a:xfrm>
          <a:prstGeom prst="rect">
            <a:avLst/>
          </a:prstGeom>
          <a:noFill/>
        </p:spPr>
        <p:txBody>
          <a:bodyPr wrap="square" anchor="ctr" lIns="45720" rIns="45720" tIns="9144" bIns="9144">
            <a:spAutoFit/>
          </a:bodyPr>
          <a:lstStyle/>
          <a:p>
            <a:pPr algn="r"/>
            <a:r>
              <a:rPr sz="850" b="0" i="0">
                <a:solidFill>
                  <a:srgbClr val="334155"/>
                </a:solidFill>
                <a:latin typeface="Calibri"/>
              </a:rPr>
              <a:t>50,291,726</a:t>
            </a:r>
          </a:p>
        </p:txBody>
      </p:sp>
      <p:sp>
        <p:nvSpPr>
          <p:cNvPr id="365" name="TextBox 364"/>
          <p:cNvSpPr txBox="1"/>
          <p:nvPr/>
        </p:nvSpPr>
        <p:spPr>
          <a:xfrm>
            <a:off x="320040" y="6309360"/>
            <a:ext cx="11521440" cy="274320"/>
          </a:xfrm>
          <a:prstGeom prst="rect">
            <a:avLst/>
          </a:prstGeom>
          <a:noFill/>
        </p:spPr>
        <p:txBody>
          <a:bodyPr wrap="square" anchor="ctr">
            <a:spAutoFit/>
          </a:bodyPr>
          <a:lstStyle/>
          <a:p>
            <a:pPr algn="l"/>
            <a:r>
              <a:rPr sz="850" b="0" i="1">
                <a:solidFill>
                  <a:srgbClr val="64748B"/>
                </a:solidFill>
                <a:latin typeface="Calibri"/>
              </a:rPr>
              <a:t>Fuente: Tabla 26 de la tesis y modelo financiero (réplica verificada). Cifras redondeadas; subtotales y acumulado se calculan con valores exactos (diferencias de L 1–2).</a:t>
            </a:r>
          </a:p>
        </p:txBody>
      </p:sp>
      <p:sp>
        <p:nvSpPr>
          <p:cNvPr id="366" name="TextBox 365"/>
          <p:cNvSpPr txBox="1"/>
          <p:nvPr/>
        </p:nvSpPr>
        <p:spPr>
          <a:xfrm>
            <a:off x="320040" y="6583680"/>
            <a:ext cx="11521440" cy="201168"/>
          </a:xfrm>
          <a:prstGeom prst="rect">
            <a:avLst/>
          </a:prstGeom>
          <a:noFill/>
        </p:spPr>
        <p:txBody>
          <a:bodyPr wrap="square" anchor="ctr">
            <a:spAutoFit/>
          </a:bodyPr>
          <a:lstStyle/>
          <a:p>
            <a:pPr algn="ctr"/>
            <a:r>
              <a:rPr sz="800" b="0" i="0">
                <a:solidFill>
                  <a:srgbClr val="64748B"/>
                </a:solidFill>
                <a:latin typeface="Calibri"/>
              </a:rPr>
              <a:t>Maestría en Agronegocios · Universidad EAFIT · Zamorano · 2026   |   Caballero · Valladares · Medal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3657600" cy="256032"/>
          </a:xfrm>
          <a:prstGeom prst="rect">
            <a:avLst/>
          </a:prstGeom>
          <a:noFill/>
        </p:spPr>
        <p:txBody>
          <a:bodyPr wrap="square" anchor="ctr">
            <a:spAutoFit/>
          </a:bodyPr>
          <a:lstStyle/>
          <a:p>
            <a:pPr algn="l"/>
            <a:r>
              <a:rPr sz="900" b="1" i="0">
                <a:solidFill>
                  <a:srgbClr val="1A7A8A"/>
                </a:solidFill>
                <a:latin typeface="Calibri"/>
              </a:rPr>
              <a:t>ANEXO B</a:t>
            </a:r>
          </a:p>
        </p:txBody>
      </p:sp>
      <p:sp>
        <p:nvSpPr>
          <p:cNvPr id="3" name="TextBox 2"/>
          <p:cNvSpPr txBox="1"/>
          <p:nvPr/>
        </p:nvSpPr>
        <p:spPr>
          <a:xfrm>
            <a:off x="320040" y="475488"/>
            <a:ext cx="11521440" cy="502920"/>
          </a:xfrm>
          <a:prstGeom prst="rect">
            <a:avLst/>
          </a:prstGeom>
          <a:noFill/>
        </p:spPr>
        <p:txBody>
          <a:bodyPr wrap="square" anchor="ctr">
            <a:spAutoFit/>
          </a:bodyPr>
          <a:lstStyle/>
          <a:p>
            <a:pPr algn="l"/>
            <a:r>
              <a:rPr sz="2200" b="1" i="0">
                <a:solidFill>
                  <a:srgbClr val="0D2341"/>
                </a:solidFill>
                <a:latin typeface="Calibri"/>
              </a:rPr>
              <a:t>Anexo B · Flujo de Caja Proyectado con Financiamiento</a:t>
            </a:r>
          </a:p>
        </p:txBody>
      </p:sp>
      <p:sp>
        <p:nvSpPr>
          <p:cNvPr id="4" name="Rectangle 3"/>
          <p:cNvSpPr/>
          <p:nvPr/>
        </p:nvSpPr>
        <p:spPr>
          <a:xfrm>
            <a:off x="320040" y="1005840"/>
            <a:ext cx="11430000" cy="18288"/>
          </a:xfrm>
          <a:prstGeom prst="rect">
            <a:avLst/>
          </a:prstGeom>
          <a:solidFill>
            <a:srgbClr val="1A7A8A"/>
          </a:solidFill>
          <a:ln w="12700">
            <a:solidFill>
              <a:srgbClr val="1A7A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320040" y="1143000"/>
            <a:ext cx="2377440" cy="28448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38328" y="1143000"/>
            <a:ext cx="2340864" cy="284480"/>
          </a:xfrm>
          <a:prstGeom prst="rect">
            <a:avLst/>
          </a:prstGeom>
          <a:noFill/>
        </p:spPr>
        <p:txBody>
          <a:bodyPr wrap="square" anchor="ctr" lIns="45720" rIns="45720" tIns="9144" bIns="9144">
            <a:spAutoFit/>
          </a:bodyPr>
          <a:lstStyle/>
          <a:p>
            <a:pPr algn="l"/>
            <a:r>
              <a:rPr sz="850" b="1" i="0">
                <a:solidFill>
                  <a:srgbClr val="FFFFFF"/>
                </a:solidFill>
                <a:latin typeface="Calibri"/>
              </a:rPr>
              <a:t>Concepto</a:t>
            </a:r>
          </a:p>
        </p:txBody>
      </p:sp>
      <p:sp>
        <p:nvSpPr>
          <p:cNvPr id="7" name="Rectangle 6"/>
          <p:cNvSpPr/>
          <p:nvPr/>
        </p:nvSpPr>
        <p:spPr>
          <a:xfrm>
            <a:off x="2697480" y="1143000"/>
            <a:ext cx="822960" cy="28448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715768" y="1143000"/>
            <a:ext cx="786384" cy="284480"/>
          </a:xfrm>
          <a:prstGeom prst="rect">
            <a:avLst/>
          </a:prstGeom>
          <a:noFill/>
        </p:spPr>
        <p:txBody>
          <a:bodyPr wrap="square" anchor="ctr" lIns="45720" rIns="45720" tIns="9144" bIns="9144">
            <a:spAutoFit/>
          </a:bodyPr>
          <a:lstStyle/>
          <a:p>
            <a:pPr algn="ctr"/>
            <a:r>
              <a:rPr sz="850" b="1" i="0">
                <a:solidFill>
                  <a:srgbClr val="FFFFFF"/>
                </a:solidFill>
                <a:latin typeface="Calibri"/>
              </a:rPr>
              <a:t>Año 0</a:t>
            </a:r>
          </a:p>
        </p:txBody>
      </p:sp>
      <p:sp>
        <p:nvSpPr>
          <p:cNvPr id="9" name="Rectangle 8"/>
          <p:cNvSpPr/>
          <p:nvPr/>
        </p:nvSpPr>
        <p:spPr>
          <a:xfrm>
            <a:off x="3520440" y="1143000"/>
            <a:ext cx="822960" cy="28448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538728" y="1143000"/>
            <a:ext cx="786384" cy="284480"/>
          </a:xfrm>
          <a:prstGeom prst="rect">
            <a:avLst/>
          </a:prstGeom>
          <a:noFill/>
        </p:spPr>
        <p:txBody>
          <a:bodyPr wrap="square" anchor="ctr" lIns="45720" rIns="45720" tIns="9144" bIns="9144">
            <a:spAutoFit/>
          </a:bodyPr>
          <a:lstStyle/>
          <a:p>
            <a:pPr algn="ctr"/>
            <a:r>
              <a:rPr sz="850" b="1" i="0">
                <a:solidFill>
                  <a:srgbClr val="FFFFFF"/>
                </a:solidFill>
                <a:latin typeface="Calibri"/>
              </a:rPr>
              <a:t>Año 1</a:t>
            </a:r>
          </a:p>
        </p:txBody>
      </p:sp>
      <p:sp>
        <p:nvSpPr>
          <p:cNvPr id="11" name="Rectangle 10"/>
          <p:cNvSpPr/>
          <p:nvPr/>
        </p:nvSpPr>
        <p:spPr>
          <a:xfrm>
            <a:off x="4343400" y="1143000"/>
            <a:ext cx="822960" cy="28448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361688" y="1143000"/>
            <a:ext cx="786384" cy="284480"/>
          </a:xfrm>
          <a:prstGeom prst="rect">
            <a:avLst/>
          </a:prstGeom>
          <a:noFill/>
        </p:spPr>
        <p:txBody>
          <a:bodyPr wrap="square" anchor="ctr" lIns="45720" rIns="45720" tIns="9144" bIns="9144">
            <a:spAutoFit/>
          </a:bodyPr>
          <a:lstStyle/>
          <a:p>
            <a:pPr algn="ctr"/>
            <a:r>
              <a:rPr sz="850" b="1" i="0">
                <a:solidFill>
                  <a:srgbClr val="FFFFFF"/>
                </a:solidFill>
                <a:latin typeface="Calibri"/>
              </a:rPr>
              <a:t>Año 2</a:t>
            </a:r>
          </a:p>
        </p:txBody>
      </p:sp>
      <p:sp>
        <p:nvSpPr>
          <p:cNvPr id="13" name="Rectangle 12"/>
          <p:cNvSpPr/>
          <p:nvPr/>
        </p:nvSpPr>
        <p:spPr>
          <a:xfrm>
            <a:off x="5166360" y="1143000"/>
            <a:ext cx="822960" cy="28448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184648" y="1143000"/>
            <a:ext cx="786384" cy="284480"/>
          </a:xfrm>
          <a:prstGeom prst="rect">
            <a:avLst/>
          </a:prstGeom>
          <a:noFill/>
        </p:spPr>
        <p:txBody>
          <a:bodyPr wrap="square" anchor="ctr" lIns="45720" rIns="45720" tIns="9144" bIns="9144">
            <a:spAutoFit/>
          </a:bodyPr>
          <a:lstStyle/>
          <a:p>
            <a:pPr algn="ctr"/>
            <a:r>
              <a:rPr sz="850" b="1" i="0">
                <a:solidFill>
                  <a:srgbClr val="FFFFFF"/>
                </a:solidFill>
                <a:latin typeface="Calibri"/>
              </a:rPr>
              <a:t>Año 3</a:t>
            </a:r>
          </a:p>
        </p:txBody>
      </p:sp>
      <p:sp>
        <p:nvSpPr>
          <p:cNvPr id="15" name="Rectangle 14"/>
          <p:cNvSpPr/>
          <p:nvPr/>
        </p:nvSpPr>
        <p:spPr>
          <a:xfrm>
            <a:off x="5989320" y="1143000"/>
            <a:ext cx="822960" cy="28448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007608" y="1143000"/>
            <a:ext cx="786384" cy="284480"/>
          </a:xfrm>
          <a:prstGeom prst="rect">
            <a:avLst/>
          </a:prstGeom>
          <a:noFill/>
        </p:spPr>
        <p:txBody>
          <a:bodyPr wrap="square" anchor="ctr" lIns="45720" rIns="45720" tIns="9144" bIns="9144">
            <a:spAutoFit/>
          </a:bodyPr>
          <a:lstStyle/>
          <a:p>
            <a:pPr algn="ctr"/>
            <a:r>
              <a:rPr sz="850" b="1" i="0">
                <a:solidFill>
                  <a:srgbClr val="FFFFFF"/>
                </a:solidFill>
                <a:latin typeface="Calibri"/>
              </a:rPr>
              <a:t>Año 4</a:t>
            </a:r>
          </a:p>
        </p:txBody>
      </p:sp>
      <p:sp>
        <p:nvSpPr>
          <p:cNvPr id="17" name="Rectangle 16"/>
          <p:cNvSpPr/>
          <p:nvPr/>
        </p:nvSpPr>
        <p:spPr>
          <a:xfrm>
            <a:off x="6812280" y="1143000"/>
            <a:ext cx="822960" cy="28448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830568" y="1143000"/>
            <a:ext cx="786384" cy="284480"/>
          </a:xfrm>
          <a:prstGeom prst="rect">
            <a:avLst/>
          </a:prstGeom>
          <a:noFill/>
        </p:spPr>
        <p:txBody>
          <a:bodyPr wrap="square" anchor="ctr" lIns="45720" rIns="45720" tIns="9144" bIns="9144">
            <a:spAutoFit/>
          </a:bodyPr>
          <a:lstStyle/>
          <a:p>
            <a:pPr algn="ctr"/>
            <a:r>
              <a:rPr sz="850" b="1" i="0">
                <a:solidFill>
                  <a:srgbClr val="FFFFFF"/>
                </a:solidFill>
                <a:latin typeface="Calibri"/>
              </a:rPr>
              <a:t>Año 5</a:t>
            </a:r>
          </a:p>
        </p:txBody>
      </p:sp>
      <p:sp>
        <p:nvSpPr>
          <p:cNvPr id="19" name="Rectangle 18"/>
          <p:cNvSpPr/>
          <p:nvPr/>
        </p:nvSpPr>
        <p:spPr>
          <a:xfrm>
            <a:off x="7635240" y="1143000"/>
            <a:ext cx="822960" cy="28448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653528" y="1143000"/>
            <a:ext cx="786384" cy="284480"/>
          </a:xfrm>
          <a:prstGeom prst="rect">
            <a:avLst/>
          </a:prstGeom>
          <a:noFill/>
        </p:spPr>
        <p:txBody>
          <a:bodyPr wrap="square" anchor="ctr" lIns="45720" rIns="45720" tIns="9144" bIns="9144">
            <a:spAutoFit/>
          </a:bodyPr>
          <a:lstStyle/>
          <a:p>
            <a:pPr algn="ctr"/>
            <a:r>
              <a:rPr sz="850" b="1" i="0">
                <a:solidFill>
                  <a:srgbClr val="FFFFFF"/>
                </a:solidFill>
                <a:latin typeface="Calibri"/>
              </a:rPr>
              <a:t>Año 6</a:t>
            </a:r>
          </a:p>
        </p:txBody>
      </p:sp>
      <p:sp>
        <p:nvSpPr>
          <p:cNvPr id="21" name="Rectangle 20"/>
          <p:cNvSpPr/>
          <p:nvPr/>
        </p:nvSpPr>
        <p:spPr>
          <a:xfrm>
            <a:off x="8458200" y="1143000"/>
            <a:ext cx="822960" cy="28448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76488" y="1143000"/>
            <a:ext cx="786384" cy="284480"/>
          </a:xfrm>
          <a:prstGeom prst="rect">
            <a:avLst/>
          </a:prstGeom>
          <a:noFill/>
        </p:spPr>
        <p:txBody>
          <a:bodyPr wrap="square" anchor="ctr" lIns="45720" rIns="45720" tIns="9144" bIns="9144">
            <a:spAutoFit/>
          </a:bodyPr>
          <a:lstStyle/>
          <a:p>
            <a:pPr algn="ctr"/>
            <a:r>
              <a:rPr sz="850" b="1" i="0">
                <a:solidFill>
                  <a:srgbClr val="FFFFFF"/>
                </a:solidFill>
                <a:latin typeface="Calibri"/>
              </a:rPr>
              <a:t>Año 7</a:t>
            </a:r>
          </a:p>
        </p:txBody>
      </p:sp>
      <p:sp>
        <p:nvSpPr>
          <p:cNvPr id="23" name="Rectangle 22"/>
          <p:cNvSpPr/>
          <p:nvPr/>
        </p:nvSpPr>
        <p:spPr>
          <a:xfrm>
            <a:off x="9281160" y="1143000"/>
            <a:ext cx="822960" cy="28448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299448" y="1143000"/>
            <a:ext cx="786384" cy="284480"/>
          </a:xfrm>
          <a:prstGeom prst="rect">
            <a:avLst/>
          </a:prstGeom>
          <a:noFill/>
        </p:spPr>
        <p:txBody>
          <a:bodyPr wrap="square" anchor="ctr" lIns="45720" rIns="45720" tIns="9144" bIns="9144">
            <a:spAutoFit/>
          </a:bodyPr>
          <a:lstStyle/>
          <a:p>
            <a:pPr algn="ctr"/>
            <a:r>
              <a:rPr sz="850" b="1" i="0">
                <a:solidFill>
                  <a:srgbClr val="FFFFFF"/>
                </a:solidFill>
                <a:latin typeface="Calibri"/>
              </a:rPr>
              <a:t>Año 8</a:t>
            </a:r>
          </a:p>
        </p:txBody>
      </p:sp>
      <p:sp>
        <p:nvSpPr>
          <p:cNvPr id="25" name="Rectangle 24"/>
          <p:cNvSpPr/>
          <p:nvPr/>
        </p:nvSpPr>
        <p:spPr>
          <a:xfrm>
            <a:off x="10104120" y="1143000"/>
            <a:ext cx="822960" cy="28448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122408" y="1143000"/>
            <a:ext cx="786384" cy="284480"/>
          </a:xfrm>
          <a:prstGeom prst="rect">
            <a:avLst/>
          </a:prstGeom>
          <a:noFill/>
        </p:spPr>
        <p:txBody>
          <a:bodyPr wrap="square" anchor="ctr" lIns="45720" rIns="45720" tIns="9144" bIns="9144">
            <a:spAutoFit/>
          </a:bodyPr>
          <a:lstStyle/>
          <a:p>
            <a:pPr algn="ctr"/>
            <a:r>
              <a:rPr sz="850" b="1" i="0">
                <a:solidFill>
                  <a:srgbClr val="FFFFFF"/>
                </a:solidFill>
                <a:latin typeface="Calibri"/>
              </a:rPr>
              <a:t>Año 9</a:t>
            </a:r>
          </a:p>
        </p:txBody>
      </p:sp>
      <p:sp>
        <p:nvSpPr>
          <p:cNvPr id="27" name="Rectangle 26"/>
          <p:cNvSpPr/>
          <p:nvPr/>
        </p:nvSpPr>
        <p:spPr>
          <a:xfrm>
            <a:off x="10927080" y="1143000"/>
            <a:ext cx="822960" cy="28448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0945368" y="1143000"/>
            <a:ext cx="786384" cy="284480"/>
          </a:xfrm>
          <a:prstGeom prst="rect">
            <a:avLst/>
          </a:prstGeom>
          <a:noFill/>
        </p:spPr>
        <p:txBody>
          <a:bodyPr wrap="square" anchor="ctr" lIns="45720" rIns="45720" tIns="9144" bIns="9144">
            <a:spAutoFit/>
          </a:bodyPr>
          <a:lstStyle/>
          <a:p>
            <a:pPr algn="ctr"/>
            <a:r>
              <a:rPr sz="850" b="1" i="0">
                <a:solidFill>
                  <a:srgbClr val="FFFFFF"/>
                </a:solidFill>
                <a:latin typeface="Calibri"/>
              </a:rPr>
              <a:t>Año 10</a:t>
            </a:r>
          </a:p>
        </p:txBody>
      </p:sp>
      <p:sp>
        <p:nvSpPr>
          <p:cNvPr id="29" name="Rectangle 28"/>
          <p:cNvSpPr/>
          <p:nvPr/>
        </p:nvSpPr>
        <p:spPr>
          <a:xfrm>
            <a:off x="320040" y="1427480"/>
            <a:ext cx="237744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38328" y="1427480"/>
            <a:ext cx="2340864" cy="284480"/>
          </a:xfrm>
          <a:prstGeom prst="rect">
            <a:avLst/>
          </a:prstGeom>
          <a:noFill/>
        </p:spPr>
        <p:txBody>
          <a:bodyPr wrap="square" anchor="ctr" lIns="45720" rIns="45720" tIns="9144" bIns="9144">
            <a:spAutoFit/>
          </a:bodyPr>
          <a:lstStyle/>
          <a:p>
            <a:pPr algn="l"/>
            <a:r>
              <a:rPr sz="850" b="0" i="0">
                <a:solidFill>
                  <a:srgbClr val="334155"/>
                </a:solidFill>
                <a:latin typeface="Calibri"/>
              </a:rPr>
              <a:t>(+) Ingresos por ventas</a:t>
            </a:r>
          </a:p>
        </p:txBody>
      </p:sp>
      <p:sp>
        <p:nvSpPr>
          <p:cNvPr id="31" name="Rectangle 30"/>
          <p:cNvSpPr/>
          <p:nvPr/>
        </p:nvSpPr>
        <p:spPr>
          <a:xfrm>
            <a:off x="2697480" y="142748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2715768" y="142748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33" name="Rectangle 32"/>
          <p:cNvSpPr/>
          <p:nvPr/>
        </p:nvSpPr>
        <p:spPr>
          <a:xfrm>
            <a:off x="3520440" y="142748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3538728" y="142748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3,024,000</a:t>
            </a:r>
          </a:p>
        </p:txBody>
      </p:sp>
      <p:sp>
        <p:nvSpPr>
          <p:cNvPr id="35" name="Rectangle 34"/>
          <p:cNvSpPr/>
          <p:nvPr/>
        </p:nvSpPr>
        <p:spPr>
          <a:xfrm>
            <a:off x="4343400" y="142748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361688" y="142748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5,266,800</a:t>
            </a:r>
          </a:p>
        </p:txBody>
      </p:sp>
      <p:sp>
        <p:nvSpPr>
          <p:cNvPr id="37" name="Rectangle 36"/>
          <p:cNvSpPr/>
          <p:nvPr/>
        </p:nvSpPr>
        <p:spPr>
          <a:xfrm>
            <a:off x="5166360" y="142748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5184648" y="142748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8,255,709</a:t>
            </a:r>
          </a:p>
        </p:txBody>
      </p:sp>
      <p:sp>
        <p:nvSpPr>
          <p:cNvPr id="39" name="Rectangle 38"/>
          <p:cNvSpPr/>
          <p:nvPr/>
        </p:nvSpPr>
        <p:spPr>
          <a:xfrm>
            <a:off x="5989320" y="142748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007608" y="142748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12,078,102</a:t>
            </a:r>
          </a:p>
        </p:txBody>
      </p:sp>
      <p:sp>
        <p:nvSpPr>
          <p:cNvPr id="41" name="Rectangle 40"/>
          <p:cNvSpPr/>
          <p:nvPr/>
        </p:nvSpPr>
        <p:spPr>
          <a:xfrm>
            <a:off x="6812280" y="142748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830568" y="142748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16,828,822</a:t>
            </a:r>
          </a:p>
        </p:txBody>
      </p:sp>
      <p:sp>
        <p:nvSpPr>
          <p:cNvPr id="43" name="Rectangle 42"/>
          <p:cNvSpPr/>
          <p:nvPr/>
        </p:nvSpPr>
        <p:spPr>
          <a:xfrm>
            <a:off x="7635240" y="142748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7653528" y="142748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21,982,649</a:t>
            </a:r>
          </a:p>
        </p:txBody>
      </p:sp>
      <p:sp>
        <p:nvSpPr>
          <p:cNvPr id="45" name="Rectangle 44"/>
          <p:cNvSpPr/>
          <p:nvPr/>
        </p:nvSpPr>
        <p:spPr>
          <a:xfrm>
            <a:off x="8458200" y="142748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8476488" y="142748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28,222,581</a:t>
            </a:r>
          </a:p>
        </p:txBody>
      </p:sp>
      <p:sp>
        <p:nvSpPr>
          <p:cNvPr id="47" name="Rectangle 46"/>
          <p:cNvSpPr/>
          <p:nvPr/>
        </p:nvSpPr>
        <p:spPr>
          <a:xfrm>
            <a:off x="9281160" y="142748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9299448" y="142748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34,979,592</a:t>
            </a:r>
          </a:p>
        </p:txBody>
      </p:sp>
      <p:sp>
        <p:nvSpPr>
          <p:cNvPr id="49" name="Rectangle 48"/>
          <p:cNvSpPr/>
          <p:nvPr/>
        </p:nvSpPr>
        <p:spPr>
          <a:xfrm>
            <a:off x="10104120" y="142748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10122408" y="142748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43,004,323</a:t>
            </a:r>
          </a:p>
        </p:txBody>
      </p:sp>
      <p:sp>
        <p:nvSpPr>
          <p:cNvPr id="51" name="Rectangle 50"/>
          <p:cNvSpPr/>
          <p:nvPr/>
        </p:nvSpPr>
        <p:spPr>
          <a:xfrm>
            <a:off x="10927080" y="142748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10945368" y="142748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51,680,445</a:t>
            </a:r>
          </a:p>
        </p:txBody>
      </p:sp>
      <p:sp>
        <p:nvSpPr>
          <p:cNvPr id="53" name="Rectangle 52"/>
          <p:cNvSpPr/>
          <p:nvPr/>
        </p:nvSpPr>
        <p:spPr>
          <a:xfrm>
            <a:off x="320040" y="1711960"/>
            <a:ext cx="237744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338328" y="1711960"/>
            <a:ext cx="2340864" cy="284480"/>
          </a:xfrm>
          <a:prstGeom prst="rect">
            <a:avLst/>
          </a:prstGeom>
          <a:noFill/>
        </p:spPr>
        <p:txBody>
          <a:bodyPr wrap="square" anchor="ctr" lIns="45720" rIns="45720" tIns="9144" bIns="9144">
            <a:spAutoFit/>
          </a:bodyPr>
          <a:lstStyle/>
          <a:p>
            <a:pPr algn="l"/>
            <a:r>
              <a:rPr sz="850" b="0" i="0">
                <a:solidFill>
                  <a:srgbClr val="334155"/>
                </a:solidFill>
                <a:latin typeface="Calibri"/>
              </a:rPr>
              <a:t>(−) Costos variables</a:t>
            </a:r>
          </a:p>
        </p:txBody>
      </p:sp>
      <p:sp>
        <p:nvSpPr>
          <p:cNvPr id="55" name="Rectangle 54"/>
          <p:cNvSpPr/>
          <p:nvPr/>
        </p:nvSpPr>
        <p:spPr>
          <a:xfrm>
            <a:off x="2697480" y="171196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2715768" y="171196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57" name="Rectangle 56"/>
          <p:cNvSpPr/>
          <p:nvPr/>
        </p:nvSpPr>
        <p:spPr>
          <a:xfrm>
            <a:off x="3520440" y="171196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3538728" y="171196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1,708,181</a:t>
            </a:r>
          </a:p>
        </p:txBody>
      </p:sp>
      <p:sp>
        <p:nvSpPr>
          <p:cNvPr id="59" name="Rectangle 58"/>
          <p:cNvSpPr/>
          <p:nvPr/>
        </p:nvSpPr>
        <p:spPr>
          <a:xfrm>
            <a:off x="4343400" y="171196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4361688" y="171196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2,975,081</a:t>
            </a:r>
          </a:p>
        </p:txBody>
      </p:sp>
      <p:sp>
        <p:nvSpPr>
          <p:cNvPr id="61" name="Rectangle 60"/>
          <p:cNvSpPr/>
          <p:nvPr/>
        </p:nvSpPr>
        <p:spPr>
          <a:xfrm>
            <a:off x="5166360" y="171196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5184648" y="171196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4,663,440</a:t>
            </a:r>
          </a:p>
        </p:txBody>
      </p:sp>
      <p:sp>
        <p:nvSpPr>
          <p:cNvPr id="63" name="Rectangle 62"/>
          <p:cNvSpPr/>
          <p:nvPr/>
        </p:nvSpPr>
        <p:spPr>
          <a:xfrm>
            <a:off x="5989320" y="171196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6007608" y="171196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6,822,613</a:t>
            </a:r>
          </a:p>
        </p:txBody>
      </p:sp>
      <p:sp>
        <p:nvSpPr>
          <p:cNvPr id="65" name="Rectangle 64"/>
          <p:cNvSpPr/>
          <p:nvPr/>
        </p:nvSpPr>
        <p:spPr>
          <a:xfrm>
            <a:off x="6812280" y="171196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6830568" y="171196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9,506,174</a:t>
            </a:r>
          </a:p>
        </p:txBody>
      </p:sp>
      <p:sp>
        <p:nvSpPr>
          <p:cNvPr id="67" name="Rectangle 66"/>
          <p:cNvSpPr/>
          <p:nvPr/>
        </p:nvSpPr>
        <p:spPr>
          <a:xfrm>
            <a:off x="7635240" y="171196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7653528" y="171196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12,417,440</a:t>
            </a:r>
          </a:p>
        </p:txBody>
      </p:sp>
      <p:sp>
        <p:nvSpPr>
          <p:cNvPr id="69" name="Rectangle 68"/>
          <p:cNvSpPr/>
          <p:nvPr/>
        </p:nvSpPr>
        <p:spPr>
          <a:xfrm>
            <a:off x="8458200" y="171196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8476488" y="171196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15,942,219</a:t>
            </a:r>
          </a:p>
        </p:txBody>
      </p:sp>
      <p:sp>
        <p:nvSpPr>
          <p:cNvPr id="71" name="Rectangle 70"/>
          <p:cNvSpPr/>
          <p:nvPr/>
        </p:nvSpPr>
        <p:spPr>
          <a:xfrm>
            <a:off x="9281160" y="171196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9299448" y="171196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19,759,082</a:t>
            </a:r>
          </a:p>
        </p:txBody>
      </p:sp>
      <p:sp>
        <p:nvSpPr>
          <p:cNvPr id="73" name="Rectangle 72"/>
          <p:cNvSpPr/>
          <p:nvPr/>
        </p:nvSpPr>
        <p:spPr>
          <a:xfrm>
            <a:off x="10104120" y="171196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Box 73"/>
          <p:cNvSpPr txBox="1"/>
          <p:nvPr/>
        </p:nvSpPr>
        <p:spPr>
          <a:xfrm>
            <a:off x="10122408" y="171196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24,292,048</a:t>
            </a:r>
          </a:p>
        </p:txBody>
      </p:sp>
      <p:sp>
        <p:nvSpPr>
          <p:cNvPr id="75" name="Rectangle 74"/>
          <p:cNvSpPr/>
          <p:nvPr/>
        </p:nvSpPr>
        <p:spPr>
          <a:xfrm>
            <a:off x="10927080" y="171196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Box 75"/>
          <p:cNvSpPr txBox="1"/>
          <p:nvPr/>
        </p:nvSpPr>
        <p:spPr>
          <a:xfrm>
            <a:off x="10945368" y="171196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29,192,969</a:t>
            </a:r>
          </a:p>
        </p:txBody>
      </p:sp>
      <p:sp>
        <p:nvSpPr>
          <p:cNvPr id="77" name="Rectangle 76"/>
          <p:cNvSpPr/>
          <p:nvPr/>
        </p:nvSpPr>
        <p:spPr>
          <a:xfrm>
            <a:off x="320040" y="1996440"/>
            <a:ext cx="237744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338328" y="1996440"/>
            <a:ext cx="2340864" cy="284480"/>
          </a:xfrm>
          <a:prstGeom prst="rect">
            <a:avLst/>
          </a:prstGeom>
          <a:noFill/>
        </p:spPr>
        <p:txBody>
          <a:bodyPr wrap="square" anchor="ctr" lIns="45720" rIns="45720" tIns="9144" bIns="9144">
            <a:spAutoFit/>
          </a:bodyPr>
          <a:lstStyle/>
          <a:p>
            <a:pPr algn="l"/>
            <a:r>
              <a:rPr sz="850" b="0" i="0">
                <a:solidFill>
                  <a:srgbClr val="334155"/>
                </a:solidFill>
                <a:latin typeface="Calibri"/>
              </a:rPr>
              <a:t>(−) Costos fijos</a:t>
            </a:r>
          </a:p>
        </p:txBody>
      </p:sp>
      <p:sp>
        <p:nvSpPr>
          <p:cNvPr id="79" name="Rectangle 78"/>
          <p:cNvSpPr/>
          <p:nvPr/>
        </p:nvSpPr>
        <p:spPr>
          <a:xfrm>
            <a:off x="2697480" y="199644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TextBox 79"/>
          <p:cNvSpPr txBox="1"/>
          <p:nvPr/>
        </p:nvSpPr>
        <p:spPr>
          <a:xfrm>
            <a:off x="2715768" y="199644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81" name="Rectangle 80"/>
          <p:cNvSpPr/>
          <p:nvPr/>
        </p:nvSpPr>
        <p:spPr>
          <a:xfrm>
            <a:off x="3520440" y="199644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Box 81"/>
          <p:cNvSpPr txBox="1"/>
          <p:nvPr/>
        </p:nvSpPr>
        <p:spPr>
          <a:xfrm>
            <a:off x="3538728" y="199644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2,048,517</a:t>
            </a:r>
          </a:p>
        </p:txBody>
      </p:sp>
      <p:sp>
        <p:nvSpPr>
          <p:cNvPr id="83" name="Rectangle 82"/>
          <p:cNvSpPr/>
          <p:nvPr/>
        </p:nvSpPr>
        <p:spPr>
          <a:xfrm>
            <a:off x="4343400" y="199644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Box 83"/>
          <p:cNvSpPr txBox="1"/>
          <p:nvPr/>
        </p:nvSpPr>
        <p:spPr>
          <a:xfrm>
            <a:off x="4361688" y="199644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2,140,700</a:t>
            </a:r>
          </a:p>
        </p:txBody>
      </p:sp>
      <p:sp>
        <p:nvSpPr>
          <p:cNvPr id="85" name="Rectangle 84"/>
          <p:cNvSpPr/>
          <p:nvPr/>
        </p:nvSpPr>
        <p:spPr>
          <a:xfrm>
            <a:off x="5166360" y="199644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TextBox 85"/>
          <p:cNvSpPr txBox="1"/>
          <p:nvPr/>
        </p:nvSpPr>
        <p:spPr>
          <a:xfrm>
            <a:off x="5184648" y="199644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2,237,031</a:t>
            </a:r>
          </a:p>
        </p:txBody>
      </p:sp>
      <p:sp>
        <p:nvSpPr>
          <p:cNvPr id="87" name="Rectangle 86"/>
          <p:cNvSpPr/>
          <p:nvPr/>
        </p:nvSpPr>
        <p:spPr>
          <a:xfrm>
            <a:off x="5989320" y="199644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Box 87"/>
          <p:cNvSpPr txBox="1"/>
          <p:nvPr/>
        </p:nvSpPr>
        <p:spPr>
          <a:xfrm>
            <a:off x="6007608" y="199644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2,337,698</a:t>
            </a:r>
          </a:p>
        </p:txBody>
      </p:sp>
      <p:sp>
        <p:nvSpPr>
          <p:cNvPr id="89" name="Rectangle 88"/>
          <p:cNvSpPr/>
          <p:nvPr/>
        </p:nvSpPr>
        <p:spPr>
          <a:xfrm>
            <a:off x="6812280" y="199644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TextBox 89"/>
          <p:cNvSpPr txBox="1"/>
          <p:nvPr/>
        </p:nvSpPr>
        <p:spPr>
          <a:xfrm>
            <a:off x="6830568" y="199644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2,442,894</a:t>
            </a:r>
          </a:p>
        </p:txBody>
      </p:sp>
      <p:sp>
        <p:nvSpPr>
          <p:cNvPr id="91" name="Rectangle 90"/>
          <p:cNvSpPr/>
          <p:nvPr/>
        </p:nvSpPr>
        <p:spPr>
          <a:xfrm>
            <a:off x="7635240" y="199644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TextBox 91"/>
          <p:cNvSpPr txBox="1"/>
          <p:nvPr/>
        </p:nvSpPr>
        <p:spPr>
          <a:xfrm>
            <a:off x="7653528" y="199644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2,552,824</a:t>
            </a:r>
          </a:p>
        </p:txBody>
      </p:sp>
      <p:sp>
        <p:nvSpPr>
          <p:cNvPr id="93" name="Rectangle 92"/>
          <p:cNvSpPr/>
          <p:nvPr/>
        </p:nvSpPr>
        <p:spPr>
          <a:xfrm>
            <a:off x="8458200" y="199644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TextBox 93"/>
          <p:cNvSpPr txBox="1"/>
          <p:nvPr/>
        </p:nvSpPr>
        <p:spPr>
          <a:xfrm>
            <a:off x="8476488" y="199644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2,667,701</a:t>
            </a:r>
          </a:p>
        </p:txBody>
      </p:sp>
      <p:sp>
        <p:nvSpPr>
          <p:cNvPr id="95" name="Rectangle 94"/>
          <p:cNvSpPr/>
          <p:nvPr/>
        </p:nvSpPr>
        <p:spPr>
          <a:xfrm>
            <a:off x="9281160" y="199644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TextBox 95"/>
          <p:cNvSpPr txBox="1"/>
          <p:nvPr/>
        </p:nvSpPr>
        <p:spPr>
          <a:xfrm>
            <a:off x="9299448" y="199644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2,787,748</a:t>
            </a:r>
          </a:p>
        </p:txBody>
      </p:sp>
      <p:sp>
        <p:nvSpPr>
          <p:cNvPr id="97" name="Rectangle 96"/>
          <p:cNvSpPr/>
          <p:nvPr/>
        </p:nvSpPr>
        <p:spPr>
          <a:xfrm>
            <a:off x="10104120" y="199644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TextBox 97"/>
          <p:cNvSpPr txBox="1"/>
          <p:nvPr/>
        </p:nvSpPr>
        <p:spPr>
          <a:xfrm>
            <a:off x="10122408" y="199644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2,913,197</a:t>
            </a:r>
          </a:p>
        </p:txBody>
      </p:sp>
      <p:sp>
        <p:nvSpPr>
          <p:cNvPr id="99" name="Rectangle 98"/>
          <p:cNvSpPr/>
          <p:nvPr/>
        </p:nvSpPr>
        <p:spPr>
          <a:xfrm>
            <a:off x="10927080" y="199644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Box 99"/>
          <p:cNvSpPr txBox="1"/>
          <p:nvPr/>
        </p:nvSpPr>
        <p:spPr>
          <a:xfrm>
            <a:off x="10945368" y="199644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3,044,290</a:t>
            </a:r>
          </a:p>
        </p:txBody>
      </p:sp>
      <p:sp>
        <p:nvSpPr>
          <p:cNvPr id="101" name="Rectangle 100"/>
          <p:cNvSpPr/>
          <p:nvPr/>
        </p:nvSpPr>
        <p:spPr>
          <a:xfrm>
            <a:off x="320040" y="2280920"/>
            <a:ext cx="237744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Box 101"/>
          <p:cNvSpPr txBox="1"/>
          <p:nvPr/>
        </p:nvSpPr>
        <p:spPr>
          <a:xfrm>
            <a:off x="338328" y="2280920"/>
            <a:ext cx="2340864" cy="284480"/>
          </a:xfrm>
          <a:prstGeom prst="rect">
            <a:avLst/>
          </a:prstGeom>
          <a:noFill/>
        </p:spPr>
        <p:txBody>
          <a:bodyPr wrap="square" anchor="ctr" lIns="45720" rIns="45720" tIns="9144" bIns="9144">
            <a:spAutoFit/>
          </a:bodyPr>
          <a:lstStyle/>
          <a:p>
            <a:pPr algn="l"/>
            <a:r>
              <a:rPr sz="850" b="0" i="0">
                <a:solidFill>
                  <a:srgbClr val="334155"/>
                </a:solidFill>
                <a:latin typeface="Calibri"/>
              </a:rPr>
              <a:t>(−) Gastos financieros</a:t>
            </a:r>
          </a:p>
        </p:txBody>
      </p:sp>
      <p:sp>
        <p:nvSpPr>
          <p:cNvPr id="103" name="Rectangle 102"/>
          <p:cNvSpPr/>
          <p:nvPr/>
        </p:nvSpPr>
        <p:spPr>
          <a:xfrm>
            <a:off x="2697480" y="228092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TextBox 103"/>
          <p:cNvSpPr txBox="1"/>
          <p:nvPr/>
        </p:nvSpPr>
        <p:spPr>
          <a:xfrm>
            <a:off x="2715768" y="228092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105" name="Rectangle 104"/>
          <p:cNvSpPr/>
          <p:nvPr/>
        </p:nvSpPr>
        <p:spPr>
          <a:xfrm>
            <a:off x="3520440" y="228092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TextBox 105"/>
          <p:cNvSpPr txBox="1"/>
          <p:nvPr/>
        </p:nvSpPr>
        <p:spPr>
          <a:xfrm>
            <a:off x="3538728" y="228092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124,884</a:t>
            </a:r>
          </a:p>
        </p:txBody>
      </p:sp>
      <p:sp>
        <p:nvSpPr>
          <p:cNvPr id="107" name="Rectangle 106"/>
          <p:cNvSpPr/>
          <p:nvPr/>
        </p:nvSpPr>
        <p:spPr>
          <a:xfrm>
            <a:off x="4343400" y="228092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TextBox 107"/>
          <p:cNvSpPr txBox="1"/>
          <p:nvPr/>
        </p:nvSpPr>
        <p:spPr>
          <a:xfrm>
            <a:off x="4361688" y="228092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105,991</a:t>
            </a:r>
          </a:p>
        </p:txBody>
      </p:sp>
      <p:sp>
        <p:nvSpPr>
          <p:cNvPr id="109" name="Rectangle 108"/>
          <p:cNvSpPr/>
          <p:nvPr/>
        </p:nvSpPr>
        <p:spPr>
          <a:xfrm>
            <a:off x="5166360" y="228092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TextBox 109"/>
          <p:cNvSpPr txBox="1"/>
          <p:nvPr/>
        </p:nvSpPr>
        <p:spPr>
          <a:xfrm>
            <a:off x="5184648" y="228092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84,453</a:t>
            </a:r>
          </a:p>
        </p:txBody>
      </p:sp>
      <p:sp>
        <p:nvSpPr>
          <p:cNvPr id="111" name="Rectangle 110"/>
          <p:cNvSpPr/>
          <p:nvPr/>
        </p:nvSpPr>
        <p:spPr>
          <a:xfrm>
            <a:off x="5989320" y="228092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TextBox 111"/>
          <p:cNvSpPr txBox="1"/>
          <p:nvPr/>
        </p:nvSpPr>
        <p:spPr>
          <a:xfrm>
            <a:off x="6007608" y="228092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59,900</a:t>
            </a:r>
          </a:p>
        </p:txBody>
      </p:sp>
      <p:sp>
        <p:nvSpPr>
          <p:cNvPr id="113" name="Rectangle 112"/>
          <p:cNvSpPr/>
          <p:nvPr/>
        </p:nvSpPr>
        <p:spPr>
          <a:xfrm>
            <a:off x="6812280" y="228092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TextBox 113"/>
          <p:cNvSpPr txBox="1"/>
          <p:nvPr/>
        </p:nvSpPr>
        <p:spPr>
          <a:xfrm>
            <a:off x="6830568" y="228092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31,909</a:t>
            </a:r>
          </a:p>
        </p:txBody>
      </p:sp>
      <p:sp>
        <p:nvSpPr>
          <p:cNvPr id="115" name="Rectangle 114"/>
          <p:cNvSpPr/>
          <p:nvPr/>
        </p:nvSpPr>
        <p:spPr>
          <a:xfrm>
            <a:off x="7635240" y="228092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TextBox 115"/>
          <p:cNvSpPr txBox="1"/>
          <p:nvPr/>
        </p:nvSpPr>
        <p:spPr>
          <a:xfrm>
            <a:off x="7653528" y="228092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117" name="Rectangle 116"/>
          <p:cNvSpPr/>
          <p:nvPr/>
        </p:nvSpPr>
        <p:spPr>
          <a:xfrm>
            <a:off x="8458200" y="228092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TextBox 117"/>
          <p:cNvSpPr txBox="1"/>
          <p:nvPr/>
        </p:nvSpPr>
        <p:spPr>
          <a:xfrm>
            <a:off x="8476488" y="228092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119" name="Rectangle 118"/>
          <p:cNvSpPr/>
          <p:nvPr/>
        </p:nvSpPr>
        <p:spPr>
          <a:xfrm>
            <a:off x="9281160" y="228092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TextBox 119"/>
          <p:cNvSpPr txBox="1"/>
          <p:nvPr/>
        </p:nvSpPr>
        <p:spPr>
          <a:xfrm>
            <a:off x="9299448" y="228092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121" name="Rectangle 120"/>
          <p:cNvSpPr/>
          <p:nvPr/>
        </p:nvSpPr>
        <p:spPr>
          <a:xfrm>
            <a:off x="10104120" y="228092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TextBox 121"/>
          <p:cNvSpPr txBox="1"/>
          <p:nvPr/>
        </p:nvSpPr>
        <p:spPr>
          <a:xfrm>
            <a:off x="10122408" y="228092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123" name="Rectangle 122"/>
          <p:cNvSpPr/>
          <p:nvPr/>
        </p:nvSpPr>
        <p:spPr>
          <a:xfrm>
            <a:off x="10927080" y="228092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TextBox 123"/>
          <p:cNvSpPr txBox="1"/>
          <p:nvPr/>
        </p:nvSpPr>
        <p:spPr>
          <a:xfrm>
            <a:off x="10945368" y="228092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125" name="Rectangle 124"/>
          <p:cNvSpPr/>
          <p:nvPr/>
        </p:nvSpPr>
        <p:spPr>
          <a:xfrm>
            <a:off x="320040" y="2565400"/>
            <a:ext cx="237744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TextBox 125"/>
          <p:cNvSpPr txBox="1"/>
          <p:nvPr/>
        </p:nvSpPr>
        <p:spPr>
          <a:xfrm>
            <a:off x="338328" y="2565400"/>
            <a:ext cx="2340864" cy="284480"/>
          </a:xfrm>
          <a:prstGeom prst="rect">
            <a:avLst/>
          </a:prstGeom>
          <a:noFill/>
        </p:spPr>
        <p:txBody>
          <a:bodyPr wrap="square" anchor="ctr" lIns="45720" rIns="45720" tIns="9144" bIns="9144">
            <a:spAutoFit/>
          </a:bodyPr>
          <a:lstStyle/>
          <a:p>
            <a:pPr algn="l"/>
            <a:r>
              <a:rPr sz="850" b="0" i="0">
                <a:solidFill>
                  <a:srgbClr val="334155"/>
                </a:solidFill>
                <a:latin typeface="Calibri"/>
              </a:rPr>
              <a:t>(−) Depreciación y amortización</a:t>
            </a:r>
          </a:p>
        </p:txBody>
      </p:sp>
      <p:sp>
        <p:nvSpPr>
          <p:cNvPr id="127" name="Rectangle 126"/>
          <p:cNvSpPr/>
          <p:nvPr/>
        </p:nvSpPr>
        <p:spPr>
          <a:xfrm>
            <a:off x="2697480" y="256540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TextBox 127"/>
          <p:cNvSpPr txBox="1"/>
          <p:nvPr/>
        </p:nvSpPr>
        <p:spPr>
          <a:xfrm>
            <a:off x="2715768" y="256540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129" name="Rectangle 128"/>
          <p:cNvSpPr/>
          <p:nvPr/>
        </p:nvSpPr>
        <p:spPr>
          <a:xfrm>
            <a:off x="3520440" y="256540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TextBox 129"/>
          <p:cNvSpPr txBox="1"/>
          <p:nvPr/>
        </p:nvSpPr>
        <p:spPr>
          <a:xfrm>
            <a:off x="3538728" y="256540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204,700</a:t>
            </a:r>
          </a:p>
        </p:txBody>
      </p:sp>
      <p:sp>
        <p:nvSpPr>
          <p:cNvPr id="131" name="Rectangle 130"/>
          <p:cNvSpPr/>
          <p:nvPr/>
        </p:nvSpPr>
        <p:spPr>
          <a:xfrm>
            <a:off x="4343400" y="256540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TextBox 131"/>
          <p:cNvSpPr txBox="1"/>
          <p:nvPr/>
        </p:nvSpPr>
        <p:spPr>
          <a:xfrm>
            <a:off x="4361688" y="256540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204,700</a:t>
            </a:r>
          </a:p>
        </p:txBody>
      </p:sp>
      <p:sp>
        <p:nvSpPr>
          <p:cNvPr id="133" name="Rectangle 132"/>
          <p:cNvSpPr/>
          <p:nvPr/>
        </p:nvSpPr>
        <p:spPr>
          <a:xfrm>
            <a:off x="5166360" y="256540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4" name="TextBox 133"/>
          <p:cNvSpPr txBox="1"/>
          <p:nvPr/>
        </p:nvSpPr>
        <p:spPr>
          <a:xfrm>
            <a:off x="5184648" y="256540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204,700</a:t>
            </a:r>
          </a:p>
        </p:txBody>
      </p:sp>
      <p:sp>
        <p:nvSpPr>
          <p:cNvPr id="135" name="Rectangle 134"/>
          <p:cNvSpPr/>
          <p:nvPr/>
        </p:nvSpPr>
        <p:spPr>
          <a:xfrm>
            <a:off x="5989320" y="256540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TextBox 135"/>
          <p:cNvSpPr txBox="1"/>
          <p:nvPr/>
        </p:nvSpPr>
        <p:spPr>
          <a:xfrm>
            <a:off x="6007608" y="256540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204,700</a:t>
            </a:r>
          </a:p>
        </p:txBody>
      </p:sp>
      <p:sp>
        <p:nvSpPr>
          <p:cNvPr id="137" name="Rectangle 136"/>
          <p:cNvSpPr/>
          <p:nvPr/>
        </p:nvSpPr>
        <p:spPr>
          <a:xfrm>
            <a:off x="6812280" y="256540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TextBox 137"/>
          <p:cNvSpPr txBox="1"/>
          <p:nvPr/>
        </p:nvSpPr>
        <p:spPr>
          <a:xfrm>
            <a:off x="6830568" y="256540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204,700</a:t>
            </a:r>
          </a:p>
        </p:txBody>
      </p:sp>
      <p:sp>
        <p:nvSpPr>
          <p:cNvPr id="139" name="Rectangle 138"/>
          <p:cNvSpPr/>
          <p:nvPr/>
        </p:nvSpPr>
        <p:spPr>
          <a:xfrm>
            <a:off x="7635240" y="256540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TextBox 139"/>
          <p:cNvSpPr txBox="1"/>
          <p:nvPr/>
        </p:nvSpPr>
        <p:spPr>
          <a:xfrm>
            <a:off x="7653528" y="256540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89,500</a:t>
            </a:r>
          </a:p>
        </p:txBody>
      </p:sp>
      <p:sp>
        <p:nvSpPr>
          <p:cNvPr id="141" name="Rectangle 140"/>
          <p:cNvSpPr/>
          <p:nvPr/>
        </p:nvSpPr>
        <p:spPr>
          <a:xfrm>
            <a:off x="8458200" y="256540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2" name="TextBox 141"/>
          <p:cNvSpPr txBox="1"/>
          <p:nvPr/>
        </p:nvSpPr>
        <p:spPr>
          <a:xfrm>
            <a:off x="8476488" y="256540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89,500</a:t>
            </a:r>
          </a:p>
        </p:txBody>
      </p:sp>
      <p:sp>
        <p:nvSpPr>
          <p:cNvPr id="143" name="Rectangle 142"/>
          <p:cNvSpPr/>
          <p:nvPr/>
        </p:nvSpPr>
        <p:spPr>
          <a:xfrm>
            <a:off x="9281160" y="256540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4" name="TextBox 143"/>
          <p:cNvSpPr txBox="1"/>
          <p:nvPr/>
        </p:nvSpPr>
        <p:spPr>
          <a:xfrm>
            <a:off x="9299448" y="256540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89,500</a:t>
            </a:r>
          </a:p>
        </p:txBody>
      </p:sp>
      <p:sp>
        <p:nvSpPr>
          <p:cNvPr id="145" name="Rectangle 144"/>
          <p:cNvSpPr/>
          <p:nvPr/>
        </p:nvSpPr>
        <p:spPr>
          <a:xfrm>
            <a:off x="10104120" y="256540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6" name="TextBox 145"/>
          <p:cNvSpPr txBox="1"/>
          <p:nvPr/>
        </p:nvSpPr>
        <p:spPr>
          <a:xfrm>
            <a:off x="10122408" y="256540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89,500</a:t>
            </a:r>
          </a:p>
        </p:txBody>
      </p:sp>
      <p:sp>
        <p:nvSpPr>
          <p:cNvPr id="147" name="Rectangle 146"/>
          <p:cNvSpPr/>
          <p:nvPr/>
        </p:nvSpPr>
        <p:spPr>
          <a:xfrm>
            <a:off x="10927080" y="2565400"/>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8" name="TextBox 147"/>
          <p:cNvSpPr txBox="1"/>
          <p:nvPr/>
        </p:nvSpPr>
        <p:spPr>
          <a:xfrm>
            <a:off x="10945368" y="2565400"/>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89,500</a:t>
            </a:r>
          </a:p>
        </p:txBody>
      </p:sp>
      <p:sp>
        <p:nvSpPr>
          <p:cNvPr id="149" name="Rectangle 148"/>
          <p:cNvSpPr/>
          <p:nvPr/>
        </p:nvSpPr>
        <p:spPr>
          <a:xfrm>
            <a:off x="320040" y="2849879"/>
            <a:ext cx="237744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TextBox 149"/>
          <p:cNvSpPr txBox="1"/>
          <p:nvPr/>
        </p:nvSpPr>
        <p:spPr>
          <a:xfrm>
            <a:off x="338328" y="2849879"/>
            <a:ext cx="2340864" cy="284480"/>
          </a:xfrm>
          <a:prstGeom prst="rect">
            <a:avLst/>
          </a:prstGeom>
          <a:noFill/>
        </p:spPr>
        <p:txBody>
          <a:bodyPr wrap="square" anchor="ctr" lIns="45720" rIns="45720" tIns="9144" bIns="9144">
            <a:spAutoFit/>
          </a:bodyPr>
          <a:lstStyle/>
          <a:p>
            <a:pPr algn="l"/>
            <a:r>
              <a:rPr sz="850" b="0" i="0">
                <a:solidFill>
                  <a:srgbClr val="334155"/>
                </a:solidFill>
                <a:latin typeface="Calibri"/>
              </a:rPr>
              <a:t>(−) ICS</a:t>
            </a:r>
          </a:p>
        </p:txBody>
      </p:sp>
      <p:sp>
        <p:nvSpPr>
          <p:cNvPr id="151" name="Rectangle 150"/>
          <p:cNvSpPr/>
          <p:nvPr/>
        </p:nvSpPr>
        <p:spPr>
          <a:xfrm>
            <a:off x="2697480" y="284987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2" name="TextBox 151"/>
          <p:cNvSpPr txBox="1"/>
          <p:nvPr/>
        </p:nvSpPr>
        <p:spPr>
          <a:xfrm>
            <a:off x="2715768" y="284987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153" name="Rectangle 152"/>
          <p:cNvSpPr/>
          <p:nvPr/>
        </p:nvSpPr>
        <p:spPr>
          <a:xfrm>
            <a:off x="3520440" y="284987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 name="TextBox 153"/>
          <p:cNvSpPr txBox="1"/>
          <p:nvPr/>
        </p:nvSpPr>
        <p:spPr>
          <a:xfrm>
            <a:off x="3538728" y="284987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1,160</a:t>
            </a:r>
          </a:p>
        </p:txBody>
      </p:sp>
      <p:sp>
        <p:nvSpPr>
          <p:cNvPr id="155" name="Rectangle 154"/>
          <p:cNvSpPr/>
          <p:nvPr/>
        </p:nvSpPr>
        <p:spPr>
          <a:xfrm>
            <a:off x="4343400" y="284987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TextBox 155"/>
          <p:cNvSpPr txBox="1"/>
          <p:nvPr/>
        </p:nvSpPr>
        <p:spPr>
          <a:xfrm>
            <a:off x="4361688" y="284987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2,057</a:t>
            </a:r>
          </a:p>
        </p:txBody>
      </p:sp>
      <p:sp>
        <p:nvSpPr>
          <p:cNvPr id="157" name="Rectangle 156"/>
          <p:cNvSpPr/>
          <p:nvPr/>
        </p:nvSpPr>
        <p:spPr>
          <a:xfrm>
            <a:off x="5166360" y="284987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TextBox 157"/>
          <p:cNvSpPr txBox="1"/>
          <p:nvPr/>
        </p:nvSpPr>
        <p:spPr>
          <a:xfrm>
            <a:off x="5184648" y="284987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3,252</a:t>
            </a:r>
          </a:p>
        </p:txBody>
      </p:sp>
      <p:sp>
        <p:nvSpPr>
          <p:cNvPr id="159" name="Rectangle 158"/>
          <p:cNvSpPr/>
          <p:nvPr/>
        </p:nvSpPr>
        <p:spPr>
          <a:xfrm>
            <a:off x="5989320" y="284987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0" name="TextBox 159"/>
          <p:cNvSpPr txBox="1"/>
          <p:nvPr/>
        </p:nvSpPr>
        <p:spPr>
          <a:xfrm>
            <a:off x="6007608" y="284987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4,573</a:t>
            </a:r>
          </a:p>
        </p:txBody>
      </p:sp>
      <p:sp>
        <p:nvSpPr>
          <p:cNvPr id="161" name="Rectangle 160"/>
          <p:cNvSpPr/>
          <p:nvPr/>
        </p:nvSpPr>
        <p:spPr>
          <a:xfrm>
            <a:off x="6812280" y="284987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TextBox 161"/>
          <p:cNvSpPr txBox="1"/>
          <p:nvPr/>
        </p:nvSpPr>
        <p:spPr>
          <a:xfrm>
            <a:off x="6830568" y="284987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5,999</a:t>
            </a:r>
          </a:p>
        </p:txBody>
      </p:sp>
      <p:sp>
        <p:nvSpPr>
          <p:cNvPr id="163" name="Rectangle 162"/>
          <p:cNvSpPr/>
          <p:nvPr/>
        </p:nvSpPr>
        <p:spPr>
          <a:xfrm>
            <a:off x="7635240" y="284987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4" name="TextBox 163"/>
          <p:cNvSpPr txBox="1"/>
          <p:nvPr/>
        </p:nvSpPr>
        <p:spPr>
          <a:xfrm>
            <a:off x="7653528" y="284987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7,347</a:t>
            </a:r>
          </a:p>
        </p:txBody>
      </p:sp>
      <p:sp>
        <p:nvSpPr>
          <p:cNvPr id="165" name="Rectangle 164"/>
          <p:cNvSpPr/>
          <p:nvPr/>
        </p:nvSpPr>
        <p:spPr>
          <a:xfrm>
            <a:off x="8458200" y="284987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6" name="TextBox 165"/>
          <p:cNvSpPr txBox="1"/>
          <p:nvPr/>
        </p:nvSpPr>
        <p:spPr>
          <a:xfrm>
            <a:off x="8476488" y="284987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8,595</a:t>
            </a:r>
          </a:p>
        </p:txBody>
      </p:sp>
      <p:sp>
        <p:nvSpPr>
          <p:cNvPr id="167" name="Rectangle 166"/>
          <p:cNvSpPr/>
          <p:nvPr/>
        </p:nvSpPr>
        <p:spPr>
          <a:xfrm>
            <a:off x="9281160" y="284987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8" name="TextBox 167"/>
          <p:cNvSpPr txBox="1"/>
          <p:nvPr/>
        </p:nvSpPr>
        <p:spPr>
          <a:xfrm>
            <a:off x="9299448" y="284987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9,697</a:t>
            </a:r>
          </a:p>
        </p:txBody>
      </p:sp>
      <p:sp>
        <p:nvSpPr>
          <p:cNvPr id="169" name="Rectangle 168"/>
          <p:cNvSpPr/>
          <p:nvPr/>
        </p:nvSpPr>
        <p:spPr>
          <a:xfrm>
            <a:off x="10104120" y="284987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0" name="TextBox 169"/>
          <p:cNvSpPr txBox="1"/>
          <p:nvPr/>
        </p:nvSpPr>
        <p:spPr>
          <a:xfrm>
            <a:off x="10122408" y="284987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10,901</a:t>
            </a:r>
          </a:p>
        </p:txBody>
      </p:sp>
      <p:sp>
        <p:nvSpPr>
          <p:cNvPr id="171" name="Rectangle 170"/>
          <p:cNvSpPr/>
          <p:nvPr/>
        </p:nvSpPr>
        <p:spPr>
          <a:xfrm>
            <a:off x="10927080" y="284987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2" name="TextBox 171"/>
          <p:cNvSpPr txBox="1"/>
          <p:nvPr/>
        </p:nvSpPr>
        <p:spPr>
          <a:xfrm>
            <a:off x="10945368" y="284987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12,202</a:t>
            </a:r>
          </a:p>
        </p:txBody>
      </p:sp>
      <p:sp>
        <p:nvSpPr>
          <p:cNvPr id="173" name="Rectangle 172"/>
          <p:cNvSpPr/>
          <p:nvPr/>
        </p:nvSpPr>
        <p:spPr>
          <a:xfrm>
            <a:off x="320040" y="3134359"/>
            <a:ext cx="237744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 name="TextBox 173"/>
          <p:cNvSpPr txBox="1"/>
          <p:nvPr/>
        </p:nvSpPr>
        <p:spPr>
          <a:xfrm>
            <a:off x="338328" y="3134359"/>
            <a:ext cx="2340864" cy="284480"/>
          </a:xfrm>
          <a:prstGeom prst="rect">
            <a:avLst/>
          </a:prstGeom>
          <a:noFill/>
        </p:spPr>
        <p:txBody>
          <a:bodyPr wrap="square" anchor="ctr" lIns="45720" rIns="45720" tIns="9144" bIns="9144">
            <a:spAutoFit/>
          </a:bodyPr>
          <a:lstStyle/>
          <a:p>
            <a:pPr algn="l"/>
            <a:r>
              <a:rPr sz="850" b="1" i="0">
                <a:solidFill>
                  <a:srgbClr val="0D2341"/>
                </a:solidFill>
                <a:latin typeface="Calibri"/>
              </a:rPr>
              <a:t>(=) Utilidad antes de impuestos</a:t>
            </a:r>
          </a:p>
        </p:txBody>
      </p:sp>
      <p:sp>
        <p:nvSpPr>
          <p:cNvPr id="175" name="Rectangle 174"/>
          <p:cNvSpPr/>
          <p:nvPr/>
        </p:nvSpPr>
        <p:spPr>
          <a:xfrm>
            <a:off x="2697480" y="313435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6" name="TextBox 175"/>
          <p:cNvSpPr txBox="1"/>
          <p:nvPr/>
        </p:nvSpPr>
        <p:spPr>
          <a:xfrm>
            <a:off x="2715768" y="3134359"/>
            <a:ext cx="786384" cy="284480"/>
          </a:xfrm>
          <a:prstGeom prst="rect">
            <a:avLst/>
          </a:prstGeom>
          <a:noFill/>
        </p:spPr>
        <p:txBody>
          <a:bodyPr wrap="square" anchor="ctr" lIns="45720" rIns="45720" tIns="9144" bIns="9144">
            <a:spAutoFit/>
          </a:bodyPr>
          <a:lstStyle/>
          <a:p>
            <a:pPr algn="r"/>
            <a:r>
              <a:rPr sz="850" b="1" i="0">
                <a:solidFill>
                  <a:srgbClr val="0D2341"/>
                </a:solidFill>
                <a:latin typeface="Calibri"/>
              </a:rPr>
              <a:t>0</a:t>
            </a:r>
          </a:p>
        </p:txBody>
      </p:sp>
      <p:sp>
        <p:nvSpPr>
          <p:cNvPr id="177" name="Rectangle 176"/>
          <p:cNvSpPr/>
          <p:nvPr/>
        </p:nvSpPr>
        <p:spPr>
          <a:xfrm>
            <a:off x="3520440" y="313435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8" name="TextBox 177"/>
          <p:cNvSpPr txBox="1"/>
          <p:nvPr/>
        </p:nvSpPr>
        <p:spPr>
          <a:xfrm>
            <a:off x="3538728" y="3134359"/>
            <a:ext cx="786384" cy="284480"/>
          </a:xfrm>
          <a:prstGeom prst="rect">
            <a:avLst/>
          </a:prstGeom>
          <a:noFill/>
        </p:spPr>
        <p:txBody>
          <a:bodyPr wrap="square" anchor="ctr" lIns="45720" rIns="45720" tIns="9144" bIns="9144">
            <a:spAutoFit/>
          </a:bodyPr>
          <a:lstStyle/>
          <a:p>
            <a:pPr algn="r"/>
            <a:r>
              <a:rPr sz="850" b="1" i="0">
                <a:solidFill>
                  <a:srgbClr val="0D2341"/>
                </a:solidFill>
                <a:latin typeface="Calibri"/>
              </a:rPr>
              <a:t>−1,063,441</a:t>
            </a:r>
          </a:p>
        </p:txBody>
      </p:sp>
      <p:sp>
        <p:nvSpPr>
          <p:cNvPr id="179" name="Rectangle 178"/>
          <p:cNvSpPr/>
          <p:nvPr/>
        </p:nvSpPr>
        <p:spPr>
          <a:xfrm>
            <a:off x="4343400" y="313435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0" name="TextBox 179"/>
          <p:cNvSpPr txBox="1"/>
          <p:nvPr/>
        </p:nvSpPr>
        <p:spPr>
          <a:xfrm>
            <a:off x="4361688" y="3134359"/>
            <a:ext cx="786384" cy="284480"/>
          </a:xfrm>
          <a:prstGeom prst="rect">
            <a:avLst/>
          </a:prstGeom>
          <a:noFill/>
        </p:spPr>
        <p:txBody>
          <a:bodyPr wrap="square" anchor="ctr" lIns="45720" rIns="45720" tIns="9144" bIns="9144">
            <a:spAutoFit/>
          </a:bodyPr>
          <a:lstStyle/>
          <a:p>
            <a:pPr algn="r"/>
            <a:r>
              <a:rPr sz="850" b="1" i="0">
                <a:solidFill>
                  <a:srgbClr val="0D2341"/>
                </a:solidFill>
                <a:latin typeface="Calibri"/>
              </a:rPr>
              <a:t>−161,729</a:t>
            </a:r>
          </a:p>
        </p:txBody>
      </p:sp>
      <p:sp>
        <p:nvSpPr>
          <p:cNvPr id="181" name="Rectangle 180"/>
          <p:cNvSpPr/>
          <p:nvPr/>
        </p:nvSpPr>
        <p:spPr>
          <a:xfrm>
            <a:off x="5166360" y="313435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2" name="TextBox 181"/>
          <p:cNvSpPr txBox="1"/>
          <p:nvPr/>
        </p:nvSpPr>
        <p:spPr>
          <a:xfrm>
            <a:off x="5184648" y="3134359"/>
            <a:ext cx="786384" cy="284480"/>
          </a:xfrm>
          <a:prstGeom prst="rect">
            <a:avLst/>
          </a:prstGeom>
          <a:noFill/>
        </p:spPr>
        <p:txBody>
          <a:bodyPr wrap="square" anchor="ctr" lIns="45720" rIns="45720" tIns="9144" bIns="9144">
            <a:spAutoFit/>
          </a:bodyPr>
          <a:lstStyle/>
          <a:p>
            <a:pPr algn="r"/>
            <a:r>
              <a:rPr sz="850" b="1" i="0">
                <a:solidFill>
                  <a:srgbClr val="0D2341"/>
                </a:solidFill>
                <a:latin typeface="Calibri"/>
              </a:rPr>
              <a:t>1,062,832</a:t>
            </a:r>
          </a:p>
        </p:txBody>
      </p:sp>
      <p:sp>
        <p:nvSpPr>
          <p:cNvPr id="183" name="Rectangle 182"/>
          <p:cNvSpPr/>
          <p:nvPr/>
        </p:nvSpPr>
        <p:spPr>
          <a:xfrm>
            <a:off x="5989320" y="313435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4" name="TextBox 183"/>
          <p:cNvSpPr txBox="1"/>
          <p:nvPr/>
        </p:nvSpPr>
        <p:spPr>
          <a:xfrm>
            <a:off x="6007608" y="3134359"/>
            <a:ext cx="786384" cy="284480"/>
          </a:xfrm>
          <a:prstGeom prst="rect">
            <a:avLst/>
          </a:prstGeom>
          <a:noFill/>
        </p:spPr>
        <p:txBody>
          <a:bodyPr wrap="square" anchor="ctr" lIns="45720" rIns="45720" tIns="9144" bIns="9144">
            <a:spAutoFit/>
          </a:bodyPr>
          <a:lstStyle/>
          <a:p>
            <a:pPr algn="r"/>
            <a:r>
              <a:rPr sz="850" b="1" i="0">
                <a:solidFill>
                  <a:srgbClr val="0D2341"/>
                </a:solidFill>
                <a:latin typeface="Calibri"/>
              </a:rPr>
              <a:t>2,648,618</a:t>
            </a:r>
          </a:p>
        </p:txBody>
      </p:sp>
      <p:sp>
        <p:nvSpPr>
          <p:cNvPr id="185" name="Rectangle 184"/>
          <p:cNvSpPr/>
          <p:nvPr/>
        </p:nvSpPr>
        <p:spPr>
          <a:xfrm>
            <a:off x="6812280" y="313435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6" name="TextBox 185"/>
          <p:cNvSpPr txBox="1"/>
          <p:nvPr/>
        </p:nvSpPr>
        <p:spPr>
          <a:xfrm>
            <a:off x="6830568" y="3134359"/>
            <a:ext cx="786384" cy="284480"/>
          </a:xfrm>
          <a:prstGeom prst="rect">
            <a:avLst/>
          </a:prstGeom>
          <a:noFill/>
        </p:spPr>
        <p:txBody>
          <a:bodyPr wrap="square" anchor="ctr" lIns="45720" rIns="45720" tIns="9144" bIns="9144">
            <a:spAutoFit/>
          </a:bodyPr>
          <a:lstStyle/>
          <a:p>
            <a:pPr algn="r"/>
            <a:r>
              <a:rPr sz="850" b="1" i="0">
                <a:solidFill>
                  <a:srgbClr val="0D2341"/>
                </a:solidFill>
                <a:latin typeface="Calibri"/>
              </a:rPr>
              <a:t>4,637,146</a:t>
            </a:r>
          </a:p>
        </p:txBody>
      </p:sp>
      <p:sp>
        <p:nvSpPr>
          <p:cNvPr id="187" name="Rectangle 186"/>
          <p:cNvSpPr/>
          <p:nvPr/>
        </p:nvSpPr>
        <p:spPr>
          <a:xfrm>
            <a:off x="7635240" y="313435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8" name="TextBox 187"/>
          <p:cNvSpPr txBox="1"/>
          <p:nvPr/>
        </p:nvSpPr>
        <p:spPr>
          <a:xfrm>
            <a:off x="7653528" y="3134359"/>
            <a:ext cx="786384" cy="284480"/>
          </a:xfrm>
          <a:prstGeom prst="rect">
            <a:avLst/>
          </a:prstGeom>
          <a:noFill/>
        </p:spPr>
        <p:txBody>
          <a:bodyPr wrap="square" anchor="ctr" lIns="45720" rIns="45720" tIns="9144" bIns="9144">
            <a:spAutoFit/>
          </a:bodyPr>
          <a:lstStyle/>
          <a:p>
            <a:pPr algn="r"/>
            <a:r>
              <a:rPr sz="850" b="1" i="0">
                <a:solidFill>
                  <a:srgbClr val="0D2341"/>
                </a:solidFill>
                <a:latin typeface="Calibri"/>
              </a:rPr>
              <a:t>6,915,539</a:t>
            </a:r>
          </a:p>
        </p:txBody>
      </p:sp>
      <p:sp>
        <p:nvSpPr>
          <p:cNvPr id="189" name="Rectangle 188"/>
          <p:cNvSpPr/>
          <p:nvPr/>
        </p:nvSpPr>
        <p:spPr>
          <a:xfrm>
            <a:off x="8458200" y="313435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0" name="TextBox 189"/>
          <p:cNvSpPr txBox="1"/>
          <p:nvPr/>
        </p:nvSpPr>
        <p:spPr>
          <a:xfrm>
            <a:off x="8476488" y="3134359"/>
            <a:ext cx="786384" cy="284480"/>
          </a:xfrm>
          <a:prstGeom prst="rect">
            <a:avLst/>
          </a:prstGeom>
          <a:noFill/>
        </p:spPr>
        <p:txBody>
          <a:bodyPr wrap="square" anchor="ctr" lIns="45720" rIns="45720" tIns="9144" bIns="9144">
            <a:spAutoFit/>
          </a:bodyPr>
          <a:lstStyle/>
          <a:p>
            <a:pPr algn="r"/>
            <a:r>
              <a:rPr sz="850" b="1" i="0">
                <a:solidFill>
                  <a:srgbClr val="0D2341"/>
                </a:solidFill>
                <a:latin typeface="Calibri"/>
              </a:rPr>
              <a:t>9,514,567</a:t>
            </a:r>
          </a:p>
        </p:txBody>
      </p:sp>
      <p:sp>
        <p:nvSpPr>
          <p:cNvPr id="191" name="Rectangle 190"/>
          <p:cNvSpPr/>
          <p:nvPr/>
        </p:nvSpPr>
        <p:spPr>
          <a:xfrm>
            <a:off x="9281160" y="313435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2" name="TextBox 191"/>
          <p:cNvSpPr txBox="1"/>
          <p:nvPr/>
        </p:nvSpPr>
        <p:spPr>
          <a:xfrm>
            <a:off x="9299448" y="3134359"/>
            <a:ext cx="786384" cy="284480"/>
          </a:xfrm>
          <a:prstGeom prst="rect">
            <a:avLst/>
          </a:prstGeom>
          <a:noFill/>
        </p:spPr>
        <p:txBody>
          <a:bodyPr wrap="square" anchor="ctr" lIns="45720" rIns="45720" tIns="9144" bIns="9144">
            <a:spAutoFit/>
          </a:bodyPr>
          <a:lstStyle/>
          <a:p>
            <a:pPr algn="r"/>
            <a:r>
              <a:rPr sz="850" b="1" i="0">
                <a:solidFill>
                  <a:srgbClr val="0D2341"/>
                </a:solidFill>
                <a:latin typeface="Calibri"/>
              </a:rPr>
              <a:t>12,333,565</a:t>
            </a:r>
          </a:p>
        </p:txBody>
      </p:sp>
      <p:sp>
        <p:nvSpPr>
          <p:cNvPr id="193" name="Rectangle 192"/>
          <p:cNvSpPr/>
          <p:nvPr/>
        </p:nvSpPr>
        <p:spPr>
          <a:xfrm>
            <a:off x="10104120" y="313435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4" name="TextBox 193"/>
          <p:cNvSpPr txBox="1"/>
          <p:nvPr/>
        </p:nvSpPr>
        <p:spPr>
          <a:xfrm>
            <a:off x="10122408" y="3134359"/>
            <a:ext cx="786384" cy="284480"/>
          </a:xfrm>
          <a:prstGeom prst="rect">
            <a:avLst/>
          </a:prstGeom>
          <a:noFill/>
        </p:spPr>
        <p:txBody>
          <a:bodyPr wrap="square" anchor="ctr" lIns="45720" rIns="45720" tIns="9144" bIns="9144">
            <a:spAutoFit/>
          </a:bodyPr>
          <a:lstStyle/>
          <a:p>
            <a:pPr algn="r"/>
            <a:r>
              <a:rPr sz="850" b="1" i="0">
                <a:solidFill>
                  <a:srgbClr val="0D2341"/>
                </a:solidFill>
                <a:latin typeface="Calibri"/>
              </a:rPr>
              <a:t>15,698,677</a:t>
            </a:r>
          </a:p>
        </p:txBody>
      </p:sp>
      <p:sp>
        <p:nvSpPr>
          <p:cNvPr id="195" name="Rectangle 194"/>
          <p:cNvSpPr/>
          <p:nvPr/>
        </p:nvSpPr>
        <p:spPr>
          <a:xfrm>
            <a:off x="10927080" y="313435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6" name="TextBox 195"/>
          <p:cNvSpPr txBox="1"/>
          <p:nvPr/>
        </p:nvSpPr>
        <p:spPr>
          <a:xfrm>
            <a:off x="10945368" y="3134359"/>
            <a:ext cx="786384" cy="284480"/>
          </a:xfrm>
          <a:prstGeom prst="rect">
            <a:avLst/>
          </a:prstGeom>
          <a:noFill/>
        </p:spPr>
        <p:txBody>
          <a:bodyPr wrap="square" anchor="ctr" lIns="45720" rIns="45720" tIns="9144" bIns="9144">
            <a:spAutoFit/>
          </a:bodyPr>
          <a:lstStyle/>
          <a:p>
            <a:pPr algn="r"/>
            <a:r>
              <a:rPr sz="850" b="1" i="0">
                <a:solidFill>
                  <a:srgbClr val="0D2341"/>
                </a:solidFill>
                <a:latin typeface="Calibri"/>
              </a:rPr>
              <a:t>19,341,483</a:t>
            </a:r>
          </a:p>
        </p:txBody>
      </p:sp>
      <p:sp>
        <p:nvSpPr>
          <p:cNvPr id="197" name="Rectangle 196"/>
          <p:cNvSpPr/>
          <p:nvPr/>
        </p:nvSpPr>
        <p:spPr>
          <a:xfrm>
            <a:off x="320040" y="3418839"/>
            <a:ext cx="237744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8" name="TextBox 197"/>
          <p:cNvSpPr txBox="1"/>
          <p:nvPr/>
        </p:nvSpPr>
        <p:spPr>
          <a:xfrm>
            <a:off x="338328" y="3418839"/>
            <a:ext cx="2340864" cy="284480"/>
          </a:xfrm>
          <a:prstGeom prst="rect">
            <a:avLst/>
          </a:prstGeom>
          <a:noFill/>
        </p:spPr>
        <p:txBody>
          <a:bodyPr wrap="square" anchor="ctr" lIns="45720" rIns="45720" tIns="9144" bIns="9144">
            <a:spAutoFit/>
          </a:bodyPr>
          <a:lstStyle/>
          <a:p>
            <a:pPr algn="l"/>
            <a:r>
              <a:rPr sz="850" b="0" i="0">
                <a:solidFill>
                  <a:srgbClr val="334155"/>
                </a:solidFill>
                <a:latin typeface="Calibri"/>
              </a:rPr>
              <a:t>(−) ISR</a:t>
            </a:r>
          </a:p>
        </p:txBody>
      </p:sp>
      <p:sp>
        <p:nvSpPr>
          <p:cNvPr id="199" name="Rectangle 198"/>
          <p:cNvSpPr/>
          <p:nvPr/>
        </p:nvSpPr>
        <p:spPr>
          <a:xfrm>
            <a:off x="2697480" y="341883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0" name="TextBox 199"/>
          <p:cNvSpPr txBox="1"/>
          <p:nvPr/>
        </p:nvSpPr>
        <p:spPr>
          <a:xfrm>
            <a:off x="2715768" y="341883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01" name="Rectangle 200"/>
          <p:cNvSpPr/>
          <p:nvPr/>
        </p:nvSpPr>
        <p:spPr>
          <a:xfrm>
            <a:off x="3520440" y="341883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2" name="TextBox 201"/>
          <p:cNvSpPr txBox="1"/>
          <p:nvPr/>
        </p:nvSpPr>
        <p:spPr>
          <a:xfrm>
            <a:off x="3538728" y="341883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03" name="Rectangle 202"/>
          <p:cNvSpPr/>
          <p:nvPr/>
        </p:nvSpPr>
        <p:spPr>
          <a:xfrm>
            <a:off x="4343400" y="341883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4" name="TextBox 203"/>
          <p:cNvSpPr txBox="1"/>
          <p:nvPr/>
        </p:nvSpPr>
        <p:spPr>
          <a:xfrm>
            <a:off x="4361688" y="341883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05" name="Rectangle 204"/>
          <p:cNvSpPr/>
          <p:nvPr/>
        </p:nvSpPr>
        <p:spPr>
          <a:xfrm>
            <a:off x="5166360" y="341883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 name="TextBox 205"/>
          <p:cNvSpPr txBox="1"/>
          <p:nvPr/>
        </p:nvSpPr>
        <p:spPr>
          <a:xfrm>
            <a:off x="5184648" y="341883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07" name="Rectangle 206"/>
          <p:cNvSpPr/>
          <p:nvPr/>
        </p:nvSpPr>
        <p:spPr>
          <a:xfrm>
            <a:off x="5989320" y="341883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8" name="TextBox 207"/>
          <p:cNvSpPr txBox="1"/>
          <p:nvPr/>
        </p:nvSpPr>
        <p:spPr>
          <a:xfrm>
            <a:off x="6007608" y="341883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695,884</a:t>
            </a:r>
          </a:p>
        </p:txBody>
      </p:sp>
      <p:sp>
        <p:nvSpPr>
          <p:cNvPr id="209" name="Rectangle 208"/>
          <p:cNvSpPr/>
          <p:nvPr/>
        </p:nvSpPr>
        <p:spPr>
          <a:xfrm>
            <a:off x="6812280" y="341883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0" name="TextBox 209"/>
          <p:cNvSpPr txBox="1"/>
          <p:nvPr/>
        </p:nvSpPr>
        <p:spPr>
          <a:xfrm>
            <a:off x="6830568" y="341883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1,341,144</a:t>
            </a:r>
          </a:p>
        </p:txBody>
      </p:sp>
      <p:sp>
        <p:nvSpPr>
          <p:cNvPr id="211" name="Rectangle 210"/>
          <p:cNvSpPr/>
          <p:nvPr/>
        </p:nvSpPr>
        <p:spPr>
          <a:xfrm>
            <a:off x="7635240" y="341883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2" name="TextBox 211"/>
          <p:cNvSpPr txBox="1"/>
          <p:nvPr/>
        </p:nvSpPr>
        <p:spPr>
          <a:xfrm>
            <a:off x="7653528" y="341883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2,024,662</a:t>
            </a:r>
          </a:p>
        </p:txBody>
      </p:sp>
      <p:sp>
        <p:nvSpPr>
          <p:cNvPr id="213" name="Rectangle 212"/>
          <p:cNvSpPr/>
          <p:nvPr/>
        </p:nvSpPr>
        <p:spPr>
          <a:xfrm>
            <a:off x="8458200" y="341883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4" name="TextBox 213"/>
          <p:cNvSpPr txBox="1"/>
          <p:nvPr/>
        </p:nvSpPr>
        <p:spPr>
          <a:xfrm>
            <a:off x="8476488" y="341883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2,804,370</a:t>
            </a:r>
          </a:p>
        </p:txBody>
      </p:sp>
      <p:sp>
        <p:nvSpPr>
          <p:cNvPr id="215" name="Rectangle 214"/>
          <p:cNvSpPr/>
          <p:nvPr/>
        </p:nvSpPr>
        <p:spPr>
          <a:xfrm>
            <a:off x="9281160" y="341883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6" name="TextBox 215"/>
          <p:cNvSpPr txBox="1"/>
          <p:nvPr/>
        </p:nvSpPr>
        <p:spPr>
          <a:xfrm>
            <a:off x="9299448" y="341883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3,650,070</a:t>
            </a:r>
          </a:p>
        </p:txBody>
      </p:sp>
      <p:sp>
        <p:nvSpPr>
          <p:cNvPr id="217" name="Rectangle 216"/>
          <p:cNvSpPr/>
          <p:nvPr/>
        </p:nvSpPr>
        <p:spPr>
          <a:xfrm>
            <a:off x="10104120" y="341883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8" name="TextBox 217"/>
          <p:cNvSpPr txBox="1"/>
          <p:nvPr/>
        </p:nvSpPr>
        <p:spPr>
          <a:xfrm>
            <a:off x="10122408" y="341883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4,659,603</a:t>
            </a:r>
          </a:p>
        </p:txBody>
      </p:sp>
      <p:sp>
        <p:nvSpPr>
          <p:cNvPr id="219" name="Rectangle 218"/>
          <p:cNvSpPr/>
          <p:nvPr/>
        </p:nvSpPr>
        <p:spPr>
          <a:xfrm>
            <a:off x="10927080" y="341883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0" name="TextBox 219"/>
          <p:cNvSpPr txBox="1"/>
          <p:nvPr/>
        </p:nvSpPr>
        <p:spPr>
          <a:xfrm>
            <a:off x="10945368" y="341883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5,752,445</a:t>
            </a:r>
          </a:p>
        </p:txBody>
      </p:sp>
      <p:sp>
        <p:nvSpPr>
          <p:cNvPr id="221" name="Rectangle 220"/>
          <p:cNvSpPr/>
          <p:nvPr/>
        </p:nvSpPr>
        <p:spPr>
          <a:xfrm>
            <a:off x="320040" y="3703319"/>
            <a:ext cx="237744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2" name="TextBox 221"/>
          <p:cNvSpPr txBox="1"/>
          <p:nvPr/>
        </p:nvSpPr>
        <p:spPr>
          <a:xfrm>
            <a:off x="338328" y="3703319"/>
            <a:ext cx="2340864" cy="284480"/>
          </a:xfrm>
          <a:prstGeom prst="rect">
            <a:avLst/>
          </a:prstGeom>
          <a:noFill/>
        </p:spPr>
        <p:txBody>
          <a:bodyPr wrap="square" anchor="ctr" lIns="45720" rIns="45720" tIns="9144" bIns="9144">
            <a:spAutoFit/>
          </a:bodyPr>
          <a:lstStyle/>
          <a:p>
            <a:pPr algn="l"/>
            <a:r>
              <a:rPr sz="850" b="1" i="0">
                <a:solidFill>
                  <a:srgbClr val="0D2341"/>
                </a:solidFill>
                <a:latin typeface="Calibri"/>
              </a:rPr>
              <a:t>(=) Utilidad después de impuestos</a:t>
            </a:r>
          </a:p>
        </p:txBody>
      </p:sp>
      <p:sp>
        <p:nvSpPr>
          <p:cNvPr id="223" name="Rectangle 222"/>
          <p:cNvSpPr/>
          <p:nvPr/>
        </p:nvSpPr>
        <p:spPr>
          <a:xfrm>
            <a:off x="2697480" y="370331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4" name="TextBox 223"/>
          <p:cNvSpPr txBox="1"/>
          <p:nvPr/>
        </p:nvSpPr>
        <p:spPr>
          <a:xfrm>
            <a:off x="2715768" y="3703319"/>
            <a:ext cx="786384" cy="284480"/>
          </a:xfrm>
          <a:prstGeom prst="rect">
            <a:avLst/>
          </a:prstGeom>
          <a:noFill/>
        </p:spPr>
        <p:txBody>
          <a:bodyPr wrap="square" anchor="ctr" lIns="45720" rIns="45720" tIns="9144" bIns="9144">
            <a:spAutoFit/>
          </a:bodyPr>
          <a:lstStyle/>
          <a:p>
            <a:pPr algn="r"/>
            <a:r>
              <a:rPr sz="850" b="1" i="0">
                <a:solidFill>
                  <a:srgbClr val="0D2341"/>
                </a:solidFill>
                <a:latin typeface="Calibri"/>
              </a:rPr>
              <a:t>0</a:t>
            </a:r>
          </a:p>
        </p:txBody>
      </p:sp>
      <p:sp>
        <p:nvSpPr>
          <p:cNvPr id="225" name="Rectangle 224"/>
          <p:cNvSpPr/>
          <p:nvPr/>
        </p:nvSpPr>
        <p:spPr>
          <a:xfrm>
            <a:off x="3520440" y="370331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6" name="TextBox 225"/>
          <p:cNvSpPr txBox="1"/>
          <p:nvPr/>
        </p:nvSpPr>
        <p:spPr>
          <a:xfrm>
            <a:off x="3538728" y="3703319"/>
            <a:ext cx="786384" cy="284480"/>
          </a:xfrm>
          <a:prstGeom prst="rect">
            <a:avLst/>
          </a:prstGeom>
          <a:noFill/>
        </p:spPr>
        <p:txBody>
          <a:bodyPr wrap="square" anchor="ctr" lIns="45720" rIns="45720" tIns="9144" bIns="9144">
            <a:spAutoFit/>
          </a:bodyPr>
          <a:lstStyle/>
          <a:p>
            <a:pPr algn="r"/>
            <a:r>
              <a:rPr sz="850" b="1" i="0">
                <a:solidFill>
                  <a:srgbClr val="0D2341"/>
                </a:solidFill>
                <a:latin typeface="Calibri"/>
              </a:rPr>
              <a:t>−1,063,441</a:t>
            </a:r>
          </a:p>
        </p:txBody>
      </p:sp>
      <p:sp>
        <p:nvSpPr>
          <p:cNvPr id="227" name="Rectangle 226"/>
          <p:cNvSpPr/>
          <p:nvPr/>
        </p:nvSpPr>
        <p:spPr>
          <a:xfrm>
            <a:off x="4343400" y="370331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8" name="TextBox 227"/>
          <p:cNvSpPr txBox="1"/>
          <p:nvPr/>
        </p:nvSpPr>
        <p:spPr>
          <a:xfrm>
            <a:off x="4361688" y="3703319"/>
            <a:ext cx="786384" cy="284480"/>
          </a:xfrm>
          <a:prstGeom prst="rect">
            <a:avLst/>
          </a:prstGeom>
          <a:noFill/>
        </p:spPr>
        <p:txBody>
          <a:bodyPr wrap="square" anchor="ctr" lIns="45720" rIns="45720" tIns="9144" bIns="9144">
            <a:spAutoFit/>
          </a:bodyPr>
          <a:lstStyle/>
          <a:p>
            <a:pPr algn="r"/>
            <a:r>
              <a:rPr sz="850" b="1" i="0">
                <a:solidFill>
                  <a:srgbClr val="0D2341"/>
                </a:solidFill>
                <a:latin typeface="Calibri"/>
              </a:rPr>
              <a:t>−161,729</a:t>
            </a:r>
          </a:p>
        </p:txBody>
      </p:sp>
      <p:sp>
        <p:nvSpPr>
          <p:cNvPr id="229" name="Rectangle 228"/>
          <p:cNvSpPr/>
          <p:nvPr/>
        </p:nvSpPr>
        <p:spPr>
          <a:xfrm>
            <a:off x="5166360" y="370331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0" name="TextBox 229"/>
          <p:cNvSpPr txBox="1"/>
          <p:nvPr/>
        </p:nvSpPr>
        <p:spPr>
          <a:xfrm>
            <a:off x="5184648" y="3703319"/>
            <a:ext cx="786384" cy="284480"/>
          </a:xfrm>
          <a:prstGeom prst="rect">
            <a:avLst/>
          </a:prstGeom>
          <a:noFill/>
        </p:spPr>
        <p:txBody>
          <a:bodyPr wrap="square" anchor="ctr" lIns="45720" rIns="45720" tIns="9144" bIns="9144">
            <a:spAutoFit/>
          </a:bodyPr>
          <a:lstStyle/>
          <a:p>
            <a:pPr algn="r"/>
            <a:r>
              <a:rPr sz="850" b="1" i="0">
                <a:solidFill>
                  <a:srgbClr val="0D2341"/>
                </a:solidFill>
                <a:latin typeface="Calibri"/>
              </a:rPr>
              <a:t>1,062,832</a:t>
            </a:r>
          </a:p>
        </p:txBody>
      </p:sp>
      <p:sp>
        <p:nvSpPr>
          <p:cNvPr id="231" name="Rectangle 230"/>
          <p:cNvSpPr/>
          <p:nvPr/>
        </p:nvSpPr>
        <p:spPr>
          <a:xfrm>
            <a:off x="5989320" y="370331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2" name="TextBox 231"/>
          <p:cNvSpPr txBox="1"/>
          <p:nvPr/>
        </p:nvSpPr>
        <p:spPr>
          <a:xfrm>
            <a:off x="6007608" y="3703319"/>
            <a:ext cx="786384" cy="284480"/>
          </a:xfrm>
          <a:prstGeom prst="rect">
            <a:avLst/>
          </a:prstGeom>
          <a:noFill/>
        </p:spPr>
        <p:txBody>
          <a:bodyPr wrap="square" anchor="ctr" lIns="45720" rIns="45720" tIns="9144" bIns="9144">
            <a:spAutoFit/>
          </a:bodyPr>
          <a:lstStyle/>
          <a:p>
            <a:pPr algn="r"/>
            <a:r>
              <a:rPr sz="850" b="1" i="0">
                <a:solidFill>
                  <a:srgbClr val="0D2341"/>
                </a:solidFill>
                <a:latin typeface="Calibri"/>
              </a:rPr>
              <a:t>1,952,734</a:t>
            </a:r>
          </a:p>
        </p:txBody>
      </p:sp>
      <p:sp>
        <p:nvSpPr>
          <p:cNvPr id="233" name="Rectangle 232"/>
          <p:cNvSpPr/>
          <p:nvPr/>
        </p:nvSpPr>
        <p:spPr>
          <a:xfrm>
            <a:off x="6812280" y="370331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4" name="TextBox 233"/>
          <p:cNvSpPr txBox="1"/>
          <p:nvPr/>
        </p:nvSpPr>
        <p:spPr>
          <a:xfrm>
            <a:off x="6830568" y="3703319"/>
            <a:ext cx="786384" cy="284480"/>
          </a:xfrm>
          <a:prstGeom prst="rect">
            <a:avLst/>
          </a:prstGeom>
          <a:noFill/>
        </p:spPr>
        <p:txBody>
          <a:bodyPr wrap="square" anchor="ctr" lIns="45720" rIns="45720" tIns="9144" bIns="9144">
            <a:spAutoFit/>
          </a:bodyPr>
          <a:lstStyle/>
          <a:p>
            <a:pPr algn="r"/>
            <a:r>
              <a:rPr sz="850" b="1" i="0">
                <a:solidFill>
                  <a:srgbClr val="0D2341"/>
                </a:solidFill>
                <a:latin typeface="Calibri"/>
              </a:rPr>
              <a:t>3,296,003</a:t>
            </a:r>
          </a:p>
        </p:txBody>
      </p:sp>
      <p:sp>
        <p:nvSpPr>
          <p:cNvPr id="235" name="Rectangle 234"/>
          <p:cNvSpPr/>
          <p:nvPr/>
        </p:nvSpPr>
        <p:spPr>
          <a:xfrm>
            <a:off x="7635240" y="370331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6" name="TextBox 235"/>
          <p:cNvSpPr txBox="1"/>
          <p:nvPr/>
        </p:nvSpPr>
        <p:spPr>
          <a:xfrm>
            <a:off x="7653528" y="3703319"/>
            <a:ext cx="786384" cy="284480"/>
          </a:xfrm>
          <a:prstGeom prst="rect">
            <a:avLst/>
          </a:prstGeom>
          <a:noFill/>
        </p:spPr>
        <p:txBody>
          <a:bodyPr wrap="square" anchor="ctr" lIns="45720" rIns="45720" tIns="9144" bIns="9144">
            <a:spAutoFit/>
          </a:bodyPr>
          <a:lstStyle/>
          <a:p>
            <a:pPr algn="r"/>
            <a:r>
              <a:rPr sz="850" b="1" i="0">
                <a:solidFill>
                  <a:srgbClr val="0D2341"/>
                </a:solidFill>
                <a:latin typeface="Calibri"/>
              </a:rPr>
              <a:t>4,890,877</a:t>
            </a:r>
          </a:p>
        </p:txBody>
      </p:sp>
      <p:sp>
        <p:nvSpPr>
          <p:cNvPr id="237" name="Rectangle 236"/>
          <p:cNvSpPr/>
          <p:nvPr/>
        </p:nvSpPr>
        <p:spPr>
          <a:xfrm>
            <a:off x="8458200" y="370331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8" name="TextBox 237"/>
          <p:cNvSpPr txBox="1"/>
          <p:nvPr/>
        </p:nvSpPr>
        <p:spPr>
          <a:xfrm>
            <a:off x="8476488" y="3703319"/>
            <a:ext cx="786384" cy="284480"/>
          </a:xfrm>
          <a:prstGeom prst="rect">
            <a:avLst/>
          </a:prstGeom>
          <a:noFill/>
        </p:spPr>
        <p:txBody>
          <a:bodyPr wrap="square" anchor="ctr" lIns="45720" rIns="45720" tIns="9144" bIns="9144">
            <a:spAutoFit/>
          </a:bodyPr>
          <a:lstStyle/>
          <a:p>
            <a:pPr algn="r"/>
            <a:r>
              <a:rPr sz="850" b="1" i="0">
                <a:solidFill>
                  <a:srgbClr val="0D2341"/>
                </a:solidFill>
                <a:latin typeface="Calibri"/>
              </a:rPr>
              <a:t>6,710,197</a:t>
            </a:r>
          </a:p>
        </p:txBody>
      </p:sp>
      <p:sp>
        <p:nvSpPr>
          <p:cNvPr id="239" name="Rectangle 238"/>
          <p:cNvSpPr/>
          <p:nvPr/>
        </p:nvSpPr>
        <p:spPr>
          <a:xfrm>
            <a:off x="9281160" y="370331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0" name="TextBox 239"/>
          <p:cNvSpPr txBox="1"/>
          <p:nvPr/>
        </p:nvSpPr>
        <p:spPr>
          <a:xfrm>
            <a:off x="9299448" y="3703319"/>
            <a:ext cx="786384" cy="284480"/>
          </a:xfrm>
          <a:prstGeom prst="rect">
            <a:avLst/>
          </a:prstGeom>
          <a:noFill/>
        </p:spPr>
        <p:txBody>
          <a:bodyPr wrap="square" anchor="ctr" lIns="45720" rIns="45720" tIns="9144" bIns="9144">
            <a:spAutoFit/>
          </a:bodyPr>
          <a:lstStyle/>
          <a:p>
            <a:pPr algn="r"/>
            <a:r>
              <a:rPr sz="850" b="1" i="0">
                <a:solidFill>
                  <a:srgbClr val="0D2341"/>
                </a:solidFill>
                <a:latin typeface="Calibri"/>
              </a:rPr>
              <a:t>8,683,496</a:t>
            </a:r>
          </a:p>
        </p:txBody>
      </p:sp>
      <p:sp>
        <p:nvSpPr>
          <p:cNvPr id="241" name="Rectangle 240"/>
          <p:cNvSpPr/>
          <p:nvPr/>
        </p:nvSpPr>
        <p:spPr>
          <a:xfrm>
            <a:off x="10104120" y="370331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2" name="TextBox 241"/>
          <p:cNvSpPr txBox="1"/>
          <p:nvPr/>
        </p:nvSpPr>
        <p:spPr>
          <a:xfrm>
            <a:off x="10122408" y="3703319"/>
            <a:ext cx="786384" cy="284480"/>
          </a:xfrm>
          <a:prstGeom prst="rect">
            <a:avLst/>
          </a:prstGeom>
          <a:noFill/>
        </p:spPr>
        <p:txBody>
          <a:bodyPr wrap="square" anchor="ctr" lIns="45720" rIns="45720" tIns="9144" bIns="9144">
            <a:spAutoFit/>
          </a:bodyPr>
          <a:lstStyle/>
          <a:p>
            <a:pPr algn="r"/>
            <a:r>
              <a:rPr sz="850" b="1" i="0">
                <a:solidFill>
                  <a:srgbClr val="0D2341"/>
                </a:solidFill>
                <a:latin typeface="Calibri"/>
              </a:rPr>
              <a:t>11,039,074</a:t>
            </a:r>
          </a:p>
        </p:txBody>
      </p:sp>
      <p:sp>
        <p:nvSpPr>
          <p:cNvPr id="243" name="Rectangle 242"/>
          <p:cNvSpPr/>
          <p:nvPr/>
        </p:nvSpPr>
        <p:spPr>
          <a:xfrm>
            <a:off x="10927080" y="370331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4" name="TextBox 243"/>
          <p:cNvSpPr txBox="1"/>
          <p:nvPr/>
        </p:nvSpPr>
        <p:spPr>
          <a:xfrm>
            <a:off x="10945368" y="3703319"/>
            <a:ext cx="786384" cy="284480"/>
          </a:xfrm>
          <a:prstGeom prst="rect">
            <a:avLst/>
          </a:prstGeom>
          <a:noFill/>
        </p:spPr>
        <p:txBody>
          <a:bodyPr wrap="square" anchor="ctr" lIns="45720" rIns="45720" tIns="9144" bIns="9144">
            <a:spAutoFit/>
          </a:bodyPr>
          <a:lstStyle/>
          <a:p>
            <a:pPr algn="r"/>
            <a:r>
              <a:rPr sz="850" b="1" i="0">
                <a:solidFill>
                  <a:srgbClr val="0D2341"/>
                </a:solidFill>
                <a:latin typeface="Calibri"/>
              </a:rPr>
              <a:t>13,589,038</a:t>
            </a:r>
          </a:p>
        </p:txBody>
      </p:sp>
      <p:sp>
        <p:nvSpPr>
          <p:cNvPr id="245" name="Rectangle 244"/>
          <p:cNvSpPr/>
          <p:nvPr/>
        </p:nvSpPr>
        <p:spPr>
          <a:xfrm>
            <a:off x="320040" y="3987799"/>
            <a:ext cx="237744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6" name="TextBox 245"/>
          <p:cNvSpPr txBox="1"/>
          <p:nvPr/>
        </p:nvSpPr>
        <p:spPr>
          <a:xfrm>
            <a:off x="338328" y="3987799"/>
            <a:ext cx="2340864" cy="284480"/>
          </a:xfrm>
          <a:prstGeom prst="rect">
            <a:avLst/>
          </a:prstGeom>
          <a:noFill/>
        </p:spPr>
        <p:txBody>
          <a:bodyPr wrap="square" anchor="ctr" lIns="45720" rIns="45720" tIns="9144" bIns="9144">
            <a:spAutoFit/>
          </a:bodyPr>
          <a:lstStyle/>
          <a:p>
            <a:pPr algn="l"/>
            <a:r>
              <a:rPr sz="850" b="0" i="0">
                <a:solidFill>
                  <a:srgbClr val="334155"/>
                </a:solidFill>
                <a:latin typeface="Calibri"/>
              </a:rPr>
              <a:t>(+) Depreciación y amortización</a:t>
            </a:r>
          </a:p>
        </p:txBody>
      </p:sp>
      <p:sp>
        <p:nvSpPr>
          <p:cNvPr id="247" name="Rectangle 246"/>
          <p:cNvSpPr/>
          <p:nvPr/>
        </p:nvSpPr>
        <p:spPr>
          <a:xfrm>
            <a:off x="2697480" y="398779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8" name="TextBox 247"/>
          <p:cNvSpPr txBox="1"/>
          <p:nvPr/>
        </p:nvSpPr>
        <p:spPr>
          <a:xfrm>
            <a:off x="2715768" y="398779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49" name="Rectangle 248"/>
          <p:cNvSpPr/>
          <p:nvPr/>
        </p:nvSpPr>
        <p:spPr>
          <a:xfrm>
            <a:off x="3520440" y="398779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0" name="TextBox 249"/>
          <p:cNvSpPr txBox="1"/>
          <p:nvPr/>
        </p:nvSpPr>
        <p:spPr>
          <a:xfrm>
            <a:off x="3538728" y="398779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204,700</a:t>
            </a:r>
          </a:p>
        </p:txBody>
      </p:sp>
      <p:sp>
        <p:nvSpPr>
          <p:cNvPr id="251" name="Rectangle 250"/>
          <p:cNvSpPr/>
          <p:nvPr/>
        </p:nvSpPr>
        <p:spPr>
          <a:xfrm>
            <a:off x="4343400" y="398779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2" name="TextBox 251"/>
          <p:cNvSpPr txBox="1"/>
          <p:nvPr/>
        </p:nvSpPr>
        <p:spPr>
          <a:xfrm>
            <a:off x="4361688" y="398779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204,700</a:t>
            </a:r>
          </a:p>
        </p:txBody>
      </p:sp>
      <p:sp>
        <p:nvSpPr>
          <p:cNvPr id="253" name="Rectangle 252"/>
          <p:cNvSpPr/>
          <p:nvPr/>
        </p:nvSpPr>
        <p:spPr>
          <a:xfrm>
            <a:off x="5166360" y="398779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4" name="TextBox 253"/>
          <p:cNvSpPr txBox="1"/>
          <p:nvPr/>
        </p:nvSpPr>
        <p:spPr>
          <a:xfrm>
            <a:off x="5184648" y="398779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204,700</a:t>
            </a:r>
          </a:p>
        </p:txBody>
      </p:sp>
      <p:sp>
        <p:nvSpPr>
          <p:cNvPr id="255" name="Rectangle 254"/>
          <p:cNvSpPr/>
          <p:nvPr/>
        </p:nvSpPr>
        <p:spPr>
          <a:xfrm>
            <a:off x="5989320" y="398779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6" name="TextBox 255"/>
          <p:cNvSpPr txBox="1"/>
          <p:nvPr/>
        </p:nvSpPr>
        <p:spPr>
          <a:xfrm>
            <a:off x="6007608" y="398779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204,700</a:t>
            </a:r>
          </a:p>
        </p:txBody>
      </p:sp>
      <p:sp>
        <p:nvSpPr>
          <p:cNvPr id="257" name="Rectangle 256"/>
          <p:cNvSpPr/>
          <p:nvPr/>
        </p:nvSpPr>
        <p:spPr>
          <a:xfrm>
            <a:off x="6812280" y="398779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8" name="TextBox 257"/>
          <p:cNvSpPr txBox="1"/>
          <p:nvPr/>
        </p:nvSpPr>
        <p:spPr>
          <a:xfrm>
            <a:off x="6830568" y="398779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204,700</a:t>
            </a:r>
          </a:p>
        </p:txBody>
      </p:sp>
      <p:sp>
        <p:nvSpPr>
          <p:cNvPr id="259" name="Rectangle 258"/>
          <p:cNvSpPr/>
          <p:nvPr/>
        </p:nvSpPr>
        <p:spPr>
          <a:xfrm>
            <a:off x="7635240" y="398779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0" name="TextBox 259"/>
          <p:cNvSpPr txBox="1"/>
          <p:nvPr/>
        </p:nvSpPr>
        <p:spPr>
          <a:xfrm>
            <a:off x="7653528" y="398779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89,500</a:t>
            </a:r>
          </a:p>
        </p:txBody>
      </p:sp>
      <p:sp>
        <p:nvSpPr>
          <p:cNvPr id="261" name="Rectangle 260"/>
          <p:cNvSpPr/>
          <p:nvPr/>
        </p:nvSpPr>
        <p:spPr>
          <a:xfrm>
            <a:off x="8458200" y="398779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2" name="TextBox 261"/>
          <p:cNvSpPr txBox="1"/>
          <p:nvPr/>
        </p:nvSpPr>
        <p:spPr>
          <a:xfrm>
            <a:off x="8476488" y="398779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89,500</a:t>
            </a:r>
          </a:p>
        </p:txBody>
      </p:sp>
      <p:sp>
        <p:nvSpPr>
          <p:cNvPr id="263" name="Rectangle 262"/>
          <p:cNvSpPr/>
          <p:nvPr/>
        </p:nvSpPr>
        <p:spPr>
          <a:xfrm>
            <a:off x="9281160" y="398779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4" name="TextBox 263"/>
          <p:cNvSpPr txBox="1"/>
          <p:nvPr/>
        </p:nvSpPr>
        <p:spPr>
          <a:xfrm>
            <a:off x="9299448" y="398779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89,500</a:t>
            </a:r>
          </a:p>
        </p:txBody>
      </p:sp>
      <p:sp>
        <p:nvSpPr>
          <p:cNvPr id="265" name="Rectangle 264"/>
          <p:cNvSpPr/>
          <p:nvPr/>
        </p:nvSpPr>
        <p:spPr>
          <a:xfrm>
            <a:off x="10104120" y="398779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6" name="TextBox 265"/>
          <p:cNvSpPr txBox="1"/>
          <p:nvPr/>
        </p:nvSpPr>
        <p:spPr>
          <a:xfrm>
            <a:off x="10122408" y="398779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89,500</a:t>
            </a:r>
          </a:p>
        </p:txBody>
      </p:sp>
      <p:sp>
        <p:nvSpPr>
          <p:cNvPr id="267" name="Rectangle 266"/>
          <p:cNvSpPr/>
          <p:nvPr/>
        </p:nvSpPr>
        <p:spPr>
          <a:xfrm>
            <a:off x="10927080" y="398779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8" name="TextBox 267"/>
          <p:cNvSpPr txBox="1"/>
          <p:nvPr/>
        </p:nvSpPr>
        <p:spPr>
          <a:xfrm>
            <a:off x="10945368" y="398779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89,500</a:t>
            </a:r>
          </a:p>
        </p:txBody>
      </p:sp>
      <p:sp>
        <p:nvSpPr>
          <p:cNvPr id="269" name="Rectangle 268"/>
          <p:cNvSpPr/>
          <p:nvPr/>
        </p:nvSpPr>
        <p:spPr>
          <a:xfrm>
            <a:off x="320040" y="4272279"/>
            <a:ext cx="237744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0" name="TextBox 269"/>
          <p:cNvSpPr txBox="1"/>
          <p:nvPr/>
        </p:nvSpPr>
        <p:spPr>
          <a:xfrm>
            <a:off x="338328" y="4272279"/>
            <a:ext cx="2340864" cy="284480"/>
          </a:xfrm>
          <a:prstGeom prst="rect">
            <a:avLst/>
          </a:prstGeom>
          <a:noFill/>
        </p:spPr>
        <p:txBody>
          <a:bodyPr wrap="square" anchor="ctr" lIns="45720" rIns="45720" tIns="9144" bIns="9144">
            <a:spAutoFit/>
          </a:bodyPr>
          <a:lstStyle/>
          <a:p>
            <a:pPr algn="l"/>
            <a:r>
              <a:rPr sz="850" b="0" i="0">
                <a:solidFill>
                  <a:srgbClr val="334155"/>
                </a:solidFill>
                <a:latin typeface="Calibri"/>
              </a:rPr>
              <a:t>(+) Recuperación de capital de trabajo</a:t>
            </a:r>
          </a:p>
        </p:txBody>
      </p:sp>
      <p:sp>
        <p:nvSpPr>
          <p:cNvPr id="271" name="Rectangle 270"/>
          <p:cNvSpPr/>
          <p:nvPr/>
        </p:nvSpPr>
        <p:spPr>
          <a:xfrm>
            <a:off x="2697480" y="427227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2" name="TextBox 271"/>
          <p:cNvSpPr txBox="1"/>
          <p:nvPr/>
        </p:nvSpPr>
        <p:spPr>
          <a:xfrm>
            <a:off x="2715768" y="427227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73" name="Rectangle 272"/>
          <p:cNvSpPr/>
          <p:nvPr/>
        </p:nvSpPr>
        <p:spPr>
          <a:xfrm>
            <a:off x="3520440" y="427227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4" name="TextBox 273"/>
          <p:cNvSpPr txBox="1"/>
          <p:nvPr/>
        </p:nvSpPr>
        <p:spPr>
          <a:xfrm>
            <a:off x="3538728" y="427227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75" name="Rectangle 274"/>
          <p:cNvSpPr/>
          <p:nvPr/>
        </p:nvSpPr>
        <p:spPr>
          <a:xfrm>
            <a:off x="4343400" y="427227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6" name="TextBox 275"/>
          <p:cNvSpPr txBox="1"/>
          <p:nvPr/>
        </p:nvSpPr>
        <p:spPr>
          <a:xfrm>
            <a:off x="4361688" y="427227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77" name="Rectangle 276"/>
          <p:cNvSpPr/>
          <p:nvPr/>
        </p:nvSpPr>
        <p:spPr>
          <a:xfrm>
            <a:off x="5166360" y="427227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 name="TextBox 277"/>
          <p:cNvSpPr txBox="1"/>
          <p:nvPr/>
        </p:nvSpPr>
        <p:spPr>
          <a:xfrm>
            <a:off x="5184648" y="427227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79" name="Rectangle 278"/>
          <p:cNvSpPr/>
          <p:nvPr/>
        </p:nvSpPr>
        <p:spPr>
          <a:xfrm>
            <a:off x="5989320" y="427227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0" name="TextBox 279"/>
          <p:cNvSpPr txBox="1"/>
          <p:nvPr/>
        </p:nvSpPr>
        <p:spPr>
          <a:xfrm>
            <a:off x="6007608" y="427227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81" name="Rectangle 280"/>
          <p:cNvSpPr/>
          <p:nvPr/>
        </p:nvSpPr>
        <p:spPr>
          <a:xfrm>
            <a:off x="6812280" y="427227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2" name="TextBox 281"/>
          <p:cNvSpPr txBox="1"/>
          <p:nvPr/>
        </p:nvSpPr>
        <p:spPr>
          <a:xfrm>
            <a:off x="6830568" y="427227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83" name="Rectangle 282"/>
          <p:cNvSpPr/>
          <p:nvPr/>
        </p:nvSpPr>
        <p:spPr>
          <a:xfrm>
            <a:off x="7635240" y="427227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4" name="TextBox 283"/>
          <p:cNvSpPr txBox="1"/>
          <p:nvPr/>
        </p:nvSpPr>
        <p:spPr>
          <a:xfrm>
            <a:off x="7653528" y="427227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85" name="Rectangle 284"/>
          <p:cNvSpPr/>
          <p:nvPr/>
        </p:nvSpPr>
        <p:spPr>
          <a:xfrm>
            <a:off x="8458200" y="427227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6" name="TextBox 285"/>
          <p:cNvSpPr txBox="1"/>
          <p:nvPr/>
        </p:nvSpPr>
        <p:spPr>
          <a:xfrm>
            <a:off x="8476488" y="427227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87" name="Rectangle 286"/>
          <p:cNvSpPr/>
          <p:nvPr/>
        </p:nvSpPr>
        <p:spPr>
          <a:xfrm>
            <a:off x="9281160" y="427227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8" name="TextBox 287"/>
          <p:cNvSpPr txBox="1"/>
          <p:nvPr/>
        </p:nvSpPr>
        <p:spPr>
          <a:xfrm>
            <a:off x="9299448" y="427227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89" name="Rectangle 288"/>
          <p:cNvSpPr/>
          <p:nvPr/>
        </p:nvSpPr>
        <p:spPr>
          <a:xfrm>
            <a:off x="10104120" y="427227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0" name="TextBox 289"/>
          <p:cNvSpPr txBox="1"/>
          <p:nvPr/>
        </p:nvSpPr>
        <p:spPr>
          <a:xfrm>
            <a:off x="10122408" y="427227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91" name="Rectangle 290"/>
          <p:cNvSpPr/>
          <p:nvPr/>
        </p:nvSpPr>
        <p:spPr>
          <a:xfrm>
            <a:off x="10927080" y="427227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2" name="TextBox 291"/>
          <p:cNvSpPr txBox="1"/>
          <p:nvPr/>
        </p:nvSpPr>
        <p:spPr>
          <a:xfrm>
            <a:off x="10945368" y="427227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2,686,438</a:t>
            </a:r>
          </a:p>
        </p:txBody>
      </p:sp>
      <p:sp>
        <p:nvSpPr>
          <p:cNvPr id="293" name="Rectangle 292"/>
          <p:cNvSpPr/>
          <p:nvPr/>
        </p:nvSpPr>
        <p:spPr>
          <a:xfrm>
            <a:off x="320040" y="4556759"/>
            <a:ext cx="237744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4" name="TextBox 293"/>
          <p:cNvSpPr txBox="1"/>
          <p:nvPr/>
        </p:nvSpPr>
        <p:spPr>
          <a:xfrm>
            <a:off x="338328" y="4556759"/>
            <a:ext cx="2340864" cy="284480"/>
          </a:xfrm>
          <a:prstGeom prst="rect">
            <a:avLst/>
          </a:prstGeom>
          <a:noFill/>
        </p:spPr>
        <p:txBody>
          <a:bodyPr wrap="square" anchor="ctr" lIns="45720" rIns="45720" tIns="9144" bIns="9144">
            <a:spAutoFit/>
          </a:bodyPr>
          <a:lstStyle/>
          <a:p>
            <a:pPr algn="l"/>
            <a:r>
              <a:rPr sz="850" b="0" i="0">
                <a:solidFill>
                  <a:srgbClr val="334155"/>
                </a:solidFill>
                <a:latin typeface="Calibri"/>
              </a:rPr>
              <a:t>(+) Préstamo bancario</a:t>
            </a:r>
          </a:p>
        </p:txBody>
      </p:sp>
      <p:sp>
        <p:nvSpPr>
          <p:cNvPr id="295" name="Rectangle 294"/>
          <p:cNvSpPr/>
          <p:nvPr/>
        </p:nvSpPr>
        <p:spPr>
          <a:xfrm>
            <a:off x="2697480" y="455675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6" name="TextBox 295"/>
          <p:cNvSpPr txBox="1"/>
          <p:nvPr/>
        </p:nvSpPr>
        <p:spPr>
          <a:xfrm>
            <a:off x="2715768" y="455675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892,029</a:t>
            </a:r>
          </a:p>
        </p:txBody>
      </p:sp>
      <p:sp>
        <p:nvSpPr>
          <p:cNvPr id="297" name="Rectangle 296"/>
          <p:cNvSpPr/>
          <p:nvPr/>
        </p:nvSpPr>
        <p:spPr>
          <a:xfrm>
            <a:off x="3520440" y="455675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8" name="TextBox 297"/>
          <p:cNvSpPr txBox="1"/>
          <p:nvPr/>
        </p:nvSpPr>
        <p:spPr>
          <a:xfrm>
            <a:off x="3538728" y="455675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99" name="Rectangle 298"/>
          <p:cNvSpPr/>
          <p:nvPr/>
        </p:nvSpPr>
        <p:spPr>
          <a:xfrm>
            <a:off x="4343400" y="455675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0" name="TextBox 299"/>
          <p:cNvSpPr txBox="1"/>
          <p:nvPr/>
        </p:nvSpPr>
        <p:spPr>
          <a:xfrm>
            <a:off x="4361688" y="455675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301" name="Rectangle 300"/>
          <p:cNvSpPr/>
          <p:nvPr/>
        </p:nvSpPr>
        <p:spPr>
          <a:xfrm>
            <a:off x="5166360" y="455675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2" name="TextBox 301"/>
          <p:cNvSpPr txBox="1"/>
          <p:nvPr/>
        </p:nvSpPr>
        <p:spPr>
          <a:xfrm>
            <a:off x="5184648" y="455675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303" name="Rectangle 302"/>
          <p:cNvSpPr/>
          <p:nvPr/>
        </p:nvSpPr>
        <p:spPr>
          <a:xfrm>
            <a:off x="5989320" y="455675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4" name="TextBox 303"/>
          <p:cNvSpPr txBox="1"/>
          <p:nvPr/>
        </p:nvSpPr>
        <p:spPr>
          <a:xfrm>
            <a:off x="6007608" y="455675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305" name="Rectangle 304"/>
          <p:cNvSpPr/>
          <p:nvPr/>
        </p:nvSpPr>
        <p:spPr>
          <a:xfrm>
            <a:off x="6812280" y="455675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6" name="TextBox 305"/>
          <p:cNvSpPr txBox="1"/>
          <p:nvPr/>
        </p:nvSpPr>
        <p:spPr>
          <a:xfrm>
            <a:off x="6830568" y="455675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307" name="Rectangle 306"/>
          <p:cNvSpPr/>
          <p:nvPr/>
        </p:nvSpPr>
        <p:spPr>
          <a:xfrm>
            <a:off x="7635240" y="455675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8" name="TextBox 307"/>
          <p:cNvSpPr txBox="1"/>
          <p:nvPr/>
        </p:nvSpPr>
        <p:spPr>
          <a:xfrm>
            <a:off x="7653528" y="455675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309" name="Rectangle 308"/>
          <p:cNvSpPr/>
          <p:nvPr/>
        </p:nvSpPr>
        <p:spPr>
          <a:xfrm>
            <a:off x="8458200" y="455675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0" name="TextBox 309"/>
          <p:cNvSpPr txBox="1"/>
          <p:nvPr/>
        </p:nvSpPr>
        <p:spPr>
          <a:xfrm>
            <a:off x="8476488" y="455675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311" name="Rectangle 310"/>
          <p:cNvSpPr/>
          <p:nvPr/>
        </p:nvSpPr>
        <p:spPr>
          <a:xfrm>
            <a:off x="9281160" y="455675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2" name="TextBox 311"/>
          <p:cNvSpPr txBox="1"/>
          <p:nvPr/>
        </p:nvSpPr>
        <p:spPr>
          <a:xfrm>
            <a:off x="9299448" y="455675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313" name="Rectangle 312"/>
          <p:cNvSpPr/>
          <p:nvPr/>
        </p:nvSpPr>
        <p:spPr>
          <a:xfrm>
            <a:off x="10104120" y="455675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4" name="TextBox 313"/>
          <p:cNvSpPr txBox="1"/>
          <p:nvPr/>
        </p:nvSpPr>
        <p:spPr>
          <a:xfrm>
            <a:off x="10122408" y="455675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315" name="Rectangle 314"/>
          <p:cNvSpPr/>
          <p:nvPr/>
        </p:nvSpPr>
        <p:spPr>
          <a:xfrm>
            <a:off x="10927080" y="455675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6" name="TextBox 315"/>
          <p:cNvSpPr txBox="1"/>
          <p:nvPr/>
        </p:nvSpPr>
        <p:spPr>
          <a:xfrm>
            <a:off x="10945368" y="455675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317" name="Rectangle 316"/>
          <p:cNvSpPr/>
          <p:nvPr/>
        </p:nvSpPr>
        <p:spPr>
          <a:xfrm>
            <a:off x="320040" y="4841239"/>
            <a:ext cx="237744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8" name="TextBox 317"/>
          <p:cNvSpPr txBox="1"/>
          <p:nvPr/>
        </p:nvSpPr>
        <p:spPr>
          <a:xfrm>
            <a:off x="338328" y="4841239"/>
            <a:ext cx="2340864" cy="284480"/>
          </a:xfrm>
          <a:prstGeom prst="rect">
            <a:avLst/>
          </a:prstGeom>
          <a:noFill/>
        </p:spPr>
        <p:txBody>
          <a:bodyPr wrap="square" anchor="ctr" lIns="45720" rIns="45720" tIns="9144" bIns="9144">
            <a:spAutoFit/>
          </a:bodyPr>
          <a:lstStyle/>
          <a:p>
            <a:pPr algn="l"/>
            <a:r>
              <a:rPr sz="850" b="0" i="0">
                <a:solidFill>
                  <a:srgbClr val="334155"/>
                </a:solidFill>
                <a:latin typeface="Calibri"/>
              </a:rPr>
              <a:t>(−) Inversión en activos fijos y diferidos</a:t>
            </a:r>
          </a:p>
        </p:txBody>
      </p:sp>
      <p:sp>
        <p:nvSpPr>
          <p:cNvPr id="319" name="Rectangle 318"/>
          <p:cNvSpPr/>
          <p:nvPr/>
        </p:nvSpPr>
        <p:spPr>
          <a:xfrm>
            <a:off x="2697480" y="484123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0" name="TextBox 319"/>
          <p:cNvSpPr txBox="1"/>
          <p:nvPr/>
        </p:nvSpPr>
        <p:spPr>
          <a:xfrm>
            <a:off x="2715768" y="484123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1,471,000</a:t>
            </a:r>
          </a:p>
        </p:txBody>
      </p:sp>
      <p:sp>
        <p:nvSpPr>
          <p:cNvPr id="321" name="Rectangle 320"/>
          <p:cNvSpPr/>
          <p:nvPr/>
        </p:nvSpPr>
        <p:spPr>
          <a:xfrm>
            <a:off x="3520440" y="484123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2" name="TextBox 321"/>
          <p:cNvSpPr txBox="1"/>
          <p:nvPr/>
        </p:nvSpPr>
        <p:spPr>
          <a:xfrm>
            <a:off x="3538728" y="484123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323" name="Rectangle 322"/>
          <p:cNvSpPr/>
          <p:nvPr/>
        </p:nvSpPr>
        <p:spPr>
          <a:xfrm>
            <a:off x="4343400" y="484123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4" name="TextBox 323"/>
          <p:cNvSpPr txBox="1"/>
          <p:nvPr/>
        </p:nvSpPr>
        <p:spPr>
          <a:xfrm>
            <a:off x="4361688" y="484123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325" name="Rectangle 324"/>
          <p:cNvSpPr/>
          <p:nvPr/>
        </p:nvSpPr>
        <p:spPr>
          <a:xfrm>
            <a:off x="5166360" y="484123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6" name="TextBox 325"/>
          <p:cNvSpPr txBox="1"/>
          <p:nvPr/>
        </p:nvSpPr>
        <p:spPr>
          <a:xfrm>
            <a:off x="5184648" y="484123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327" name="Rectangle 326"/>
          <p:cNvSpPr/>
          <p:nvPr/>
        </p:nvSpPr>
        <p:spPr>
          <a:xfrm>
            <a:off x="5989320" y="484123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8" name="TextBox 327"/>
          <p:cNvSpPr txBox="1"/>
          <p:nvPr/>
        </p:nvSpPr>
        <p:spPr>
          <a:xfrm>
            <a:off x="6007608" y="484123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329" name="Rectangle 328"/>
          <p:cNvSpPr/>
          <p:nvPr/>
        </p:nvSpPr>
        <p:spPr>
          <a:xfrm>
            <a:off x="6812280" y="484123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0" name="TextBox 329"/>
          <p:cNvSpPr txBox="1"/>
          <p:nvPr/>
        </p:nvSpPr>
        <p:spPr>
          <a:xfrm>
            <a:off x="6830568" y="484123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331" name="Rectangle 330"/>
          <p:cNvSpPr/>
          <p:nvPr/>
        </p:nvSpPr>
        <p:spPr>
          <a:xfrm>
            <a:off x="7635240" y="484123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2" name="TextBox 331"/>
          <p:cNvSpPr txBox="1"/>
          <p:nvPr/>
        </p:nvSpPr>
        <p:spPr>
          <a:xfrm>
            <a:off x="7653528" y="484123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333" name="Rectangle 332"/>
          <p:cNvSpPr/>
          <p:nvPr/>
        </p:nvSpPr>
        <p:spPr>
          <a:xfrm>
            <a:off x="8458200" y="484123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4" name="TextBox 333"/>
          <p:cNvSpPr txBox="1"/>
          <p:nvPr/>
        </p:nvSpPr>
        <p:spPr>
          <a:xfrm>
            <a:off x="8476488" y="484123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335" name="Rectangle 334"/>
          <p:cNvSpPr/>
          <p:nvPr/>
        </p:nvSpPr>
        <p:spPr>
          <a:xfrm>
            <a:off x="9281160" y="484123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6" name="TextBox 335"/>
          <p:cNvSpPr txBox="1"/>
          <p:nvPr/>
        </p:nvSpPr>
        <p:spPr>
          <a:xfrm>
            <a:off x="9299448" y="484123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337" name="Rectangle 336"/>
          <p:cNvSpPr/>
          <p:nvPr/>
        </p:nvSpPr>
        <p:spPr>
          <a:xfrm>
            <a:off x="10104120" y="484123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8" name="TextBox 337"/>
          <p:cNvSpPr txBox="1"/>
          <p:nvPr/>
        </p:nvSpPr>
        <p:spPr>
          <a:xfrm>
            <a:off x="10122408" y="484123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339" name="Rectangle 338"/>
          <p:cNvSpPr/>
          <p:nvPr/>
        </p:nvSpPr>
        <p:spPr>
          <a:xfrm>
            <a:off x="10927080" y="484123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0" name="TextBox 339"/>
          <p:cNvSpPr txBox="1"/>
          <p:nvPr/>
        </p:nvSpPr>
        <p:spPr>
          <a:xfrm>
            <a:off x="10945368" y="484123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341" name="Rectangle 340"/>
          <p:cNvSpPr/>
          <p:nvPr/>
        </p:nvSpPr>
        <p:spPr>
          <a:xfrm>
            <a:off x="320040" y="5125719"/>
            <a:ext cx="237744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2" name="TextBox 341"/>
          <p:cNvSpPr txBox="1"/>
          <p:nvPr/>
        </p:nvSpPr>
        <p:spPr>
          <a:xfrm>
            <a:off x="338328" y="5125719"/>
            <a:ext cx="2340864" cy="284480"/>
          </a:xfrm>
          <a:prstGeom prst="rect">
            <a:avLst/>
          </a:prstGeom>
          <a:noFill/>
        </p:spPr>
        <p:txBody>
          <a:bodyPr wrap="square" anchor="ctr" lIns="45720" rIns="45720" tIns="9144" bIns="9144">
            <a:spAutoFit/>
          </a:bodyPr>
          <a:lstStyle/>
          <a:p>
            <a:pPr algn="l"/>
            <a:r>
              <a:rPr sz="850" b="0" i="0">
                <a:solidFill>
                  <a:srgbClr val="334155"/>
                </a:solidFill>
                <a:latin typeface="Calibri"/>
              </a:rPr>
              <a:t>(−) Inversión en capital de trabajo</a:t>
            </a:r>
          </a:p>
        </p:txBody>
      </p:sp>
      <p:sp>
        <p:nvSpPr>
          <p:cNvPr id="343" name="Rectangle 342"/>
          <p:cNvSpPr/>
          <p:nvPr/>
        </p:nvSpPr>
        <p:spPr>
          <a:xfrm>
            <a:off x="2697480" y="512571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4" name="TextBox 343"/>
          <p:cNvSpPr txBox="1"/>
          <p:nvPr/>
        </p:nvSpPr>
        <p:spPr>
          <a:xfrm>
            <a:off x="2715768" y="512571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313,058</a:t>
            </a:r>
          </a:p>
        </p:txBody>
      </p:sp>
      <p:sp>
        <p:nvSpPr>
          <p:cNvPr id="345" name="Rectangle 344"/>
          <p:cNvSpPr/>
          <p:nvPr/>
        </p:nvSpPr>
        <p:spPr>
          <a:xfrm>
            <a:off x="3520440" y="512571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6" name="TextBox 345"/>
          <p:cNvSpPr txBox="1"/>
          <p:nvPr/>
        </p:nvSpPr>
        <p:spPr>
          <a:xfrm>
            <a:off x="3538728" y="512571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347" name="Rectangle 346"/>
          <p:cNvSpPr/>
          <p:nvPr/>
        </p:nvSpPr>
        <p:spPr>
          <a:xfrm>
            <a:off x="4343400" y="512571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8" name="TextBox 347"/>
          <p:cNvSpPr txBox="1"/>
          <p:nvPr/>
        </p:nvSpPr>
        <p:spPr>
          <a:xfrm>
            <a:off x="4361688" y="512571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113,257</a:t>
            </a:r>
          </a:p>
        </p:txBody>
      </p:sp>
      <p:sp>
        <p:nvSpPr>
          <p:cNvPr id="349" name="Rectangle 348"/>
          <p:cNvSpPr/>
          <p:nvPr/>
        </p:nvSpPr>
        <p:spPr>
          <a:xfrm>
            <a:off x="5166360" y="512571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0" name="TextBox 349"/>
          <p:cNvSpPr txBox="1"/>
          <p:nvPr/>
        </p:nvSpPr>
        <p:spPr>
          <a:xfrm>
            <a:off x="5184648" y="512571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148,724</a:t>
            </a:r>
          </a:p>
        </p:txBody>
      </p:sp>
      <p:sp>
        <p:nvSpPr>
          <p:cNvPr id="351" name="Rectangle 350"/>
          <p:cNvSpPr/>
          <p:nvPr/>
        </p:nvSpPr>
        <p:spPr>
          <a:xfrm>
            <a:off x="5989320" y="512571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2" name="TextBox 351"/>
          <p:cNvSpPr txBox="1"/>
          <p:nvPr/>
        </p:nvSpPr>
        <p:spPr>
          <a:xfrm>
            <a:off x="6007608" y="512571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188,320</a:t>
            </a:r>
          </a:p>
        </p:txBody>
      </p:sp>
      <p:sp>
        <p:nvSpPr>
          <p:cNvPr id="353" name="Rectangle 352"/>
          <p:cNvSpPr/>
          <p:nvPr/>
        </p:nvSpPr>
        <p:spPr>
          <a:xfrm>
            <a:off x="6812280" y="512571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4" name="TextBox 353"/>
          <p:cNvSpPr txBox="1"/>
          <p:nvPr/>
        </p:nvSpPr>
        <p:spPr>
          <a:xfrm>
            <a:off x="6830568" y="512571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232,396</a:t>
            </a:r>
          </a:p>
        </p:txBody>
      </p:sp>
      <p:sp>
        <p:nvSpPr>
          <p:cNvPr id="355" name="Rectangle 354"/>
          <p:cNvSpPr/>
          <p:nvPr/>
        </p:nvSpPr>
        <p:spPr>
          <a:xfrm>
            <a:off x="7635240" y="512571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6" name="TextBox 355"/>
          <p:cNvSpPr txBox="1"/>
          <p:nvPr/>
        </p:nvSpPr>
        <p:spPr>
          <a:xfrm>
            <a:off x="7653528" y="512571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251,766</a:t>
            </a:r>
          </a:p>
        </p:txBody>
      </p:sp>
      <p:sp>
        <p:nvSpPr>
          <p:cNvPr id="357" name="Rectangle 356"/>
          <p:cNvSpPr/>
          <p:nvPr/>
        </p:nvSpPr>
        <p:spPr>
          <a:xfrm>
            <a:off x="8458200" y="512571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8" name="TextBox 357"/>
          <p:cNvSpPr txBox="1"/>
          <p:nvPr/>
        </p:nvSpPr>
        <p:spPr>
          <a:xfrm>
            <a:off x="8476488" y="512571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303,305</a:t>
            </a:r>
          </a:p>
        </p:txBody>
      </p:sp>
      <p:sp>
        <p:nvSpPr>
          <p:cNvPr id="359" name="Rectangle 358"/>
          <p:cNvSpPr/>
          <p:nvPr/>
        </p:nvSpPr>
        <p:spPr>
          <a:xfrm>
            <a:off x="9281160" y="512571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0" name="TextBox 359"/>
          <p:cNvSpPr txBox="1"/>
          <p:nvPr/>
        </p:nvSpPr>
        <p:spPr>
          <a:xfrm>
            <a:off x="9299448" y="512571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328,076</a:t>
            </a:r>
          </a:p>
        </p:txBody>
      </p:sp>
      <p:sp>
        <p:nvSpPr>
          <p:cNvPr id="361" name="Rectangle 360"/>
          <p:cNvSpPr/>
          <p:nvPr/>
        </p:nvSpPr>
        <p:spPr>
          <a:xfrm>
            <a:off x="10104120" y="512571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2" name="TextBox 361"/>
          <p:cNvSpPr txBox="1"/>
          <p:nvPr/>
        </p:nvSpPr>
        <p:spPr>
          <a:xfrm>
            <a:off x="10122408" y="512571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388,201</a:t>
            </a:r>
          </a:p>
        </p:txBody>
      </p:sp>
      <p:sp>
        <p:nvSpPr>
          <p:cNvPr id="363" name="Rectangle 362"/>
          <p:cNvSpPr/>
          <p:nvPr/>
        </p:nvSpPr>
        <p:spPr>
          <a:xfrm>
            <a:off x="10927080" y="512571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4" name="TextBox 363"/>
          <p:cNvSpPr txBox="1"/>
          <p:nvPr/>
        </p:nvSpPr>
        <p:spPr>
          <a:xfrm>
            <a:off x="10945368" y="512571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419,335</a:t>
            </a:r>
          </a:p>
        </p:txBody>
      </p:sp>
      <p:sp>
        <p:nvSpPr>
          <p:cNvPr id="365" name="Rectangle 364"/>
          <p:cNvSpPr/>
          <p:nvPr/>
        </p:nvSpPr>
        <p:spPr>
          <a:xfrm>
            <a:off x="320040" y="5410199"/>
            <a:ext cx="237744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6" name="TextBox 365"/>
          <p:cNvSpPr txBox="1"/>
          <p:nvPr/>
        </p:nvSpPr>
        <p:spPr>
          <a:xfrm>
            <a:off x="338328" y="5410199"/>
            <a:ext cx="2340864" cy="284480"/>
          </a:xfrm>
          <a:prstGeom prst="rect">
            <a:avLst/>
          </a:prstGeom>
          <a:noFill/>
        </p:spPr>
        <p:txBody>
          <a:bodyPr wrap="square" anchor="ctr" lIns="45720" rIns="45720" tIns="9144" bIns="9144">
            <a:spAutoFit/>
          </a:bodyPr>
          <a:lstStyle/>
          <a:p>
            <a:pPr algn="l"/>
            <a:r>
              <a:rPr sz="850" b="0" i="0">
                <a:solidFill>
                  <a:srgbClr val="334155"/>
                </a:solidFill>
                <a:latin typeface="Calibri"/>
              </a:rPr>
              <a:t>(−) Abono a capital</a:t>
            </a:r>
          </a:p>
        </p:txBody>
      </p:sp>
      <p:sp>
        <p:nvSpPr>
          <p:cNvPr id="367" name="Rectangle 366"/>
          <p:cNvSpPr/>
          <p:nvPr/>
        </p:nvSpPr>
        <p:spPr>
          <a:xfrm>
            <a:off x="2697480" y="541019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8" name="TextBox 367"/>
          <p:cNvSpPr txBox="1"/>
          <p:nvPr/>
        </p:nvSpPr>
        <p:spPr>
          <a:xfrm>
            <a:off x="2715768" y="541019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369" name="Rectangle 368"/>
          <p:cNvSpPr/>
          <p:nvPr/>
        </p:nvSpPr>
        <p:spPr>
          <a:xfrm>
            <a:off x="3520440" y="541019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0" name="TextBox 369"/>
          <p:cNvSpPr txBox="1"/>
          <p:nvPr/>
        </p:nvSpPr>
        <p:spPr>
          <a:xfrm>
            <a:off x="3538728" y="541019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134,949</a:t>
            </a:r>
          </a:p>
        </p:txBody>
      </p:sp>
      <p:sp>
        <p:nvSpPr>
          <p:cNvPr id="371" name="Rectangle 370"/>
          <p:cNvSpPr/>
          <p:nvPr/>
        </p:nvSpPr>
        <p:spPr>
          <a:xfrm>
            <a:off x="4343400" y="541019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2" name="TextBox 371"/>
          <p:cNvSpPr txBox="1"/>
          <p:nvPr/>
        </p:nvSpPr>
        <p:spPr>
          <a:xfrm>
            <a:off x="4361688" y="541019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153,842</a:t>
            </a:r>
          </a:p>
        </p:txBody>
      </p:sp>
      <p:sp>
        <p:nvSpPr>
          <p:cNvPr id="373" name="Rectangle 372"/>
          <p:cNvSpPr/>
          <p:nvPr/>
        </p:nvSpPr>
        <p:spPr>
          <a:xfrm>
            <a:off x="5166360" y="541019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4" name="TextBox 373"/>
          <p:cNvSpPr txBox="1"/>
          <p:nvPr/>
        </p:nvSpPr>
        <p:spPr>
          <a:xfrm>
            <a:off x="5184648" y="541019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175,380</a:t>
            </a:r>
          </a:p>
        </p:txBody>
      </p:sp>
      <p:sp>
        <p:nvSpPr>
          <p:cNvPr id="375" name="Rectangle 374"/>
          <p:cNvSpPr/>
          <p:nvPr/>
        </p:nvSpPr>
        <p:spPr>
          <a:xfrm>
            <a:off x="5989320" y="541019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6" name="TextBox 375"/>
          <p:cNvSpPr txBox="1"/>
          <p:nvPr/>
        </p:nvSpPr>
        <p:spPr>
          <a:xfrm>
            <a:off x="6007608" y="541019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199,933</a:t>
            </a:r>
          </a:p>
        </p:txBody>
      </p:sp>
      <p:sp>
        <p:nvSpPr>
          <p:cNvPr id="377" name="Rectangle 376"/>
          <p:cNvSpPr/>
          <p:nvPr/>
        </p:nvSpPr>
        <p:spPr>
          <a:xfrm>
            <a:off x="6812280" y="541019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8" name="TextBox 377"/>
          <p:cNvSpPr txBox="1"/>
          <p:nvPr/>
        </p:nvSpPr>
        <p:spPr>
          <a:xfrm>
            <a:off x="6830568" y="541019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227,924</a:t>
            </a:r>
          </a:p>
        </p:txBody>
      </p:sp>
      <p:sp>
        <p:nvSpPr>
          <p:cNvPr id="379" name="Rectangle 378"/>
          <p:cNvSpPr/>
          <p:nvPr/>
        </p:nvSpPr>
        <p:spPr>
          <a:xfrm>
            <a:off x="7635240" y="541019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0" name="TextBox 379"/>
          <p:cNvSpPr txBox="1"/>
          <p:nvPr/>
        </p:nvSpPr>
        <p:spPr>
          <a:xfrm>
            <a:off x="7653528" y="541019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381" name="Rectangle 380"/>
          <p:cNvSpPr/>
          <p:nvPr/>
        </p:nvSpPr>
        <p:spPr>
          <a:xfrm>
            <a:off x="8458200" y="541019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2" name="TextBox 381"/>
          <p:cNvSpPr txBox="1"/>
          <p:nvPr/>
        </p:nvSpPr>
        <p:spPr>
          <a:xfrm>
            <a:off x="8476488" y="541019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383" name="Rectangle 382"/>
          <p:cNvSpPr/>
          <p:nvPr/>
        </p:nvSpPr>
        <p:spPr>
          <a:xfrm>
            <a:off x="9281160" y="541019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4" name="TextBox 383"/>
          <p:cNvSpPr txBox="1"/>
          <p:nvPr/>
        </p:nvSpPr>
        <p:spPr>
          <a:xfrm>
            <a:off x="9299448" y="541019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385" name="Rectangle 384"/>
          <p:cNvSpPr/>
          <p:nvPr/>
        </p:nvSpPr>
        <p:spPr>
          <a:xfrm>
            <a:off x="10104120" y="541019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6" name="TextBox 385"/>
          <p:cNvSpPr txBox="1"/>
          <p:nvPr/>
        </p:nvSpPr>
        <p:spPr>
          <a:xfrm>
            <a:off x="10122408" y="541019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387" name="Rectangle 386"/>
          <p:cNvSpPr/>
          <p:nvPr/>
        </p:nvSpPr>
        <p:spPr>
          <a:xfrm>
            <a:off x="10927080" y="541019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8" name="TextBox 387"/>
          <p:cNvSpPr txBox="1"/>
          <p:nvPr/>
        </p:nvSpPr>
        <p:spPr>
          <a:xfrm>
            <a:off x="10945368" y="541019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389" name="Rectangle 388"/>
          <p:cNvSpPr/>
          <p:nvPr/>
        </p:nvSpPr>
        <p:spPr>
          <a:xfrm>
            <a:off x="320040" y="5694679"/>
            <a:ext cx="2377440" cy="28448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0" name="TextBox 389"/>
          <p:cNvSpPr txBox="1"/>
          <p:nvPr/>
        </p:nvSpPr>
        <p:spPr>
          <a:xfrm>
            <a:off x="338328" y="5694679"/>
            <a:ext cx="2340864" cy="284480"/>
          </a:xfrm>
          <a:prstGeom prst="rect">
            <a:avLst/>
          </a:prstGeom>
          <a:noFill/>
        </p:spPr>
        <p:txBody>
          <a:bodyPr wrap="square" anchor="ctr" lIns="45720" rIns="45720" tIns="9144" bIns="9144">
            <a:spAutoFit/>
          </a:bodyPr>
          <a:lstStyle/>
          <a:p>
            <a:pPr algn="l"/>
            <a:r>
              <a:rPr sz="850" b="1" i="0">
                <a:solidFill>
                  <a:srgbClr val="0D2341"/>
                </a:solidFill>
                <a:latin typeface="Calibri"/>
              </a:rPr>
              <a:t>(=) FLUJO DE CAJA NETO</a:t>
            </a:r>
          </a:p>
        </p:txBody>
      </p:sp>
      <p:sp>
        <p:nvSpPr>
          <p:cNvPr id="391" name="Rectangle 390"/>
          <p:cNvSpPr/>
          <p:nvPr/>
        </p:nvSpPr>
        <p:spPr>
          <a:xfrm>
            <a:off x="2697480" y="5694679"/>
            <a:ext cx="822960" cy="28448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2" name="TextBox 391"/>
          <p:cNvSpPr txBox="1"/>
          <p:nvPr/>
        </p:nvSpPr>
        <p:spPr>
          <a:xfrm>
            <a:off x="2715768" y="5694679"/>
            <a:ext cx="786384" cy="284480"/>
          </a:xfrm>
          <a:prstGeom prst="rect">
            <a:avLst/>
          </a:prstGeom>
          <a:noFill/>
        </p:spPr>
        <p:txBody>
          <a:bodyPr wrap="square" anchor="ctr" lIns="45720" rIns="45720" tIns="9144" bIns="9144">
            <a:spAutoFit/>
          </a:bodyPr>
          <a:lstStyle/>
          <a:p>
            <a:pPr algn="r"/>
            <a:r>
              <a:rPr sz="850" b="1" i="0">
                <a:solidFill>
                  <a:srgbClr val="0D2341"/>
                </a:solidFill>
                <a:latin typeface="Calibri"/>
              </a:rPr>
              <a:t>−892,029</a:t>
            </a:r>
          </a:p>
        </p:txBody>
      </p:sp>
      <p:sp>
        <p:nvSpPr>
          <p:cNvPr id="393" name="Rectangle 392"/>
          <p:cNvSpPr/>
          <p:nvPr/>
        </p:nvSpPr>
        <p:spPr>
          <a:xfrm>
            <a:off x="3520440" y="5694679"/>
            <a:ext cx="822960" cy="28448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4" name="TextBox 393"/>
          <p:cNvSpPr txBox="1"/>
          <p:nvPr/>
        </p:nvSpPr>
        <p:spPr>
          <a:xfrm>
            <a:off x="3538728" y="5694679"/>
            <a:ext cx="786384" cy="284480"/>
          </a:xfrm>
          <a:prstGeom prst="rect">
            <a:avLst/>
          </a:prstGeom>
          <a:noFill/>
        </p:spPr>
        <p:txBody>
          <a:bodyPr wrap="square" anchor="ctr" lIns="45720" rIns="45720" tIns="9144" bIns="9144">
            <a:spAutoFit/>
          </a:bodyPr>
          <a:lstStyle/>
          <a:p>
            <a:pPr algn="r"/>
            <a:r>
              <a:rPr sz="850" b="1" i="0">
                <a:solidFill>
                  <a:srgbClr val="0D2341"/>
                </a:solidFill>
                <a:latin typeface="Calibri"/>
              </a:rPr>
              <a:t>−993,690</a:t>
            </a:r>
          </a:p>
        </p:txBody>
      </p:sp>
      <p:sp>
        <p:nvSpPr>
          <p:cNvPr id="395" name="Rectangle 394"/>
          <p:cNvSpPr/>
          <p:nvPr/>
        </p:nvSpPr>
        <p:spPr>
          <a:xfrm>
            <a:off x="4343400" y="5694679"/>
            <a:ext cx="822960" cy="28448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6" name="TextBox 395"/>
          <p:cNvSpPr txBox="1"/>
          <p:nvPr/>
        </p:nvSpPr>
        <p:spPr>
          <a:xfrm>
            <a:off x="4361688" y="5694679"/>
            <a:ext cx="786384" cy="284480"/>
          </a:xfrm>
          <a:prstGeom prst="rect">
            <a:avLst/>
          </a:prstGeom>
          <a:noFill/>
        </p:spPr>
        <p:txBody>
          <a:bodyPr wrap="square" anchor="ctr" lIns="45720" rIns="45720" tIns="9144" bIns="9144">
            <a:spAutoFit/>
          </a:bodyPr>
          <a:lstStyle/>
          <a:p>
            <a:pPr algn="r"/>
            <a:r>
              <a:rPr sz="850" b="1" i="0">
                <a:solidFill>
                  <a:srgbClr val="0D2341"/>
                </a:solidFill>
                <a:latin typeface="Calibri"/>
              </a:rPr>
              <a:t>−224,128</a:t>
            </a:r>
          </a:p>
        </p:txBody>
      </p:sp>
      <p:sp>
        <p:nvSpPr>
          <p:cNvPr id="397" name="Rectangle 396"/>
          <p:cNvSpPr/>
          <p:nvPr/>
        </p:nvSpPr>
        <p:spPr>
          <a:xfrm>
            <a:off x="5166360" y="5694679"/>
            <a:ext cx="822960" cy="28448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8" name="TextBox 397"/>
          <p:cNvSpPr txBox="1"/>
          <p:nvPr/>
        </p:nvSpPr>
        <p:spPr>
          <a:xfrm>
            <a:off x="5184648" y="5694679"/>
            <a:ext cx="786384" cy="284480"/>
          </a:xfrm>
          <a:prstGeom prst="rect">
            <a:avLst/>
          </a:prstGeom>
          <a:noFill/>
        </p:spPr>
        <p:txBody>
          <a:bodyPr wrap="square" anchor="ctr" lIns="45720" rIns="45720" tIns="9144" bIns="9144">
            <a:spAutoFit/>
          </a:bodyPr>
          <a:lstStyle/>
          <a:p>
            <a:pPr algn="r"/>
            <a:r>
              <a:rPr sz="850" b="1" i="0">
                <a:solidFill>
                  <a:srgbClr val="0D2341"/>
                </a:solidFill>
                <a:latin typeface="Calibri"/>
              </a:rPr>
              <a:t>943,428</a:t>
            </a:r>
          </a:p>
        </p:txBody>
      </p:sp>
      <p:sp>
        <p:nvSpPr>
          <p:cNvPr id="399" name="Rectangle 398"/>
          <p:cNvSpPr/>
          <p:nvPr/>
        </p:nvSpPr>
        <p:spPr>
          <a:xfrm>
            <a:off x="5989320" y="5694679"/>
            <a:ext cx="822960" cy="28448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0" name="TextBox 399"/>
          <p:cNvSpPr txBox="1"/>
          <p:nvPr/>
        </p:nvSpPr>
        <p:spPr>
          <a:xfrm>
            <a:off x="6007608" y="5694679"/>
            <a:ext cx="786384" cy="284480"/>
          </a:xfrm>
          <a:prstGeom prst="rect">
            <a:avLst/>
          </a:prstGeom>
          <a:noFill/>
        </p:spPr>
        <p:txBody>
          <a:bodyPr wrap="square" anchor="ctr" lIns="45720" rIns="45720" tIns="9144" bIns="9144">
            <a:spAutoFit/>
          </a:bodyPr>
          <a:lstStyle/>
          <a:p>
            <a:pPr algn="r"/>
            <a:r>
              <a:rPr sz="850" b="1" i="0">
                <a:solidFill>
                  <a:srgbClr val="0D2341"/>
                </a:solidFill>
                <a:latin typeface="Calibri"/>
              </a:rPr>
              <a:t>1,769,181</a:t>
            </a:r>
          </a:p>
        </p:txBody>
      </p:sp>
      <p:sp>
        <p:nvSpPr>
          <p:cNvPr id="401" name="Rectangle 400"/>
          <p:cNvSpPr/>
          <p:nvPr/>
        </p:nvSpPr>
        <p:spPr>
          <a:xfrm>
            <a:off x="6812280" y="5694679"/>
            <a:ext cx="822960" cy="28448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2" name="TextBox 401"/>
          <p:cNvSpPr txBox="1"/>
          <p:nvPr/>
        </p:nvSpPr>
        <p:spPr>
          <a:xfrm>
            <a:off x="6830568" y="5694679"/>
            <a:ext cx="786384" cy="284480"/>
          </a:xfrm>
          <a:prstGeom prst="rect">
            <a:avLst/>
          </a:prstGeom>
          <a:noFill/>
        </p:spPr>
        <p:txBody>
          <a:bodyPr wrap="square" anchor="ctr" lIns="45720" rIns="45720" tIns="9144" bIns="9144">
            <a:spAutoFit/>
          </a:bodyPr>
          <a:lstStyle/>
          <a:p>
            <a:pPr algn="r"/>
            <a:r>
              <a:rPr sz="850" b="1" i="0">
                <a:solidFill>
                  <a:srgbClr val="0D2341"/>
                </a:solidFill>
                <a:latin typeface="Calibri"/>
              </a:rPr>
              <a:t>3,040,382</a:t>
            </a:r>
          </a:p>
        </p:txBody>
      </p:sp>
      <p:sp>
        <p:nvSpPr>
          <p:cNvPr id="403" name="Rectangle 402"/>
          <p:cNvSpPr/>
          <p:nvPr/>
        </p:nvSpPr>
        <p:spPr>
          <a:xfrm>
            <a:off x="7635240" y="5694679"/>
            <a:ext cx="822960" cy="28448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4" name="TextBox 403"/>
          <p:cNvSpPr txBox="1"/>
          <p:nvPr/>
        </p:nvSpPr>
        <p:spPr>
          <a:xfrm>
            <a:off x="7653528" y="5694679"/>
            <a:ext cx="786384" cy="284480"/>
          </a:xfrm>
          <a:prstGeom prst="rect">
            <a:avLst/>
          </a:prstGeom>
          <a:noFill/>
        </p:spPr>
        <p:txBody>
          <a:bodyPr wrap="square" anchor="ctr" lIns="45720" rIns="45720" tIns="9144" bIns="9144">
            <a:spAutoFit/>
          </a:bodyPr>
          <a:lstStyle/>
          <a:p>
            <a:pPr algn="r"/>
            <a:r>
              <a:rPr sz="850" b="1" i="0">
                <a:solidFill>
                  <a:srgbClr val="0D2341"/>
                </a:solidFill>
                <a:latin typeface="Calibri"/>
              </a:rPr>
              <a:t>4,728,611</a:t>
            </a:r>
          </a:p>
        </p:txBody>
      </p:sp>
      <p:sp>
        <p:nvSpPr>
          <p:cNvPr id="405" name="Rectangle 404"/>
          <p:cNvSpPr/>
          <p:nvPr/>
        </p:nvSpPr>
        <p:spPr>
          <a:xfrm>
            <a:off x="8458200" y="5694679"/>
            <a:ext cx="822960" cy="28448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6" name="TextBox 405"/>
          <p:cNvSpPr txBox="1"/>
          <p:nvPr/>
        </p:nvSpPr>
        <p:spPr>
          <a:xfrm>
            <a:off x="8476488" y="5694679"/>
            <a:ext cx="786384" cy="284480"/>
          </a:xfrm>
          <a:prstGeom prst="rect">
            <a:avLst/>
          </a:prstGeom>
          <a:noFill/>
        </p:spPr>
        <p:txBody>
          <a:bodyPr wrap="square" anchor="ctr" lIns="45720" rIns="45720" tIns="9144" bIns="9144">
            <a:spAutoFit/>
          </a:bodyPr>
          <a:lstStyle/>
          <a:p>
            <a:pPr algn="r"/>
            <a:r>
              <a:rPr sz="850" b="1" i="0">
                <a:solidFill>
                  <a:srgbClr val="0D2341"/>
                </a:solidFill>
                <a:latin typeface="Calibri"/>
              </a:rPr>
              <a:t>6,496,392</a:t>
            </a:r>
          </a:p>
        </p:txBody>
      </p:sp>
      <p:sp>
        <p:nvSpPr>
          <p:cNvPr id="407" name="Rectangle 406"/>
          <p:cNvSpPr/>
          <p:nvPr/>
        </p:nvSpPr>
        <p:spPr>
          <a:xfrm>
            <a:off x="9281160" y="5694679"/>
            <a:ext cx="822960" cy="28448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8" name="TextBox 407"/>
          <p:cNvSpPr txBox="1"/>
          <p:nvPr/>
        </p:nvSpPr>
        <p:spPr>
          <a:xfrm>
            <a:off x="9299448" y="5694679"/>
            <a:ext cx="786384" cy="284480"/>
          </a:xfrm>
          <a:prstGeom prst="rect">
            <a:avLst/>
          </a:prstGeom>
          <a:noFill/>
        </p:spPr>
        <p:txBody>
          <a:bodyPr wrap="square" anchor="ctr" lIns="45720" rIns="45720" tIns="9144" bIns="9144">
            <a:spAutoFit/>
          </a:bodyPr>
          <a:lstStyle/>
          <a:p>
            <a:pPr algn="r"/>
            <a:r>
              <a:rPr sz="850" b="1" i="0">
                <a:solidFill>
                  <a:srgbClr val="0D2341"/>
                </a:solidFill>
                <a:latin typeface="Calibri"/>
              </a:rPr>
              <a:t>8,444,920</a:t>
            </a:r>
          </a:p>
        </p:txBody>
      </p:sp>
      <p:sp>
        <p:nvSpPr>
          <p:cNvPr id="409" name="Rectangle 408"/>
          <p:cNvSpPr/>
          <p:nvPr/>
        </p:nvSpPr>
        <p:spPr>
          <a:xfrm>
            <a:off x="10104120" y="5694679"/>
            <a:ext cx="822960" cy="28448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0" name="TextBox 409"/>
          <p:cNvSpPr txBox="1"/>
          <p:nvPr/>
        </p:nvSpPr>
        <p:spPr>
          <a:xfrm>
            <a:off x="10122408" y="5694679"/>
            <a:ext cx="786384" cy="284480"/>
          </a:xfrm>
          <a:prstGeom prst="rect">
            <a:avLst/>
          </a:prstGeom>
          <a:noFill/>
        </p:spPr>
        <p:txBody>
          <a:bodyPr wrap="square" anchor="ctr" lIns="45720" rIns="45720" tIns="9144" bIns="9144">
            <a:spAutoFit/>
          </a:bodyPr>
          <a:lstStyle/>
          <a:p>
            <a:pPr algn="r"/>
            <a:r>
              <a:rPr sz="850" b="1" i="0">
                <a:solidFill>
                  <a:srgbClr val="0D2341"/>
                </a:solidFill>
                <a:latin typeface="Calibri"/>
              </a:rPr>
              <a:t>10,740,373</a:t>
            </a:r>
          </a:p>
        </p:txBody>
      </p:sp>
      <p:sp>
        <p:nvSpPr>
          <p:cNvPr id="411" name="Rectangle 410"/>
          <p:cNvSpPr/>
          <p:nvPr/>
        </p:nvSpPr>
        <p:spPr>
          <a:xfrm>
            <a:off x="10927080" y="5694679"/>
            <a:ext cx="822960" cy="28448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2" name="TextBox 411"/>
          <p:cNvSpPr txBox="1"/>
          <p:nvPr/>
        </p:nvSpPr>
        <p:spPr>
          <a:xfrm>
            <a:off x="10945368" y="5694679"/>
            <a:ext cx="786384" cy="284480"/>
          </a:xfrm>
          <a:prstGeom prst="rect">
            <a:avLst/>
          </a:prstGeom>
          <a:noFill/>
        </p:spPr>
        <p:txBody>
          <a:bodyPr wrap="square" anchor="ctr" lIns="45720" rIns="45720" tIns="9144" bIns="9144">
            <a:spAutoFit/>
          </a:bodyPr>
          <a:lstStyle/>
          <a:p>
            <a:pPr algn="r"/>
            <a:r>
              <a:rPr sz="850" b="1" i="0">
                <a:solidFill>
                  <a:srgbClr val="0D2341"/>
                </a:solidFill>
                <a:latin typeface="Calibri"/>
              </a:rPr>
              <a:t>15,945,642</a:t>
            </a:r>
          </a:p>
        </p:txBody>
      </p:sp>
      <p:sp>
        <p:nvSpPr>
          <p:cNvPr id="413" name="Rectangle 412"/>
          <p:cNvSpPr/>
          <p:nvPr/>
        </p:nvSpPr>
        <p:spPr>
          <a:xfrm>
            <a:off x="320040" y="5979159"/>
            <a:ext cx="237744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4" name="TextBox 413"/>
          <p:cNvSpPr txBox="1"/>
          <p:nvPr/>
        </p:nvSpPr>
        <p:spPr>
          <a:xfrm>
            <a:off x="338328" y="5979159"/>
            <a:ext cx="2340864" cy="284480"/>
          </a:xfrm>
          <a:prstGeom prst="rect">
            <a:avLst/>
          </a:prstGeom>
          <a:noFill/>
        </p:spPr>
        <p:txBody>
          <a:bodyPr wrap="square" anchor="ctr" lIns="45720" rIns="45720" tIns="9144" bIns="9144">
            <a:spAutoFit/>
          </a:bodyPr>
          <a:lstStyle/>
          <a:p>
            <a:pPr algn="l"/>
            <a:r>
              <a:rPr sz="850" b="0" i="0">
                <a:solidFill>
                  <a:srgbClr val="334155"/>
                </a:solidFill>
                <a:latin typeface="Calibri"/>
              </a:rPr>
              <a:t>Flujo acumulado</a:t>
            </a:r>
          </a:p>
        </p:txBody>
      </p:sp>
      <p:sp>
        <p:nvSpPr>
          <p:cNvPr id="415" name="Rectangle 414"/>
          <p:cNvSpPr/>
          <p:nvPr/>
        </p:nvSpPr>
        <p:spPr>
          <a:xfrm>
            <a:off x="2697480" y="597915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6" name="TextBox 415"/>
          <p:cNvSpPr txBox="1"/>
          <p:nvPr/>
        </p:nvSpPr>
        <p:spPr>
          <a:xfrm>
            <a:off x="2715768" y="597915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−892,029</a:t>
            </a:r>
          </a:p>
        </p:txBody>
      </p:sp>
      <p:sp>
        <p:nvSpPr>
          <p:cNvPr id="417" name="Rectangle 416"/>
          <p:cNvSpPr/>
          <p:nvPr/>
        </p:nvSpPr>
        <p:spPr>
          <a:xfrm>
            <a:off x="3520440" y="597915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8" name="TextBox 417"/>
          <p:cNvSpPr txBox="1"/>
          <p:nvPr/>
        </p:nvSpPr>
        <p:spPr>
          <a:xfrm>
            <a:off x="3538728" y="597915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−1,885,719</a:t>
            </a:r>
          </a:p>
        </p:txBody>
      </p:sp>
      <p:sp>
        <p:nvSpPr>
          <p:cNvPr id="419" name="Rectangle 418"/>
          <p:cNvSpPr/>
          <p:nvPr/>
        </p:nvSpPr>
        <p:spPr>
          <a:xfrm>
            <a:off x="4343400" y="597915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0" name="TextBox 419"/>
          <p:cNvSpPr txBox="1"/>
          <p:nvPr/>
        </p:nvSpPr>
        <p:spPr>
          <a:xfrm>
            <a:off x="4361688" y="597915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−2,109,848</a:t>
            </a:r>
          </a:p>
        </p:txBody>
      </p:sp>
      <p:sp>
        <p:nvSpPr>
          <p:cNvPr id="421" name="Rectangle 420"/>
          <p:cNvSpPr/>
          <p:nvPr/>
        </p:nvSpPr>
        <p:spPr>
          <a:xfrm>
            <a:off x="5166360" y="597915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2" name="TextBox 421"/>
          <p:cNvSpPr txBox="1"/>
          <p:nvPr/>
        </p:nvSpPr>
        <p:spPr>
          <a:xfrm>
            <a:off x="5184648" y="597915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−1,166,420</a:t>
            </a:r>
          </a:p>
        </p:txBody>
      </p:sp>
      <p:sp>
        <p:nvSpPr>
          <p:cNvPr id="423" name="Rectangle 422"/>
          <p:cNvSpPr/>
          <p:nvPr/>
        </p:nvSpPr>
        <p:spPr>
          <a:xfrm>
            <a:off x="5989320" y="597915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4" name="TextBox 423"/>
          <p:cNvSpPr txBox="1"/>
          <p:nvPr/>
        </p:nvSpPr>
        <p:spPr>
          <a:xfrm>
            <a:off x="6007608" y="597915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602,761</a:t>
            </a:r>
          </a:p>
        </p:txBody>
      </p:sp>
      <p:sp>
        <p:nvSpPr>
          <p:cNvPr id="425" name="Rectangle 424"/>
          <p:cNvSpPr/>
          <p:nvPr/>
        </p:nvSpPr>
        <p:spPr>
          <a:xfrm>
            <a:off x="6812280" y="597915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6" name="TextBox 425"/>
          <p:cNvSpPr txBox="1"/>
          <p:nvPr/>
        </p:nvSpPr>
        <p:spPr>
          <a:xfrm>
            <a:off x="6830568" y="597915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3,643,143</a:t>
            </a:r>
          </a:p>
        </p:txBody>
      </p:sp>
      <p:sp>
        <p:nvSpPr>
          <p:cNvPr id="427" name="Rectangle 426"/>
          <p:cNvSpPr/>
          <p:nvPr/>
        </p:nvSpPr>
        <p:spPr>
          <a:xfrm>
            <a:off x="7635240" y="597915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8" name="TextBox 427"/>
          <p:cNvSpPr txBox="1"/>
          <p:nvPr/>
        </p:nvSpPr>
        <p:spPr>
          <a:xfrm>
            <a:off x="7653528" y="597915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8,371,754</a:t>
            </a:r>
          </a:p>
        </p:txBody>
      </p:sp>
      <p:sp>
        <p:nvSpPr>
          <p:cNvPr id="429" name="Rectangle 428"/>
          <p:cNvSpPr/>
          <p:nvPr/>
        </p:nvSpPr>
        <p:spPr>
          <a:xfrm>
            <a:off x="8458200" y="597915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0" name="TextBox 429"/>
          <p:cNvSpPr txBox="1"/>
          <p:nvPr/>
        </p:nvSpPr>
        <p:spPr>
          <a:xfrm>
            <a:off x="8476488" y="597915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14,868,146</a:t>
            </a:r>
          </a:p>
        </p:txBody>
      </p:sp>
      <p:sp>
        <p:nvSpPr>
          <p:cNvPr id="431" name="Rectangle 430"/>
          <p:cNvSpPr/>
          <p:nvPr/>
        </p:nvSpPr>
        <p:spPr>
          <a:xfrm>
            <a:off x="9281160" y="597915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2" name="TextBox 431"/>
          <p:cNvSpPr txBox="1"/>
          <p:nvPr/>
        </p:nvSpPr>
        <p:spPr>
          <a:xfrm>
            <a:off x="9299448" y="597915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23,313,066</a:t>
            </a:r>
          </a:p>
        </p:txBody>
      </p:sp>
      <p:sp>
        <p:nvSpPr>
          <p:cNvPr id="433" name="Rectangle 432"/>
          <p:cNvSpPr/>
          <p:nvPr/>
        </p:nvSpPr>
        <p:spPr>
          <a:xfrm>
            <a:off x="10104120" y="597915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4" name="TextBox 433"/>
          <p:cNvSpPr txBox="1"/>
          <p:nvPr/>
        </p:nvSpPr>
        <p:spPr>
          <a:xfrm>
            <a:off x="10122408" y="597915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34,053,438</a:t>
            </a:r>
          </a:p>
        </p:txBody>
      </p:sp>
      <p:sp>
        <p:nvSpPr>
          <p:cNvPr id="435" name="Rectangle 434"/>
          <p:cNvSpPr/>
          <p:nvPr/>
        </p:nvSpPr>
        <p:spPr>
          <a:xfrm>
            <a:off x="10927080" y="5979159"/>
            <a:ext cx="822960" cy="28448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6" name="TextBox 435"/>
          <p:cNvSpPr txBox="1"/>
          <p:nvPr/>
        </p:nvSpPr>
        <p:spPr>
          <a:xfrm>
            <a:off x="10945368" y="5979159"/>
            <a:ext cx="786384" cy="284480"/>
          </a:xfrm>
          <a:prstGeom prst="rect">
            <a:avLst/>
          </a:prstGeom>
          <a:noFill/>
        </p:spPr>
        <p:txBody>
          <a:bodyPr wrap="square" anchor="ctr" lIns="45720" rIns="45720" tIns="9144" bIns="9144">
            <a:spAutoFit/>
          </a:bodyPr>
          <a:lstStyle/>
          <a:p>
            <a:pPr algn="r"/>
            <a:r>
              <a:rPr sz="850" b="0" i="0">
                <a:solidFill>
                  <a:srgbClr val="334155"/>
                </a:solidFill>
                <a:latin typeface="Calibri"/>
              </a:rPr>
              <a:t>49,999,080</a:t>
            </a:r>
          </a:p>
        </p:txBody>
      </p:sp>
      <p:sp>
        <p:nvSpPr>
          <p:cNvPr id="437" name="TextBox 436"/>
          <p:cNvSpPr txBox="1"/>
          <p:nvPr/>
        </p:nvSpPr>
        <p:spPr>
          <a:xfrm>
            <a:off x="320040" y="6309360"/>
            <a:ext cx="11521440" cy="274320"/>
          </a:xfrm>
          <a:prstGeom prst="rect">
            <a:avLst/>
          </a:prstGeom>
          <a:noFill/>
        </p:spPr>
        <p:txBody>
          <a:bodyPr wrap="square" anchor="ctr">
            <a:spAutoFit/>
          </a:bodyPr>
          <a:lstStyle/>
          <a:p>
            <a:pPr algn="l"/>
            <a:r>
              <a:rPr sz="850" b="0" i="1">
                <a:solidFill>
                  <a:srgbClr val="64748B"/>
                </a:solidFill>
                <a:latin typeface="Calibri"/>
              </a:rPr>
              <a:t>Fuente: Tabla 27 de la tesis y modelo financiero (réplica verificada). Cifras redondeadas; subtotales y acumulado se calculan con valores exactos (diferencias de L 1–2).</a:t>
            </a:r>
          </a:p>
        </p:txBody>
      </p:sp>
      <p:sp>
        <p:nvSpPr>
          <p:cNvPr id="438" name="TextBox 437"/>
          <p:cNvSpPr txBox="1"/>
          <p:nvPr/>
        </p:nvSpPr>
        <p:spPr>
          <a:xfrm>
            <a:off x="320040" y="6583680"/>
            <a:ext cx="11521440" cy="201168"/>
          </a:xfrm>
          <a:prstGeom prst="rect">
            <a:avLst/>
          </a:prstGeom>
          <a:noFill/>
        </p:spPr>
        <p:txBody>
          <a:bodyPr wrap="square" anchor="ctr">
            <a:spAutoFit/>
          </a:bodyPr>
          <a:lstStyle/>
          <a:p>
            <a:pPr algn="ctr"/>
            <a:r>
              <a:rPr sz="800" b="0" i="0">
                <a:solidFill>
                  <a:srgbClr val="64748B"/>
                </a:solidFill>
                <a:latin typeface="Calibri"/>
              </a:rPr>
              <a:t>Maestría en Agronegocios · Universidad EAFIT · Zamorano · 2026   |   Caballero · Valladares · Medal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3657600" cy="256032"/>
          </a:xfrm>
          <a:prstGeom prst="rect">
            <a:avLst/>
          </a:prstGeom>
          <a:noFill/>
        </p:spPr>
        <p:txBody>
          <a:bodyPr wrap="square" anchor="ctr">
            <a:spAutoFit/>
          </a:bodyPr>
          <a:lstStyle/>
          <a:p>
            <a:pPr algn="l"/>
            <a:r>
              <a:rPr sz="900" b="1" i="0">
                <a:solidFill>
                  <a:srgbClr val="1A7A8A"/>
                </a:solidFill>
                <a:latin typeface="Calibri"/>
              </a:rPr>
              <a:t>ANEXO C</a:t>
            </a:r>
          </a:p>
        </p:txBody>
      </p:sp>
      <p:sp>
        <p:nvSpPr>
          <p:cNvPr id="3" name="TextBox 2"/>
          <p:cNvSpPr txBox="1"/>
          <p:nvPr/>
        </p:nvSpPr>
        <p:spPr>
          <a:xfrm>
            <a:off x="320040" y="475488"/>
            <a:ext cx="11521440" cy="502920"/>
          </a:xfrm>
          <a:prstGeom prst="rect">
            <a:avLst/>
          </a:prstGeom>
          <a:noFill/>
        </p:spPr>
        <p:txBody>
          <a:bodyPr wrap="square" anchor="ctr">
            <a:spAutoFit/>
          </a:bodyPr>
          <a:lstStyle/>
          <a:p>
            <a:pPr algn="l"/>
            <a:r>
              <a:rPr sz="2200" b="1" i="0">
                <a:solidFill>
                  <a:srgbClr val="0D2341"/>
                </a:solidFill>
                <a:latin typeface="Calibri"/>
              </a:rPr>
              <a:t>Anexo C · Estado de Resultados Proyectado (con financiamiento)</a:t>
            </a:r>
          </a:p>
        </p:txBody>
      </p:sp>
      <p:sp>
        <p:nvSpPr>
          <p:cNvPr id="4" name="Rectangle 3"/>
          <p:cNvSpPr/>
          <p:nvPr/>
        </p:nvSpPr>
        <p:spPr>
          <a:xfrm>
            <a:off x="320040" y="1005840"/>
            <a:ext cx="11430000" cy="18288"/>
          </a:xfrm>
          <a:prstGeom prst="rect">
            <a:avLst/>
          </a:prstGeom>
          <a:solidFill>
            <a:srgbClr val="1A7A8A"/>
          </a:solidFill>
          <a:ln w="12700">
            <a:solidFill>
              <a:srgbClr val="1A7A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320040" y="1143000"/>
            <a:ext cx="2377440" cy="310896"/>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38328" y="1143000"/>
            <a:ext cx="2340864" cy="310896"/>
          </a:xfrm>
          <a:prstGeom prst="rect">
            <a:avLst/>
          </a:prstGeom>
          <a:noFill/>
        </p:spPr>
        <p:txBody>
          <a:bodyPr wrap="square" anchor="ctr" lIns="45720" rIns="45720" tIns="9144" bIns="9144">
            <a:spAutoFit/>
          </a:bodyPr>
          <a:lstStyle/>
          <a:p>
            <a:pPr algn="l"/>
            <a:r>
              <a:rPr sz="850" b="1" i="0">
                <a:solidFill>
                  <a:srgbClr val="FFFFFF"/>
                </a:solidFill>
                <a:latin typeface="Calibri"/>
              </a:rPr>
              <a:t>Concepto</a:t>
            </a:r>
          </a:p>
        </p:txBody>
      </p:sp>
      <p:sp>
        <p:nvSpPr>
          <p:cNvPr id="7" name="Rectangle 6"/>
          <p:cNvSpPr/>
          <p:nvPr/>
        </p:nvSpPr>
        <p:spPr>
          <a:xfrm>
            <a:off x="2697480" y="1143000"/>
            <a:ext cx="905256" cy="310896"/>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715768" y="1143000"/>
            <a:ext cx="868680" cy="310896"/>
          </a:xfrm>
          <a:prstGeom prst="rect">
            <a:avLst/>
          </a:prstGeom>
          <a:noFill/>
        </p:spPr>
        <p:txBody>
          <a:bodyPr wrap="square" anchor="ctr" lIns="45720" rIns="45720" tIns="9144" bIns="9144">
            <a:spAutoFit/>
          </a:bodyPr>
          <a:lstStyle/>
          <a:p>
            <a:pPr algn="ctr"/>
            <a:r>
              <a:rPr sz="850" b="1" i="0">
                <a:solidFill>
                  <a:srgbClr val="FFFFFF"/>
                </a:solidFill>
                <a:latin typeface="Calibri"/>
              </a:rPr>
              <a:t>Año 1</a:t>
            </a:r>
          </a:p>
        </p:txBody>
      </p:sp>
      <p:sp>
        <p:nvSpPr>
          <p:cNvPr id="9" name="Rectangle 8"/>
          <p:cNvSpPr/>
          <p:nvPr/>
        </p:nvSpPr>
        <p:spPr>
          <a:xfrm>
            <a:off x="3602736" y="1143000"/>
            <a:ext cx="905256" cy="310896"/>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621024" y="1143000"/>
            <a:ext cx="868680" cy="310896"/>
          </a:xfrm>
          <a:prstGeom prst="rect">
            <a:avLst/>
          </a:prstGeom>
          <a:noFill/>
        </p:spPr>
        <p:txBody>
          <a:bodyPr wrap="square" anchor="ctr" lIns="45720" rIns="45720" tIns="9144" bIns="9144">
            <a:spAutoFit/>
          </a:bodyPr>
          <a:lstStyle/>
          <a:p>
            <a:pPr algn="ctr"/>
            <a:r>
              <a:rPr sz="850" b="1" i="0">
                <a:solidFill>
                  <a:srgbClr val="FFFFFF"/>
                </a:solidFill>
                <a:latin typeface="Calibri"/>
              </a:rPr>
              <a:t>Año 2</a:t>
            </a:r>
          </a:p>
        </p:txBody>
      </p:sp>
      <p:sp>
        <p:nvSpPr>
          <p:cNvPr id="11" name="Rectangle 10"/>
          <p:cNvSpPr/>
          <p:nvPr/>
        </p:nvSpPr>
        <p:spPr>
          <a:xfrm>
            <a:off x="4507992" y="1143000"/>
            <a:ext cx="905256" cy="310896"/>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526280" y="1143000"/>
            <a:ext cx="868680" cy="310896"/>
          </a:xfrm>
          <a:prstGeom prst="rect">
            <a:avLst/>
          </a:prstGeom>
          <a:noFill/>
        </p:spPr>
        <p:txBody>
          <a:bodyPr wrap="square" anchor="ctr" lIns="45720" rIns="45720" tIns="9144" bIns="9144">
            <a:spAutoFit/>
          </a:bodyPr>
          <a:lstStyle/>
          <a:p>
            <a:pPr algn="ctr"/>
            <a:r>
              <a:rPr sz="850" b="1" i="0">
                <a:solidFill>
                  <a:srgbClr val="FFFFFF"/>
                </a:solidFill>
                <a:latin typeface="Calibri"/>
              </a:rPr>
              <a:t>Año 3</a:t>
            </a:r>
          </a:p>
        </p:txBody>
      </p:sp>
      <p:sp>
        <p:nvSpPr>
          <p:cNvPr id="13" name="Rectangle 12"/>
          <p:cNvSpPr/>
          <p:nvPr/>
        </p:nvSpPr>
        <p:spPr>
          <a:xfrm>
            <a:off x="5413248" y="1143000"/>
            <a:ext cx="905256" cy="310896"/>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431536" y="1143000"/>
            <a:ext cx="868680" cy="310896"/>
          </a:xfrm>
          <a:prstGeom prst="rect">
            <a:avLst/>
          </a:prstGeom>
          <a:noFill/>
        </p:spPr>
        <p:txBody>
          <a:bodyPr wrap="square" anchor="ctr" lIns="45720" rIns="45720" tIns="9144" bIns="9144">
            <a:spAutoFit/>
          </a:bodyPr>
          <a:lstStyle/>
          <a:p>
            <a:pPr algn="ctr"/>
            <a:r>
              <a:rPr sz="850" b="1" i="0">
                <a:solidFill>
                  <a:srgbClr val="FFFFFF"/>
                </a:solidFill>
                <a:latin typeface="Calibri"/>
              </a:rPr>
              <a:t>Año 4</a:t>
            </a:r>
          </a:p>
        </p:txBody>
      </p:sp>
      <p:sp>
        <p:nvSpPr>
          <p:cNvPr id="15" name="Rectangle 14"/>
          <p:cNvSpPr/>
          <p:nvPr/>
        </p:nvSpPr>
        <p:spPr>
          <a:xfrm>
            <a:off x="6318504" y="1143000"/>
            <a:ext cx="905256" cy="310896"/>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336792" y="1143000"/>
            <a:ext cx="868680" cy="310896"/>
          </a:xfrm>
          <a:prstGeom prst="rect">
            <a:avLst/>
          </a:prstGeom>
          <a:noFill/>
        </p:spPr>
        <p:txBody>
          <a:bodyPr wrap="square" anchor="ctr" lIns="45720" rIns="45720" tIns="9144" bIns="9144">
            <a:spAutoFit/>
          </a:bodyPr>
          <a:lstStyle/>
          <a:p>
            <a:pPr algn="ctr"/>
            <a:r>
              <a:rPr sz="850" b="1" i="0">
                <a:solidFill>
                  <a:srgbClr val="FFFFFF"/>
                </a:solidFill>
                <a:latin typeface="Calibri"/>
              </a:rPr>
              <a:t>Año 5</a:t>
            </a:r>
          </a:p>
        </p:txBody>
      </p:sp>
      <p:sp>
        <p:nvSpPr>
          <p:cNvPr id="17" name="Rectangle 16"/>
          <p:cNvSpPr/>
          <p:nvPr/>
        </p:nvSpPr>
        <p:spPr>
          <a:xfrm>
            <a:off x="7223760" y="1143000"/>
            <a:ext cx="905256" cy="310896"/>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242048" y="1143000"/>
            <a:ext cx="868680" cy="310896"/>
          </a:xfrm>
          <a:prstGeom prst="rect">
            <a:avLst/>
          </a:prstGeom>
          <a:noFill/>
        </p:spPr>
        <p:txBody>
          <a:bodyPr wrap="square" anchor="ctr" lIns="45720" rIns="45720" tIns="9144" bIns="9144">
            <a:spAutoFit/>
          </a:bodyPr>
          <a:lstStyle/>
          <a:p>
            <a:pPr algn="ctr"/>
            <a:r>
              <a:rPr sz="850" b="1" i="0">
                <a:solidFill>
                  <a:srgbClr val="FFFFFF"/>
                </a:solidFill>
                <a:latin typeface="Calibri"/>
              </a:rPr>
              <a:t>Año 6</a:t>
            </a:r>
          </a:p>
        </p:txBody>
      </p:sp>
      <p:sp>
        <p:nvSpPr>
          <p:cNvPr id="19" name="Rectangle 18"/>
          <p:cNvSpPr/>
          <p:nvPr/>
        </p:nvSpPr>
        <p:spPr>
          <a:xfrm>
            <a:off x="8129016" y="1143000"/>
            <a:ext cx="905256" cy="310896"/>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147304" y="1143000"/>
            <a:ext cx="868680" cy="310896"/>
          </a:xfrm>
          <a:prstGeom prst="rect">
            <a:avLst/>
          </a:prstGeom>
          <a:noFill/>
        </p:spPr>
        <p:txBody>
          <a:bodyPr wrap="square" anchor="ctr" lIns="45720" rIns="45720" tIns="9144" bIns="9144">
            <a:spAutoFit/>
          </a:bodyPr>
          <a:lstStyle/>
          <a:p>
            <a:pPr algn="ctr"/>
            <a:r>
              <a:rPr sz="850" b="1" i="0">
                <a:solidFill>
                  <a:srgbClr val="FFFFFF"/>
                </a:solidFill>
                <a:latin typeface="Calibri"/>
              </a:rPr>
              <a:t>Año 7</a:t>
            </a:r>
          </a:p>
        </p:txBody>
      </p:sp>
      <p:sp>
        <p:nvSpPr>
          <p:cNvPr id="21" name="Rectangle 20"/>
          <p:cNvSpPr/>
          <p:nvPr/>
        </p:nvSpPr>
        <p:spPr>
          <a:xfrm>
            <a:off x="9034272" y="1143000"/>
            <a:ext cx="905256" cy="310896"/>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052560" y="1143000"/>
            <a:ext cx="868680" cy="310896"/>
          </a:xfrm>
          <a:prstGeom prst="rect">
            <a:avLst/>
          </a:prstGeom>
          <a:noFill/>
        </p:spPr>
        <p:txBody>
          <a:bodyPr wrap="square" anchor="ctr" lIns="45720" rIns="45720" tIns="9144" bIns="9144">
            <a:spAutoFit/>
          </a:bodyPr>
          <a:lstStyle/>
          <a:p>
            <a:pPr algn="ctr"/>
            <a:r>
              <a:rPr sz="850" b="1" i="0">
                <a:solidFill>
                  <a:srgbClr val="FFFFFF"/>
                </a:solidFill>
                <a:latin typeface="Calibri"/>
              </a:rPr>
              <a:t>Año 8</a:t>
            </a:r>
          </a:p>
        </p:txBody>
      </p:sp>
      <p:sp>
        <p:nvSpPr>
          <p:cNvPr id="23" name="Rectangle 22"/>
          <p:cNvSpPr/>
          <p:nvPr/>
        </p:nvSpPr>
        <p:spPr>
          <a:xfrm>
            <a:off x="9939528" y="1143000"/>
            <a:ext cx="905256" cy="310896"/>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957816" y="1143000"/>
            <a:ext cx="868680" cy="310896"/>
          </a:xfrm>
          <a:prstGeom prst="rect">
            <a:avLst/>
          </a:prstGeom>
          <a:noFill/>
        </p:spPr>
        <p:txBody>
          <a:bodyPr wrap="square" anchor="ctr" lIns="45720" rIns="45720" tIns="9144" bIns="9144">
            <a:spAutoFit/>
          </a:bodyPr>
          <a:lstStyle/>
          <a:p>
            <a:pPr algn="ctr"/>
            <a:r>
              <a:rPr sz="850" b="1" i="0">
                <a:solidFill>
                  <a:srgbClr val="FFFFFF"/>
                </a:solidFill>
                <a:latin typeface="Calibri"/>
              </a:rPr>
              <a:t>Año 9</a:t>
            </a:r>
          </a:p>
        </p:txBody>
      </p:sp>
      <p:sp>
        <p:nvSpPr>
          <p:cNvPr id="25" name="Rectangle 24"/>
          <p:cNvSpPr/>
          <p:nvPr/>
        </p:nvSpPr>
        <p:spPr>
          <a:xfrm>
            <a:off x="10844784" y="1143000"/>
            <a:ext cx="905256" cy="310896"/>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863072" y="1143000"/>
            <a:ext cx="868680" cy="310896"/>
          </a:xfrm>
          <a:prstGeom prst="rect">
            <a:avLst/>
          </a:prstGeom>
          <a:noFill/>
        </p:spPr>
        <p:txBody>
          <a:bodyPr wrap="square" anchor="ctr" lIns="45720" rIns="45720" tIns="9144" bIns="9144">
            <a:spAutoFit/>
          </a:bodyPr>
          <a:lstStyle/>
          <a:p>
            <a:pPr algn="ctr"/>
            <a:r>
              <a:rPr sz="850" b="1" i="0">
                <a:solidFill>
                  <a:srgbClr val="FFFFFF"/>
                </a:solidFill>
                <a:latin typeface="Calibri"/>
              </a:rPr>
              <a:t>Año 10</a:t>
            </a:r>
          </a:p>
        </p:txBody>
      </p:sp>
      <p:sp>
        <p:nvSpPr>
          <p:cNvPr id="27" name="Rectangle 26"/>
          <p:cNvSpPr/>
          <p:nvPr/>
        </p:nvSpPr>
        <p:spPr>
          <a:xfrm>
            <a:off x="320040" y="1453896"/>
            <a:ext cx="237744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38328" y="1453896"/>
            <a:ext cx="2340864" cy="310896"/>
          </a:xfrm>
          <a:prstGeom prst="rect">
            <a:avLst/>
          </a:prstGeom>
          <a:noFill/>
        </p:spPr>
        <p:txBody>
          <a:bodyPr wrap="square" anchor="ctr" lIns="45720" rIns="45720" tIns="9144" bIns="9144">
            <a:spAutoFit/>
          </a:bodyPr>
          <a:lstStyle/>
          <a:p>
            <a:pPr algn="l"/>
            <a:r>
              <a:rPr sz="850" b="0" i="0">
                <a:solidFill>
                  <a:srgbClr val="334155"/>
                </a:solidFill>
                <a:latin typeface="Calibri"/>
              </a:rPr>
              <a:t>Ingresos por ventas</a:t>
            </a:r>
          </a:p>
        </p:txBody>
      </p:sp>
      <p:sp>
        <p:nvSpPr>
          <p:cNvPr id="29" name="Rectangle 28"/>
          <p:cNvSpPr/>
          <p:nvPr/>
        </p:nvSpPr>
        <p:spPr>
          <a:xfrm>
            <a:off x="2697480" y="1453896"/>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2715768" y="1453896"/>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3,024,000</a:t>
            </a:r>
          </a:p>
        </p:txBody>
      </p:sp>
      <p:sp>
        <p:nvSpPr>
          <p:cNvPr id="31" name="Rectangle 30"/>
          <p:cNvSpPr/>
          <p:nvPr/>
        </p:nvSpPr>
        <p:spPr>
          <a:xfrm>
            <a:off x="3602736" y="1453896"/>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621024" y="1453896"/>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5,266,800</a:t>
            </a:r>
          </a:p>
        </p:txBody>
      </p:sp>
      <p:sp>
        <p:nvSpPr>
          <p:cNvPr id="33" name="Rectangle 32"/>
          <p:cNvSpPr/>
          <p:nvPr/>
        </p:nvSpPr>
        <p:spPr>
          <a:xfrm>
            <a:off x="4507992" y="1453896"/>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4526280" y="1453896"/>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8,255,709</a:t>
            </a:r>
          </a:p>
        </p:txBody>
      </p:sp>
      <p:sp>
        <p:nvSpPr>
          <p:cNvPr id="35" name="Rectangle 34"/>
          <p:cNvSpPr/>
          <p:nvPr/>
        </p:nvSpPr>
        <p:spPr>
          <a:xfrm>
            <a:off x="5413248" y="1453896"/>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5431536" y="1453896"/>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12,078,102</a:t>
            </a:r>
          </a:p>
        </p:txBody>
      </p:sp>
      <p:sp>
        <p:nvSpPr>
          <p:cNvPr id="37" name="Rectangle 36"/>
          <p:cNvSpPr/>
          <p:nvPr/>
        </p:nvSpPr>
        <p:spPr>
          <a:xfrm>
            <a:off x="6318504" y="1453896"/>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336792" y="1453896"/>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16,828,822</a:t>
            </a:r>
          </a:p>
        </p:txBody>
      </p:sp>
      <p:sp>
        <p:nvSpPr>
          <p:cNvPr id="39" name="Rectangle 38"/>
          <p:cNvSpPr/>
          <p:nvPr/>
        </p:nvSpPr>
        <p:spPr>
          <a:xfrm>
            <a:off x="7223760" y="1453896"/>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242048" y="1453896"/>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21,982,649</a:t>
            </a:r>
          </a:p>
        </p:txBody>
      </p:sp>
      <p:sp>
        <p:nvSpPr>
          <p:cNvPr id="41" name="Rectangle 40"/>
          <p:cNvSpPr/>
          <p:nvPr/>
        </p:nvSpPr>
        <p:spPr>
          <a:xfrm>
            <a:off x="8129016" y="1453896"/>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147304" y="1453896"/>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28,222,581</a:t>
            </a:r>
          </a:p>
        </p:txBody>
      </p:sp>
      <p:sp>
        <p:nvSpPr>
          <p:cNvPr id="43" name="Rectangle 42"/>
          <p:cNvSpPr/>
          <p:nvPr/>
        </p:nvSpPr>
        <p:spPr>
          <a:xfrm>
            <a:off x="9034272" y="1453896"/>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9052560" y="1453896"/>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34,979,592</a:t>
            </a:r>
          </a:p>
        </p:txBody>
      </p:sp>
      <p:sp>
        <p:nvSpPr>
          <p:cNvPr id="45" name="Rectangle 44"/>
          <p:cNvSpPr/>
          <p:nvPr/>
        </p:nvSpPr>
        <p:spPr>
          <a:xfrm>
            <a:off x="9939528" y="1453896"/>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9957816" y="1453896"/>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43,004,323</a:t>
            </a:r>
          </a:p>
        </p:txBody>
      </p:sp>
      <p:sp>
        <p:nvSpPr>
          <p:cNvPr id="47" name="Rectangle 46"/>
          <p:cNvSpPr/>
          <p:nvPr/>
        </p:nvSpPr>
        <p:spPr>
          <a:xfrm>
            <a:off x="10844784" y="1453896"/>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10863072" y="1453896"/>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51,680,445</a:t>
            </a:r>
          </a:p>
        </p:txBody>
      </p:sp>
      <p:sp>
        <p:nvSpPr>
          <p:cNvPr id="49" name="Rectangle 48"/>
          <p:cNvSpPr/>
          <p:nvPr/>
        </p:nvSpPr>
        <p:spPr>
          <a:xfrm>
            <a:off x="320040" y="1764792"/>
            <a:ext cx="237744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338328" y="1764792"/>
            <a:ext cx="2340864" cy="310896"/>
          </a:xfrm>
          <a:prstGeom prst="rect">
            <a:avLst/>
          </a:prstGeom>
          <a:noFill/>
        </p:spPr>
        <p:txBody>
          <a:bodyPr wrap="square" anchor="ctr" lIns="45720" rIns="45720" tIns="9144" bIns="9144">
            <a:spAutoFit/>
          </a:bodyPr>
          <a:lstStyle/>
          <a:p>
            <a:pPr algn="l"/>
            <a:r>
              <a:rPr sz="850" b="0" i="0">
                <a:solidFill>
                  <a:srgbClr val="334155"/>
                </a:solidFill>
                <a:latin typeface="Calibri"/>
              </a:rPr>
              <a:t>(−) Leche cruda</a:t>
            </a:r>
          </a:p>
        </p:txBody>
      </p:sp>
      <p:sp>
        <p:nvSpPr>
          <p:cNvPr id="51" name="Rectangle 50"/>
          <p:cNvSpPr/>
          <p:nvPr/>
        </p:nvSpPr>
        <p:spPr>
          <a:xfrm>
            <a:off x="2697480" y="1764792"/>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2715768" y="1764792"/>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1,512,557</a:t>
            </a:r>
          </a:p>
        </p:txBody>
      </p:sp>
      <p:sp>
        <p:nvSpPr>
          <p:cNvPr id="53" name="Rectangle 52"/>
          <p:cNvSpPr/>
          <p:nvPr/>
        </p:nvSpPr>
        <p:spPr>
          <a:xfrm>
            <a:off x="3602736" y="1764792"/>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3621024" y="1764792"/>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2,634,370</a:t>
            </a:r>
          </a:p>
        </p:txBody>
      </p:sp>
      <p:sp>
        <p:nvSpPr>
          <p:cNvPr id="55" name="Rectangle 54"/>
          <p:cNvSpPr/>
          <p:nvPr/>
        </p:nvSpPr>
        <p:spPr>
          <a:xfrm>
            <a:off x="4507992" y="1764792"/>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4526280" y="1764792"/>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4,129,374</a:t>
            </a:r>
          </a:p>
        </p:txBody>
      </p:sp>
      <p:sp>
        <p:nvSpPr>
          <p:cNvPr id="57" name="Rectangle 56"/>
          <p:cNvSpPr/>
          <p:nvPr/>
        </p:nvSpPr>
        <p:spPr>
          <a:xfrm>
            <a:off x="5413248" y="1764792"/>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5431536" y="1764792"/>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6,041,275</a:t>
            </a:r>
          </a:p>
        </p:txBody>
      </p:sp>
      <p:sp>
        <p:nvSpPr>
          <p:cNvPr id="59" name="Rectangle 58"/>
          <p:cNvSpPr/>
          <p:nvPr/>
        </p:nvSpPr>
        <p:spPr>
          <a:xfrm>
            <a:off x="6318504" y="1764792"/>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6336792" y="1764792"/>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8,417,509</a:t>
            </a:r>
          </a:p>
        </p:txBody>
      </p:sp>
      <p:sp>
        <p:nvSpPr>
          <p:cNvPr id="61" name="Rectangle 60"/>
          <p:cNvSpPr/>
          <p:nvPr/>
        </p:nvSpPr>
        <p:spPr>
          <a:xfrm>
            <a:off x="7223760" y="1764792"/>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7242048" y="1764792"/>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10,995,372</a:t>
            </a:r>
          </a:p>
        </p:txBody>
      </p:sp>
      <p:sp>
        <p:nvSpPr>
          <p:cNvPr id="63" name="Rectangle 62"/>
          <p:cNvSpPr/>
          <p:nvPr/>
        </p:nvSpPr>
        <p:spPr>
          <a:xfrm>
            <a:off x="8129016" y="1764792"/>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8147304" y="1764792"/>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14,116,486</a:t>
            </a:r>
          </a:p>
        </p:txBody>
      </p:sp>
      <p:sp>
        <p:nvSpPr>
          <p:cNvPr id="65" name="Rectangle 64"/>
          <p:cNvSpPr/>
          <p:nvPr/>
        </p:nvSpPr>
        <p:spPr>
          <a:xfrm>
            <a:off x="9034272" y="1764792"/>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9052560" y="1764792"/>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17,496,236</a:t>
            </a:r>
          </a:p>
        </p:txBody>
      </p:sp>
      <p:sp>
        <p:nvSpPr>
          <p:cNvPr id="67" name="Rectangle 66"/>
          <p:cNvSpPr/>
          <p:nvPr/>
        </p:nvSpPr>
        <p:spPr>
          <a:xfrm>
            <a:off x="9939528" y="1764792"/>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9957816" y="1764792"/>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21,510,078</a:t>
            </a:r>
          </a:p>
        </p:txBody>
      </p:sp>
      <p:sp>
        <p:nvSpPr>
          <p:cNvPr id="69" name="Rectangle 68"/>
          <p:cNvSpPr/>
          <p:nvPr/>
        </p:nvSpPr>
        <p:spPr>
          <a:xfrm>
            <a:off x="10844784" y="1764792"/>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10863072" y="1764792"/>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25,849,736</a:t>
            </a:r>
          </a:p>
        </p:txBody>
      </p:sp>
      <p:sp>
        <p:nvSpPr>
          <p:cNvPr id="71" name="Rectangle 70"/>
          <p:cNvSpPr/>
          <p:nvPr/>
        </p:nvSpPr>
        <p:spPr>
          <a:xfrm>
            <a:off x="320040" y="2075688"/>
            <a:ext cx="237744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338328" y="2075688"/>
            <a:ext cx="2340864" cy="310896"/>
          </a:xfrm>
          <a:prstGeom prst="rect">
            <a:avLst/>
          </a:prstGeom>
          <a:noFill/>
        </p:spPr>
        <p:txBody>
          <a:bodyPr wrap="square" anchor="ctr" lIns="45720" rIns="45720" tIns="9144" bIns="9144">
            <a:spAutoFit/>
          </a:bodyPr>
          <a:lstStyle/>
          <a:p>
            <a:pPr algn="l"/>
            <a:r>
              <a:rPr sz="850" b="0" i="0">
                <a:solidFill>
                  <a:srgbClr val="334155"/>
                </a:solidFill>
                <a:latin typeface="Calibri"/>
              </a:rPr>
              <a:t>(−) Empaque y combustible</a:t>
            </a:r>
          </a:p>
        </p:txBody>
      </p:sp>
      <p:sp>
        <p:nvSpPr>
          <p:cNvPr id="73" name="Rectangle 72"/>
          <p:cNvSpPr/>
          <p:nvPr/>
        </p:nvSpPr>
        <p:spPr>
          <a:xfrm>
            <a:off x="2697480" y="2075688"/>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Box 73"/>
          <p:cNvSpPr txBox="1"/>
          <p:nvPr/>
        </p:nvSpPr>
        <p:spPr>
          <a:xfrm>
            <a:off x="2715768" y="2075688"/>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195,624</a:t>
            </a:r>
          </a:p>
        </p:txBody>
      </p:sp>
      <p:sp>
        <p:nvSpPr>
          <p:cNvPr id="75" name="Rectangle 74"/>
          <p:cNvSpPr/>
          <p:nvPr/>
        </p:nvSpPr>
        <p:spPr>
          <a:xfrm>
            <a:off x="3602736" y="2075688"/>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Box 75"/>
          <p:cNvSpPr txBox="1"/>
          <p:nvPr/>
        </p:nvSpPr>
        <p:spPr>
          <a:xfrm>
            <a:off x="3621024" y="2075688"/>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340,712</a:t>
            </a:r>
          </a:p>
        </p:txBody>
      </p:sp>
      <p:sp>
        <p:nvSpPr>
          <p:cNvPr id="77" name="Rectangle 76"/>
          <p:cNvSpPr/>
          <p:nvPr/>
        </p:nvSpPr>
        <p:spPr>
          <a:xfrm>
            <a:off x="4507992" y="2075688"/>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4526280" y="2075688"/>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534,066</a:t>
            </a:r>
          </a:p>
        </p:txBody>
      </p:sp>
      <p:sp>
        <p:nvSpPr>
          <p:cNvPr id="79" name="Rectangle 78"/>
          <p:cNvSpPr/>
          <p:nvPr/>
        </p:nvSpPr>
        <p:spPr>
          <a:xfrm>
            <a:off x="5413248" y="2075688"/>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TextBox 79"/>
          <p:cNvSpPr txBox="1"/>
          <p:nvPr/>
        </p:nvSpPr>
        <p:spPr>
          <a:xfrm>
            <a:off x="5431536" y="2075688"/>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781,338</a:t>
            </a:r>
          </a:p>
        </p:txBody>
      </p:sp>
      <p:sp>
        <p:nvSpPr>
          <p:cNvPr id="81" name="Rectangle 80"/>
          <p:cNvSpPr/>
          <p:nvPr/>
        </p:nvSpPr>
        <p:spPr>
          <a:xfrm>
            <a:off x="6318504" y="2075688"/>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Box 81"/>
          <p:cNvSpPr txBox="1"/>
          <p:nvPr/>
        </p:nvSpPr>
        <p:spPr>
          <a:xfrm>
            <a:off x="6336792" y="2075688"/>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1,088,665</a:t>
            </a:r>
          </a:p>
        </p:txBody>
      </p:sp>
      <p:sp>
        <p:nvSpPr>
          <p:cNvPr id="83" name="Rectangle 82"/>
          <p:cNvSpPr/>
          <p:nvPr/>
        </p:nvSpPr>
        <p:spPr>
          <a:xfrm>
            <a:off x="7223760" y="2075688"/>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Box 83"/>
          <p:cNvSpPr txBox="1"/>
          <p:nvPr/>
        </p:nvSpPr>
        <p:spPr>
          <a:xfrm>
            <a:off x="7242048" y="2075688"/>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1,422,068</a:t>
            </a:r>
          </a:p>
        </p:txBody>
      </p:sp>
      <p:sp>
        <p:nvSpPr>
          <p:cNvPr id="85" name="Rectangle 84"/>
          <p:cNvSpPr/>
          <p:nvPr/>
        </p:nvSpPr>
        <p:spPr>
          <a:xfrm>
            <a:off x="8129016" y="2075688"/>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TextBox 85"/>
          <p:cNvSpPr txBox="1"/>
          <p:nvPr/>
        </p:nvSpPr>
        <p:spPr>
          <a:xfrm>
            <a:off x="8147304" y="2075688"/>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1,825,732</a:t>
            </a:r>
          </a:p>
        </p:txBody>
      </p:sp>
      <p:sp>
        <p:nvSpPr>
          <p:cNvPr id="87" name="Rectangle 86"/>
          <p:cNvSpPr/>
          <p:nvPr/>
        </p:nvSpPr>
        <p:spPr>
          <a:xfrm>
            <a:off x="9034272" y="2075688"/>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Box 87"/>
          <p:cNvSpPr txBox="1"/>
          <p:nvPr/>
        </p:nvSpPr>
        <p:spPr>
          <a:xfrm>
            <a:off x="9052560" y="2075688"/>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2,262,847</a:t>
            </a:r>
          </a:p>
        </p:txBody>
      </p:sp>
      <p:sp>
        <p:nvSpPr>
          <p:cNvPr id="89" name="Rectangle 88"/>
          <p:cNvSpPr/>
          <p:nvPr/>
        </p:nvSpPr>
        <p:spPr>
          <a:xfrm>
            <a:off x="9939528" y="2075688"/>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TextBox 89"/>
          <p:cNvSpPr txBox="1"/>
          <p:nvPr/>
        </p:nvSpPr>
        <p:spPr>
          <a:xfrm>
            <a:off x="9957816" y="2075688"/>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2,781,970</a:t>
            </a:r>
          </a:p>
        </p:txBody>
      </p:sp>
      <p:sp>
        <p:nvSpPr>
          <p:cNvPr id="91" name="Rectangle 90"/>
          <p:cNvSpPr/>
          <p:nvPr/>
        </p:nvSpPr>
        <p:spPr>
          <a:xfrm>
            <a:off x="10844784" y="2075688"/>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TextBox 91"/>
          <p:cNvSpPr txBox="1"/>
          <p:nvPr/>
        </p:nvSpPr>
        <p:spPr>
          <a:xfrm>
            <a:off x="10863072" y="2075688"/>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3,343,233</a:t>
            </a:r>
          </a:p>
        </p:txBody>
      </p:sp>
      <p:sp>
        <p:nvSpPr>
          <p:cNvPr id="93" name="Rectangle 92"/>
          <p:cNvSpPr/>
          <p:nvPr/>
        </p:nvSpPr>
        <p:spPr>
          <a:xfrm>
            <a:off x="320040" y="2386584"/>
            <a:ext cx="237744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TextBox 93"/>
          <p:cNvSpPr txBox="1"/>
          <p:nvPr/>
        </p:nvSpPr>
        <p:spPr>
          <a:xfrm>
            <a:off x="338328" y="2386584"/>
            <a:ext cx="2340864" cy="310896"/>
          </a:xfrm>
          <a:prstGeom prst="rect">
            <a:avLst/>
          </a:prstGeom>
          <a:noFill/>
        </p:spPr>
        <p:txBody>
          <a:bodyPr wrap="square" anchor="ctr" lIns="45720" rIns="45720" tIns="9144" bIns="9144">
            <a:spAutoFit/>
          </a:bodyPr>
          <a:lstStyle/>
          <a:p>
            <a:pPr algn="l"/>
            <a:r>
              <a:rPr sz="850" b="1" i="0">
                <a:solidFill>
                  <a:srgbClr val="0D2341"/>
                </a:solidFill>
                <a:latin typeface="Calibri"/>
              </a:rPr>
              <a:t>(=) Margen de contribución</a:t>
            </a:r>
          </a:p>
        </p:txBody>
      </p:sp>
      <p:sp>
        <p:nvSpPr>
          <p:cNvPr id="95" name="Rectangle 94"/>
          <p:cNvSpPr/>
          <p:nvPr/>
        </p:nvSpPr>
        <p:spPr>
          <a:xfrm>
            <a:off x="2697480" y="2386584"/>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TextBox 95"/>
          <p:cNvSpPr txBox="1"/>
          <p:nvPr/>
        </p:nvSpPr>
        <p:spPr>
          <a:xfrm>
            <a:off x="2715768" y="2386584"/>
            <a:ext cx="868680" cy="310896"/>
          </a:xfrm>
          <a:prstGeom prst="rect">
            <a:avLst/>
          </a:prstGeom>
          <a:noFill/>
        </p:spPr>
        <p:txBody>
          <a:bodyPr wrap="square" anchor="ctr" lIns="45720" rIns="45720" tIns="9144" bIns="9144">
            <a:spAutoFit/>
          </a:bodyPr>
          <a:lstStyle/>
          <a:p>
            <a:pPr algn="r"/>
            <a:r>
              <a:rPr sz="850" b="1" i="0">
                <a:solidFill>
                  <a:srgbClr val="0D2341"/>
                </a:solidFill>
                <a:latin typeface="Calibri"/>
              </a:rPr>
              <a:t>1,315,819</a:t>
            </a:r>
          </a:p>
        </p:txBody>
      </p:sp>
      <p:sp>
        <p:nvSpPr>
          <p:cNvPr id="97" name="Rectangle 96"/>
          <p:cNvSpPr/>
          <p:nvPr/>
        </p:nvSpPr>
        <p:spPr>
          <a:xfrm>
            <a:off x="3602736" y="2386584"/>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TextBox 97"/>
          <p:cNvSpPr txBox="1"/>
          <p:nvPr/>
        </p:nvSpPr>
        <p:spPr>
          <a:xfrm>
            <a:off x="3621024" y="2386584"/>
            <a:ext cx="868680" cy="310896"/>
          </a:xfrm>
          <a:prstGeom prst="rect">
            <a:avLst/>
          </a:prstGeom>
          <a:noFill/>
        </p:spPr>
        <p:txBody>
          <a:bodyPr wrap="square" anchor="ctr" lIns="45720" rIns="45720" tIns="9144" bIns="9144">
            <a:spAutoFit/>
          </a:bodyPr>
          <a:lstStyle/>
          <a:p>
            <a:pPr algn="r"/>
            <a:r>
              <a:rPr sz="850" b="1" i="0">
                <a:solidFill>
                  <a:srgbClr val="0D2341"/>
                </a:solidFill>
                <a:latin typeface="Calibri"/>
              </a:rPr>
              <a:t>2,291,719</a:t>
            </a:r>
          </a:p>
        </p:txBody>
      </p:sp>
      <p:sp>
        <p:nvSpPr>
          <p:cNvPr id="99" name="Rectangle 98"/>
          <p:cNvSpPr/>
          <p:nvPr/>
        </p:nvSpPr>
        <p:spPr>
          <a:xfrm>
            <a:off x="4507992" y="2386584"/>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Box 99"/>
          <p:cNvSpPr txBox="1"/>
          <p:nvPr/>
        </p:nvSpPr>
        <p:spPr>
          <a:xfrm>
            <a:off x="4526280" y="2386584"/>
            <a:ext cx="868680" cy="310896"/>
          </a:xfrm>
          <a:prstGeom prst="rect">
            <a:avLst/>
          </a:prstGeom>
          <a:noFill/>
        </p:spPr>
        <p:txBody>
          <a:bodyPr wrap="square" anchor="ctr" lIns="45720" rIns="45720" tIns="9144" bIns="9144">
            <a:spAutoFit/>
          </a:bodyPr>
          <a:lstStyle/>
          <a:p>
            <a:pPr algn="r"/>
            <a:r>
              <a:rPr sz="850" b="1" i="0">
                <a:solidFill>
                  <a:srgbClr val="0D2341"/>
                </a:solidFill>
                <a:latin typeface="Calibri"/>
              </a:rPr>
              <a:t>3,592,269</a:t>
            </a:r>
          </a:p>
        </p:txBody>
      </p:sp>
      <p:sp>
        <p:nvSpPr>
          <p:cNvPr id="101" name="Rectangle 100"/>
          <p:cNvSpPr/>
          <p:nvPr/>
        </p:nvSpPr>
        <p:spPr>
          <a:xfrm>
            <a:off x="5413248" y="2386584"/>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Box 101"/>
          <p:cNvSpPr txBox="1"/>
          <p:nvPr/>
        </p:nvSpPr>
        <p:spPr>
          <a:xfrm>
            <a:off x="5431536" y="2386584"/>
            <a:ext cx="868680" cy="310896"/>
          </a:xfrm>
          <a:prstGeom prst="rect">
            <a:avLst/>
          </a:prstGeom>
          <a:noFill/>
        </p:spPr>
        <p:txBody>
          <a:bodyPr wrap="square" anchor="ctr" lIns="45720" rIns="45720" tIns="9144" bIns="9144">
            <a:spAutoFit/>
          </a:bodyPr>
          <a:lstStyle/>
          <a:p>
            <a:pPr algn="r"/>
            <a:r>
              <a:rPr sz="850" b="1" i="0">
                <a:solidFill>
                  <a:srgbClr val="0D2341"/>
                </a:solidFill>
                <a:latin typeface="Calibri"/>
              </a:rPr>
              <a:t>5,255,489</a:t>
            </a:r>
          </a:p>
        </p:txBody>
      </p:sp>
      <p:sp>
        <p:nvSpPr>
          <p:cNvPr id="103" name="Rectangle 102"/>
          <p:cNvSpPr/>
          <p:nvPr/>
        </p:nvSpPr>
        <p:spPr>
          <a:xfrm>
            <a:off x="6318504" y="2386584"/>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TextBox 103"/>
          <p:cNvSpPr txBox="1"/>
          <p:nvPr/>
        </p:nvSpPr>
        <p:spPr>
          <a:xfrm>
            <a:off x="6336792" y="2386584"/>
            <a:ext cx="868680" cy="310896"/>
          </a:xfrm>
          <a:prstGeom prst="rect">
            <a:avLst/>
          </a:prstGeom>
          <a:noFill/>
        </p:spPr>
        <p:txBody>
          <a:bodyPr wrap="square" anchor="ctr" lIns="45720" rIns="45720" tIns="9144" bIns="9144">
            <a:spAutoFit/>
          </a:bodyPr>
          <a:lstStyle/>
          <a:p>
            <a:pPr algn="r"/>
            <a:r>
              <a:rPr sz="850" b="1" i="0">
                <a:solidFill>
                  <a:srgbClr val="0D2341"/>
                </a:solidFill>
                <a:latin typeface="Calibri"/>
              </a:rPr>
              <a:t>7,322,649</a:t>
            </a:r>
          </a:p>
        </p:txBody>
      </p:sp>
      <p:sp>
        <p:nvSpPr>
          <p:cNvPr id="105" name="Rectangle 104"/>
          <p:cNvSpPr/>
          <p:nvPr/>
        </p:nvSpPr>
        <p:spPr>
          <a:xfrm>
            <a:off x="7223760" y="2386584"/>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TextBox 105"/>
          <p:cNvSpPr txBox="1"/>
          <p:nvPr/>
        </p:nvSpPr>
        <p:spPr>
          <a:xfrm>
            <a:off x="7242048" y="2386584"/>
            <a:ext cx="868680" cy="310896"/>
          </a:xfrm>
          <a:prstGeom prst="rect">
            <a:avLst/>
          </a:prstGeom>
          <a:noFill/>
        </p:spPr>
        <p:txBody>
          <a:bodyPr wrap="square" anchor="ctr" lIns="45720" rIns="45720" tIns="9144" bIns="9144">
            <a:spAutoFit/>
          </a:bodyPr>
          <a:lstStyle/>
          <a:p>
            <a:pPr algn="r"/>
            <a:r>
              <a:rPr sz="850" b="1" i="0">
                <a:solidFill>
                  <a:srgbClr val="0D2341"/>
                </a:solidFill>
                <a:latin typeface="Calibri"/>
              </a:rPr>
              <a:t>9,565,210</a:t>
            </a:r>
          </a:p>
        </p:txBody>
      </p:sp>
      <p:sp>
        <p:nvSpPr>
          <p:cNvPr id="107" name="Rectangle 106"/>
          <p:cNvSpPr/>
          <p:nvPr/>
        </p:nvSpPr>
        <p:spPr>
          <a:xfrm>
            <a:off x="8129016" y="2386584"/>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TextBox 107"/>
          <p:cNvSpPr txBox="1"/>
          <p:nvPr/>
        </p:nvSpPr>
        <p:spPr>
          <a:xfrm>
            <a:off x="8147304" y="2386584"/>
            <a:ext cx="868680" cy="310896"/>
          </a:xfrm>
          <a:prstGeom prst="rect">
            <a:avLst/>
          </a:prstGeom>
          <a:noFill/>
        </p:spPr>
        <p:txBody>
          <a:bodyPr wrap="square" anchor="ctr" lIns="45720" rIns="45720" tIns="9144" bIns="9144">
            <a:spAutoFit/>
          </a:bodyPr>
          <a:lstStyle/>
          <a:p>
            <a:pPr algn="r"/>
            <a:r>
              <a:rPr sz="850" b="1" i="0">
                <a:solidFill>
                  <a:srgbClr val="0D2341"/>
                </a:solidFill>
                <a:latin typeface="Calibri"/>
              </a:rPr>
              <a:t>12,280,363</a:t>
            </a:r>
          </a:p>
        </p:txBody>
      </p:sp>
      <p:sp>
        <p:nvSpPr>
          <p:cNvPr id="109" name="Rectangle 108"/>
          <p:cNvSpPr/>
          <p:nvPr/>
        </p:nvSpPr>
        <p:spPr>
          <a:xfrm>
            <a:off x="9034272" y="2386584"/>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TextBox 109"/>
          <p:cNvSpPr txBox="1"/>
          <p:nvPr/>
        </p:nvSpPr>
        <p:spPr>
          <a:xfrm>
            <a:off x="9052560" y="2386584"/>
            <a:ext cx="868680" cy="310896"/>
          </a:xfrm>
          <a:prstGeom prst="rect">
            <a:avLst/>
          </a:prstGeom>
          <a:noFill/>
        </p:spPr>
        <p:txBody>
          <a:bodyPr wrap="square" anchor="ctr" lIns="45720" rIns="45720" tIns="9144" bIns="9144">
            <a:spAutoFit/>
          </a:bodyPr>
          <a:lstStyle/>
          <a:p>
            <a:pPr algn="r"/>
            <a:r>
              <a:rPr sz="850" b="1" i="0">
                <a:solidFill>
                  <a:srgbClr val="0D2341"/>
                </a:solidFill>
                <a:latin typeface="Calibri"/>
              </a:rPr>
              <a:t>15,220,510</a:t>
            </a:r>
          </a:p>
        </p:txBody>
      </p:sp>
      <p:sp>
        <p:nvSpPr>
          <p:cNvPr id="111" name="Rectangle 110"/>
          <p:cNvSpPr/>
          <p:nvPr/>
        </p:nvSpPr>
        <p:spPr>
          <a:xfrm>
            <a:off x="9939528" y="2386584"/>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TextBox 111"/>
          <p:cNvSpPr txBox="1"/>
          <p:nvPr/>
        </p:nvSpPr>
        <p:spPr>
          <a:xfrm>
            <a:off x="9957816" y="2386584"/>
            <a:ext cx="868680" cy="310896"/>
          </a:xfrm>
          <a:prstGeom prst="rect">
            <a:avLst/>
          </a:prstGeom>
          <a:noFill/>
        </p:spPr>
        <p:txBody>
          <a:bodyPr wrap="square" anchor="ctr" lIns="45720" rIns="45720" tIns="9144" bIns="9144">
            <a:spAutoFit/>
          </a:bodyPr>
          <a:lstStyle/>
          <a:p>
            <a:pPr algn="r"/>
            <a:r>
              <a:rPr sz="850" b="1" i="0">
                <a:solidFill>
                  <a:srgbClr val="0D2341"/>
                </a:solidFill>
                <a:latin typeface="Calibri"/>
              </a:rPr>
              <a:t>18,712,274</a:t>
            </a:r>
          </a:p>
        </p:txBody>
      </p:sp>
      <p:sp>
        <p:nvSpPr>
          <p:cNvPr id="113" name="Rectangle 112"/>
          <p:cNvSpPr/>
          <p:nvPr/>
        </p:nvSpPr>
        <p:spPr>
          <a:xfrm>
            <a:off x="10844784" y="2386584"/>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TextBox 113"/>
          <p:cNvSpPr txBox="1"/>
          <p:nvPr/>
        </p:nvSpPr>
        <p:spPr>
          <a:xfrm>
            <a:off x="10863072" y="2386584"/>
            <a:ext cx="868680" cy="310896"/>
          </a:xfrm>
          <a:prstGeom prst="rect">
            <a:avLst/>
          </a:prstGeom>
          <a:noFill/>
        </p:spPr>
        <p:txBody>
          <a:bodyPr wrap="square" anchor="ctr" lIns="45720" rIns="45720" tIns="9144" bIns="9144">
            <a:spAutoFit/>
          </a:bodyPr>
          <a:lstStyle/>
          <a:p>
            <a:pPr algn="r"/>
            <a:r>
              <a:rPr sz="850" b="1" i="0">
                <a:solidFill>
                  <a:srgbClr val="0D2341"/>
                </a:solidFill>
                <a:latin typeface="Calibri"/>
              </a:rPr>
              <a:t>22,487,476</a:t>
            </a:r>
          </a:p>
        </p:txBody>
      </p:sp>
      <p:sp>
        <p:nvSpPr>
          <p:cNvPr id="115" name="Rectangle 114"/>
          <p:cNvSpPr/>
          <p:nvPr/>
        </p:nvSpPr>
        <p:spPr>
          <a:xfrm>
            <a:off x="320040" y="2697479"/>
            <a:ext cx="237744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TextBox 115"/>
          <p:cNvSpPr txBox="1"/>
          <p:nvPr/>
        </p:nvSpPr>
        <p:spPr>
          <a:xfrm>
            <a:off x="338328" y="2697479"/>
            <a:ext cx="2340864" cy="310896"/>
          </a:xfrm>
          <a:prstGeom prst="rect">
            <a:avLst/>
          </a:prstGeom>
          <a:noFill/>
        </p:spPr>
        <p:txBody>
          <a:bodyPr wrap="square" anchor="ctr" lIns="45720" rIns="45720" tIns="9144" bIns="9144">
            <a:spAutoFit/>
          </a:bodyPr>
          <a:lstStyle/>
          <a:p>
            <a:pPr algn="l"/>
            <a:r>
              <a:rPr sz="850" b="0" i="0">
                <a:solidFill>
                  <a:srgbClr val="334155"/>
                </a:solidFill>
                <a:latin typeface="Calibri"/>
              </a:rPr>
              <a:t>(−) Personal</a:t>
            </a:r>
          </a:p>
        </p:txBody>
      </p:sp>
      <p:sp>
        <p:nvSpPr>
          <p:cNvPr id="117" name="Rectangle 116"/>
          <p:cNvSpPr/>
          <p:nvPr/>
        </p:nvSpPr>
        <p:spPr>
          <a:xfrm>
            <a:off x="2697480" y="2697479"/>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TextBox 117"/>
          <p:cNvSpPr txBox="1"/>
          <p:nvPr/>
        </p:nvSpPr>
        <p:spPr>
          <a:xfrm>
            <a:off x="2715768" y="2697479"/>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1,426,533</a:t>
            </a:r>
          </a:p>
        </p:txBody>
      </p:sp>
      <p:sp>
        <p:nvSpPr>
          <p:cNvPr id="119" name="Rectangle 118"/>
          <p:cNvSpPr/>
          <p:nvPr/>
        </p:nvSpPr>
        <p:spPr>
          <a:xfrm>
            <a:off x="3602736" y="2697479"/>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TextBox 119"/>
          <p:cNvSpPr txBox="1"/>
          <p:nvPr/>
        </p:nvSpPr>
        <p:spPr>
          <a:xfrm>
            <a:off x="3621024" y="2697479"/>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1,490,727</a:t>
            </a:r>
          </a:p>
        </p:txBody>
      </p:sp>
      <p:sp>
        <p:nvSpPr>
          <p:cNvPr id="121" name="Rectangle 120"/>
          <p:cNvSpPr/>
          <p:nvPr/>
        </p:nvSpPr>
        <p:spPr>
          <a:xfrm>
            <a:off x="4507992" y="2697479"/>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TextBox 121"/>
          <p:cNvSpPr txBox="1"/>
          <p:nvPr/>
        </p:nvSpPr>
        <p:spPr>
          <a:xfrm>
            <a:off x="4526280" y="2697479"/>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1,557,809</a:t>
            </a:r>
          </a:p>
        </p:txBody>
      </p:sp>
      <p:sp>
        <p:nvSpPr>
          <p:cNvPr id="123" name="Rectangle 122"/>
          <p:cNvSpPr/>
          <p:nvPr/>
        </p:nvSpPr>
        <p:spPr>
          <a:xfrm>
            <a:off x="5413248" y="2697479"/>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TextBox 123"/>
          <p:cNvSpPr txBox="1"/>
          <p:nvPr/>
        </p:nvSpPr>
        <p:spPr>
          <a:xfrm>
            <a:off x="5431536" y="2697479"/>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1,627,911</a:t>
            </a:r>
          </a:p>
        </p:txBody>
      </p:sp>
      <p:sp>
        <p:nvSpPr>
          <p:cNvPr id="125" name="Rectangle 124"/>
          <p:cNvSpPr/>
          <p:nvPr/>
        </p:nvSpPr>
        <p:spPr>
          <a:xfrm>
            <a:off x="6318504" y="2697479"/>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TextBox 125"/>
          <p:cNvSpPr txBox="1"/>
          <p:nvPr/>
        </p:nvSpPr>
        <p:spPr>
          <a:xfrm>
            <a:off x="6336792" y="2697479"/>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1,701,167</a:t>
            </a:r>
          </a:p>
        </p:txBody>
      </p:sp>
      <p:sp>
        <p:nvSpPr>
          <p:cNvPr id="127" name="Rectangle 126"/>
          <p:cNvSpPr/>
          <p:nvPr/>
        </p:nvSpPr>
        <p:spPr>
          <a:xfrm>
            <a:off x="7223760" y="2697479"/>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TextBox 127"/>
          <p:cNvSpPr txBox="1"/>
          <p:nvPr/>
        </p:nvSpPr>
        <p:spPr>
          <a:xfrm>
            <a:off x="7242048" y="2697479"/>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1,777,719</a:t>
            </a:r>
          </a:p>
        </p:txBody>
      </p:sp>
      <p:sp>
        <p:nvSpPr>
          <p:cNvPr id="129" name="Rectangle 128"/>
          <p:cNvSpPr/>
          <p:nvPr/>
        </p:nvSpPr>
        <p:spPr>
          <a:xfrm>
            <a:off x="8129016" y="2697479"/>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TextBox 129"/>
          <p:cNvSpPr txBox="1"/>
          <p:nvPr/>
        </p:nvSpPr>
        <p:spPr>
          <a:xfrm>
            <a:off x="8147304" y="2697479"/>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1,857,716</a:t>
            </a:r>
          </a:p>
        </p:txBody>
      </p:sp>
      <p:sp>
        <p:nvSpPr>
          <p:cNvPr id="131" name="Rectangle 130"/>
          <p:cNvSpPr/>
          <p:nvPr/>
        </p:nvSpPr>
        <p:spPr>
          <a:xfrm>
            <a:off x="9034272" y="2697479"/>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TextBox 131"/>
          <p:cNvSpPr txBox="1"/>
          <p:nvPr/>
        </p:nvSpPr>
        <p:spPr>
          <a:xfrm>
            <a:off x="9052560" y="2697479"/>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1,941,314</a:t>
            </a:r>
          </a:p>
        </p:txBody>
      </p:sp>
      <p:sp>
        <p:nvSpPr>
          <p:cNvPr id="133" name="Rectangle 132"/>
          <p:cNvSpPr/>
          <p:nvPr/>
        </p:nvSpPr>
        <p:spPr>
          <a:xfrm>
            <a:off x="9939528" y="2697479"/>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4" name="TextBox 133"/>
          <p:cNvSpPr txBox="1"/>
          <p:nvPr/>
        </p:nvSpPr>
        <p:spPr>
          <a:xfrm>
            <a:off x="9957816" y="2697479"/>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2,028,673</a:t>
            </a:r>
          </a:p>
        </p:txBody>
      </p:sp>
      <p:sp>
        <p:nvSpPr>
          <p:cNvPr id="135" name="Rectangle 134"/>
          <p:cNvSpPr/>
          <p:nvPr/>
        </p:nvSpPr>
        <p:spPr>
          <a:xfrm>
            <a:off x="10844784" y="2697479"/>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TextBox 135"/>
          <p:cNvSpPr txBox="1"/>
          <p:nvPr/>
        </p:nvSpPr>
        <p:spPr>
          <a:xfrm>
            <a:off x="10863072" y="2697479"/>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2,119,963</a:t>
            </a:r>
          </a:p>
        </p:txBody>
      </p:sp>
      <p:sp>
        <p:nvSpPr>
          <p:cNvPr id="137" name="Rectangle 136"/>
          <p:cNvSpPr/>
          <p:nvPr/>
        </p:nvSpPr>
        <p:spPr>
          <a:xfrm>
            <a:off x="320040" y="3008375"/>
            <a:ext cx="237744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TextBox 137"/>
          <p:cNvSpPr txBox="1"/>
          <p:nvPr/>
        </p:nvSpPr>
        <p:spPr>
          <a:xfrm>
            <a:off x="338328" y="3008375"/>
            <a:ext cx="2340864" cy="310896"/>
          </a:xfrm>
          <a:prstGeom prst="rect">
            <a:avLst/>
          </a:prstGeom>
          <a:noFill/>
        </p:spPr>
        <p:txBody>
          <a:bodyPr wrap="square" anchor="ctr" lIns="45720" rIns="45720" tIns="9144" bIns="9144">
            <a:spAutoFit/>
          </a:bodyPr>
          <a:lstStyle/>
          <a:p>
            <a:pPr algn="l"/>
            <a:r>
              <a:rPr sz="850" b="0" i="0">
                <a:solidFill>
                  <a:srgbClr val="334155"/>
                </a:solidFill>
                <a:latin typeface="Calibri"/>
              </a:rPr>
              <a:t>(−) Costos fijos operativos</a:t>
            </a:r>
          </a:p>
        </p:txBody>
      </p:sp>
      <p:sp>
        <p:nvSpPr>
          <p:cNvPr id="139" name="Rectangle 138"/>
          <p:cNvSpPr/>
          <p:nvPr/>
        </p:nvSpPr>
        <p:spPr>
          <a:xfrm>
            <a:off x="2697480" y="3008375"/>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TextBox 139"/>
          <p:cNvSpPr txBox="1"/>
          <p:nvPr/>
        </p:nvSpPr>
        <p:spPr>
          <a:xfrm>
            <a:off x="2715768" y="3008375"/>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351,120</a:t>
            </a:r>
          </a:p>
        </p:txBody>
      </p:sp>
      <p:sp>
        <p:nvSpPr>
          <p:cNvPr id="141" name="Rectangle 140"/>
          <p:cNvSpPr/>
          <p:nvPr/>
        </p:nvSpPr>
        <p:spPr>
          <a:xfrm>
            <a:off x="3602736" y="3008375"/>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2" name="TextBox 141"/>
          <p:cNvSpPr txBox="1"/>
          <p:nvPr/>
        </p:nvSpPr>
        <p:spPr>
          <a:xfrm>
            <a:off x="3621024" y="3008375"/>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366,920</a:t>
            </a:r>
          </a:p>
        </p:txBody>
      </p:sp>
      <p:sp>
        <p:nvSpPr>
          <p:cNvPr id="143" name="Rectangle 142"/>
          <p:cNvSpPr/>
          <p:nvPr/>
        </p:nvSpPr>
        <p:spPr>
          <a:xfrm>
            <a:off x="4507992" y="3008375"/>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4" name="TextBox 143"/>
          <p:cNvSpPr txBox="1"/>
          <p:nvPr/>
        </p:nvSpPr>
        <p:spPr>
          <a:xfrm>
            <a:off x="4526280" y="3008375"/>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383,432</a:t>
            </a:r>
          </a:p>
        </p:txBody>
      </p:sp>
      <p:sp>
        <p:nvSpPr>
          <p:cNvPr id="145" name="Rectangle 144"/>
          <p:cNvSpPr/>
          <p:nvPr/>
        </p:nvSpPr>
        <p:spPr>
          <a:xfrm>
            <a:off x="5413248" y="3008375"/>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6" name="TextBox 145"/>
          <p:cNvSpPr txBox="1"/>
          <p:nvPr/>
        </p:nvSpPr>
        <p:spPr>
          <a:xfrm>
            <a:off x="5431536" y="3008375"/>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400,686</a:t>
            </a:r>
          </a:p>
        </p:txBody>
      </p:sp>
      <p:sp>
        <p:nvSpPr>
          <p:cNvPr id="147" name="Rectangle 146"/>
          <p:cNvSpPr/>
          <p:nvPr/>
        </p:nvSpPr>
        <p:spPr>
          <a:xfrm>
            <a:off x="6318504" y="3008375"/>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8" name="TextBox 147"/>
          <p:cNvSpPr txBox="1"/>
          <p:nvPr/>
        </p:nvSpPr>
        <p:spPr>
          <a:xfrm>
            <a:off x="6336792" y="3008375"/>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418,717</a:t>
            </a:r>
          </a:p>
        </p:txBody>
      </p:sp>
      <p:sp>
        <p:nvSpPr>
          <p:cNvPr id="149" name="Rectangle 148"/>
          <p:cNvSpPr/>
          <p:nvPr/>
        </p:nvSpPr>
        <p:spPr>
          <a:xfrm>
            <a:off x="7223760" y="3008375"/>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TextBox 149"/>
          <p:cNvSpPr txBox="1"/>
          <p:nvPr/>
        </p:nvSpPr>
        <p:spPr>
          <a:xfrm>
            <a:off x="7242048" y="3008375"/>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437,559</a:t>
            </a:r>
          </a:p>
        </p:txBody>
      </p:sp>
      <p:sp>
        <p:nvSpPr>
          <p:cNvPr id="151" name="Rectangle 150"/>
          <p:cNvSpPr/>
          <p:nvPr/>
        </p:nvSpPr>
        <p:spPr>
          <a:xfrm>
            <a:off x="8129016" y="3008375"/>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2" name="TextBox 151"/>
          <p:cNvSpPr txBox="1"/>
          <p:nvPr/>
        </p:nvSpPr>
        <p:spPr>
          <a:xfrm>
            <a:off x="8147304" y="3008375"/>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457,250</a:t>
            </a:r>
          </a:p>
        </p:txBody>
      </p:sp>
      <p:sp>
        <p:nvSpPr>
          <p:cNvPr id="153" name="Rectangle 152"/>
          <p:cNvSpPr/>
          <p:nvPr/>
        </p:nvSpPr>
        <p:spPr>
          <a:xfrm>
            <a:off x="9034272" y="3008375"/>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 name="TextBox 153"/>
          <p:cNvSpPr txBox="1"/>
          <p:nvPr/>
        </p:nvSpPr>
        <p:spPr>
          <a:xfrm>
            <a:off x="9052560" y="3008375"/>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477,826</a:t>
            </a:r>
          </a:p>
        </p:txBody>
      </p:sp>
      <p:sp>
        <p:nvSpPr>
          <p:cNvPr id="155" name="Rectangle 154"/>
          <p:cNvSpPr/>
          <p:nvPr/>
        </p:nvSpPr>
        <p:spPr>
          <a:xfrm>
            <a:off x="9939528" y="3008375"/>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TextBox 155"/>
          <p:cNvSpPr txBox="1"/>
          <p:nvPr/>
        </p:nvSpPr>
        <p:spPr>
          <a:xfrm>
            <a:off x="9957816" y="3008375"/>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499,328</a:t>
            </a:r>
          </a:p>
        </p:txBody>
      </p:sp>
      <p:sp>
        <p:nvSpPr>
          <p:cNvPr id="157" name="Rectangle 156"/>
          <p:cNvSpPr/>
          <p:nvPr/>
        </p:nvSpPr>
        <p:spPr>
          <a:xfrm>
            <a:off x="10844784" y="3008375"/>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TextBox 157"/>
          <p:cNvSpPr txBox="1"/>
          <p:nvPr/>
        </p:nvSpPr>
        <p:spPr>
          <a:xfrm>
            <a:off x="10863072" y="3008375"/>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521,798</a:t>
            </a:r>
          </a:p>
        </p:txBody>
      </p:sp>
      <p:sp>
        <p:nvSpPr>
          <p:cNvPr id="159" name="Rectangle 158"/>
          <p:cNvSpPr/>
          <p:nvPr/>
        </p:nvSpPr>
        <p:spPr>
          <a:xfrm>
            <a:off x="320040" y="3319271"/>
            <a:ext cx="237744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0" name="TextBox 159"/>
          <p:cNvSpPr txBox="1"/>
          <p:nvPr/>
        </p:nvSpPr>
        <p:spPr>
          <a:xfrm>
            <a:off x="338328" y="3319271"/>
            <a:ext cx="2340864" cy="310896"/>
          </a:xfrm>
          <a:prstGeom prst="rect">
            <a:avLst/>
          </a:prstGeom>
          <a:noFill/>
        </p:spPr>
        <p:txBody>
          <a:bodyPr wrap="square" anchor="ctr" lIns="45720" rIns="45720" tIns="9144" bIns="9144">
            <a:spAutoFit/>
          </a:bodyPr>
          <a:lstStyle/>
          <a:p>
            <a:pPr algn="l"/>
            <a:r>
              <a:rPr sz="850" b="0" i="0">
                <a:solidFill>
                  <a:srgbClr val="334155"/>
                </a:solidFill>
                <a:latin typeface="Calibri"/>
              </a:rPr>
              <a:t>(−) Gastos administrativos</a:t>
            </a:r>
          </a:p>
        </p:txBody>
      </p:sp>
      <p:sp>
        <p:nvSpPr>
          <p:cNvPr id="161" name="Rectangle 160"/>
          <p:cNvSpPr/>
          <p:nvPr/>
        </p:nvSpPr>
        <p:spPr>
          <a:xfrm>
            <a:off x="2697480" y="3319271"/>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TextBox 161"/>
          <p:cNvSpPr txBox="1"/>
          <p:nvPr/>
        </p:nvSpPr>
        <p:spPr>
          <a:xfrm>
            <a:off x="2715768" y="3319271"/>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270,864</a:t>
            </a:r>
          </a:p>
        </p:txBody>
      </p:sp>
      <p:sp>
        <p:nvSpPr>
          <p:cNvPr id="163" name="Rectangle 162"/>
          <p:cNvSpPr/>
          <p:nvPr/>
        </p:nvSpPr>
        <p:spPr>
          <a:xfrm>
            <a:off x="3602736" y="3319271"/>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4" name="TextBox 163"/>
          <p:cNvSpPr txBox="1"/>
          <p:nvPr/>
        </p:nvSpPr>
        <p:spPr>
          <a:xfrm>
            <a:off x="3621024" y="3319271"/>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283,053</a:t>
            </a:r>
          </a:p>
        </p:txBody>
      </p:sp>
      <p:sp>
        <p:nvSpPr>
          <p:cNvPr id="165" name="Rectangle 164"/>
          <p:cNvSpPr/>
          <p:nvPr/>
        </p:nvSpPr>
        <p:spPr>
          <a:xfrm>
            <a:off x="4507992" y="3319271"/>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6" name="TextBox 165"/>
          <p:cNvSpPr txBox="1"/>
          <p:nvPr/>
        </p:nvSpPr>
        <p:spPr>
          <a:xfrm>
            <a:off x="4526280" y="3319271"/>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295,790</a:t>
            </a:r>
          </a:p>
        </p:txBody>
      </p:sp>
      <p:sp>
        <p:nvSpPr>
          <p:cNvPr id="167" name="Rectangle 166"/>
          <p:cNvSpPr/>
          <p:nvPr/>
        </p:nvSpPr>
        <p:spPr>
          <a:xfrm>
            <a:off x="5413248" y="3319271"/>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8" name="TextBox 167"/>
          <p:cNvSpPr txBox="1"/>
          <p:nvPr/>
        </p:nvSpPr>
        <p:spPr>
          <a:xfrm>
            <a:off x="5431536" y="3319271"/>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309,101</a:t>
            </a:r>
          </a:p>
        </p:txBody>
      </p:sp>
      <p:sp>
        <p:nvSpPr>
          <p:cNvPr id="169" name="Rectangle 168"/>
          <p:cNvSpPr/>
          <p:nvPr/>
        </p:nvSpPr>
        <p:spPr>
          <a:xfrm>
            <a:off x="6318504" y="3319271"/>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0" name="TextBox 169"/>
          <p:cNvSpPr txBox="1"/>
          <p:nvPr/>
        </p:nvSpPr>
        <p:spPr>
          <a:xfrm>
            <a:off x="6336792" y="3319271"/>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323,010</a:t>
            </a:r>
          </a:p>
        </p:txBody>
      </p:sp>
      <p:sp>
        <p:nvSpPr>
          <p:cNvPr id="171" name="Rectangle 170"/>
          <p:cNvSpPr/>
          <p:nvPr/>
        </p:nvSpPr>
        <p:spPr>
          <a:xfrm>
            <a:off x="7223760" y="3319271"/>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2" name="TextBox 171"/>
          <p:cNvSpPr txBox="1"/>
          <p:nvPr/>
        </p:nvSpPr>
        <p:spPr>
          <a:xfrm>
            <a:off x="7242048" y="3319271"/>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337,546</a:t>
            </a:r>
          </a:p>
        </p:txBody>
      </p:sp>
      <p:sp>
        <p:nvSpPr>
          <p:cNvPr id="173" name="Rectangle 172"/>
          <p:cNvSpPr/>
          <p:nvPr/>
        </p:nvSpPr>
        <p:spPr>
          <a:xfrm>
            <a:off x="8129016" y="3319271"/>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 name="TextBox 173"/>
          <p:cNvSpPr txBox="1"/>
          <p:nvPr/>
        </p:nvSpPr>
        <p:spPr>
          <a:xfrm>
            <a:off x="8147304" y="3319271"/>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352,735</a:t>
            </a:r>
          </a:p>
        </p:txBody>
      </p:sp>
      <p:sp>
        <p:nvSpPr>
          <p:cNvPr id="175" name="Rectangle 174"/>
          <p:cNvSpPr/>
          <p:nvPr/>
        </p:nvSpPr>
        <p:spPr>
          <a:xfrm>
            <a:off x="9034272" y="3319271"/>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6" name="TextBox 175"/>
          <p:cNvSpPr txBox="1"/>
          <p:nvPr/>
        </p:nvSpPr>
        <p:spPr>
          <a:xfrm>
            <a:off x="9052560" y="3319271"/>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368,608</a:t>
            </a:r>
          </a:p>
        </p:txBody>
      </p:sp>
      <p:sp>
        <p:nvSpPr>
          <p:cNvPr id="177" name="Rectangle 176"/>
          <p:cNvSpPr/>
          <p:nvPr/>
        </p:nvSpPr>
        <p:spPr>
          <a:xfrm>
            <a:off x="9939528" y="3319271"/>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8" name="TextBox 177"/>
          <p:cNvSpPr txBox="1"/>
          <p:nvPr/>
        </p:nvSpPr>
        <p:spPr>
          <a:xfrm>
            <a:off x="9957816" y="3319271"/>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385,196</a:t>
            </a:r>
          </a:p>
        </p:txBody>
      </p:sp>
      <p:sp>
        <p:nvSpPr>
          <p:cNvPr id="179" name="Rectangle 178"/>
          <p:cNvSpPr/>
          <p:nvPr/>
        </p:nvSpPr>
        <p:spPr>
          <a:xfrm>
            <a:off x="10844784" y="3319271"/>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0" name="TextBox 179"/>
          <p:cNvSpPr txBox="1"/>
          <p:nvPr/>
        </p:nvSpPr>
        <p:spPr>
          <a:xfrm>
            <a:off x="10863072" y="3319271"/>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402,530</a:t>
            </a:r>
          </a:p>
        </p:txBody>
      </p:sp>
      <p:sp>
        <p:nvSpPr>
          <p:cNvPr id="181" name="Rectangle 180"/>
          <p:cNvSpPr/>
          <p:nvPr/>
        </p:nvSpPr>
        <p:spPr>
          <a:xfrm>
            <a:off x="320040" y="3630167"/>
            <a:ext cx="237744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2" name="TextBox 181"/>
          <p:cNvSpPr txBox="1"/>
          <p:nvPr/>
        </p:nvSpPr>
        <p:spPr>
          <a:xfrm>
            <a:off x="338328" y="3630167"/>
            <a:ext cx="2340864" cy="310896"/>
          </a:xfrm>
          <a:prstGeom prst="rect">
            <a:avLst/>
          </a:prstGeom>
          <a:noFill/>
        </p:spPr>
        <p:txBody>
          <a:bodyPr wrap="square" anchor="ctr" lIns="45720" rIns="45720" tIns="9144" bIns="9144">
            <a:spAutoFit/>
          </a:bodyPr>
          <a:lstStyle/>
          <a:p>
            <a:pPr algn="l"/>
            <a:r>
              <a:rPr sz="850" b="1" i="0">
                <a:solidFill>
                  <a:srgbClr val="0D2341"/>
                </a:solidFill>
                <a:latin typeface="Calibri"/>
              </a:rPr>
              <a:t>(=) EBITDA</a:t>
            </a:r>
          </a:p>
        </p:txBody>
      </p:sp>
      <p:sp>
        <p:nvSpPr>
          <p:cNvPr id="183" name="Rectangle 182"/>
          <p:cNvSpPr/>
          <p:nvPr/>
        </p:nvSpPr>
        <p:spPr>
          <a:xfrm>
            <a:off x="2697480" y="3630167"/>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4" name="TextBox 183"/>
          <p:cNvSpPr txBox="1"/>
          <p:nvPr/>
        </p:nvSpPr>
        <p:spPr>
          <a:xfrm>
            <a:off x="2715768" y="3630167"/>
            <a:ext cx="868680" cy="310896"/>
          </a:xfrm>
          <a:prstGeom prst="rect">
            <a:avLst/>
          </a:prstGeom>
          <a:noFill/>
        </p:spPr>
        <p:txBody>
          <a:bodyPr wrap="square" anchor="ctr" lIns="45720" rIns="45720" tIns="9144" bIns="9144">
            <a:spAutoFit/>
          </a:bodyPr>
          <a:lstStyle/>
          <a:p>
            <a:pPr algn="r"/>
            <a:r>
              <a:rPr sz="850" b="1" i="0">
                <a:solidFill>
                  <a:srgbClr val="0D2341"/>
                </a:solidFill>
                <a:latin typeface="Calibri"/>
              </a:rPr>
              <a:t>−732,697</a:t>
            </a:r>
          </a:p>
        </p:txBody>
      </p:sp>
      <p:sp>
        <p:nvSpPr>
          <p:cNvPr id="185" name="Rectangle 184"/>
          <p:cNvSpPr/>
          <p:nvPr/>
        </p:nvSpPr>
        <p:spPr>
          <a:xfrm>
            <a:off x="3602736" y="3630167"/>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6" name="TextBox 185"/>
          <p:cNvSpPr txBox="1"/>
          <p:nvPr/>
        </p:nvSpPr>
        <p:spPr>
          <a:xfrm>
            <a:off x="3621024" y="3630167"/>
            <a:ext cx="868680" cy="310896"/>
          </a:xfrm>
          <a:prstGeom prst="rect">
            <a:avLst/>
          </a:prstGeom>
          <a:noFill/>
        </p:spPr>
        <p:txBody>
          <a:bodyPr wrap="square" anchor="ctr" lIns="45720" rIns="45720" tIns="9144" bIns="9144">
            <a:spAutoFit/>
          </a:bodyPr>
          <a:lstStyle/>
          <a:p>
            <a:pPr algn="r"/>
            <a:r>
              <a:rPr sz="850" b="1" i="0">
                <a:solidFill>
                  <a:srgbClr val="0D2341"/>
                </a:solidFill>
                <a:latin typeface="Calibri"/>
              </a:rPr>
              <a:t>151,019</a:t>
            </a:r>
          </a:p>
        </p:txBody>
      </p:sp>
      <p:sp>
        <p:nvSpPr>
          <p:cNvPr id="187" name="Rectangle 186"/>
          <p:cNvSpPr/>
          <p:nvPr/>
        </p:nvSpPr>
        <p:spPr>
          <a:xfrm>
            <a:off x="4507992" y="3630167"/>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8" name="TextBox 187"/>
          <p:cNvSpPr txBox="1"/>
          <p:nvPr/>
        </p:nvSpPr>
        <p:spPr>
          <a:xfrm>
            <a:off x="4526280" y="3630167"/>
            <a:ext cx="868680" cy="310896"/>
          </a:xfrm>
          <a:prstGeom prst="rect">
            <a:avLst/>
          </a:prstGeom>
          <a:noFill/>
        </p:spPr>
        <p:txBody>
          <a:bodyPr wrap="square" anchor="ctr" lIns="45720" rIns="45720" tIns="9144" bIns="9144">
            <a:spAutoFit/>
          </a:bodyPr>
          <a:lstStyle/>
          <a:p>
            <a:pPr algn="r"/>
            <a:r>
              <a:rPr sz="850" b="1" i="0">
                <a:solidFill>
                  <a:srgbClr val="0D2341"/>
                </a:solidFill>
                <a:latin typeface="Calibri"/>
              </a:rPr>
              <a:t>1,355,238</a:t>
            </a:r>
          </a:p>
        </p:txBody>
      </p:sp>
      <p:sp>
        <p:nvSpPr>
          <p:cNvPr id="189" name="Rectangle 188"/>
          <p:cNvSpPr/>
          <p:nvPr/>
        </p:nvSpPr>
        <p:spPr>
          <a:xfrm>
            <a:off x="5413248" y="3630167"/>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0" name="TextBox 189"/>
          <p:cNvSpPr txBox="1"/>
          <p:nvPr/>
        </p:nvSpPr>
        <p:spPr>
          <a:xfrm>
            <a:off x="5431536" y="3630167"/>
            <a:ext cx="868680" cy="310896"/>
          </a:xfrm>
          <a:prstGeom prst="rect">
            <a:avLst/>
          </a:prstGeom>
          <a:noFill/>
        </p:spPr>
        <p:txBody>
          <a:bodyPr wrap="square" anchor="ctr" lIns="45720" rIns="45720" tIns="9144" bIns="9144">
            <a:spAutoFit/>
          </a:bodyPr>
          <a:lstStyle/>
          <a:p>
            <a:pPr algn="r"/>
            <a:r>
              <a:rPr sz="850" b="1" i="0">
                <a:solidFill>
                  <a:srgbClr val="0D2341"/>
                </a:solidFill>
                <a:latin typeface="Calibri"/>
              </a:rPr>
              <a:t>2,917,792</a:t>
            </a:r>
          </a:p>
        </p:txBody>
      </p:sp>
      <p:sp>
        <p:nvSpPr>
          <p:cNvPr id="191" name="Rectangle 190"/>
          <p:cNvSpPr/>
          <p:nvPr/>
        </p:nvSpPr>
        <p:spPr>
          <a:xfrm>
            <a:off x="6318504" y="3630167"/>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2" name="TextBox 191"/>
          <p:cNvSpPr txBox="1"/>
          <p:nvPr/>
        </p:nvSpPr>
        <p:spPr>
          <a:xfrm>
            <a:off x="6336792" y="3630167"/>
            <a:ext cx="868680" cy="310896"/>
          </a:xfrm>
          <a:prstGeom prst="rect">
            <a:avLst/>
          </a:prstGeom>
          <a:noFill/>
        </p:spPr>
        <p:txBody>
          <a:bodyPr wrap="square" anchor="ctr" lIns="45720" rIns="45720" tIns="9144" bIns="9144">
            <a:spAutoFit/>
          </a:bodyPr>
          <a:lstStyle/>
          <a:p>
            <a:pPr algn="r"/>
            <a:r>
              <a:rPr sz="850" b="1" i="0">
                <a:solidFill>
                  <a:srgbClr val="0D2341"/>
                </a:solidFill>
                <a:latin typeface="Calibri"/>
              </a:rPr>
              <a:t>4,879,754</a:t>
            </a:r>
          </a:p>
        </p:txBody>
      </p:sp>
      <p:sp>
        <p:nvSpPr>
          <p:cNvPr id="193" name="Rectangle 192"/>
          <p:cNvSpPr/>
          <p:nvPr/>
        </p:nvSpPr>
        <p:spPr>
          <a:xfrm>
            <a:off x="7223760" y="3630167"/>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4" name="TextBox 193"/>
          <p:cNvSpPr txBox="1"/>
          <p:nvPr/>
        </p:nvSpPr>
        <p:spPr>
          <a:xfrm>
            <a:off x="7242048" y="3630167"/>
            <a:ext cx="868680" cy="310896"/>
          </a:xfrm>
          <a:prstGeom prst="rect">
            <a:avLst/>
          </a:prstGeom>
          <a:noFill/>
        </p:spPr>
        <p:txBody>
          <a:bodyPr wrap="square" anchor="ctr" lIns="45720" rIns="45720" tIns="9144" bIns="9144">
            <a:spAutoFit/>
          </a:bodyPr>
          <a:lstStyle/>
          <a:p>
            <a:pPr algn="r"/>
            <a:r>
              <a:rPr sz="850" b="1" i="0">
                <a:solidFill>
                  <a:srgbClr val="0D2341"/>
                </a:solidFill>
                <a:latin typeface="Calibri"/>
              </a:rPr>
              <a:t>7,012,385</a:t>
            </a:r>
          </a:p>
        </p:txBody>
      </p:sp>
      <p:sp>
        <p:nvSpPr>
          <p:cNvPr id="195" name="Rectangle 194"/>
          <p:cNvSpPr/>
          <p:nvPr/>
        </p:nvSpPr>
        <p:spPr>
          <a:xfrm>
            <a:off x="8129016" y="3630167"/>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6" name="TextBox 195"/>
          <p:cNvSpPr txBox="1"/>
          <p:nvPr/>
        </p:nvSpPr>
        <p:spPr>
          <a:xfrm>
            <a:off x="8147304" y="3630167"/>
            <a:ext cx="868680" cy="310896"/>
          </a:xfrm>
          <a:prstGeom prst="rect">
            <a:avLst/>
          </a:prstGeom>
          <a:noFill/>
        </p:spPr>
        <p:txBody>
          <a:bodyPr wrap="square" anchor="ctr" lIns="45720" rIns="45720" tIns="9144" bIns="9144">
            <a:spAutoFit/>
          </a:bodyPr>
          <a:lstStyle/>
          <a:p>
            <a:pPr algn="r"/>
            <a:r>
              <a:rPr sz="850" b="1" i="0">
                <a:solidFill>
                  <a:srgbClr val="0D2341"/>
                </a:solidFill>
                <a:latin typeface="Calibri"/>
              </a:rPr>
              <a:t>9,612,661</a:t>
            </a:r>
          </a:p>
        </p:txBody>
      </p:sp>
      <p:sp>
        <p:nvSpPr>
          <p:cNvPr id="197" name="Rectangle 196"/>
          <p:cNvSpPr/>
          <p:nvPr/>
        </p:nvSpPr>
        <p:spPr>
          <a:xfrm>
            <a:off x="9034272" y="3630167"/>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8" name="TextBox 197"/>
          <p:cNvSpPr txBox="1"/>
          <p:nvPr/>
        </p:nvSpPr>
        <p:spPr>
          <a:xfrm>
            <a:off x="9052560" y="3630167"/>
            <a:ext cx="868680" cy="310896"/>
          </a:xfrm>
          <a:prstGeom prst="rect">
            <a:avLst/>
          </a:prstGeom>
          <a:noFill/>
        </p:spPr>
        <p:txBody>
          <a:bodyPr wrap="square" anchor="ctr" lIns="45720" rIns="45720" tIns="9144" bIns="9144">
            <a:spAutoFit/>
          </a:bodyPr>
          <a:lstStyle/>
          <a:p>
            <a:pPr algn="r"/>
            <a:r>
              <a:rPr sz="850" b="1" i="0">
                <a:solidFill>
                  <a:srgbClr val="0D2341"/>
                </a:solidFill>
                <a:latin typeface="Calibri"/>
              </a:rPr>
              <a:t>12,432,762</a:t>
            </a:r>
          </a:p>
        </p:txBody>
      </p:sp>
      <p:sp>
        <p:nvSpPr>
          <p:cNvPr id="199" name="Rectangle 198"/>
          <p:cNvSpPr/>
          <p:nvPr/>
        </p:nvSpPr>
        <p:spPr>
          <a:xfrm>
            <a:off x="9939528" y="3630167"/>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0" name="TextBox 199"/>
          <p:cNvSpPr txBox="1"/>
          <p:nvPr/>
        </p:nvSpPr>
        <p:spPr>
          <a:xfrm>
            <a:off x="9957816" y="3630167"/>
            <a:ext cx="868680" cy="310896"/>
          </a:xfrm>
          <a:prstGeom prst="rect">
            <a:avLst/>
          </a:prstGeom>
          <a:noFill/>
        </p:spPr>
        <p:txBody>
          <a:bodyPr wrap="square" anchor="ctr" lIns="45720" rIns="45720" tIns="9144" bIns="9144">
            <a:spAutoFit/>
          </a:bodyPr>
          <a:lstStyle/>
          <a:p>
            <a:pPr algn="r"/>
            <a:r>
              <a:rPr sz="850" b="1" i="0">
                <a:solidFill>
                  <a:srgbClr val="0D2341"/>
                </a:solidFill>
                <a:latin typeface="Calibri"/>
              </a:rPr>
              <a:t>15,799,078</a:t>
            </a:r>
          </a:p>
        </p:txBody>
      </p:sp>
      <p:sp>
        <p:nvSpPr>
          <p:cNvPr id="201" name="Rectangle 200"/>
          <p:cNvSpPr/>
          <p:nvPr/>
        </p:nvSpPr>
        <p:spPr>
          <a:xfrm>
            <a:off x="10844784" y="3630167"/>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2" name="TextBox 201"/>
          <p:cNvSpPr txBox="1"/>
          <p:nvPr/>
        </p:nvSpPr>
        <p:spPr>
          <a:xfrm>
            <a:off x="10863072" y="3630167"/>
            <a:ext cx="868680" cy="310896"/>
          </a:xfrm>
          <a:prstGeom prst="rect">
            <a:avLst/>
          </a:prstGeom>
          <a:noFill/>
        </p:spPr>
        <p:txBody>
          <a:bodyPr wrap="square" anchor="ctr" lIns="45720" rIns="45720" tIns="9144" bIns="9144">
            <a:spAutoFit/>
          </a:bodyPr>
          <a:lstStyle/>
          <a:p>
            <a:pPr algn="r"/>
            <a:r>
              <a:rPr sz="850" b="1" i="0">
                <a:solidFill>
                  <a:srgbClr val="0D2341"/>
                </a:solidFill>
                <a:latin typeface="Calibri"/>
              </a:rPr>
              <a:t>19,443,185</a:t>
            </a:r>
          </a:p>
        </p:txBody>
      </p:sp>
      <p:sp>
        <p:nvSpPr>
          <p:cNvPr id="203" name="Rectangle 202"/>
          <p:cNvSpPr/>
          <p:nvPr/>
        </p:nvSpPr>
        <p:spPr>
          <a:xfrm>
            <a:off x="320040" y="3941063"/>
            <a:ext cx="237744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4" name="TextBox 203"/>
          <p:cNvSpPr txBox="1"/>
          <p:nvPr/>
        </p:nvSpPr>
        <p:spPr>
          <a:xfrm>
            <a:off x="338328" y="3941063"/>
            <a:ext cx="2340864" cy="310896"/>
          </a:xfrm>
          <a:prstGeom prst="rect">
            <a:avLst/>
          </a:prstGeom>
          <a:noFill/>
        </p:spPr>
        <p:txBody>
          <a:bodyPr wrap="square" anchor="ctr" lIns="45720" rIns="45720" tIns="9144" bIns="9144">
            <a:spAutoFit/>
          </a:bodyPr>
          <a:lstStyle/>
          <a:p>
            <a:pPr algn="l"/>
            <a:r>
              <a:rPr sz="850" b="0" i="0">
                <a:solidFill>
                  <a:srgbClr val="334155"/>
                </a:solidFill>
                <a:latin typeface="Calibri"/>
              </a:rPr>
              <a:t>(−) Depreciación y amortización</a:t>
            </a:r>
          </a:p>
        </p:txBody>
      </p:sp>
      <p:sp>
        <p:nvSpPr>
          <p:cNvPr id="205" name="Rectangle 204"/>
          <p:cNvSpPr/>
          <p:nvPr/>
        </p:nvSpPr>
        <p:spPr>
          <a:xfrm>
            <a:off x="2697480" y="3941063"/>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 name="TextBox 205"/>
          <p:cNvSpPr txBox="1"/>
          <p:nvPr/>
        </p:nvSpPr>
        <p:spPr>
          <a:xfrm>
            <a:off x="2715768" y="3941063"/>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204,700</a:t>
            </a:r>
          </a:p>
        </p:txBody>
      </p:sp>
      <p:sp>
        <p:nvSpPr>
          <p:cNvPr id="207" name="Rectangle 206"/>
          <p:cNvSpPr/>
          <p:nvPr/>
        </p:nvSpPr>
        <p:spPr>
          <a:xfrm>
            <a:off x="3602736" y="3941063"/>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8" name="TextBox 207"/>
          <p:cNvSpPr txBox="1"/>
          <p:nvPr/>
        </p:nvSpPr>
        <p:spPr>
          <a:xfrm>
            <a:off x="3621024" y="3941063"/>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204,700</a:t>
            </a:r>
          </a:p>
        </p:txBody>
      </p:sp>
      <p:sp>
        <p:nvSpPr>
          <p:cNvPr id="209" name="Rectangle 208"/>
          <p:cNvSpPr/>
          <p:nvPr/>
        </p:nvSpPr>
        <p:spPr>
          <a:xfrm>
            <a:off x="4507992" y="3941063"/>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0" name="TextBox 209"/>
          <p:cNvSpPr txBox="1"/>
          <p:nvPr/>
        </p:nvSpPr>
        <p:spPr>
          <a:xfrm>
            <a:off x="4526280" y="3941063"/>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204,700</a:t>
            </a:r>
          </a:p>
        </p:txBody>
      </p:sp>
      <p:sp>
        <p:nvSpPr>
          <p:cNvPr id="211" name="Rectangle 210"/>
          <p:cNvSpPr/>
          <p:nvPr/>
        </p:nvSpPr>
        <p:spPr>
          <a:xfrm>
            <a:off x="5413248" y="3941063"/>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2" name="TextBox 211"/>
          <p:cNvSpPr txBox="1"/>
          <p:nvPr/>
        </p:nvSpPr>
        <p:spPr>
          <a:xfrm>
            <a:off x="5431536" y="3941063"/>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204,700</a:t>
            </a:r>
          </a:p>
        </p:txBody>
      </p:sp>
      <p:sp>
        <p:nvSpPr>
          <p:cNvPr id="213" name="Rectangle 212"/>
          <p:cNvSpPr/>
          <p:nvPr/>
        </p:nvSpPr>
        <p:spPr>
          <a:xfrm>
            <a:off x="6318504" y="3941063"/>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4" name="TextBox 213"/>
          <p:cNvSpPr txBox="1"/>
          <p:nvPr/>
        </p:nvSpPr>
        <p:spPr>
          <a:xfrm>
            <a:off x="6336792" y="3941063"/>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204,700</a:t>
            </a:r>
          </a:p>
        </p:txBody>
      </p:sp>
      <p:sp>
        <p:nvSpPr>
          <p:cNvPr id="215" name="Rectangle 214"/>
          <p:cNvSpPr/>
          <p:nvPr/>
        </p:nvSpPr>
        <p:spPr>
          <a:xfrm>
            <a:off x="7223760" y="3941063"/>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6" name="TextBox 215"/>
          <p:cNvSpPr txBox="1"/>
          <p:nvPr/>
        </p:nvSpPr>
        <p:spPr>
          <a:xfrm>
            <a:off x="7242048" y="3941063"/>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89,500</a:t>
            </a:r>
          </a:p>
        </p:txBody>
      </p:sp>
      <p:sp>
        <p:nvSpPr>
          <p:cNvPr id="217" name="Rectangle 216"/>
          <p:cNvSpPr/>
          <p:nvPr/>
        </p:nvSpPr>
        <p:spPr>
          <a:xfrm>
            <a:off x="8129016" y="3941063"/>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8" name="TextBox 217"/>
          <p:cNvSpPr txBox="1"/>
          <p:nvPr/>
        </p:nvSpPr>
        <p:spPr>
          <a:xfrm>
            <a:off x="8147304" y="3941063"/>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89,500</a:t>
            </a:r>
          </a:p>
        </p:txBody>
      </p:sp>
      <p:sp>
        <p:nvSpPr>
          <p:cNvPr id="219" name="Rectangle 218"/>
          <p:cNvSpPr/>
          <p:nvPr/>
        </p:nvSpPr>
        <p:spPr>
          <a:xfrm>
            <a:off x="9034272" y="3941063"/>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0" name="TextBox 219"/>
          <p:cNvSpPr txBox="1"/>
          <p:nvPr/>
        </p:nvSpPr>
        <p:spPr>
          <a:xfrm>
            <a:off x="9052560" y="3941063"/>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89,500</a:t>
            </a:r>
          </a:p>
        </p:txBody>
      </p:sp>
      <p:sp>
        <p:nvSpPr>
          <p:cNvPr id="221" name="Rectangle 220"/>
          <p:cNvSpPr/>
          <p:nvPr/>
        </p:nvSpPr>
        <p:spPr>
          <a:xfrm>
            <a:off x="9939528" y="3941063"/>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2" name="TextBox 221"/>
          <p:cNvSpPr txBox="1"/>
          <p:nvPr/>
        </p:nvSpPr>
        <p:spPr>
          <a:xfrm>
            <a:off x="9957816" y="3941063"/>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89,500</a:t>
            </a:r>
          </a:p>
        </p:txBody>
      </p:sp>
      <p:sp>
        <p:nvSpPr>
          <p:cNvPr id="223" name="Rectangle 222"/>
          <p:cNvSpPr/>
          <p:nvPr/>
        </p:nvSpPr>
        <p:spPr>
          <a:xfrm>
            <a:off x="10844784" y="3941063"/>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4" name="TextBox 223"/>
          <p:cNvSpPr txBox="1"/>
          <p:nvPr/>
        </p:nvSpPr>
        <p:spPr>
          <a:xfrm>
            <a:off x="10863072" y="3941063"/>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89,500</a:t>
            </a:r>
          </a:p>
        </p:txBody>
      </p:sp>
      <p:sp>
        <p:nvSpPr>
          <p:cNvPr id="225" name="Rectangle 224"/>
          <p:cNvSpPr/>
          <p:nvPr/>
        </p:nvSpPr>
        <p:spPr>
          <a:xfrm>
            <a:off x="320040" y="4251959"/>
            <a:ext cx="237744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6" name="TextBox 225"/>
          <p:cNvSpPr txBox="1"/>
          <p:nvPr/>
        </p:nvSpPr>
        <p:spPr>
          <a:xfrm>
            <a:off x="338328" y="4251959"/>
            <a:ext cx="2340864" cy="310896"/>
          </a:xfrm>
          <a:prstGeom prst="rect">
            <a:avLst/>
          </a:prstGeom>
          <a:noFill/>
        </p:spPr>
        <p:txBody>
          <a:bodyPr wrap="square" anchor="ctr" lIns="45720" rIns="45720" tIns="9144" bIns="9144">
            <a:spAutoFit/>
          </a:bodyPr>
          <a:lstStyle/>
          <a:p>
            <a:pPr algn="l"/>
            <a:r>
              <a:rPr sz="850" b="0" i="0">
                <a:solidFill>
                  <a:srgbClr val="334155"/>
                </a:solidFill>
                <a:latin typeface="Calibri"/>
              </a:rPr>
              <a:t>(−) Impuesto municipal (ICS)</a:t>
            </a:r>
          </a:p>
        </p:txBody>
      </p:sp>
      <p:sp>
        <p:nvSpPr>
          <p:cNvPr id="227" name="Rectangle 226"/>
          <p:cNvSpPr/>
          <p:nvPr/>
        </p:nvSpPr>
        <p:spPr>
          <a:xfrm>
            <a:off x="2697480" y="4251959"/>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8" name="TextBox 227"/>
          <p:cNvSpPr txBox="1"/>
          <p:nvPr/>
        </p:nvSpPr>
        <p:spPr>
          <a:xfrm>
            <a:off x="2715768" y="4251959"/>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1,160</a:t>
            </a:r>
          </a:p>
        </p:txBody>
      </p:sp>
      <p:sp>
        <p:nvSpPr>
          <p:cNvPr id="229" name="Rectangle 228"/>
          <p:cNvSpPr/>
          <p:nvPr/>
        </p:nvSpPr>
        <p:spPr>
          <a:xfrm>
            <a:off x="3602736" y="4251959"/>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0" name="TextBox 229"/>
          <p:cNvSpPr txBox="1"/>
          <p:nvPr/>
        </p:nvSpPr>
        <p:spPr>
          <a:xfrm>
            <a:off x="3621024" y="4251959"/>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2,057</a:t>
            </a:r>
          </a:p>
        </p:txBody>
      </p:sp>
      <p:sp>
        <p:nvSpPr>
          <p:cNvPr id="231" name="Rectangle 230"/>
          <p:cNvSpPr/>
          <p:nvPr/>
        </p:nvSpPr>
        <p:spPr>
          <a:xfrm>
            <a:off x="4507992" y="4251959"/>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2" name="TextBox 231"/>
          <p:cNvSpPr txBox="1"/>
          <p:nvPr/>
        </p:nvSpPr>
        <p:spPr>
          <a:xfrm>
            <a:off x="4526280" y="4251959"/>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3,252</a:t>
            </a:r>
          </a:p>
        </p:txBody>
      </p:sp>
      <p:sp>
        <p:nvSpPr>
          <p:cNvPr id="233" name="Rectangle 232"/>
          <p:cNvSpPr/>
          <p:nvPr/>
        </p:nvSpPr>
        <p:spPr>
          <a:xfrm>
            <a:off x="5413248" y="4251959"/>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4" name="TextBox 233"/>
          <p:cNvSpPr txBox="1"/>
          <p:nvPr/>
        </p:nvSpPr>
        <p:spPr>
          <a:xfrm>
            <a:off x="5431536" y="4251959"/>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4,573</a:t>
            </a:r>
          </a:p>
        </p:txBody>
      </p:sp>
      <p:sp>
        <p:nvSpPr>
          <p:cNvPr id="235" name="Rectangle 234"/>
          <p:cNvSpPr/>
          <p:nvPr/>
        </p:nvSpPr>
        <p:spPr>
          <a:xfrm>
            <a:off x="6318504" y="4251959"/>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6" name="TextBox 235"/>
          <p:cNvSpPr txBox="1"/>
          <p:nvPr/>
        </p:nvSpPr>
        <p:spPr>
          <a:xfrm>
            <a:off x="6336792" y="4251959"/>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5,999</a:t>
            </a:r>
          </a:p>
        </p:txBody>
      </p:sp>
      <p:sp>
        <p:nvSpPr>
          <p:cNvPr id="237" name="Rectangle 236"/>
          <p:cNvSpPr/>
          <p:nvPr/>
        </p:nvSpPr>
        <p:spPr>
          <a:xfrm>
            <a:off x="7223760" y="4251959"/>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8" name="TextBox 237"/>
          <p:cNvSpPr txBox="1"/>
          <p:nvPr/>
        </p:nvSpPr>
        <p:spPr>
          <a:xfrm>
            <a:off x="7242048" y="4251959"/>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7,347</a:t>
            </a:r>
          </a:p>
        </p:txBody>
      </p:sp>
      <p:sp>
        <p:nvSpPr>
          <p:cNvPr id="239" name="Rectangle 238"/>
          <p:cNvSpPr/>
          <p:nvPr/>
        </p:nvSpPr>
        <p:spPr>
          <a:xfrm>
            <a:off x="8129016" y="4251959"/>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0" name="TextBox 239"/>
          <p:cNvSpPr txBox="1"/>
          <p:nvPr/>
        </p:nvSpPr>
        <p:spPr>
          <a:xfrm>
            <a:off x="8147304" y="4251959"/>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8,595</a:t>
            </a:r>
          </a:p>
        </p:txBody>
      </p:sp>
      <p:sp>
        <p:nvSpPr>
          <p:cNvPr id="241" name="Rectangle 240"/>
          <p:cNvSpPr/>
          <p:nvPr/>
        </p:nvSpPr>
        <p:spPr>
          <a:xfrm>
            <a:off x="9034272" y="4251959"/>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2" name="TextBox 241"/>
          <p:cNvSpPr txBox="1"/>
          <p:nvPr/>
        </p:nvSpPr>
        <p:spPr>
          <a:xfrm>
            <a:off x="9052560" y="4251959"/>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9,697</a:t>
            </a:r>
          </a:p>
        </p:txBody>
      </p:sp>
      <p:sp>
        <p:nvSpPr>
          <p:cNvPr id="243" name="Rectangle 242"/>
          <p:cNvSpPr/>
          <p:nvPr/>
        </p:nvSpPr>
        <p:spPr>
          <a:xfrm>
            <a:off x="9939528" y="4251959"/>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4" name="TextBox 243"/>
          <p:cNvSpPr txBox="1"/>
          <p:nvPr/>
        </p:nvSpPr>
        <p:spPr>
          <a:xfrm>
            <a:off x="9957816" y="4251959"/>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10,901</a:t>
            </a:r>
          </a:p>
        </p:txBody>
      </p:sp>
      <p:sp>
        <p:nvSpPr>
          <p:cNvPr id="245" name="Rectangle 244"/>
          <p:cNvSpPr/>
          <p:nvPr/>
        </p:nvSpPr>
        <p:spPr>
          <a:xfrm>
            <a:off x="10844784" y="4251959"/>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6" name="TextBox 245"/>
          <p:cNvSpPr txBox="1"/>
          <p:nvPr/>
        </p:nvSpPr>
        <p:spPr>
          <a:xfrm>
            <a:off x="10863072" y="4251959"/>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12,202</a:t>
            </a:r>
          </a:p>
        </p:txBody>
      </p:sp>
      <p:sp>
        <p:nvSpPr>
          <p:cNvPr id="247" name="Rectangle 246"/>
          <p:cNvSpPr/>
          <p:nvPr/>
        </p:nvSpPr>
        <p:spPr>
          <a:xfrm>
            <a:off x="320040" y="4562855"/>
            <a:ext cx="237744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8" name="TextBox 247"/>
          <p:cNvSpPr txBox="1"/>
          <p:nvPr/>
        </p:nvSpPr>
        <p:spPr>
          <a:xfrm>
            <a:off x="338328" y="4562855"/>
            <a:ext cx="2340864" cy="310896"/>
          </a:xfrm>
          <a:prstGeom prst="rect">
            <a:avLst/>
          </a:prstGeom>
          <a:noFill/>
        </p:spPr>
        <p:txBody>
          <a:bodyPr wrap="square" anchor="ctr" lIns="45720" rIns="45720" tIns="9144" bIns="9144">
            <a:spAutoFit/>
          </a:bodyPr>
          <a:lstStyle/>
          <a:p>
            <a:pPr algn="l"/>
            <a:r>
              <a:rPr sz="850" b="0" i="0">
                <a:solidFill>
                  <a:srgbClr val="334155"/>
                </a:solidFill>
                <a:latin typeface="Calibri"/>
              </a:rPr>
              <a:t>(−) Intereses</a:t>
            </a:r>
          </a:p>
        </p:txBody>
      </p:sp>
      <p:sp>
        <p:nvSpPr>
          <p:cNvPr id="249" name="Rectangle 248"/>
          <p:cNvSpPr/>
          <p:nvPr/>
        </p:nvSpPr>
        <p:spPr>
          <a:xfrm>
            <a:off x="2697480" y="4562855"/>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0" name="TextBox 249"/>
          <p:cNvSpPr txBox="1"/>
          <p:nvPr/>
        </p:nvSpPr>
        <p:spPr>
          <a:xfrm>
            <a:off x="2715768" y="4562855"/>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124,884</a:t>
            </a:r>
          </a:p>
        </p:txBody>
      </p:sp>
      <p:sp>
        <p:nvSpPr>
          <p:cNvPr id="251" name="Rectangle 250"/>
          <p:cNvSpPr/>
          <p:nvPr/>
        </p:nvSpPr>
        <p:spPr>
          <a:xfrm>
            <a:off x="3602736" y="4562855"/>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2" name="TextBox 251"/>
          <p:cNvSpPr txBox="1"/>
          <p:nvPr/>
        </p:nvSpPr>
        <p:spPr>
          <a:xfrm>
            <a:off x="3621024" y="4562855"/>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105,991</a:t>
            </a:r>
          </a:p>
        </p:txBody>
      </p:sp>
      <p:sp>
        <p:nvSpPr>
          <p:cNvPr id="253" name="Rectangle 252"/>
          <p:cNvSpPr/>
          <p:nvPr/>
        </p:nvSpPr>
        <p:spPr>
          <a:xfrm>
            <a:off x="4507992" y="4562855"/>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4" name="TextBox 253"/>
          <p:cNvSpPr txBox="1"/>
          <p:nvPr/>
        </p:nvSpPr>
        <p:spPr>
          <a:xfrm>
            <a:off x="4526280" y="4562855"/>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84,453</a:t>
            </a:r>
          </a:p>
        </p:txBody>
      </p:sp>
      <p:sp>
        <p:nvSpPr>
          <p:cNvPr id="255" name="Rectangle 254"/>
          <p:cNvSpPr/>
          <p:nvPr/>
        </p:nvSpPr>
        <p:spPr>
          <a:xfrm>
            <a:off x="5413248" y="4562855"/>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6" name="TextBox 255"/>
          <p:cNvSpPr txBox="1"/>
          <p:nvPr/>
        </p:nvSpPr>
        <p:spPr>
          <a:xfrm>
            <a:off x="5431536" y="4562855"/>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59,900</a:t>
            </a:r>
          </a:p>
        </p:txBody>
      </p:sp>
      <p:sp>
        <p:nvSpPr>
          <p:cNvPr id="257" name="Rectangle 256"/>
          <p:cNvSpPr/>
          <p:nvPr/>
        </p:nvSpPr>
        <p:spPr>
          <a:xfrm>
            <a:off x="6318504" y="4562855"/>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8" name="TextBox 257"/>
          <p:cNvSpPr txBox="1"/>
          <p:nvPr/>
        </p:nvSpPr>
        <p:spPr>
          <a:xfrm>
            <a:off x="6336792" y="4562855"/>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31,909</a:t>
            </a:r>
          </a:p>
        </p:txBody>
      </p:sp>
      <p:sp>
        <p:nvSpPr>
          <p:cNvPr id="259" name="Rectangle 258"/>
          <p:cNvSpPr/>
          <p:nvPr/>
        </p:nvSpPr>
        <p:spPr>
          <a:xfrm>
            <a:off x="7223760" y="4562855"/>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0" name="TextBox 259"/>
          <p:cNvSpPr txBox="1"/>
          <p:nvPr/>
        </p:nvSpPr>
        <p:spPr>
          <a:xfrm>
            <a:off x="7242048" y="4562855"/>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61" name="Rectangle 260"/>
          <p:cNvSpPr/>
          <p:nvPr/>
        </p:nvSpPr>
        <p:spPr>
          <a:xfrm>
            <a:off x="8129016" y="4562855"/>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2" name="TextBox 261"/>
          <p:cNvSpPr txBox="1"/>
          <p:nvPr/>
        </p:nvSpPr>
        <p:spPr>
          <a:xfrm>
            <a:off x="8147304" y="4562855"/>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63" name="Rectangle 262"/>
          <p:cNvSpPr/>
          <p:nvPr/>
        </p:nvSpPr>
        <p:spPr>
          <a:xfrm>
            <a:off x="9034272" y="4562855"/>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4" name="TextBox 263"/>
          <p:cNvSpPr txBox="1"/>
          <p:nvPr/>
        </p:nvSpPr>
        <p:spPr>
          <a:xfrm>
            <a:off x="9052560" y="4562855"/>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65" name="Rectangle 264"/>
          <p:cNvSpPr/>
          <p:nvPr/>
        </p:nvSpPr>
        <p:spPr>
          <a:xfrm>
            <a:off x="9939528" y="4562855"/>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6" name="TextBox 265"/>
          <p:cNvSpPr txBox="1"/>
          <p:nvPr/>
        </p:nvSpPr>
        <p:spPr>
          <a:xfrm>
            <a:off x="9957816" y="4562855"/>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67" name="Rectangle 266"/>
          <p:cNvSpPr/>
          <p:nvPr/>
        </p:nvSpPr>
        <p:spPr>
          <a:xfrm>
            <a:off x="10844784" y="4562855"/>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8" name="TextBox 267"/>
          <p:cNvSpPr txBox="1"/>
          <p:nvPr/>
        </p:nvSpPr>
        <p:spPr>
          <a:xfrm>
            <a:off x="10863072" y="4562855"/>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69" name="Rectangle 268"/>
          <p:cNvSpPr/>
          <p:nvPr/>
        </p:nvSpPr>
        <p:spPr>
          <a:xfrm>
            <a:off x="320040" y="4873751"/>
            <a:ext cx="237744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0" name="TextBox 269"/>
          <p:cNvSpPr txBox="1"/>
          <p:nvPr/>
        </p:nvSpPr>
        <p:spPr>
          <a:xfrm>
            <a:off x="338328" y="4873751"/>
            <a:ext cx="2340864" cy="310896"/>
          </a:xfrm>
          <a:prstGeom prst="rect">
            <a:avLst/>
          </a:prstGeom>
          <a:noFill/>
        </p:spPr>
        <p:txBody>
          <a:bodyPr wrap="square" anchor="ctr" lIns="45720" rIns="45720" tIns="9144" bIns="9144">
            <a:spAutoFit/>
          </a:bodyPr>
          <a:lstStyle/>
          <a:p>
            <a:pPr algn="l"/>
            <a:r>
              <a:rPr sz="850" b="1" i="0">
                <a:solidFill>
                  <a:srgbClr val="0D2341"/>
                </a:solidFill>
                <a:latin typeface="Calibri"/>
              </a:rPr>
              <a:t>(=) Utilidad antes de impuestos</a:t>
            </a:r>
          </a:p>
        </p:txBody>
      </p:sp>
      <p:sp>
        <p:nvSpPr>
          <p:cNvPr id="271" name="Rectangle 270"/>
          <p:cNvSpPr/>
          <p:nvPr/>
        </p:nvSpPr>
        <p:spPr>
          <a:xfrm>
            <a:off x="2697480" y="4873751"/>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2" name="TextBox 271"/>
          <p:cNvSpPr txBox="1"/>
          <p:nvPr/>
        </p:nvSpPr>
        <p:spPr>
          <a:xfrm>
            <a:off x="2715768" y="4873751"/>
            <a:ext cx="868680" cy="310896"/>
          </a:xfrm>
          <a:prstGeom prst="rect">
            <a:avLst/>
          </a:prstGeom>
          <a:noFill/>
        </p:spPr>
        <p:txBody>
          <a:bodyPr wrap="square" anchor="ctr" lIns="45720" rIns="45720" tIns="9144" bIns="9144">
            <a:spAutoFit/>
          </a:bodyPr>
          <a:lstStyle/>
          <a:p>
            <a:pPr algn="r"/>
            <a:r>
              <a:rPr sz="850" b="1" i="0">
                <a:solidFill>
                  <a:srgbClr val="0D2341"/>
                </a:solidFill>
                <a:latin typeface="Calibri"/>
              </a:rPr>
              <a:t>−1,063,441</a:t>
            </a:r>
          </a:p>
        </p:txBody>
      </p:sp>
      <p:sp>
        <p:nvSpPr>
          <p:cNvPr id="273" name="Rectangle 272"/>
          <p:cNvSpPr/>
          <p:nvPr/>
        </p:nvSpPr>
        <p:spPr>
          <a:xfrm>
            <a:off x="3602736" y="4873751"/>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4" name="TextBox 273"/>
          <p:cNvSpPr txBox="1"/>
          <p:nvPr/>
        </p:nvSpPr>
        <p:spPr>
          <a:xfrm>
            <a:off x="3621024" y="4873751"/>
            <a:ext cx="868680" cy="310896"/>
          </a:xfrm>
          <a:prstGeom prst="rect">
            <a:avLst/>
          </a:prstGeom>
          <a:noFill/>
        </p:spPr>
        <p:txBody>
          <a:bodyPr wrap="square" anchor="ctr" lIns="45720" rIns="45720" tIns="9144" bIns="9144">
            <a:spAutoFit/>
          </a:bodyPr>
          <a:lstStyle/>
          <a:p>
            <a:pPr algn="r"/>
            <a:r>
              <a:rPr sz="850" b="1" i="0">
                <a:solidFill>
                  <a:srgbClr val="0D2341"/>
                </a:solidFill>
                <a:latin typeface="Calibri"/>
              </a:rPr>
              <a:t>−161,729</a:t>
            </a:r>
          </a:p>
        </p:txBody>
      </p:sp>
      <p:sp>
        <p:nvSpPr>
          <p:cNvPr id="275" name="Rectangle 274"/>
          <p:cNvSpPr/>
          <p:nvPr/>
        </p:nvSpPr>
        <p:spPr>
          <a:xfrm>
            <a:off x="4507992" y="4873751"/>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6" name="TextBox 275"/>
          <p:cNvSpPr txBox="1"/>
          <p:nvPr/>
        </p:nvSpPr>
        <p:spPr>
          <a:xfrm>
            <a:off x="4526280" y="4873751"/>
            <a:ext cx="868680" cy="310896"/>
          </a:xfrm>
          <a:prstGeom prst="rect">
            <a:avLst/>
          </a:prstGeom>
          <a:noFill/>
        </p:spPr>
        <p:txBody>
          <a:bodyPr wrap="square" anchor="ctr" lIns="45720" rIns="45720" tIns="9144" bIns="9144">
            <a:spAutoFit/>
          </a:bodyPr>
          <a:lstStyle/>
          <a:p>
            <a:pPr algn="r"/>
            <a:r>
              <a:rPr sz="850" b="1" i="0">
                <a:solidFill>
                  <a:srgbClr val="0D2341"/>
                </a:solidFill>
                <a:latin typeface="Calibri"/>
              </a:rPr>
              <a:t>1,062,832</a:t>
            </a:r>
          </a:p>
        </p:txBody>
      </p:sp>
      <p:sp>
        <p:nvSpPr>
          <p:cNvPr id="277" name="Rectangle 276"/>
          <p:cNvSpPr/>
          <p:nvPr/>
        </p:nvSpPr>
        <p:spPr>
          <a:xfrm>
            <a:off x="5413248" y="4873751"/>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 name="TextBox 277"/>
          <p:cNvSpPr txBox="1"/>
          <p:nvPr/>
        </p:nvSpPr>
        <p:spPr>
          <a:xfrm>
            <a:off x="5431536" y="4873751"/>
            <a:ext cx="868680" cy="310896"/>
          </a:xfrm>
          <a:prstGeom prst="rect">
            <a:avLst/>
          </a:prstGeom>
          <a:noFill/>
        </p:spPr>
        <p:txBody>
          <a:bodyPr wrap="square" anchor="ctr" lIns="45720" rIns="45720" tIns="9144" bIns="9144">
            <a:spAutoFit/>
          </a:bodyPr>
          <a:lstStyle/>
          <a:p>
            <a:pPr algn="r"/>
            <a:r>
              <a:rPr sz="850" b="1" i="0">
                <a:solidFill>
                  <a:srgbClr val="0D2341"/>
                </a:solidFill>
                <a:latin typeface="Calibri"/>
              </a:rPr>
              <a:t>2,648,618</a:t>
            </a:r>
          </a:p>
        </p:txBody>
      </p:sp>
      <p:sp>
        <p:nvSpPr>
          <p:cNvPr id="279" name="Rectangle 278"/>
          <p:cNvSpPr/>
          <p:nvPr/>
        </p:nvSpPr>
        <p:spPr>
          <a:xfrm>
            <a:off x="6318504" y="4873751"/>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0" name="TextBox 279"/>
          <p:cNvSpPr txBox="1"/>
          <p:nvPr/>
        </p:nvSpPr>
        <p:spPr>
          <a:xfrm>
            <a:off x="6336792" y="4873751"/>
            <a:ext cx="868680" cy="310896"/>
          </a:xfrm>
          <a:prstGeom prst="rect">
            <a:avLst/>
          </a:prstGeom>
          <a:noFill/>
        </p:spPr>
        <p:txBody>
          <a:bodyPr wrap="square" anchor="ctr" lIns="45720" rIns="45720" tIns="9144" bIns="9144">
            <a:spAutoFit/>
          </a:bodyPr>
          <a:lstStyle/>
          <a:p>
            <a:pPr algn="r"/>
            <a:r>
              <a:rPr sz="850" b="1" i="0">
                <a:solidFill>
                  <a:srgbClr val="0D2341"/>
                </a:solidFill>
                <a:latin typeface="Calibri"/>
              </a:rPr>
              <a:t>4,637,146</a:t>
            </a:r>
          </a:p>
        </p:txBody>
      </p:sp>
      <p:sp>
        <p:nvSpPr>
          <p:cNvPr id="281" name="Rectangle 280"/>
          <p:cNvSpPr/>
          <p:nvPr/>
        </p:nvSpPr>
        <p:spPr>
          <a:xfrm>
            <a:off x="7223760" y="4873751"/>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2" name="TextBox 281"/>
          <p:cNvSpPr txBox="1"/>
          <p:nvPr/>
        </p:nvSpPr>
        <p:spPr>
          <a:xfrm>
            <a:off x="7242048" y="4873751"/>
            <a:ext cx="868680" cy="310896"/>
          </a:xfrm>
          <a:prstGeom prst="rect">
            <a:avLst/>
          </a:prstGeom>
          <a:noFill/>
        </p:spPr>
        <p:txBody>
          <a:bodyPr wrap="square" anchor="ctr" lIns="45720" rIns="45720" tIns="9144" bIns="9144">
            <a:spAutoFit/>
          </a:bodyPr>
          <a:lstStyle/>
          <a:p>
            <a:pPr algn="r"/>
            <a:r>
              <a:rPr sz="850" b="1" i="0">
                <a:solidFill>
                  <a:srgbClr val="0D2341"/>
                </a:solidFill>
                <a:latin typeface="Calibri"/>
              </a:rPr>
              <a:t>6,915,539</a:t>
            </a:r>
          </a:p>
        </p:txBody>
      </p:sp>
      <p:sp>
        <p:nvSpPr>
          <p:cNvPr id="283" name="Rectangle 282"/>
          <p:cNvSpPr/>
          <p:nvPr/>
        </p:nvSpPr>
        <p:spPr>
          <a:xfrm>
            <a:off x="8129016" y="4873751"/>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4" name="TextBox 283"/>
          <p:cNvSpPr txBox="1"/>
          <p:nvPr/>
        </p:nvSpPr>
        <p:spPr>
          <a:xfrm>
            <a:off x="8147304" y="4873751"/>
            <a:ext cx="868680" cy="310896"/>
          </a:xfrm>
          <a:prstGeom prst="rect">
            <a:avLst/>
          </a:prstGeom>
          <a:noFill/>
        </p:spPr>
        <p:txBody>
          <a:bodyPr wrap="square" anchor="ctr" lIns="45720" rIns="45720" tIns="9144" bIns="9144">
            <a:spAutoFit/>
          </a:bodyPr>
          <a:lstStyle/>
          <a:p>
            <a:pPr algn="r"/>
            <a:r>
              <a:rPr sz="850" b="1" i="0">
                <a:solidFill>
                  <a:srgbClr val="0D2341"/>
                </a:solidFill>
                <a:latin typeface="Calibri"/>
              </a:rPr>
              <a:t>9,514,567</a:t>
            </a:r>
          </a:p>
        </p:txBody>
      </p:sp>
      <p:sp>
        <p:nvSpPr>
          <p:cNvPr id="285" name="Rectangle 284"/>
          <p:cNvSpPr/>
          <p:nvPr/>
        </p:nvSpPr>
        <p:spPr>
          <a:xfrm>
            <a:off x="9034272" y="4873751"/>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6" name="TextBox 285"/>
          <p:cNvSpPr txBox="1"/>
          <p:nvPr/>
        </p:nvSpPr>
        <p:spPr>
          <a:xfrm>
            <a:off x="9052560" y="4873751"/>
            <a:ext cx="868680" cy="310896"/>
          </a:xfrm>
          <a:prstGeom prst="rect">
            <a:avLst/>
          </a:prstGeom>
          <a:noFill/>
        </p:spPr>
        <p:txBody>
          <a:bodyPr wrap="square" anchor="ctr" lIns="45720" rIns="45720" tIns="9144" bIns="9144">
            <a:spAutoFit/>
          </a:bodyPr>
          <a:lstStyle/>
          <a:p>
            <a:pPr algn="r"/>
            <a:r>
              <a:rPr sz="850" b="1" i="0">
                <a:solidFill>
                  <a:srgbClr val="0D2341"/>
                </a:solidFill>
                <a:latin typeface="Calibri"/>
              </a:rPr>
              <a:t>12,333,565</a:t>
            </a:r>
          </a:p>
        </p:txBody>
      </p:sp>
      <p:sp>
        <p:nvSpPr>
          <p:cNvPr id="287" name="Rectangle 286"/>
          <p:cNvSpPr/>
          <p:nvPr/>
        </p:nvSpPr>
        <p:spPr>
          <a:xfrm>
            <a:off x="9939528" y="4873751"/>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8" name="TextBox 287"/>
          <p:cNvSpPr txBox="1"/>
          <p:nvPr/>
        </p:nvSpPr>
        <p:spPr>
          <a:xfrm>
            <a:off x="9957816" y="4873751"/>
            <a:ext cx="868680" cy="310896"/>
          </a:xfrm>
          <a:prstGeom prst="rect">
            <a:avLst/>
          </a:prstGeom>
          <a:noFill/>
        </p:spPr>
        <p:txBody>
          <a:bodyPr wrap="square" anchor="ctr" lIns="45720" rIns="45720" tIns="9144" bIns="9144">
            <a:spAutoFit/>
          </a:bodyPr>
          <a:lstStyle/>
          <a:p>
            <a:pPr algn="r"/>
            <a:r>
              <a:rPr sz="850" b="1" i="0">
                <a:solidFill>
                  <a:srgbClr val="0D2341"/>
                </a:solidFill>
                <a:latin typeface="Calibri"/>
              </a:rPr>
              <a:t>15,698,677</a:t>
            </a:r>
          </a:p>
        </p:txBody>
      </p:sp>
      <p:sp>
        <p:nvSpPr>
          <p:cNvPr id="289" name="Rectangle 288"/>
          <p:cNvSpPr/>
          <p:nvPr/>
        </p:nvSpPr>
        <p:spPr>
          <a:xfrm>
            <a:off x="10844784" y="4873751"/>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0" name="TextBox 289"/>
          <p:cNvSpPr txBox="1"/>
          <p:nvPr/>
        </p:nvSpPr>
        <p:spPr>
          <a:xfrm>
            <a:off x="10863072" y="4873751"/>
            <a:ext cx="868680" cy="310896"/>
          </a:xfrm>
          <a:prstGeom prst="rect">
            <a:avLst/>
          </a:prstGeom>
          <a:noFill/>
        </p:spPr>
        <p:txBody>
          <a:bodyPr wrap="square" anchor="ctr" lIns="45720" rIns="45720" tIns="9144" bIns="9144">
            <a:spAutoFit/>
          </a:bodyPr>
          <a:lstStyle/>
          <a:p>
            <a:pPr algn="r"/>
            <a:r>
              <a:rPr sz="850" b="1" i="0">
                <a:solidFill>
                  <a:srgbClr val="0D2341"/>
                </a:solidFill>
                <a:latin typeface="Calibri"/>
              </a:rPr>
              <a:t>19,341,483</a:t>
            </a:r>
          </a:p>
        </p:txBody>
      </p:sp>
      <p:sp>
        <p:nvSpPr>
          <p:cNvPr id="291" name="Rectangle 290"/>
          <p:cNvSpPr/>
          <p:nvPr/>
        </p:nvSpPr>
        <p:spPr>
          <a:xfrm>
            <a:off x="320040" y="5184647"/>
            <a:ext cx="237744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2" name="TextBox 291"/>
          <p:cNvSpPr txBox="1"/>
          <p:nvPr/>
        </p:nvSpPr>
        <p:spPr>
          <a:xfrm>
            <a:off x="338328" y="5184647"/>
            <a:ext cx="2340864" cy="310896"/>
          </a:xfrm>
          <a:prstGeom prst="rect">
            <a:avLst/>
          </a:prstGeom>
          <a:noFill/>
        </p:spPr>
        <p:txBody>
          <a:bodyPr wrap="square" anchor="ctr" lIns="45720" rIns="45720" tIns="9144" bIns="9144">
            <a:spAutoFit/>
          </a:bodyPr>
          <a:lstStyle/>
          <a:p>
            <a:pPr algn="l"/>
            <a:r>
              <a:rPr sz="850" b="0" i="0">
                <a:solidFill>
                  <a:srgbClr val="334155"/>
                </a:solidFill>
                <a:latin typeface="Calibri"/>
              </a:rPr>
              <a:t>(−) Impuesto sobre la renta</a:t>
            </a:r>
          </a:p>
        </p:txBody>
      </p:sp>
      <p:sp>
        <p:nvSpPr>
          <p:cNvPr id="293" name="Rectangle 292"/>
          <p:cNvSpPr/>
          <p:nvPr/>
        </p:nvSpPr>
        <p:spPr>
          <a:xfrm>
            <a:off x="2697480" y="5184647"/>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4" name="TextBox 293"/>
          <p:cNvSpPr txBox="1"/>
          <p:nvPr/>
        </p:nvSpPr>
        <p:spPr>
          <a:xfrm>
            <a:off x="2715768" y="5184647"/>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95" name="Rectangle 294"/>
          <p:cNvSpPr/>
          <p:nvPr/>
        </p:nvSpPr>
        <p:spPr>
          <a:xfrm>
            <a:off x="3602736" y="5184647"/>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6" name="TextBox 295"/>
          <p:cNvSpPr txBox="1"/>
          <p:nvPr/>
        </p:nvSpPr>
        <p:spPr>
          <a:xfrm>
            <a:off x="3621024" y="5184647"/>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97" name="Rectangle 296"/>
          <p:cNvSpPr/>
          <p:nvPr/>
        </p:nvSpPr>
        <p:spPr>
          <a:xfrm>
            <a:off x="4507992" y="5184647"/>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8" name="TextBox 297"/>
          <p:cNvSpPr txBox="1"/>
          <p:nvPr/>
        </p:nvSpPr>
        <p:spPr>
          <a:xfrm>
            <a:off x="4526280" y="5184647"/>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99" name="Rectangle 298"/>
          <p:cNvSpPr/>
          <p:nvPr/>
        </p:nvSpPr>
        <p:spPr>
          <a:xfrm>
            <a:off x="5413248" y="5184647"/>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0" name="TextBox 299"/>
          <p:cNvSpPr txBox="1"/>
          <p:nvPr/>
        </p:nvSpPr>
        <p:spPr>
          <a:xfrm>
            <a:off x="5431536" y="5184647"/>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695,884</a:t>
            </a:r>
          </a:p>
        </p:txBody>
      </p:sp>
      <p:sp>
        <p:nvSpPr>
          <p:cNvPr id="301" name="Rectangle 300"/>
          <p:cNvSpPr/>
          <p:nvPr/>
        </p:nvSpPr>
        <p:spPr>
          <a:xfrm>
            <a:off x="6318504" y="5184647"/>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2" name="TextBox 301"/>
          <p:cNvSpPr txBox="1"/>
          <p:nvPr/>
        </p:nvSpPr>
        <p:spPr>
          <a:xfrm>
            <a:off x="6336792" y="5184647"/>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1,341,144</a:t>
            </a:r>
          </a:p>
        </p:txBody>
      </p:sp>
      <p:sp>
        <p:nvSpPr>
          <p:cNvPr id="303" name="Rectangle 302"/>
          <p:cNvSpPr/>
          <p:nvPr/>
        </p:nvSpPr>
        <p:spPr>
          <a:xfrm>
            <a:off x="7223760" y="5184647"/>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4" name="TextBox 303"/>
          <p:cNvSpPr txBox="1"/>
          <p:nvPr/>
        </p:nvSpPr>
        <p:spPr>
          <a:xfrm>
            <a:off x="7242048" y="5184647"/>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2,024,662</a:t>
            </a:r>
          </a:p>
        </p:txBody>
      </p:sp>
      <p:sp>
        <p:nvSpPr>
          <p:cNvPr id="305" name="Rectangle 304"/>
          <p:cNvSpPr/>
          <p:nvPr/>
        </p:nvSpPr>
        <p:spPr>
          <a:xfrm>
            <a:off x="8129016" y="5184647"/>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6" name="TextBox 305"/>
          <p:cNvSpPr txBox="1"/>
          <p:nvPr/>
        </p:nvSpPr>
        <p:spPr>
          <a:xfrm>
            <a:off x="8147304" y="5184647"/>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2,804,370</a:t>
            </a:r>
          </a:p>
        </p:txBody>
      </p:sp>
      <p:sp>
        <p:nvSpPr>
          <p:cNvPr id="307" name="Rectangle 306"/>
          <p:cNvSpPr/>
          <p:nvPr/>
        </p:nvSpPr>
        <p:spPr>
          <a:xfrm>
            <a:off x="9034272" y="5184647"/>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8" name="TextBox 307"/>
          <p:cNvSpPr txBox="1"/>
          <p:nvPr/>
        </p:nvSpPr>
        <p:spPr>
          <a:xfrm>
            <a:off x="9052560" y="5184647"/>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3,650,070</a:t>
            </a:r>
          </a:p>
        </p:txBody>
      </p:sp>
      <p:sp>
        <p:nvSpPr>
          <p:cNvPr id="309" name="Rectangle 308"/>
          <p:cNvSpPr/>
          <p:nvPr/>
        </p:nvSpPr>
        <p:spPr>
          <a:xfrm>
            <a:off x="9939528" y="5184647"/>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0" name="TextBox 309"/>
          <p:cNvSpPr txBox="1"/>
          <p:nvPr/>
        </p:nvSpPr>
        <p:spPr>
          <a:xfrm>
            <a:off x="9957816" y="5184647"/>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4,659,603</a:t>
            </a:r>
          </a:p>
        </p:txBody>
      </p:sp>
      <p:sp>
        <p:nvSpPr>
          <p:cNvPr id="311" name="Rectangle 310"/>
          <p:cNvSpPr/>
          <p:nvPr/>
        </p:nvSpPr>
        <p:spPr>
          <a:xfrm>
            <a:off x="10844784" y="5184647"/>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2" name="TextBox 311"/>
          <p:cNvSpPr txBox="1"/>
          <p:nvPr/>
        </p:nvSpPr>
        <p:spPr>
          <a:xfrm>
            <a:off x="10863072" y="5184647"/>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5,752,445</a:t>
            </a:r>
          </a:p>
        </p:txBody>
      </p:sp>
      <p:sp>
        <p:nvSpPr>
          <p:cNvPr id="313" name="Rectangle 312"/>
          <p:cNvSpPr/>
          <p:nvPr/>
        </p:nvSpPr>
        <p:spPr>
          <a:xfrm>
            <a:off x="320040" y="5495543"/>
            <a:ext cx="2377440" cy="310896"/>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4" name="TextBox 313"/>
          <p:cNvSpPr txBox="1"/>
          <p:nvPr/>
        </p:nvSpPr>
        <p:spPr>
          <a:xfrm>
            <a:off x="338328" y="5495543"/>
            <a:ext cx="2340864" cy="310896"/>
          </a:xfrm>
          <a:prstGeom prst="rect">
            <a:avLst/>
          </a:prstGeom>
          <a:noFill/>
        </p:spPr>
        <p:txBody>
          <a:bodyPr wrap="square" anchor="ctr" lIns="45720" rIns="45720" tIns="9144" bIns="9144">
            <a:spAutoFit/>
          </a:bodyPr>
          <a:lstStyle/>
          <a:p>
            <a:pPr algn="l"/>
            <a:r>
              <a:rPr sz="850" b="1" i="0">
                <a:solidFill>
                  <a:srgbClr val="0D2341"/>
                </a:solidFill>
                <a:latin typeface="Calibri"/>
              </a:rPr>
              <a:t>(=) UTILIDAD NETA</a:t>
            </a:r>
          </a:p>
        </p:txBody>
      </p:sp>
      <p:sp>
        <p:nvSpPr>
          <p:cNvPr id="315" name="Rectangle 314"/>
          <p:cNvSpPr/>
          <p:nvPr/>
        </p:nvSpPr>
        <p:spPr>
          <a:xfrm>
            <a:off x="2697480" y="5495543"/>
            <a:ext cx="905256" cy="310896"/>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6" name="TextBox 315"/>
          <p:cNvSpPr txBox="1"/>
          <p:nvPr/>
        </p:nvSpPr>
        <p:spPr>
          <a:xfrm>
            <a:off x="2715768" y="5495543"/>
            <a:ext cx="868680" cy="310896"/>
          </a:xfrm>
          <a:prstGeom prst="rect">
            <a:avLst/>
          </a:prstGeom>
          <a:noFill/>
        </p:spPr>
        <p:txBody>
          <a:bodyPr wrap="square" anchor="ctr" lIns="45720" rIns="45720" tIns="9144" bIns="9144">
            <a:spAutoFit/>
          </a:bodyPr>
          <a:lstStyle/>
          <a:p>
            <a:pPr algn="r"/>
            <a:r>
              <a:rPr sz="850" b="1" i="0">
                <a:solidFill>
                  <a:srgbClr val="0D2341"/>
                </a:solidFill>
                <a:latin typeface="Calibri"/>
              </a:rPr>
              <a:t>−1,063,441</a:t>
            </a:r>
          </a:p>
        </p:txBody>
      </p:sp>
      <p:sp>
        <p:nvSpPr>
          <p:cNvPr id="317" name="Rectangle 316"/>
          <p:cNvSpPr/>
          <p:nvPr/>
        </p:nvSpPr>
        <p:spPr>
          <a:xfrm>
            <a:off x="3602736" y="5495543"/>
            <a:ext cx="905256" cy="310896"/>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8" name="TextBox 317"/>
          <p:cNvSpPr txBox="1"/>
          <p:nvPr/>
        </p:nvSpPr>
        <p:spPr>
          <a:xfrm>
            <a:off x="3621024" y="5495543"/>
            <a:ext cx="868680" cy="310896"/>
          </a:xfrm>
          <a:prstGeom prst="rect">
            <a:avLst/>
          </a:prstGeom>
          <a:noFill/>
        </p:spPr>
        <p:txBody>
          <a:bodyPr wrap="square" anchor="ctr" lIns="45720" rIns="45720" tIns="9144" bIns="9144">
            <a:spAutoFit/>
          </a:bodyPr>
          <a:lstStyle/>
          <a:p>
            <a:pPr algn="r"/>
            <a:r>
              <a:rPr sz="850" b="1" i="0">
                <a:solidFill>
                  <a:srgbClr val="0D2341"/>
                </a:solidFill>
                <a:latin typeface="Calibri"/>
              </a:rPr>
              <a:t>−161,729</a:t>
            </a:r>
          </a:p>
        </p:txBody>
      </p:sp>
      <p:sp>
        <p:nvSpPr>
          <p:cNvPr id="319" name="Rectangle 318"/>
          <p:cNvSpPr/>
          <p:nvPr/>
        </p:nvSpPr>
        <p:spPr>
          <a:xfrm>
            <a:off x="4507992" y="5495543"/>
            <a:ext cx="905256" cy="310896"/>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0" name="TextBox 319"/>
          <p:cNvSpPr txBox="1"/>
          <p:nvPr/>
        </p:nvSpPr>
        <p:spPr>
          <a:xfrm>
            <a:off x="4526280" y="5495543"/>
            <a:ext cx="868680" cy="310896"/>
          </a:xfrm>
          <a:prstGeom prst="rect">
            <a:avLst/>
          </a:prstGeom>
          <a:noFill/>
        </p:spPr>
        <p:txBody>
          <a:bodyPr wrap="square" anchor="ctr" lIns="45720" rIns="45720" tIns="9144" bIns="9144">
            <a:spAutoFit/>
          </a:bodyPr>
          <a:lstStyle/>
          <a:p>
            <a:pPr algn="r"/>
            <a:r>
              <a:rPr sz="850" b="1" i="0">
                <a:solidFill>
                  <a:srgbClr val="0D2341"/>
                </a:solidFill>
                <a:latin typeface="Calibri"/>
              </a:rPr>
              <a:t>1,062,832</a:t>
            </a:r>
          </a:p>
        </p:txBody>
      </p:sp>
      <p:sp>
        <p:nvSpPr>
          <p:cNvPr id="321" name="Rectangle 320"/>
          <p:cNvSpPr/>
          <p:nvPr/>
        </p:nvSpPr>
        <p:spPr>
          <a:xfrm>
            <a:off x="5413248" y="5495543"/>
            <a:ext cx="905256" cy="310896"/>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2" name="TextBox 321"/>
          <p:cNvSpPr txBox="1"/>
          <p:nvPr/>
        </p:nvSpPr>
        <p:spPr>
          <a:xfrm>
            <a:off x="5431536" y="5495543"/>
            <a:ext cx="868680" cy="310896"/>
          </a:xfrm>
          <a:prstGeom prst="rect">
            <a:avLst/>
          </a:prstGeom>
          <a:noFill/>
        </p:spPr>
        <p:txBody>
          <a:bodyPr wrap="square" anchor="ctr" lIns="45720" rIns="45720" tIns="9144" bIns="9144">
            <a:spAutoFit/>
          </a:bodyPr>
          <a:lstStyle/>
          <a:p>
            <a:pPr algn="r"/>
            <a:r>
              <a:rPr sz="850" b="1" i="0">
                <a:solidFill>
                  <a:srgbClr val="0D2341"/>
                </a:solidFill>
                <a:latin typeface="Calibri"/>
              </a:rPr>
              <a:t>1,952,734</a:t>
            </a:r>
          </a:p>
        </p:txBody>
      </p:sp>
      <p:sp>
        <p:nvSpPr>
          <p:cNvPr id="323" name="Rectangle 322"/>
          <p:cNvSpPr/>
          <p:nvPr/>
        </p:nvSpPr>
        <p:spPr>
          <a:xfrm>
            <a:off x="6318504" y="5495543"/>
            <a:ext cx="905256" cy="310896"/>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4" name="TextBox 323"/>
          <p:cNvSpPr txBox="1"/>
          <p:nvPr/>
        </p:nvSpPr>
        <p:spPr>
          <a:xfrm>
            <a:off x="6336792" y="5495543"/>
            <a:ext cx="868680" cy="310896"/>
          </a:xfrm>
          <a:prstGeom prst="rect">
            <a:avLst/>
          </a:prstGeom>
          <a:noFill/>
        </p:spPr>
        <p:txBody>
          <a:bodyPr wrap="square" anchor="ctr" lIns="45720" rIns="45720" tIns="9144" bIns="9144">
            <a:spAutoFit/>
          </a:bodyPr>
          <a:lstStyle/>
          <a:p>
            <a:pPr algn="r"/>
            <a:r>
              <a:rPr sz="850" b="1" i="0">
                <a:solidFill>
                  <a:srgbClr val="0D2341"/>
                </a:solidFill>
                <a:latin typeface="Calibri"/>
              </a:rPr>
              <a:t>3,296,003</a:t>
            </a:r>
          </a:p>
        </p:txBody>
      </p:sp>
      <p:sp>
        <p:nvSpPr>
          <p:cNvPr id="325" name="Rectangle 324"/>
          <p:cNvSpPr/>
          <p:nvPr/>
        </p:nvSpPr>
        <p:spPr>
          <a:xfrm>
            <a:off x="7223760" y="5495543"/>
            <a:ext cx="905256" cy="310896"/>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6" name="TextBox 325"/>
          <p:cNvSpPr txBox="1"/>
          <p:nvPr/>
        </p:nvSpPr>
        <p:spPr>
          <a:xfrm>
            <a:off x="7242048" y="5495543"/>
            <a:ext cx="868680" cy="310896"/>
          </a:xfrm>
          <a:prstGeom prst="rect">
            <a:avLst/>
          </a:prstGeom>
          <a:noFill/>
        </p:spPr>
        <p:txBody>
          <a:bodyPr wrap="square" anchor="ctr" lIns="45720" rIns="45720" tIns="9144" bIns="9144">
            <a:spAutoFit/>
          </a:bodyPr>
          <a:lstStyle/>
          <a:p>
            <a:pPr algn="r"/>
            <a:r>
              <a:rPr sz="850" b="1" i="0">
                <a:solidFill>
                  <a:srgbClr val="0D2341"/>
                </a:solidFill>
                <a:latin typeface="Calibri"/>
              </a:rPr>
              <a:t>4,890,877</a:t>
            </a:r>
          </a:p>
        </p:txBody>
      </p:sp>
      <p:sp>
        <p:nvSpPr>
          <p:cNvPr id="327" name="Rectangle 326"/>
          <p:cNvSpPr/>
          <p:nvPr/>
        </p:nvSpPr>
        <p:spPr>
          <a:xfrm>
            <a:off x="8129016" y="5495543"/>
            <a:ext cx="905256" cy="310896"/>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8" name="TextBox 327"/>
          <p:cNvSpPr txBox="1"/>
          <p:nvPr/>
        </p:nvSpPr>
        <p:spPr>
          <a:xfrm>
            <a:off x="8147304" y="5495543"/>
            <a:ext cx="868680" cy="310896"/>
          </a:xfrm>
          <a:prstGeom prst="rect">
            <a:avLst/>
          </a:prstGeom>
          <a:noFill/>
        </p:spPr>
        <p:txBody>
          <a:bodyPr wrap="square" anchor="ctr" lIns="45720" rIns="45720" tIns="9144" bIns="9144">
            <a:spAutoFit/>
          </a:bodyPr>
          <a:lstStyle/>
          <a:p>
            <a:pPr algn="r"/>
            <a:r>
              <a:rPr sz="850" b="1" i="0">
                <a:solidFill>
                  <a:srgbClr val="0D2341"/>
                </a:solidFill>
                <a:latin typeface="Calibri"/>
              </a:rPr>
              <a:t>6,710,197</a:t>
            </a:r>
          </a:p>
        </p:txBody>
      </p:sp>
      <p:sp>
        <p:nvSpPr>
          <p:cNvPr id="329" name="Rectangle 328"/>
          <p:cNvSpPr/>
          <p:nvPr/>
        </p:nvSpPr>
        <p:spPr>
          <a:xfrm>
            <a:off x="9034272" y="5495543"/>
            <a:ext cx="905256" cy="310896"/>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0" name="TextBox 329"/>
          <p:cNvSpPr txBox="1"/>
          <p:nvPr/>
        </p:nvSpPr>
        <p:spPr>
          <a:xfrm>
            <a:off x="9052560" y="5495543"/>
            <a:ext cx="868680" cy="310896"/>
          </a:xfrm>
          <a:prstGeom prst="rect">
            <a:avLst/>
          </a:prstGeom>
          <a:noFill/>
        </p:spPr>
        <p:txBody>
          <a:bodyPr wrap="square" anchor="ctr" lIns="45720" rIns="45720" tIns="9144" bIns="9144">
            <a:spAutoFit/>
          </a:bodyPr>
          <a:lstStyle/>
          <a:p>
            <a:pPr algn="r"/>
            <a:r>
              <a:rPr sz="850" b="1" i="0">
                <a:solidFill>
                  <a:srgbClr val="0D2341"/>
                </a:solidFill>
                <a:latin typeface="Calibri"/>
              </a:rPr>
              <a:t>8,683,496</a:t>
            </a:r>
          </a:p>
        </p:txBody>
      </p:sp>
      <p:sp>
        <p:nvSpPr>
          <p:cNvPr id="331" name="Rectangle 330"/>
          <p:cNvSpPr/>
          <p:nvPr/>
        </p:nvSpPr>
        <p:spPr>
          <a:xfrm>
            <a:off x="9939528" y="5495543"/>
            <a:ext cx="905256" cy="310896"/>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2" name="TextBox 331"/>
          <p:cNvSpPr txBox="1"/>
          <p:nvPr/>
        </p:nvSpPr>
        <p:spPr>
          <a:xfrm>
            <a:off x="9957816" y="5495543"/>
            <a:ext cx="868680" cy="310896"/>
          </a:xfrm>
          <a:prstGeom prst="rect">
            <a:avLst/>
          </a:prstGeom>
          <a:noFill/>
        </p:spPr>
        <p:txBody>
          <a:bodyPr wrap="square" anchor="ctr" lIns="45720" rIns="45720" tIns="9144" bIns="9144">
            <a:spAutoFit/>
          </a:bodyPr>
          <a:lstStyle/>
          <a:p>
            <a:pPr algn="r"/>
            <a:r>
              <a:rPr sz="850" b="1" i="0">
                <a:solidFill>
                  <a:srgbClr val="0D2341"/>
                </a:solidFill>
                <a:latin typeface="Calibri"/>
              </a:rPr>
              <a:t>11,039,074</a:t>
            </a:r>
          </a:p>
        </p:txBody>
      </p:sp>
      <p:sp>
        <p:nvSpPr>
          <p:cNvPr id="333" name="Rectangle 332"/>
          <p:cNvSpPr/>
          <p:nvPr/>
        </p:nvSpPr>
        <p:spPr>
          <a:xfrm>
            <a:off x="10844784" y="5495543"/>
            <a:ext cx="905256" cy="310896"/>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4" name="TextBox 333"/>
          <p:cNvSpPr txBox="1"/>
          <p:nvPr/>
        </p:nvSpPr>
        <p:spPr>
          <a:xfrm>
            <a:off x="10863072" y="5495543"/>
            <a:ext cx="868680" cy="310896"/>
          </a:xfrm>
          <a:prstGeom prst="rect">
            <a:avLst/>
          </a:prstGeom>
          <a:noFill/>
        </p:spPr>
        <p:txBody>
          <a:bodyPr wrap="square" anchor="ctr" lIns="45720" rIns="45720" tIns="9144" bIns="9144">
            <a:spAutoFit/>
          </a:bodyPr>
          <a:lstStyle/>
          <a:p>
            <a:pPr algn="r"/>
            <a:r>
              <a:rPr sz="850" b="1" i="0">
                <a:solidFill>
                  <a:srgbClr val="0D2341"/>
                </a:solidFill>
                <a:latin typeface="Calibri"/>
              </a:rPr>
              <a:t>13,589,038</a:t>
            </a:r>
          </a:p>
        </p:txBody>
      </p:sp>
      <p:sp>
        <p:nvSpPr>
          <p:cNvPr id="335" name="Rectangle 334"/>
          <p:cNvSpPr/>
          <p:nvPr/>
        </p:nvSpPr>
        <p:spPr>
          <a:xfrm>
            <a:off x="320040" y="5806439"/>
            <a:ext cx="2377440"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6" name="TextBox 335"/>
          <p:cNvSpPr txBox="1"/>
          <p:nvPr/>
        </p:nvSpPr>
        <p:spPr>
          <a:xfrm>
            <a:off x="338328" y="5806439"/>
            <a:ext cx="2340864" cy="310896"/>
          </a:xfrm>
          <a:prstGeom prst="rect">
            <a:avLst/>
          </a:prstGeom>
          <a:noFill/>
        </p:spPr>
        <p:txBody>
          <a:bodyPr wrap="square" anchor="ctr" lIns="45720" rIns="45720" tIns="9144" bIns="9144">
            <a:spAutoFit/>
          </a:bodyPr>
          <a:lstStyle/>
          <a:p>
            <a:pPr algn="l"/>
            <a:r>
              <a:rPr sz="850" b="0" i="0">
                <a:solidFill>
                  <a:srgbClr val="334155"/>
                </a:solidFill>
                <a:latin typeface="Calibri"/>
              </a:rPr>
              <a:t>Margen neto</a:t>
            </a:r>
          </a:p>
        </p:txBody>
      </p:sp>
      <p:sp>
        <p:nvSpPr>
          <p:cNvPr id="337" name="Rectangle 336"/>
          <p:cNvSpPr/>
          <p:nvPr/>
        </p:nvSpPr>
        <p:spPr>
          <a:xfrm>
            <a:off x="2697480" y="5806439"/>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8" name="TextBox 337"/>
          <p:cNvSpPr txBox="1"/>
          <p:nvPr/>
        </p:nvSpPr>
        <p:spPr>
          <a:xfrm>
            <a:off x="2715768" y="5806439"/>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−35.2 %</a:t>
            </a:r>
          </a:p>
        </p:txBody>
      </p:sp>
      <p:sp>
        <p:nvSpPr>
          <p:cNvPr id="339" name="Rectangle 338"/>
          <p:cNvSpPr/>
          <p:nvPr/>
        </p:nvSpPr>
        <p:spPr>
          <a:xfrm>
            <a:off x="3602736" y="5806439"/>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0" name="TextBox 339"/>
          <p:cNvSpPr txBox="1"/>
          <p:nvPr/>
        </p:nvSpPr>
        <p:spPr>
          <a:xfrm>
            <a:off x="3621024" y="5806439"/>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−3.1 %</a:t>
            </a:r>
          </a:p>
        </p:txBody>
      </p:sp>
      <p:sp>
        <p:nvSpPr>
          <p:cNvPr id="341" name="Rectangle 340"/>
          <p:cNvSpPr/>
          <p:nvPr/>
        </p:nvSpPr>
        <p:spPr>
          <a:xfrm>
            <a:off x="4507992" y="5806439"/>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2" name="TextBox 341"/>
          <p:cNvSpPr txBox="1"/>
          <p:nvPr/>
        </p:nvSpPr>
        <p:spPr>
          <a:xfrm>
            <a:off x="4526280" y="5806439"/>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12.9 %</a:t>
            </a:r>
          </a:p>
        </p:txBody>
      </p:sp>
      <p:sp>
        <p:nvSpPr>
          <p:cNvPr id="343" name="Rectangle 342"/>
          <p:cNvSpPr/>
          <p:nvPr/>
        </p:nvSpPr>
        <p:spPr>
          <a:xfrm>
            <a:off x="5413248" y="5806439"/>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4" name="TextBox 343"/>
          <p:cNvSpPr txBox="1"/>
          <p:nvPr/>
        </p:nvSpPr>
        <p:spPr>
          <a:xfrm>
            <a:off x="5431536" y="5806439"/>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16.2 %</a:t>
            </a:r>
          </a:p>
        </p:txBody>
      </p:sp>
      <p:sp>
        <p:nvSpPr>
          <p:cNvPr id="345" name="Rectangle 344"/>
          <p:cNvSpPr/>
          <p:nvPr/>
        </p:nvSpPr>
        <p:spPr>
          <a:xfrm>
            <a:off x="6318504" y="5806439"/>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6" name="TextBox 345"/>
          <p:cNvSpPr txBox="1"/>
          <p:nvPr/>
        </p:nvSpPr>
        <p:spPr>
          <a:xfrm>
            <a:off x="6336792" y="5806439"/>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19.6 %</a:t>
            </a:r>
          </a:p>
        </p:txBody>
      </p:sp>
      <p:sp>
        <p:nvSpPr>
          <p:cNvPr id="347" name="Rectangle 346"/>
          <p:cNvSpPr/>
          <p:nvPr/>
        </p:nvSpPr>
        <p:spPr>
          <a:xfrm>
            <a:off x="7223760" y="5806439"/>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8" name="TextBox 347"/>
          <p:cNvSpPr txBox="1"/>
          <p:nvPr/>
        </p:nvSpPr>
        <p:spPr>
          <a:xfrm>
            <a:off x="7242048" y="5806439"/>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22.2 %</a:t>
            </a:r>
          </a:p>
        </p:txBody>
      </p:sp>
      <p:sp>
        <p:nvSpPr>
          <p:cNvPr id="349" name="Rectangle 348"/>
          <p:cNvSpPr/>
          <p:nvPr/>
        </p:nvSpPr>
        <p:spPr>
          <a:xfrm>
            <a:off x="8129016" y="5806439"/>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0" name="TextBox 349"/>
          <p:cNvSpPr txBox="1"/>
          <p:nvPr/>
        </p:nvSpPr>
        <p:spPr>
          <a:xfrm>
            <a:off x="8147304" y="5806439"/>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23.8 %</a:t>
            </a:r>
          </a:p>
        </p:txBody>
      </p:sp>
      <p:sp>
        <p:nvSpPr>
          <p:cNvPr id="351" name="Rectangle 350"/>
          <p:cNvSpPr/>
          <p:nvPr/>
        </p:nvSpPr>
        <p:spPr>
          <a:xfrm>
            <a:off x="9034272" y="5806439"/>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2" name="TextBox 351"/>
          <p:cNvSpPr txBox="1"/>
          <p:nvPr/>
        </p:nvSpPr>
        <p:spPr>
          <a:xfrm>
            <a:off x="9052560" y="5806439"/>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24.8 %</a:t>
            </a:r>
          </a:p>
        </p:txBody>
      </p:sp>
      <p:sp>
        <p:nvSpPr>
          <p:cNvPr id="353" name="Rectangle 352"/>
          <p:cNvSpPr/>
          <p:nvPr/>
        </p:nvSpPr>
        <p:spPr>
          <a:xfrm>
            <a:off x="9939528" y="5806439"/>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4" name="TextBox 353"/>
          <p:cNvSpPr txBox="1"/>
          <p:nvPr/>
        </p:nvSpPr>
        <p:spPr>
          <a:xfrm>
            <a:off x="9957816" y="5806439"/>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25.7 %</a:t>
            </a:r>
          </a:p>
        </p:txBody>
      </p:sp>
      <p:sp>
        <p:nvSpPr>
          <p:cNvPr id="355" name="Rectangle 354"/>
          <p:cNvSpPr/>
          <p:nvPr/>
        </p:nvSpPr>
        <p:spPr>
          <a:xfrm>
            <a:off x="10844784" y="5806439"/>
            <a:ext cx="905256" cy="310896"/>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6" name="TextBox 355"/>
          <p:cNvSpPr txBox="1"/>
          <p:nvPr/>
        </p:nvSpPr>
        <p:spPr>
          <a:xfrm>
            <a:off x="10863072" y="5806439"/>
            <a:ext cx="868680" cy="310896"/>
          </a:xfrm>
          <a:prstGeom prst="rect">
            <a:avLst/>
          </a:prstGeom>
          <a:noFill/>
        </p:spPr>
        <p:txBody>
          <a:bodyPr wrap="square" anchor="ctr" lIns="45720" rIns="45720" tIns="9144" bIns="9144">
            <a:spAutoFit/>
          </a:bodyPr>
          <a:lstStyle/>
          <a:p>
            <a:pPr algn="r"/>
            <a:r>
              <a:rPr sz="850" b="0" i="0">
                <a:solidFill>
                  <a:srgbClr val="334155"/>
                </a:solidFill>
                <a:latin typeface="Calibri"/>
              </a:rPr>
              <a:t>26.3 %</a:t>
            </a:r>
          </a:p>
        </p:txBody>
      </p:sp>
      <p:sp>
        <p:nvSpPr>
          <p:cNvPr id="357" name="TextBox 356"/>
          <p:cNvSpPr txBox="1"/>
          <p:nvPr/>
        </p:nvSpPr>
        <p:spPr>
          <a:xfrm>
            <a:off x="320040" y="6263640"/>
            <a:ext cx="11521440" cy="274320"/>
          </a:xfrm>
          <a:prstGeom prst="rect">
            <a:avLst/>
          </a:prstGeom>
          <a:noFill/>
        </p:spPr>
        <p:txBody>
          <a:bodyPr wrap="square" anchor="ctr">
            <a:spAutoFit/>
          </a:bodyPr>
          <a:lstStyle/>
          <a:p>
            <a:pPr algn="l"/>
            <a:r>
              <a:rPr sz="850" b="0" i="1">
                <a:solidFill>
                  <a:srgbClr val="64748B"/>
                </a:solidFill>
                <a:latin typeface="Calibri"/>
              </a:rPr>
              <a:t>Fuente: modelo financiero, hoja "Análisis Complementario" (sección 10). La utilidad antes de impuestos coincide con la Tabla 27. Cifras redondeadas (diferencias de L 1 en las sumas).</a:t>
            </a:r>
          </a:p>
        </p:txBody>
      </p:sp>
      <p:sp>
        <p:nvSpPr>
          <p:cNvPr id="358" name="TextBox 357"/>
          <p:cNvSpPr txBox="1"/>
          <p:nvPr/>
        </p:nvSpPr>
        <p:spPr>
          <a:xfrm>
            <a:off x="320040" y="6583680"/>
            <a:ext cx="11521440" cy="201168"/>
          </a:xfrm>
          <a:prstGeom prst="rect">
            <a:avLst/>
          </a:prstGeom>
          <a:noFill/>
        </p:spPr>
        <p:txBody>
          <a:bodyPr wrap="square" anchor="ctr">
            <a:spAutoFit/>
          </a:bodyPr>
          <a:lstStyle/>
          <a:p>
            <a:pPr algn="ctr"/>
            <a:r>
              <a:rPr sz="800" b="0" i="0">
                <a:solidFill>
                  <a:srgbClr val="64748B"/>
                </a:solidFill>
                <a:latin typeface="Calibri"/>
              </a:rPr>
              <a:t>Maestría en Agronegocios · Universidad EAFIT · Zamorano · 2026   |   Caballero · Valladares · Medal</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3657600" cy="256032"/>
          </a:xfrm>
          <a:prstGeom prst="rect">
            <a:avLst/>
          </a:prstGeom>
          <a:noFill/>
        </p:spPr>
        <p:txBody>
          <a:bodyPr wrap="square" anchor="ctr">
            <a:spAutoFit/>
          </a:bodyPr>
          <a:lstStyle/>
          <a:p>
            <a:pPr algn="l"/>
            <a:r>
              <a:rPr sz="900" b="1" i="0">
                <a:solidFill>
                  <a:srgbClr val="1A7A8A"/>
                </a:solidFill>
                <a:latin typeface="Calibri"/>
              </a:rPr>
              <a:t>ANEXO C</a:t>
            </a:r>
          </a:p>
        </p:txBody>
      </p:sp>
      <p:sp>
        <p:nvSpPr>
          <p:cNvPr id="3" name="TextBox 2"/>
          <p:cNvSpPr txBox="1"/>
          <p:nvPr/>
        </p:nvSpPr>
        <p:spPr>
          <a:xfrm>
            <a:off x="320040" y="475488"/>
            <a:ext cx="11521440" cy="502920"/>
          </a:xfrm>
          <a:prstGeom prst="rect">
            <a:avLst/>
          </a:prstGeom>
          <a:noFill/>
        </p:spPr>
        <p:txBody>
          <a:bodyPr wrap="square" anchor="ctr">
            <a:spAutoFit/>
          </a:bodyPr>
          <a:lstStyle/>
          <a:p>
            <a:pPr algn="l"/>
            <a:r>
              <a:rPr sz="2200" b="1" i="0">
                <a:solidFill>
                  <a:srgbClr val="0D2341"/>
                </a:solidFill>
                <a:latin typeface="Calibri"/>
              </a:rPr>
              <a:t>Anexo C · Balance General Proyectado (con financiamiento)</a:t>
            </a:r>
          </a:p>
        </p:txBody>
      </p:sp>
      <p:sp>
        <p:nvSpPr>
          <p:cNvPr id="4" name="Rectangle 3"/>
          <p:cNvSpPr/>
          <p:nvPr/>
        </p:nvSpPr>
        <p:spPr>
          <a:xfrm>
            <a:off x="320040" y="1005840"/>
            <a:ext cx="11430000" cy="18288"/>
          </a:xfrm>
          <a:prstGeom prst="rect">
            <a:avLst/>
          </a:prstGeom>
          <a:solidFill>
            <a:srgbClr val="1A7A8A"/>
          </a:solidFill>
          <a:ln w="12700">
            <a:solidFill>
              <a:srgbClr val="1A7A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320040" y="1143000"/>
            <a:ext cx="2377440" cy="36576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38328" y="1143000"/>
            <a:ext cx="2340864" cy="365760"/>
          </a:xfrm>
          <a:prstGeom prst="rect">
            <a:avLst/>
          </a:prstGeom>
          <a:noFill/>
        </p:spPr>
        <p:txBody>
          <a:bodyPr wrap="square" anchor="ctr" lIns="45720" rIns="45720" tIns="9144" bIns="9144">
            <a:spAutoFit/>
          </a:bodyPr>
          <a:lstStyle/>
          <a:p>
            <a:pPr algn="l"/>
            <a:r>
              <a:rPr sz="850" b="1" i="0">
                <a:solidFill>
                  <a:srgbClr val="FFFFFF"/>
                </a:solidFill>
                <a:latin typeface="Calibri"/>
              </a:rPr>
              <a:t>Concepto</a:t>
            </a:r>
          </a:p>
        </p:txBody>
      </p:sp>
      <p:sp>
        <p:nvSpPr>
          <p:cNvPr id="7" name="Rectangle 6"/>
          <p:cNvSpPr/>
          <p:nvPr/>
        </p:nvSpPr>
        <p:spPr>
          <a:xfrm>
            <a:off x="2697480" y="1143000"/>
            <a:ext cx="822960" cy="36576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715768" y="1143000"/>
            <a:ext cx="786384" cy="365760"/>
          </a:xfrm>
          <a:prstGeom prst="rect">
            <a:avLst/>
          </a:prstGeom>
          <a:noFill/>
        </p:spPr>
        <p:txBody>
          <a:bodyPr wrap="square" anchor="ctr" lIns="45720" rIns="45720" tIns="9144" bIns="9144">
            <a:spAutoFit/>
          </a:bodyPr>
          <a:lstStyle/>
          <a:p>
            <a:pPr algn="ctr"/>
            <a:r>
              <a:rPr sz="850" b="1" i="0">
                <a:solidFill>
                  <a:srgbClr val="FFFFFF"/>
                </a:solidFill>
                <a:latin typeface="Calibri"/>
              </a:rPr>
              <a:t>Año 0</a:t>
            </a:r>
          </a:p>
        </p:txBody>
      </p:sp>
      <p:sp>
        <p:nvSpPr>
          <p:cNvPr id="9" name="Rectangle 8"/>
          <p:cNvSpPr/>
          <p:nvPr/>
        </p:nvSpPr>
        <p:spPr>
          <a:xfrm>
            <a:off x="3520440" y="1143000"/>
            <a:ext cx="822960" cy="36576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538728" y="1143000"/>
            <a:ext cx="786384" cy="365760"/>
          </a:xfrm>
          <a:prstGeom prst="rect">
            <a:avLst/>
          </a:prstGeom>
          <a:noFill/>
        </p:spPr>
        <p:txBody>
          <a:bodyPr wrap="square" anchor="ctr" lIns="45720" rIns="45720" tIns="9144" bIns="9144">
            <a:spAutoFit/>
          </a:bodyPr>
          <a:lstStyle/>
          <a:p>
            <a:pPr algn="ctr"/>
            <a:r>
              <a:rPr sz="850" b="1" i="0">
                <a:solidFill>
                  <a:srgbClr val="FFFFFF"/>
                </a:solidFill>
                <a:latin typeface="Calibri"/>
              </a:rPr>
              <a:t>Año 1</a:t>
            </a:r>
          </a:p>
        </p:txBody>
      </p:sp>
      <p:sp>
        <p:nvSpPr>
          <p:cNvPr id="11" name="Rectangle 10"/>
          <p:cNvSpPr/>
          <p:nvPr/>
        </p:nvSpPr>
        <p:spPr>
          <a:xfrm>
            <a:off x="4343400" y="1143000"/>
            <a:ext cx="822960" cy="36576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361688" y="1143000"/>
            <a:ext cx="786384" cy="365760"/>
          </a:xfrm>
          <a:prstGeom prst="rect">
            <a:avLst/>
          </a:prstGeom>
          <a:noFill/>
        </p:spPr>
        <p:txBody>
          <a:bodyPr wrap="square" anchor="ctr" lIns="45720" rIns="45720" tIns="9144" bIns="9144">
            <a:spAutoFit/>
          </a:bodyPr>
          <a:lstStyle/>
          <a:p>
            <a:pPr algn="ctr"/>
            <a:r>
              <a:rPr sz="850" b="1" i="0">
                <a:solidFill>
                  <a:srgbClr val="FFFFFF"/>
                </a:solidFill>
                <a:latin typeface="Calibri"/>
              </a:rPr>
              <a:t>Año 2</a:t>
            </a:r>
          </a:p>
        </p:txBody>
      </p:sp>
      <p:sp>
        <p:nvSpPr>
          <p:cNvPr id="13" name="Rectangle 12"/>
          <p:cNvSpPr/>
          <p:nvPr/>
        </p:nvSpPr>
        <p:spPr>
          <a:xfrm>
            <a:off x="5166360" y="1143000"/>
            <a:ext cx="822960" cy="36576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184648" y="1143000"/>
            <a:ext cx="786384" cy="365760"/>
          </a:xfrm>
          <a:prstGeom prst="rect">
            <a:avLst/>
          </a:prstGeom>
          <a:noFill/>
        </p:spPr>
        <p:txBody>
          <a:bodyPr wrap="square" anchor="ctr" lIns="45720" rIns="45720" tIns="9144" bIns="9144">
            <a:spAutoFit/>
          </a:bodyPr>
          <a:lstStyle/>
          <a:p>
            <a:pPr algn="ctr"/>
            <a:r>
              <a:rPr sz="850" b="1" i="0">
                <a:solidFill>
                  <a:srgbClr val="FFFFFF"/>
                </a:solidFill>
                <a:latin typeface="Calibri"/>
              </a:rPr>
              <a:t>Año 3</a:t>
            </a:r>
          </a:p>
        </p:txBody>
      </p:sp>
      <p:sp>
        <p:nvSpPr>
          <p:cNvPr id="15" name="Rectangle 14"/>
          <p:cNvSpPr/>
          <p:nvPr/>
        </p:nvSpPr>
        <p:spPr>
          <a:xfrm>
            <a:off x="5989320" y="1143000"/>
            <a:ext cx="822960" cy="36576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007608" y="1143000"/>
            <a:ext cx="786384" cy="365760"/>
          </a:xfrm>
          <a:prstGeom prst="rect">
            <a:avLst/>
          </a:prstGeom>
          <a:noFill/>
        </p:spPr>
        <p:txBody>
          <a:bodyPr wrap="square" anchor="ctr" lIns="45720" rIns="45720" tIns="9144" bIns="9144">
            <a:spAutoFit/>
          </a:bodyPr>
          <a:lstStyle/>
          <a:p>
            <a:pPr algn="ctr"/>
            <a:r>
              <a:rPr sz="850" b="1" i="0">
                <a:solidFill>
                  <a:srgbClr val="FFFFFF"/>
                </a:solidFill>
                <a:latin typeface="Calibri"/>
              </a:rPr>
              <a:t>Año 4</a:t>
            </a:r>
          </a:p>
        </p:txBody>
      </p:sp>
      <p:sp>
        <p:nvSpPr>
          <p:cNvPr id="17" name="Rectangle 16"/>
          <p:cNvSpPr/>
          <p:nvPr/>
        </p:nvSpPr>
        <p:spPr>
          <a:xfrm>
            <a:off x="6812280" y="1143000"/>
            <a:ext cx="822960" cy="36576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830568" y="1143000"/>
            <a:ext cx="786384" cy="365760"/>
          </a:xfrm>
          <a:prstGeom prst="rect">
            <a:avLst/>
          </a:prstGeom>
          <a:noFill/>
        </p:spPr>
        <p:txBody>
          <a:bodyPr wrap="square" anchor="ctr" lIns="45720" rIns="45720" tIns="9144" bIns="9144">
            <a:spAutoFit/>
          </a:bodyPr>
          <a:lstStyle/>
          <a:p>
            <a:pPr algn="ctr"/>
            <a:r>
              <a:rPr sz="850" b="1" i="0">
                <a:solidFill>
                  <a:srgbClr val="FFFFFF"/>
                </a:solidFill>
                <a:latin typeface="Calibri"/>
              </a:rPr>
              <a:t>Año 5</a:t>
            </a:r>
          </a:p>
        </p:txBody>
      </p:sp>
      <p:sp>
        <p:nvSpPr>
          <p:cNvPr id="19" name="Rectangle 18"/>
          <p:cNvSpPr/>
          <p:nvPr/>
        </p:nvSpPr>
        <p:spPr>
          <a:xfrm>
            <a:off x="7635240" y="1143000"/>
            <a:ext cx="822960" cy="36576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653528" y="1143000"/>
            <a:ext cx="786384" cy="365760"/>
          </a:xfrm>
          <a:prstGeom prst="rect">
            <a:avLst/>
          </a:prstGeom>
          <a:noFill/>
        </p:spPr>
        <p:txBody>
          <a:bodyPr wrap="square" anchor="ctr" lIns="45720" rIns="45720" tIns="9144" bIns="9144">
            <a:spAutoFit/>
          </a:bodyPr>
          <a:lstStyle/>
          <a:p>
            <a:pPr algn="ctr"/>
            <a:r>
              <a:rPr sz="850" b="1" i="0">
                <a:solidFill>
                  <a:srgbClr val="FFFFFF"/>
                </a:solidFill>
                <a:latin typeface="Calibri"/>
              </a:rPr>
              <a:t>Año 6</a:t>
            </a:r>
          </a:p>
        </p:txBody>
      </p:sp>
      <p:sp>
        <p:nvSpPr>
          <p:cNvPr id="21" name="Rectangle 20"/>
          <p:cNvSpPr/>
          <p:nvPr/>
        </p:nvSpPr>
        <p:spPr>
          <a:xfrm>
            <a:off x="8458200" y="1143000"/>
            <a:ext cx="822960" cy="36576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76488" y="1143000"/>
            <a:ext cx="786384" cy="365760"/>
          </a:xfrm>
          <a:prstGeom prst="rect">
            <a:avLst/>
          </a:prstGeom>
          <a:noFill/>
        </p:spPr>
        <p:txBody>
          <a:bodyPr wrap="square" anchor="ctr" lIns="45720" rIns="45720" tIns="9144" bIns="9144">
            <a:spAutoFit/>
          </a:bodyPr>
          <a:lstStyle/>
          <a:p>
            <a:pPr algn="ctr"/>
            <a:r>
              <a:rPr sz="850" b="1" i="0">
                <a:solidFill>
                  <a:srgbClr val="FFFFFF"/>
                </a:solidFill>
                <a:latin typeface="Calibri"/>
              </a:rPr>
              <a:t>Año 7</a:t>
            </a:r>
          </a:p>
        </p:txBody>
      </p:sp>
      <p:sp>
        <p:nvSpPr>
          <p:cNvPr id="23" name="Rectangle 22"/>
          <p:cNvSpPr/>
          <p:nvPr/>
        </p:nvSpPr>
        <p:spPr>
          <a:xfrm>
            <a:off x="9281160" y="1143000"/>
            <a:ext cx="822960" cy="36576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299448" y="1143000"/>
            <a:ext cx="786384" cy="365760"/>
          </a:xfrm>
          <a:prstGeom prst="rect">
            <a:avLst/>
          </a:prstGeom>
          <a:noFill/>
        </p:spPr>
        <p:txBody>
          <a:bodyPr wrap="square" anchor="ctr" lIns="45720" rIns="45720" tIns="9144" bIns="9144">
            <a:spAutoFit/>
          </a:bodyPr>
          <a:lstStyle/>
          <a:p>
            <a:pPr algn="ctr"/>
            <a:r>
              <a:rPr sz="850" b="1" i="0">
                <a:solidFill>
                  <a:srgbClr val="FFFFFF"/>
                </a:solidFill>
                <a:latin typeface="Calibri"/>
              </a:rPr>
              <a:t>Año 8</a:t>
            </a:r>
          </a:p>
        </p:txBody>
      </p:sp>
      <p:sp>
        <p:nvSpPr>
          <p:cNvPr id="25" name="Rectangle 24"/>
          <p:cNvSpPr/>
          <p:nvPr/>
        </p:nvSpPr>
        <p:spPr>
          <a:xfrm>
            <a:off x="10104120" y="1143000"/>
            <a:ext cx="822960" cy="36576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122408" y="1143000"/>
            <a:ext cx="786384" cy="365760"/>
          </a:xfrm>
          <a:prstGeom prst="rect">
            <a:avLst/>
          </a:prstGeom>
          <a:noFill/>
        </p:spPr>
        <p:txBody>
          <a:bodyPr wrap="square" anchor="ctr" lIns="45720" rIns="45720" tIns="9144" bIns="9144">
            <a:spAutoFit/>
          </a:bodyPr>
          <a:lstStyle/>
          <a:p>
            <a:pPr algn="ctr"/>
            <a:r>
              <a:rPr sz="850" b="1" i="0">
                <a:solidFill>
                  <a:srgbClr val="FFFFFF"/>
                </a:solidFill>
                <a:latin typeface="Calibri"/>
              </a:rPr>
              <a:t>Año 9</a:t>
            </a:r>
          </a:p>
        </p:txBody>
      </p:sp>
      <p:sp>
        <p:nvSpPr>
          <p:cNvPr id="27" name="Rectangle 26"/>
          <p:cNvSpPr/>
          <p:nvPr/>
        </p:nvSpPr>
        <p:spPr>
          <a:xfrm>
            <a:off x="10927080" y="1143000"/>
            <a:ext cx="822960" cy="365760"/>
          </a:xfrm>
          <a:prstGeom prst="rect">
            <a:avLst/>
          </a:prstGeom>
          <a:solidFill>
            <a:srgbClr val="0D2341"/>
          </a:solidFill>
          <a:ln w="12700">
            <a:solidFill>
              <a:srgbClr val="0D23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0945368" y="1143000"/>
            <a:ext cx="786384" cy="365760"/>
          </a:xfrm>
          <a:prstGeom prst="rect">
            <a:avLst/>
          </a:prstGeom>
          <a:noFill/>
        </p:spPr>
        <p:txBody>
          <a:bodyPr wrap="square" anchor="ctr" lIns="45720" rIns="45720" tIns="9144" bIns="9144">
            <a:spAutoFit/>
          </a:bodyPr>
          <a:lstStyle/>
          <a:p>
            <a:pPr algn="ctr"/>
            <a:r>
              <a:rPr sz="850" b="1" i="0">
                <a:solidFill>
                  <a:srgbClr val="FFFFFF"/>
                </a:solidFill>
                <a:latin typeface="Calibri"/>
              </a:rPr>
              <a:t>Año 10</a:t>
            </a:r>
          </a:p>
        </p:txBody>
      </p:sp>
      <p:sp>
        <p:nvSpPr>
          <p:cNvPr id="29" name="Rectangle 28"/>
          <p:cNvSpPr/>
          <p:nvPr/>
        </p:nvSpPr>
        <p:spPr>
          <a:xfrm>
            <a:off x="320040" y="1508760"/>
            <a:ext cx="237744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38328" y="1508760"/>
            <a:ext cx="2340864" cy="365760"/>
          </a:xfrm>
          <a:prstGeom prst="rect">
            <a:avLst/>
          </a:prstGeom>
          <a:noFill/>
        </p:spPr>
        <p:txBody>
          <a:bodyPr wrap="square" anchor="ctr" lIns="45720" rIns="45720" tIns="9144" bIns="9144">
            <a:spAutoFit/>
          </a:bodyPr>
          <a:lstStyle/>
          <a:p>
            <a:pPr algn="l"/>
            <a:r>
              <a:rPr sz="850" b="0" i="0">
                <a:solidFill>
                  <a:srgbClr val="334155"/>
                </a:solidFill>
                <a:latin typeface="Calibri"/>
              </a:rPr>
              <a:t>Caja y bancos (excedentes)</a:t>
            </a:r>
          </a:p>
        </p:txBody>
      </p:sp>
      <p:sp>
        <p:nvSpPr>
          <p:cNvPr id="31" name="Rectangle 30"/>
          <p:cNvSpPr/>
          <p:nvPr/>
        </p:nvSpPr>
        <p:spPr>
          <a:xfrm>
            <a:off x="2697480" y="150876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2715768" y="150876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33" name="Rectangle 32"/>
          <p:cNvSpPr/>
          <p:nvPr/>
        </p:nvSpPr>
        <p:spPr>
          <a:xfrm>
            <a:off x="3520440" y="150876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3538728" y="150876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35" name="Rectangle 34"/>
          <p:cNvSpPr/>
          <p:nvPr/>
        </p:nvSpPr>
        <p:spPr>
          <a:xfrm>
            <a:off x="4343400" y="150876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361688" y="150876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37" name="Rectangle 36"/>
          <p:cNvSpPr/>
          <p:nvPr/>
        </p:nvSpPr>
        <p:spPr>
          <a:xfrm>
            <a:off x="5166360" y="150876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5184648" y="150876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943,428</a:t>
            </a:r>
          </a:p>
        </p:txBody>
      </p:sp>
      <p:sp>
        <p:nvSpPr>
          <p:cNvPr id="39" name="Rectangle 38"/>
          <p:cNvSpPr/>
          <p:nvPr/>
        </p:nvSpPr>
        <p:spPr>
          <a:xfrm>
            <a:off x="5989320" y="150876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007608" y="150876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2,712,609</a:t>
            </a:r>
          </a:p>
        </p:txBody>
      </p:sp>
      <p:sp>
        <p:nvSpPr>
          <p:cNvPr id="41" name="Rectangle 40"/>
          <p:cNvSpPr/>
          <p:nvPr/>
        </p:nvSpPr>
        <p:spPr>
          <a:xfrm>
            <a:off x="6812280" y="150876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830568" y="150876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5,752,991</a:t>
            </a:r>
          </a:p>
        </p:txBody>
      </p:sp>
      <p:sp>
        <p:nvSpPr>
          <p:cNvPr id="43" name="Rectangle 42"/>
          <p:cNvSpPr/>
          <p:nvPr/>
        </p:nvSpPr>
        <p:spPr>
          <a:xfrm>
            <a:off x="7635240" y="150876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7653528" y="150876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10,481,602</a:t>
            </a:r>
          </a:p>
        </p:txBody>
      </p:sp>
      <p:sp>
        <p:nvSpPr>
          <p:cNvPr id="45" name="Rectangle 44"/>
          <p:cNvSpPr/>
          <p:nvPr/>
        </p:nvSpPr>
        <p:spPr>
          <a:xfrm>
            <a:off x="8458200" y="150876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8476488" y="150876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16,977,994</a:t>
            </a:r>
          </a:p>
        </p:txBody>
      </p:sp>
      <p:sp>
        <p:nvSpPr>
          <p:cNvPr id="47" name="Rectangle 46"/>
          <p:cNvSpPr/>
          <p:nvPr/>
        </p:nvSpPr>
        <p:spPr>
          <a:xfrm>
            <a:off x="9281160" y="150876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9299448" y="150876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25,422,913</a:t>
            </a:r>
          </a:p>
        </p:txBody>
      </p:sp>
      <p:sp>
        <p:nvSpPr>
          <p:cNvPr id="49" name="Rectangle 48"/>
          <p:cNvSpPr/>
          <p:nvPr/>
        </p:nvSpPr>
        <p:spPr>
          <a:xfrm>
            <a:off x="10104120" y="150876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10122408" y="150876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36,163,286</a:t>
            </a:r>
          </a:p>
        </p:txBody>
      </p:sp>
      <p:sp>
        <p:nvSpPr>
          <p:cNvPr id="51" name="Rectangle 50"/>
          <p:cNvSpPr/>
          <p:nvPr/>
        </p:nvSpPr>
        <p:spPr>
          <a:xfrm>
            <a:off x="10927080" y="150876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10945368" y="150876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49,422,490</a:t>
            </a:r>
          </a:p>
        </p:txBody>
      </p:sp>
      <p:sp>
        <p:nvSpPr>
          <p:cNvPr id="53" name="Rectangle 52"/>
          <p:cNvSpPr/>
          <p:nvPr/>
        </p:nvSpPr>
        <p:spPr>
          <a:xfrm>
            <a:off x="320040" y="1874519"/>
            <a:ext cx="237744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338328" y="1874519"/>
            <a:ext cx="2340864" cy="365760"/>
          </a:xfrm>
          <a:prstGeom prst="rect">
            <a:avLst/>
          </a:prstGeom>
          <a:noFill/>
        </p:spPr>
        <p:txBody>
          <a:bodyPr wrap="square" anchor="ctr" lIns="45720" rIns="45720" tIns="9144" bIns="9144">
            <a:spAutoFit/>
          </a:bodyPr>
          <a:lstStyle/>
          <a:p>
            <a:pPr algn="l"/>
            <a:r>
              <a:rPr sz="850" b="0" i="0">
                <a:solidFill>
                  <a:srgbClr val="334155"/>
                </a:solidFill>
                <a:latin typeface="Calibri"/>
              </a:rPr>
              <a:t>Capital de trabajo</a:t>
            </a:r>
          </a:p>
        </p:txBody>
      </p:sp>
      <p:sp>
        <p:nvSpPr>
          <p:cNvPr id="55" name="Rectangle 54"/>
          <p:cNvSpPr/>
          <p:nvPr/>
        </p:nvSpPr>
        <p:spPr>
          <a:xfrm>
            <a:off x="2697480" y="187451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2715768" y="187451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313,058</a:t>
            </a:r>
          </a:p>
        </p:txBody>
      </p:sp>
      <p:sp>
        <p:nvSpPr>
          <p:cNvPr id="57" name="Rectangle 56"/>
          <p:cNvSpPr/>
          <p:nvPr/>
        </p:nvSpPr>
        <p:spPr>
          <a:xfrm>
            <a:off x="3520440" y="187451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3538728" y="187451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313,058</a:t>
            </a:r>
          </a:p>
        </p:txBody>
      </p:sp>
      <p:sp>
        <p:nvSpPr>
          <p:cNvPr id="59" name="Rectangle 58"/>
          <p:cNvSpPr/>
          <p:nvPr/>
        </p:nvSpPr>
        <p:spPr>
          <a:xfrm>
            <a:off x="4343400" y="187451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4361688" y="187451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426,315</a:t>
            </a:r>
          </a:p>
        </p:txBody>
      </p:sp>
      <p:sp>
        <p:nvSpPr>
          <p:cNvPr id="61" name="Rectangle 60"/>
          <p:cNvSpPr/>
          <p:nvPr/>
        </p:nvSpPr>
        <p:spPr>
          <a:xfrm>
            <a:off x="5166360" y="187451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5184648" y="187451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575,039</a:t>
            </a:r>
          </a:p>
        </p:txBody>
      </p:sp>
      <p:sp>
        <p:nvSpPr>
          <p:cNvPr id="63" name="Rectangle 62"/>
          <p:cNvSpPr/>
          <p:nvPr/>
        </p:nvSpPr>
        <p:spPr>
          <a:xfrm>
            <a:off x="5989320" y="187451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6007608" y="187451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763,359</a:t>
            </a:r>
          </a:p>
        </p:txBody>
      </p:sp>
      <p:sp>
        <p:nvSpPr>
          <p:cNvPr id="65" name="Rectangle 64"/>
          <p:cNvSpPr/>
          <p:nvPr/>
        </p:nvSpPr>
        <p:spPr>
          <a:xfrm>
            <a:off x="6812280" y="187451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6830568" y="187451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995,756</a:t>
            </a:r>
          </a:p>
        </p:txBody>
      </p:sp>
      <p:sp>
        <p:nvSpPr>
          <p:cNvPr id="67" name="Rectangle 66"/>
          <p:cNvSpPr/>
          <p:nvPr/>
        </p:nvSpPr>
        <p:spPr>
          <a:xfrm>
            <a:off x="7635240" y="187451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7653528" y="187451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1,247,522</a:t>
            </a:r>
          </a:p>
        </p:txBody>
      </p:sp>
      <p:sp>
        <p:nvSpPr>
          <p:cNvPr id="69" name="Rectangle 68"/>
          <p:cNvSpPr/>
          <p:nvPr/>
        </p:nvSpPr>
        <p:spPr>
          <a:xfrm>
            <a:off x="8458200" y="187451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8476488" y="187451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1,550,827</a:t>
            </a:r>
          </a:p>
        </p:txBody>
      </p:sp>
      <p:sp>
        <p:nvSpPr>
          <p:cNvPr id="71" name="Rectangle 70"/>
          <p:cNvSpPr/>
          <p:nvPr/>
        </p:nvSpPr>
        <p:spPr>
          <a:xfrm>
            <a:off x="9281160" y="187451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9299448" y="187451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1,878,903</a:t>
            </a:r>
          </a:p>
        </p:txBody>
      </p:sp>
      <p:sp>
        <p:nvSpPr>
          <p:cNvPr id="73" name="Rectangle 72"/>
          <p:cNvSpPr/>
          <p:nvPr/>
        </p:nvSpPr>
        <p:spPr>
          <a:xfrm>
            <a:off x="10104120" y="187451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Box 73"/>
          <p:cNvSpPr txBox="1"/>
          <p:nvPr/>
        </p:nvSpPr>
        <p:spPr>
          <a:xfrm>
            <a:off x="10122408" y="187451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2,267,104</a:t>
            </a:r>
          </a:p>
        </p:txBody>
      </p:sp>
      <p:sp>
        <p:nvSpPr>
          <p:cNvPr id="75" name="Rectangle 74"/>
          <p:cNvSpPr/>
          <p:nvPr/>
        </p:nvSpPr>
        <p:spPr>
          <a:xfrm>
            <a:off x="10927080" y="187451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Box 75"/>
          <p:cNvSpPr txBox="1"/>
          <p:nvPr/>
        </p:nvSpPr>
        <p:spPr>
          <a:xfrm>
            <a:off x="10945368" y="187451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2,686,438</a:t>
            </a:r>
          </a:p>
        </p:txBody>
      </p:sp>
      <p:sp>
        <p:nvSpPr>
          <p:cNvPr id="77" name="Rectangle 76"/>
          <p:cNvSpPr/>
          <p:nvPr/>
        </p:nvSpPr>
        <p:spPr>
          <a:xfrm>
            <a:off x="320040" y="2240279"/>
            <a:ext cx="237744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338328" y="2240279"/>
            <a:ext cx="2340864" cy="365760"/>
          </a:xfrm>
          <a:prstGeom prst="rect">
            <a:avLst/>
          </a:prstGeom>
          <a:noFill/>
        </p:spPr>
        <p:txBody>
          <a:bodyPr wrap="square" anchor="ctr" lIns="45720" rIns="45720" tIns="9144" bIns="9144">
            <a:spAutoFit/>
          </a:bodyPr>
          <a:lstStyle/>
          <a:p>
            <a:pPr algn="l"/>
            <a:r>
              <a:rPr sz="850" b="0" i="0">
                <a:solidFill>
                  <a:srgbClr val="334155"/>
                </a:solidFill>
                <a:latin typeface="Calibri"/>
              </a:rPr>
              <a:t>Activos fijos y diferidos (costo)</a:t>
            </a:r>
          </a:p>
        </p:txBody>
      </p:sp>
      <p:sp>
        <p:nvSpPr>
          <p:cNvPr id="79" name="Rectangle 78"/>
          <p:cNvSpPr/>
          <p:nvPr/>
        </p:nvSpPr>
        <p:spPr>
          <a:xfrm>
            <a:off x="2697480" y="224027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TextBox 79"/>
          <p:cNvSpPr txBox="1"/>
          <p:nvPr/>
        </p:nvSpPr>
        <p:spPr>
          <a:xfrm>
            <a:off x="2715768" y="224027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1,471,000</a:t>
            </a:r>
          </a:p>
        </p:txBody>
      </p:sp>
      <p:sp>
        <p:nvSpPr>
          <p:cNvPr id="81" name="Rectangle 80"/>
          <p:cNvSpPr/>
          <p:nvPr/>
        </p:nvSpPr>
        <p:spPr>
          <a:xfrm>
            <a:off x="3520440" y="224027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Box 81"/>
          <p:cNvSpPr txBox="1"/>
          <p:nvPr/>
        </p:nvSpPr>
        <p:spPr>
          <a:xfrm>
            <a:off x="3538728" y="224027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1,471,000</a:t>
            </a:r>
          </a:p>
        </p:txBody>
      </p:sp>
      <p:sp>
        <p:nvSpPr>
          <p:cNvPr id="83" name="Rectangle 82"/>
          <p:cNvSpPr/>
          <p:nvPr/>
        </p:nvSpPr>
        <p:spPr>
          <a:xfrm>
            <a:off x="4343400" y="224027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Box 83"/>
          <p:cNvSpPr txBox="1"/>
          <p:nvPr/>
        </p:nvSpPr>
        <p:spPr>
          <a:xfrm>
            <a:off x="4361688" y="224027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1,471,000</a:t>
            </a:r>
          </a:p>
        </p:txBody>
      </p:sp>
      <p:sp>
        <p:nvSpPr>
          <p:cNvPr id="85" name="Rectangle 84"/>
          <p:cNvSpPr/>
          <p:nvPr/>
        </p:nvSpPr>
        <p:spPr>
          <a:xfrm>
            <a:off x="5166360" y="224027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TextBox 85"/>
          <p:cNvSpPr txBox="1"/>
          <p:nvPr/>
        </p:nvSpPr>
        <p:spPr>
          <a:xfrm>
            <a:off x="5184648" y="224027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1,471,000</a:t>
            </a:r>
          </a:p>
        </p:txBody>
      </p:sp>
      <p:sp>
        <p:nvSpPr>
          <p:cNvPr id="87" name="Rectangle 86"/>
          <p:cNvSpPr/>
          <p:nvPr/>
        </p:nvSpPr>
        <p:spPr>
          <a:xfrm>
            <a:off x="5989320" y="224027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Box 87"/>
          <p:cNvSpPr txBox="1"/>
          <p:nvPr/>
        </p:nvSpPr>
        <p:spPr>
          <a:xfrm>
            <a:off x="6007608" y="224027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1,471,000</a:t>
            </a:r>
          </a:p>
        </p:txBody>
      </p:sp>
      <p:sp>
        <p:nvSpPr>
          <p:cNvPr id="89" name="Rectangle 88"/>
          <p:cNvSpPr/>
          <p:nvPr/>
        </p:nvSpPr>
        <p:spPr>
          <a:xfrm>
            <a:off x="6812280" y="224027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TextBox 89"/>
          <p:cNvSpPr txBox="1"/>
          <p:nvPr/>
        </p:nvSpPr>
        <p:spPr>
          <a:xfrm>
            <a:off x="6830568" y="224027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1,471,000</a:t>
            </a:r>
          </a:p>
        </p:txBody>
      </p:sp>
      <p:sp>
        <p:nvSpPr>
          <p:cNvPr id="91" name="Rectangle 90"/>
          <p:cNvSpPr/>
          <p:nvPr/>
        </p:nvSpPr>
        <p:spPr>
          <a:xfrm>
            <a:off x="7635240" y="224027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TextBox 91"/>
          <p:cNvSpPr txBox="1"/>
          <p:nvPr/>
        </p:nvSpPr>
        <p:spPr>
          <a:xfrm>
            <a:off x="7653528" y="224027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1,471,000</a:t>
            </a:r>
          </a:p>
        </p:txBody>
      </p:sp>
      <p:sp>
        <p:nvSpPr>
          <p:cNvPr id="93" name="Rectangle 92"/>
          <p:cNvSpPr/>
          <p:nvPr/>
        </p:nvSpPr>
        <p:spPr>
          <a:xfrm>
            <a:off x="8458200" y="224027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TextBox 93"/>
          <p:cNvSpPr txBox="1"/>
          <p:nvPr/>
        </p:nvSpPr>
        <p:spPr>
          <a:xfrm>
            <a:off x="8476488" y="224027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1,471,000</a:t>
            </a:r>
          </a:p>
        </p:txBody>
      </p:sp>
      <p:sp>
        <p:nvSpPr>
          <p:cNvPr id="95" name="Rectangle 94"/>
          <p:cNvSpPr/>
          <p:nvPr/>
        </p:nvSpPr>
        <p:spPr>
          <a:xfrm>
            <a:off x="9281160" y="224027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TextBox 95"/>
          <p:cNvSpPr txBox="1"/>
          <p:nvPr/>
        </p:nvSpPr>
        <p:spPr>
          <a:xfrm>
            <a:off x="9299448" y="224027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1,471,000</a:t>
            </a:r>
          </a:p>
        </p:txBody>
      </p:sp>
      <p:sp>
        <p:nvSpPr>
          <p:cNvPr id="97" name="Rectangle 96"/>
          <p:cNvSpPr/>
          <p:nvPr/>
        </p:nvSpPr>
        <p:spPr>
          <a:xfrm>
            <a:off x="10104120" y="224027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TextBox 97"/>
          <p:cNvSpPr txBox="1"/>
          <p:nvPr/>
        </p:nvSpPr>
        <p:spPr>
          <a:xfrm>
            <a:off x="10122408" y="224027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1,471,000</a:t>
            </a:r>
          </a:p>
        </p:txBody>
      </p:sp>
      <p:sp>
        <p:nvSpPr>
          <p:cNvPr id="99" name="Rectangle 98"/>
          <p:cNvSpPr/>
          <p:nvPr/>
        </p:nvSpPr>
        <p:spPr>
          <a:xfrm>
            <a:off x="10927080" y="224027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Box 99"/>
          <p:cNvSpPr txBox="1"/>
          <p:nvPr/>
        </p:nvSpPr>
        <p:spPr>
          <a:xfrm>
            <a:off x="10945368" y="224027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1,471,000</a:t>
            </a:r>
          </a:p>
        </p:txBody>
      </p:sp>
      <p:sp>
        <p:nvSpPr>
          <p:cNvPr id="101" name="Rectangle 100"/>
          <p:cNvSpPr/>
          <p:nvPr/>
        </p:nvSpPr>
        <p:spPr>
          <a:xfrm>
            <a:off x="320040" y="2606039"/>
            <a:ext cx="237744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Box 101"/>
          <p:cNvSpPr txBox="1"/>
          <p:nvPr/>
        </p:nvSpPr>
        <p:spPr>
          <a:xfrm>
            <a:off x="338328" y="2606039"/>
            <a:ext cx="2340864" cy="365760"/>
          </a:xfrm>
          <a:prstGeom prst="rect">
            <a:avLst/>
          </a:prstGeom>
          <a:noFill/>
        </p:spPr>
        <p:txBody>
          <a:bodyPr wrap="square" anchor="ctr" lIns="45720" rIns="45720" tIns="9144" bIns="9144">
            <a:spAutoFit/>
          </a:bodyPr>
          <a:lstStyle/>
          <a:p>
            <a:pPr algn="l"/>
            <a:r>
              <a:rPr sz="850" b="0" i="0">
                <a:solidFill>
                  <a:srgbClr val="334155"/>
                </a:solidFill>
                <a:latin typeface="Calibri"/>
              </a:rPr>
              <a:t>(−) Depreciación acumulada</a:t>
            </a:r>
          </a:p>
        </p:txBody>
      </p:sp>
      <p:sp>
        <p:nvSpPr>
          <p:cNvPr id="103" name="Rectangle 102"/>
          <p:cNvSpPr/>
          <p:nvPr/>
        </p:nvSpPr>
        <p:spPr>
          <a:xfrm>
            <a:off x="2697480" y="260603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TextBox 103"/>
          <p:cNvSpPr txBox="1"/>
          <p:nvPr/>
        </p:nvSpPr>
        <p:spPr>
          <a:xfrm>
            <a:off x="2715768" y="260603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105" name="Rectangle 104"/>
          <p:cNvSpPr/>
          <p:nvPr/>
        </p:nvSpPr>
        <p:spPr>
          <a:xfrm>
            <a:off x="3520440" y="260603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TextBox 105"/>
          <p:cNvSpPr txBox="1"/>
          <p:nvPr/>
        </p:nvSpPr>
        <p:spPr>
          <a:xfrm>
            <a:off x="3538728" y="260603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204,700</a:t>
            </a:r>
          </a:p>
        </p:txBody>
      </p:sp>
      <p:sp>
        <p:nvSpPr>
          <p:cNvPr id="107" name="Rectangle 106"/>
          <p:cNvSpPr/>
          <p:nvPr/>
        </p:nvSpPr>
        <p:spPr>
          <a:xfrm>
            <a:off x="4343400" y="260603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TextBox 107"/>
          <p:cNvSpPr txBox="1"/>
          <p:nvPr/>
        </p:nvSpPr>
        <p:spPr>
          <a:xfrm>
            <a:off x="4361688" y="260603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409,400</a:t>
            </a:r>
          </a:p>
        </p:txBody>
      </p:sp>
      <p:sp>
        <p:nvSpPr>
          <p:cNvPr id="109" name="Rectangle 108"/>
          <p:cNvSpPr/>
          <p:nvPr/>
        </p:nvSpPr>
        <p:spPr>
          <a:xfrm>
            <a:off x="5166360" y="260603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TextBox 109"/>
          <p:cNvSpPr txBox="1"/>
          <p:nvPr/>
        </p:nvSpPr>
        <p:spPr>
          <a:xfrm>
            <a:off x="5184648" y="260603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614,100</a:t>
            </a:r>
          </a:p>
        </p:txBody>
      </p:sp>
      <p:sp>
        <p:nvSpPr>
          <p:cNvPr id="111" name="Rectangle 110"/>
          <p:cNvSpPr/>
          <p:nvPr/>
        </p:nvSpPr>
        <p:spPr>
          <a:xfrm>
            <a:off x="5989320" y="260603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TextBox 111"/>
          <p:cNvSpPr txBox="1"/>
          <p:nvPr/>
        </p:nvSpPr>
        <p:spPr>
          <a:xfrm>
            <a:off x="6007608" y="260603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818,800</a:t>
            </a:r>
          </a:p>
        </p:txBody>
      </p:sp>
      <p:sp>
        <p:nvSpPr>
          <p:cNvPr id="113" name="Rectangle 112"/>
          <p:cNvSpPr/>
          <p:nvPr/>
        </p:nvSpPr>
        <p:spPr>
          <a:xfrm>
            <a:off x="6812280" y="260603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TextBox 113"/>
          <p:cNvSpPr txBox="1"/>
          <p:nvPr/>
        </p:nvSpPr>
        <p:spPr>
          <a:xfrm>
            <a:off x="6830568" y="260603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1,023,500</a:t>
            </a:r>
          </a:p>
        </p:txBody>
      </p:sp>
      <p:sp>
        <p:nvSpPr>
          <p:cNvPr id="115" name="Rectangle 114"/>
          <p:cNvSpPr/>
          <p:nvPr/>
        </p:nvSpPr>
        <p:spPr>
          <a:xfrm>
            <a:off x="7635240" y="260603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TextBox 115"/>
          <p:cNvSpPr txBox="1"/>
          <p:nvPr/>
        </p:nvSpPr>
        <p:spPr>
          <a:xfrm>
            <a:off x="7653528" y="260603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1,113,000</a:t>
            </a:r>
          </a:p>
        </p:txBody>
      </p:sp>
      <p:sp>
        <p:nvSpPr>
          <p:cNvPr id="117" name="Rectangle 116"/>
          <p:cNvSpPr/>
          <p:nvPr/>
        </p:nvSpPr>
        <p:spPr>
          <a:xfrm>
            <a:off x="8458200" y="260603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TextBox 117"/>
          <p:cNvSpPr txBox="1"/>
          <p:nvPr/>
        </p:nvSpPr>
        <p:spPr>
          <a:xfrm>
            <a:off x="8476488" y="260603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1,202,500</a:t>
            </a:r>
          </a:p>
        </p:txBody>
      </p:sp>
      <p:sp>
        <p:nvSpPr>
          <p:cNvPr id="119" name="Rectangle 118"/>
          <p:cNvSpPr/>
          <p:nvPr/>
        </p:nvSpPr>
        <p:spPr>
          <a:xfrm>
            <a:off x="9281160" y="260603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TextBox 119"/>
          <p:cNvSpPr txBox="1"/>
          <p:nvPr/>
        </p:nvSpPr>
        <p:spPr>
          <a:xfrm>
            <a:off x="9299448" y="260603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1,292,000</a:t>
            </a:r>
          </a:p>
        </p:txBody>
      </p:sp>
      <p:sp>
        <p:nvSpPr>
          <p:cNvPr id="121" name="Rectangle 120"/>
          <p:cNvSpPr/>
          <p:nvPr/>
        </p:nvSpPr>
        <p:spPr>
          <a:xfrm>
            <a:off x="10104120" y="260603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TextBox 121"/>
          <p:cNvSpPr txBox="1"/>
          <p:nvPr/>
        </p:nvSpPr>
        <p:spPr>
          <a:xfrm>
            <a:off x="10122408" y="260603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1,381,500</a:t>
            </a:r>
          </a:p>
        </p:txBody>
      </p:sp>
      <p:sp>
        <p:nvSpPr>
          <p:cNvPr id="123" name="Rectangle 122"/>
          <p:cNvSpPr/>
          <p:nvPr/>
        </p:nvSpPr>
        <p:spPr>
          <a:xfrm>
            <a:off x="10927080" y="260603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TextBox 123"/>
          <p:cNvSpPr txBox="1"/>
          <p:nvPr/>
        </p:nvSpPr>
        <p:spPr>
          <a:xfrm>
            <a:off x="10945368" y="260603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1,471,000</a:t>
            </a:r>
          </a:p>
        </p:txBody>
      </p:sp>
      <p:sp>
        <p:nvSpPr>
          <p:cNvPr id="125" name="Rectangle 124"/>
          <p:cNvSpPr/>
          <p:nvPr/>
        </p:nvSpPr>
        <p:spPr>
          <a:xfrm>
            <a:off x="320040" y="2971799"/>
            <a:ext cx="237744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TextBox 125"/>
          <p:cNvSpPr txBox="1"/>
          <p:nvPr/>
        </p:nvSpPr>
        <p:spPr>
          <a:xfrm>
            <a:off x="338328" y="2971799"/>
            <a:ext cx="2340864" cy="365760"/>
          </a:xfrm>
          <a:prstGeom prst="rect">
            <a:avLst/>
          </a:prstGeom>
          <a:noFill/>
        </p:spPr>
        <p:txBody>
          <a:bodyPr wrap="square" anchor="ctr" lIns="45720" rIns="45720" tIns="9144" bIns="9144">
            <a:spAutoFit/>
          </a:bodyPr>
          <a:lstStyle/>
          <a:p>
            <a:pPr algn="l"/>
            <a:r>
              <a:rPr sz="850" b="1" i="0">
                <a:solidFill>
                  <a:srgbClr val="0D2341"/>
                </a:solidFill>
                <a:latin typeface="Calibri"/>
              </a:rPr>
              <a:t>TOTAL ACTIVO</a:t>
            </a:r>
          </a:p>
        </p:txBody>
      </p:sp>
      <p:sp>
        <p:nvSpPr>
          <p:cNvPr id="127" name="Rectangle 126"/>
          <p:cNvSpPr/>
          <p:nvPr/>
        </p:nvSpPr>
        <p:spPr>
          <a:xfrm>
            <a:off x="2697480" y="2971799"/>
            <a:ext cx="82296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TextBox 127"/>
          <p:cNvSpPr txBox="1"/>
          <p:nvPr/>
        </p:nvSpPr>
        <p:spPr>
          <a:xfrm>
            <a:off x="2715768" y="2971799"/>
            <a:ext cx="786384" cy="365760"/>
          </a:xfrm>
          <a:prstGeom prst="rect">
            <a:avLst/>
          </a:prstGeom>
          <a:noFill/>
        </p:spPr>
        <p:txBody>
          <a:bodyPr wrap="square" anchor="ctr" lIns="45720" rIns="45720" tIns="9144" bIns="9144">
            <a:spAutoFit/>
          </a:bodyPr>
          <a:lstStyle/>
          <a:p>
            <a:pPr algn="r"/>
            <a:r>
              <a:rPr sz="850" b="1" i="0">
                <a:solidFill>
                  <a:srgbClr val="0D2341"/>
                </a:solidFill>
                <a:latin typeface="Calibri"/>
              </a:rPr>
              <a:t>1,784,058</a:t>
            </a:r>
          </a:p>
        </p:txBody>
      </p:sp>
      <p:sp>
        <p:nvSpPr>
          <p:cNvPr id="129" name="Rectangle 128"/>
          <p:cNvSpPr/>
          <p:nvPr/>
        </p:nvSpPr>
        <p:spPr>
          <a:xfrm>
            <a:off x="3520440" y="2971799"/>
            <a:ext cx="82296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TextBox 129"/>
          <p:cNvSpPr txBox="1"/>
          <p:nvPr/>
        </p:nvSpPr>
        <p:spPr>
          <a:xfrm>
            <a:off x="3538728" y="2971799"/>
            <a:ext cx="786384" cy="365760"/>
          </a:xfrm>
          <a:prstGeom prst="rect">
            <a:avLst/>
          </a:prstGeom>
          <a:noFill/>
        </p:spPr>
        <p:txBody>
          <a:bodyPr wrap="square" anchor="ctr" lIns="45720" rIns="45720" tIns="9144" bIns="9144">
            <a:spAutoFit/>
          </a:bodyPr>
          <a:lstStyle/>
          <a:p>
            <a:pPr algn="r"/>
            <a:r>
              <a:rPr sz="850" b="1" i="0">
                <a:solidFill>
                  <a:srgbClr val="0D2341"/>
                </a:solidFill>
                <a:latin typeface="Calibri"/>
              </a:rPr>
              <a:t>1,579,358</a:t>
            </a:r>
          </a:p>
        </p:txBody>
      </p:sp>
      <p:sp>
        <p:nvSpPr>
          <p:cNvPr id="131" name="Rectangle 130"/>
          <p:cNvSpPr/>
          <p:nvPr/>
        </p:nvSpPr>
        <p:spPr>
          <a:xfrm>
            <a:off x="4343400" y="2971799"/>
            <a:ext cx="82296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TextBox 131"/>
          <p:cNvSpPr txBox="1"/>
          <p:nvPr/>
        </p:nvSpPr>
        <p:spPr>
          <a:xfrm>
            <a:off x="4361688" y="2971799"/>
            <a:ext cx="786384" cy="365760"/>
          </a:xfrm>
          <a:prstGeom prst="rect">
            <a:avLst/>
          </a:prstGeom>
          <a:noFill/>
        </p:spPr>
        <p:txBody>
          <a:bodyPr wrap="square" anchor="ctr" lIns="45720" rIns="45720" tIns="9144" bIns="9144">
            <a:spAutoFit/>
          </a:bodyPr>
          <a:lstStyle/>
          <a:p>
            <a:pPr algn="r"/>
            <a:r>
              <a:rPr sz="850" b="1" i="0">
                <a:solidFill>
                  <a:srgbClr val="0D2341"/>
                </a:solidFill>
                <a:latin typeface="Calibri"/>
              </a:rPr>
              <a:t>1,487,915</a:t>
            </a:r>
          </a:p>
        </p:txBody>
      </p:sp>
      <p:sp>
        <p:nvSpPr>
          <p:cNvPr id="133" name="Rectangle 132"/>
          <p:cNvSpPr/>
          <p:nvPr/>
        </p:nvSpPr>
        <p:spPr>
          <a:xfrm>
            <a:off x="5166360" y="2971799"/>
            <a:ext cx="82296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4" name="TextBox 133"/>
          <p:cNvSpPr txBox="1"/>
          <p:nvPr/>
        </p:nvSpPr>
        <p:spPr>
          <a:xfrm>
            <a:off x="5184648" y="2971799"/>
            <a:ext cx="786384" cy="365760"/>
          </a:xfrm>
          <a:prstGeom prst="rect">
            <a:avLst/>
          </a:prstGeom>
          <a:noFill/>
        </p:spPr>
        <p:txBody>
          <a:bodyPr wrap="square" anchor="ctr" lIns="45720" rIns="45720" tIns="9144" bIns="9144">
            <a:spAutoFit/>
          </a:bodyPr>
          <a:lstStyle/>
          <a:p>
            <a:pPr algn="r"/>
            <a:r>
              <a:rPr sz="850" b="1" i="0">
                <a:solidFill>
                  <a:srgbClr val="0D2341"/>
                </a:solidFill>
                <a:latin typeface="Calibri"/>
              </a:rPr>
              <a:t>2,375,367</a:t>
            </a:r>
          </a:p>
        </p:txBody>
      </p:sp>
      <p:sp>
        <p:nvSpPr>
          <p:cNvPr id="135" name="Rectangle 134"/>
          <p:cNvSpPr/>
          <p:nvPr/>
        </p:nvSpPr>
        <p:spPr>
          <a:xfrm>
            <a:off x="5989320" y="2971799"/>
            <a:ext cx="82296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TextBox 135"/>
          <p:cNvSpPr txBox="1"/>
          <p:nvPr/>
        </p:nvSpPr>
        <p:spPr>
          <a:xfrm>
            <a:off x="6007608" y="2971799"/>
            <a:ext cx="786384" cy="365760"/>
          </a:xfrm>
          <a:prstGeom prst="rect">
            <a:avLst/>
          </a:prstGeom>
          <a:noFill/>
        </p:spPr>
        <p:txBody>
          <a:bodyPr wrap="square" anchor="ctr" lIns="45720" rIns="45720" tIns="9144" bIns="9144">
            <a:spAutoFit/>
          </a:bodyPr>
          <a:lstStyle/>
          <a:p>
            <a:pPr algn="r"/>
            <a:r>
              <a:rPr sz="850" b="1" i="0">
                <a:solidFill>
                  <a:srgbClr val="0D2341"/>
                </a:solidFill>
                <a:latin typeface="Calibri"/>
              </a:rPr>
              <a:t>4,128,168</a:t>
            </a:r>
          </a:p>
        </p:txBody>
      </p:sp>
      <p:sp>
        <p:nvSpPr>
          <p:cNvPr id="137" name="Rectangle 136"/>
          <p:cNvSpPr/>
          <p:nvPr/>
        </p:nvSpPr>
        <p:spPr>
          <a:xfrm>
            <a:off x="6812280" y="2971799"/>
            <a:ext cx="82296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TextBox 137"/>
          <p:cNvSpPr txBox="1"/>
          <p:nvPr/>
        </p:nvSpPr>
        <p:spPr>
          <a:xfrm>
            <a:off x="6830568" y="2971799"/>
            <a:ext cx="786384" cy="365760"/>
          </a:xfrm>
          <a:prstGeom prst="rect">
            <a:avLst/>
          </a:prstGeom>
          <a:noFill/>
        </p:spPr>
        <p:txBody>
          <a:bodyPr wrap="square" anchor="ctr" lIns="45720" rIns="45720" tIns="9144" bIns="9144">
            <a:spAutoFit/>
          </a:bodyPr>
          <a:lstStyle/>
          <a:p>
            <a:pPr algn="r"/>
            <a:r>
              <a:rPr sz="850" b="1" i="0">
                <a:solidFill>
                  <a:srgbClr val="0D2341"/>
                </a:solidFill>
                <a:latin typeface="Calibri"/>
              </a:rPr>
              <a:t>7,196,246</a:t>
            </a:r>
          </a:p>
        </p:txBody>
      </p:sp>
      <p:sp>
        <p:nvSpPr>
          <p:cNvPr id="139" name="Rectangle 138"/>
          <p:cNvSpPr/>
          <p:nvPr/>
        </p:nvSpPr>
        <p:spPr>
          <a:xfrm>
            <a:off x="7635240" y="2971799"/>
            <a:ext cx="82296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TextBox 139"/>
          <p:cNvSpPr txBox="1"/>
          <p:nvPr/>
        </p:nvSpPr>
        <p:spPr>
          <a:xfrm>
            <a:off x="7653528" y="2971799"/>
            <a:ext cx="786384" cy="365760"/>
          </a:xfrm>
          <a:prstGeom prst="rect">
            <a:avLst/>
          </a:prstGeom>
          <a:noFill/>
        </p:spPr>
        <p:txBody>
          <a:bodyPr wrap="square" anchor="ctr" lIns="45720" rIns="45720" tIns="9144" bIns="9144">
            <a:spAutoFit/>
          </a:bodyPr>
          <a:lstStyle/>
          <a:p>
            <a:pPr algn="r"/>
            <a:r>
              <a:rPr sz="850" b="1" i="0">
                <a:solidFill>
                  <a:srgbClr val="0D2341"/>
                </a:solidFill>
                <a:latin typeface="Calibri"/>
              </a:rPr>
              <a:t>12,087,124</a:t>
            </a:r>
          </a:p>
        </p:txBody>
      </p:sp>
      <p:sp>
        <p:nvSpPr>
          <p:cNvPr id="141" name="Rectangle 140"/>
          <p:cNvSpPr/>
          <p:nvPr/>
        </p:nvSpPr>
        <p:spPr>
          <a:xfrm>
            <a:off x="8458200" y="2971799"/>
            <a:ext cx="82296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2" name="TextBox 141"/>
          <p:cNvSpPr txBox="1"/>
          <p:nvPr/>
        </p:nvSpPr>
        <p:spPr>
          <a:xfrm>
            <a:off x="8476488" y="2971799"/>
            <a:ext cx="786384" cy="365760"/>
          </a:xfrm>
          <a:prstGeom prst="rect">
            <a:avLst/>
          </a:prstGeom>
          <a:noFill/>
        </p:spPr>
        <p:txBody>
          <a:bodyPr wrap="square" anchor="ctr" lIns="45720" rIns="45720" tIns="9144" bIns="9144">
            <a:spAutoFit/>
          </a:bodyPr>
          <a:lstStyle/>
          <a:p>
            <a:pPr algn="r"/>
            <a:r>
              <a:rPr sz="850" b="1" i="0">
                <a:solidFill>
                  <a:srgbClr val="0D2341"/>
                </a:solidFill>
                <a:latin typeface="Calibri"/>
              </a:rPr>
              <a:t>18,797,320</a:t>
            </a:r>
          </a:p>
        </p:txBody>
      </p:sp>
      <p:sp>
        <p:nvSpPr>
          <p:cNvPr id="143" name="Rectangle 142"/>
          <p:cNvSpPr/>
          <p:nvPr/>
        </p:nvSpPr>
        <p:spPr>
          <a:xfrm>
            <a:off x="9281160" y="2971799"/>
            <a:ext cx="82296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4" name="TextBox 143"/>
          <p:cNvSpPr txBox="1"/>
          <p:nvPr/>
        </p:nvSpPr>
        <p:spPr>
          <a:xfrm>
            <a:off x="9299448" y="2971799"/>
            <a:ext cx="786384" cy="365760"/>
          </a:xfrm>
          <a:prstGeom prst="rect">
            <a:avLst/>
          </a:prstGeom>
          <a:noFill/>
        </p:spPr>
        <p:txBody>
          <a:bodyPr wrap="square" anchor="ctr" lIns="45720" rIns="45720" tIns="9144" bIns="9144">
            <a:spAutoFit/>
          </a:bodyPr>
          <a:lstStyle/>
          <a:p>
            <a:pPr algn="r"/>
            <a:r>
              <a:rPr sz="850" b="1" i="0">
                <a:solidFill>
                  <a:srgbClr val="0D2341"/>
                </a:solidFill>
                <a:latin typeface="Calibri"/>
              </a:rPr>
              <a:t>27,480,816</a:t>
            </a:r>
          </a:p>
        </p:txBody>
      </p:sp>
      <p:sp>
        <p:nvSpPr>
          <p:cNvPr id="145" name="Rectangle 144"/>
          <p:cNvSpPr/>
          <p:nvPr/>
        </p:nvSpPr>
        <p:spPr>
          <a:xfrm>
            <a:off x="10104120" y="2971799"/>
            <a:ext cx="82296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6" name="TextBox 145"/>
          <p:cNvSpPr txBox="1"/>
          <p:nvPr/>
        </p:nvSpPr>
        <p:spPr>
          <a:xfrm>
            <a:off x="10122408" y="2971799"/>
            <a:ext cx="786384" cy="365760"/>
          </a:xfrm>
          <a:prstGeom prst="rect">
            <a:avLst/>
          </a:prstGeom>
          <a:noFill/>
        </p:spPr>
        <p:txBody>
          <a:bodyPr wrap="square" anchor="ctr" lIns="45720" rIns="45720" tIns="9144" bIns="9144">
            <a:spAutoFit/>
          </a:bodyPr>
          <a:lstStyle/>
          <a:p>
            <a:pPr algn="r"/>
            <a:r>
              <a:rPr sz="850" b="1" i="0">
                <a:solidFill>
                  <a:srgbClr val="0D2341"/>
                </a:solidFill>
                <a:latin typeface="Calibri"/>
              </a:rPr>
              <a:t>38,519,890</a:t>
            </a:r>
          </a:p>
        </p:txBody>
      </p:sp>
      <p:sp>
        <p:nvSpPr>
          <p:cNvPr id="147" name="Rectangle 146"/>
          <p:cNvSpPr/>
          <p:nvPr/>
        </p:nvSpPr>
        <p:spPr>
          <a:xfrm>
            <a:off x="10927080" y="2971799"/>
            <a:ext cx="82296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8" name="TextBox 147"/>
          <p:cNvSpPr txBox="1"/>
          <p:nvPr/>
        </p:nvSpPr>
        <p:spPr>
          <a:xfrm>
            <a:off x="10945368" y="2971799"/>
            <a:ext cx="786384" cy="365760"/>
          </a:xfrm>
          <a:prstGeom prst="rect">
            <a:avLst/>
          </a:prstGeom>
          <a:noFill/>
        </p:spPr>
        <p:txBody>
          <a:bodyPr wrap="square" anchor="ctr" lIns="45720" rIns="45720" tIns="9144" bIns="9144">
            <a:spAutoFit/>
          </a:bodyPr>
          <a:lstStyle/>
          <a:p>
            <a:pPr algn="r"/>
            <a:r>
              <a:rPr sz="850" b="1" i="0">
                <a:solidFill>
                  <a:srgbClr val="0D2341"/>
                </a:solidFill>
                <a:latin typeface="Calibri"/>
              </a:rPr>
              <a:t>52,108,928</a:t>
            </a:r>
          </a:p>
        </p:txBody>
      </p:sp>
      <p:sp>
        <p:nvSpPr>
          <p:cNvPr id="149" name="Rectangle 148"/>
          <p:cNvSpPr/>
          <p:nvPr/>
        </p:nvSpPr>
        <p:spPr>
          <a:xfrm>
            <a:off x="320040" y="3337559"/>
            <a:ext cx="237744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TextBox 149"/>
          <p:cNvSpPr txBox="1"/>
          <p:nvPr/>
        </p:nvSpPr>
        <p:spPr>
          <a:xfrm>
            <a:off x="338328" y="3337559"/>
            <a:ext cx="2340864" cy="365760"/>
          </a:xfrm>
          <a:prstGeom prst="rect">
            <a:avLst/>
          </a:prstGeom>
          <a:noFill/>
        </p:spPr>
        <p:txBody>
          <a:bodyPr wrap="square" anchor="ctr" lIns="45720" rIns="45720" tIns="9144" bIns="9144">
            <a:spAutoFit/>
          </a:bodyPr>
          <a:lstStyle/>
          <a:p>
            <a:pPr algn="l"/>
            <a:r>
              <a:rPr sz="850" b="0" i="0">
                <a:solidFill>
                  <a:srgbClr val="334155"/>
                </a:solidFill>
                <a:latin typeface="Calibri"/>
              </a:rPr>
              <a:t>Préstamo bancario</a:t>
            </a:r>
          </a:p>
        </p:txBody>
      </p:sp>
      <p:sp>
        <p:nvSpPr>
          <p:cNvPr id="151" name="Rectangle 150"/>
          <p:cNvSpPr/>
          <p:nvPr/>
        </p:nvSpPr>
        <p:spPr>
          <a:xfrm>
            <a:off x="2697480" y="333755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2" name="TextBox 151"/>
          <p:cNvSpPr txBox="1"/>
          <p:nvPr/>
        </p:nvSpPr>
        <p:spPr>
          <a:xfrm>
            <a:off x="2715768" y="333755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892,029</a:t>
            </a:r>
          </a:p>
        </p:txBody>
      </p:sp>
      <p:sp>
        <p:nvSpPr>
          <p:cNvPr id="153" name="Rectangle 152"/>
          <p:cNvSpPr/>
          <p:nvPr/>
        </p:nvSpPr>
        <p:spPr>
          <a:xfrm>
            <a:off x="3520440" y="333755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 name="TextBox 153"/>
          <p:cNvSpPr txBox="1"/>
          <p:nvPr/>
        </p:nvSpPr>
        <p:spPr>
          <a:xfrm>
            <a:off x="3538728" y="333755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757,080</a:t>
            </a:r>
          </a:p>
        </p:txBody>
      </p:sp>
      <p:sp>
        <p:nvSpPr>
          <p:cNvPr id="155" name="Rectangle 154"/>
          <p:cNvSpPr/>
          <p:nvPr/>
        </p:nvSpPr>
        <p:spPr>
          <a:xfrm>
            <a:off x="4343400" y="333755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TextBox 155"/>
          <p:cNvSpPr txBox="1"/>
          <p:nvPr/>
        </p:nvSpPr>
        <p:spPr>
          <a:xfrm>
            <a:off x="4361688" y="333755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603,238</a:t>
            </a:r>
          </a:p>
        </p:txBody>
      </p:sp>
      <p:sp>
        <p:nvSpPr>
          <p:cNvPr id="157" name="Rectangle 156"/>
          <p:cNvSpPr/>
          <p:nvPr/>
        </p:nvSpPr>
        <p:spPr>
          <a:xfrm>
            <a:off x="5166360" y="333755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TextBox 157"/>
          <p:cNvSpPr txBox="1"/>
          <p:nvPr/>
        </p:nvSpPr>
        <p:spPr>
          <a:xfrm>
            <a:off x="5184648" y="333755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427,857</a:t>
            </a:r>
          </a:p>
        </p:txBody>
      </p:sp>
      <p:sp>
        <p:nvSpPr>
          <p:cNvPr id="159" name="Rectangle 158"/>
          <p:cNvSpPr/>
          <p:nvPr/>
        </p:nvSpPr>
        <p:spPr>
          <a:xfrm>
            <a:off x="5989320" y="333755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0" name="TextBox 159"/>
          <p:cNvSpPr txBox="1"/>
          <p:nvPr/>
        </p:nvSpPr>
        <p:spPr>
          <a:xfrm>
            <a:off x="6007608" y="333755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227,924</a:t>
            </a:r>
          </a:p>
        </p:txBody>
      </p:sp>
      <p:sp>
        <p:nvSpPr>
          <p:cNvPr id="161" name="Rectangle 160"/>
          <p:cNvSpPr/>
          <p:nvPr/>
        </p:nvSpPr>
        <p:spPr>
          <a:xfrm>
            <a:off x="6812280" y="333755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TextBox 161"/>
          <p:cNvSpPr txBox="1"/>
          <p:nvPr/>
        </p:nvSpPr>
        <p:spPr>
          <a:xfrm>
            <a:off x="6830568" y="333755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163" name="Rectangle 162"/>
          <p:cNvSpPr/>
          <p:nvPr/>
        </p:nvSpPr>
        <p:spPr>
          <a:xfrm>
            <a:off x="7635240" y="333755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4" name="TextBox 163"/>
          <p:cNvSpPr txBox="1"/>
          <p:nvPr/>
        </p:nvSpPr>
        <p:spPr>
          <a:xfrm>
            <a:off x="7653528" y="333755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165" name="Rectangle 164"/>
          <p:cNvSpPr/>
          <p:nvPr/>
        </p:nvSpPr>
        <p:spPr>
          <a:xfrm>
            <a:off x="8458200" y="333755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6" name="TextBox 165"/>
          <p:cNvSpPr txBox="1"/>
          <p:nvPr/>
        </p:nvSpPr>
        <p:spPr>
          <a:xfrm>
            <a:off x="8476488" y="333755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167" name="Rectangle 166"/>
          <p:cNvSpPr/>
          <p:nvPr/>
        </p:nvSpPr>
        <p:spPr>
          <a:xfrm>
            <a:off x="9281160" y="333755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8" name="TextBox 167"/>
          <p:cNvSpPr txBox="1"/>
          <p:nvPr/>
        </p:nvSpPr>
        <p:spPr>
          <a:xfrm>
            <a:off x="9299448" y="333755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169" name="Rectangle 168"/>
          <p:cNvSpPr/>
          <p:nvPr/>
        </p:nvSpPr>
        <p:spPr>
          <a:xfrm>
            <a:off x="10104120" y="333755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0" name="TextBox 169"/>
          <p:cNvSpPr txBox="1"/>
          <p:nvPr/>
        </p:nvSpPr>
        <p:spPr>
          <a:xfrm>
            <a:off x="10122408" y="333755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171" name="Rectangle 170"/>
          <p:cNvSpPr/>
          <p:nvPr/>
        </p:nvSpPr>
        <p:spPr>
          <a:xfrm>
            <a:off x="10927080" y="3337559"/>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2" name="TextBox 171"/>
          <p:cNvSpPr txBox="1"/>
          <p:nvPr/>
        </p:nvSpPr>
        <p:spPr>
          <a:xfrm>
            <a:off x="10945368" y="3337559"/>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173" name="Rectangle 172"/>
          <p:cNvSpPr/>
          <p:nvPr/>
        </p:nvSpPr>
        <p:spPr>
          <a:xfrm>
            <a:off x="320040" y="3703320"/>
            <a:ext cx="237744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 name="TextBox 173"/>
          <p:cNvSpPr txBox="1"/>
          <p:nvPr/>
        </p:nvSpPr>
        <p:spPr>
          <a:xfrm>
            <a:off x="338328" y="3703320"/>
            <a:ext cx="2340864" cy="365760"/>
          </a:xfrm>
          <a:prstGeom prst="rect">
            <a:avLst/>
          </a:prstGeom>
          <a:noFill/>
        </p:spPr>
        <p:txBody>
          <a:bodyPr wrap="square" anchor="ctr" lIns="45720" rIns="45720" tIns="9144" bIns="9144">
            <a:spAutoFit/>
          </a:bodyPr>
          <a:lstStyle/>
          <a:p>
            <a:pPr algn="l"/>
            <a:r>
              <a:rPr sz="850" b="0" i="0">
                <a:solidFill>
                  <a:srgbClr val="334155"/>
                </a:solidFill>
                <a:latin typeface="Calibri"/>
              </a:rPr>
              <a:t>Capital social inicial</a:t>
            </a:r>
          </a:p>
        </p:txBody>
      </p:sp>
      <p:sp>
        <p:nvSpPr>
          <p:cNvPr id="175" name="Rectangle 174"/>
          <p:cNvSpPr/>
          <p:nvPr/>
        </p:nvSpPr>
        <p:spPr>
          <a:xfrm>
            <a:off x="2697480" y="370332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6" name="TextBox 175"/>
          <p:cNvSpPr txBox="1"/>
          <p:nvPr/>
        </p:nvSpPr>
        <p:spPr>
          <a:xfrm>
            <a:off x="2715768" y="370332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892,029</a:t>
            </a:r>
          </a:p>
        </p:txBody>
      </p:sp>
      <p:sp>
        <p:nvSpPr>
          <p:cNvPr id="177" name="Rectangle 176"/>
          <p:cNvSpPr/>
          <p:nvPr/>
        </p:nvSpPr>
        <p:spPr>
          <a:xfrm>
            <a:off x="3520440" y="370332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8" name="TextBox 177"/>
          <p:cNvSpPr txBox="1"/>
          <p:nvPr/>
        </p:nvSpPr>
        <p:spPr>
          <a:xfrm>
            <a:off x="3538728" y="370332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892,029</a:t>
            </a:r>
          </a:p>
        </p:txBody>
      </p:sp>
      <p:sp>
        <p:nvSpPr>
          <p:cNvPr id="179" name="Rectangle 178"/>
          <p:cNvSpPr/>
          <p:nvPr/>
        </p:nvSpPr>
        <p:spPr>
          <a:xfrm>
            <a:off x="4343400" y="370332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0" name="TextBox 179"/>
          <p:cNvSpPr txBox="1"/>
          <p:nvPr/>
        </p:nvSpPr>
        <p:spPr>
          <a:xfrm>
            <a:off x="4361688" y="370332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892,029</a:t>
            </a:r>
          </a:p>
        </p:txBody>
      </p:sp>
      <p:sp>
        <p:nvSpPr>
          <p:cNvPr id="181" name="Rectangle 180"/>
          <p:cNvSpPr/>
          <p:nvPr/>
        </p:nvSpPr>
        <p:spPr>
          <a:xfrm>
            <a:off x="5166360" y="370332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2" name="TextBox 181"/>
          <p:cNvSpPr txBox="1"/>
          <p:nvPr/>
        </p:nvSpPr>
        <p:spPr>
          <a:xfrm>
            <a:off x="5184648" y="370332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892,029</a:t>
            </a:r>
          </a:p>
        </p:txBody>
      </p:sp>
      <p:sp>
        <p:nvSpPr>
          <p:cNvPr id="183" name="Rectangle 182"/>
          <p:cNvSpPr/>
          <p:nvPr/>
        </p:nvSpPr>
        <p:spPr>
          <a:xfrm>
            <a:off x="5989320" y="370332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4" name="TextBox 183"/>
          <p:cNvSpPr txBox="1"/>
          <p:nvPr/>
        </p:nvSpPr>
        <p:spPr>
          <a:xfrm>
            <a:off x="6007608" y="370332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892,029</a:t>
            </a:r>
          </a:p>
        </p:txBody>
      </p:sp>
      <p:sp>
        <p:nvSpPr>
          <p:cNvPr id="185" name="Rectangle 184"/>
          <p:cNvSpPr/>
          <p:nvPr/>
        </p:nvSpPr>
        <p:spPr>
          <a:xfrm>
            <a:off x="6812280" y="370332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6" name="TextBox 185"/>
          <p:cNvSpPr txBox="1"/>
          <p:nvPr/>
        </p:nvSpPr>
        <p:spPr>
          <a:xfrm>
            <a:off x="6830568" y="370332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892,029</a:t>
            </a:r>
          </a:p>
        </p:txBody>
      </p:sp>
      <p:sp>
        <p:nvSpPr>
          <p:cNvPr id="187" name="Rectangle 186"/>
          <p:cNvSpPr/>
          <p:nvPr/>
        </p:nvSpPr>
        <p:spPr>
          <a:xfrm>
            <a:off x="7635240" y="370332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8" name="TextBox 187"/>
          <p:cNvSpPr txBox="1"/>
          <p:nvPr/>
        </p:nvSpPr>
        <p:spPr>
          <a:xfrm>
            <a:off x="7653528" y="370332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892,029</a:t>
            </a:r>
          </a:p>
        </p:txBody>
      </p:sp>
      <p:sp>
        <p:nvSpPr>
          <p:cNvPr id="189" name="Rectangle 188"/>
          <p:cNvSpPr/>
          <p:nvPr/>
        </p:nvSpPr>
        <p:spPr>
          <a:xfrm>
            <a:off x="8458200" y="370332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0" name="TextBox 189"/>
          <p:cNvSpPr txBox="1"/>
          <p:nvPr/>
        </p:nvSpPr>
        <p:spPr>
          <a:xfrm>
            <a:off x="8476488" y="370332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892,029</a:t>
            </a:r>
          </a:p>
        </p:txBody>
      </p:sp>
      <p:sp>
        <p:nvSpPr>
          <p:cNvPr id="191" name="Rectangle 190"/>
          <p:cNvSpPr/>
          <p:nvPr/>
        </p:nvSpPr>
        <p:spPr>
          <a:xfrm>
            <a:off x="9281160" y="370332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2" name="TextBox 191"/>
          <p:cNvSpPr txBox="1"/>
          <p:nvPr/>
        </p:nvSpPr>
        <p:spPr>
          <a:xfrm>
            <a:off x="9299448" y="370332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892,029</a:t>
            </a:r>
          </a:p>
        </p:txBody>
      </p:sp>
      <p:sp>
        <p:nvSpPr>
          <p:cNvPr id="193" name="Rectangle 192"/>
          <p:cNvSpPr/>
          <p:nvPr/>
        </p:nvSpPr>
        <p:spPr>
          <a:xfrm>
            <a:off x="10104120" y="370332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4" name="TextBox 193"/>
          <p:cNvSpPr txBox="1"/>
          <p:nvPr/>
        </p:nvSpPr>
        <p:spPr>
          <a:xfrm>
            <a:off x="10122408" y="370332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892,029</a:t>
            </a:r>
          </a:p>
        </p:txBody>
      </p:sp>
      <p:sp>
        <p:nvSpPr>
          <p:cNvPr id="195" name="Rectangle 194"/>
          <p:cNvSpPr/>
          <p:nvPr/>
        </p:nvSpPr>
        <p:spPr>
          <a:xfrm>
            <a:off x="10927080" y="370332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6" name="TextBox 195"/>
          <p:cNvSpPr txBox="1"/>
          <p:nvPr/>
        </p:nvSpPr>
        <p:spPr>
          <a:xfrm>
            <a:off x="10945368" y="370332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892,029</a:t>
            </a:r>
          </a:p>
        </p:txBody>
      </p:sp>
      <p:sp>
        <p:nvSpPr>
          <p:cNvPr id="197" name="Rectangle 196"/>
          <p:cNvSpPr/>
          <p:nvPr/>
        </p:nvSpPr>
        <p:spPr>
          <a:xfrm>
            <a:off x="320040" y="4069080"/>
            <a:ext cx="237744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8" name="TextBox 197"/>
          <p:cNvSpPr txBox="1"/>
          <p:nvPr/>
        </p:nvSpPr>
        <p:spPr>
          <a:xfrm>
            <a:off x="338328" y="4069080"/>
            <a:ext cx="2340864" cy="365760"/>
          </a:xfrm>
          <a:prstGeom prst="rect">
            <a:avLst/>
          </a:prstGeom>
          <a:noFill/>
        </p:spPr>
        <p:txBody>
          <a:bodyPr wrap="square" anchor="ctr" lIns="45720" rIns="45720" tIns="9144" bIns="9144">
            <a:spAutoFit/>
          </a:bodyPr>
          <a:lstStyle/>
          <a:p>
            <a:pPr algn="l"/>
            <a:r>
              <a:rPr sz="850" b="0" i="0">
                <a:solidFill>
                  <a:srgbClr val="334155"/>
                </a:solidFill>
                <a:latin typeface="Calibri"/>
              </a:rPr>
              <a:t>Aportes adicionales de socios</a:t>
            </a:r>
          </a:p>
        </p:txBody>
      </p:sp>
      <p:sp>
        <p:nvSpPr>
          <p:cNvPr id="199" name="Rectangle 198"/>
          <p:cNvSpPr/>
          <p:nvPr/>
        </p:nvSpPr>
        <p:spPr>
          <a:xfrm>
            <a:off x="2697480" y="406908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0" name="TextBox 199"/>
          <p:cNvSpPr txBox="1"/>
          <p:nvPr/>
        </p:nvSpPr>
        <p:spPr>
          <a:xfrm>
            <a:off x="2715768" y="406908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01" name="Rectangle 200"/>
          <p:cNvSpPr/>
          <p:nvPr/>
        </p:nvSpPr>
        <p:spPr>
          <a:xfrm>
            <a:off x="3520440" y="406908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2" name="TextBox 201"/>
          <p:cNvSpPr txBox="1"/>
          <p:nvPr/>
        </p:nvSpPr>
        <p:spPr>
          <a:xfrm>
            <a:off x="3538728" y="406908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993,690</a:t>
            </a:r>
          </a:p>
        </p:txBody>
      </p:sp>
      <p:sp>
        <p:nvSpPr>
          <p:cNvPr id="203" name="Rectangle 202"/>
          <p:cNvSpPr/>
          <p:nvPr/>
        </p:nvSpPr>
        <p:spPr>
          <a:xfrm>
            <a:off x="4343400" y="406908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4" name="TextBox 203"/>
          <p:cNvSpPr txBox="1"/>
          <p:nvPr/>
        </p:nvSpPr>
        <p:spPr>
          <a:xfrm>
            <a:off x="4361688" y="406908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1,217,819</a:t>
            </a:r>
          </a:p>
        </p:txBody>
      </p:sp>
      <p:sp>
        <p:nvSpPr>
          <p:cNvPr id="205" name="Rectangle 204"/>
          <p:cNvSpPr/>
          <p:nvPr/>
        </p:nvSpPr>
        <p:spPr>
          <a:xfrm>
            <a:off x="5166360" y="406908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 name="TextBox 205"/>
          <p:cNvSpPr txBox="1"/>
          <p:nvPr/>
        </p:nvSpPr>
        <p:spPr>
          <a:xfrm>
            <a:off x="5184648" y="406908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1,217,819</a:t>
            </a:r>
          </a:p>
        </p:txBody>
      </p:sp>
      <p:sp>
        <p:nvSpPr>
          <p:cNvPr id="207" name="Rectangle 206"/>
          <p:cNvSpPr/>
          <p:nvPr/>
        </p:nvSpPr>
        <p:spPr>
          <a:xfrm>
            <a:off x="5989320" y="406908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8" name="TextBox 207"/>
          <p:cNvSpPr txBox="1"/>
          <p:nvPr/>
        </p:nvSpPr>
        <p:spPr>
          <a:xfrm>
            <a:off x="6007608" y="406908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1,217,819</a:t>
            </a:r>
          </a:p>
        </p:txBody>
      </p:sp>
      <p:sp>
        <p:nvSpPr>
          <p:cNvPr id="209" name="Rectangle 208"/>
          <p:cNvSpPr/>
          <p:nvPr/>
        </p:nvSpPr>
        <p:spPr>
          <a:xfrm>
            <a:off x="6812280" y="406908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0" name="TextBox 209"/>
          <p:cNvSpPr txBox="1"/>
          <p:nvPr/>
        </p:nvSpPr>
        <p:spPr>
          <a:xfrm>
            <a:off x="6830568" y="406908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1,217,819</a:t>
            </a:r>
          </a:p>
        </p:txBody>
      </p:sp>
      <p:sp>
        <p:nvSpPr>
          <p:cNvPr id="211" name="Rectangle 210"/>
          <p:cNvSpPr/>
          <p:nvPr/>
        </p:nvSpPr>
        <p:spPr>
          <a:xfrm>
            <a:off x="7635240" y="406908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2" name="TextBox 211"/>
          <p:cNvSpPr txBox="1"/>
          <p:nvPr/>
        </p:nvSpPr>
        <p:spPr>
          <a:xfrm>
            <a:off x="7653528" y="406908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1,217,819</a:t>
            </a:r>
          </a:p>
        </p:txBody>
      </p:sp>
      <p:sp>
        <p:nvSpPr>
          <p:cNvPr id="213" name="Rectangle 212"/>
          <p:cNvSpPr/>
          <p:nvPr/>
        </p:nvSpPr>
        <p:spPr>
          <a:xfrm>
            <a:off x="8458200" y="406908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4" name="TextBox 213"/>
          <p:cNvSpPr txBox="1"/>
          <p:nvPr/>
        </p:nvSpPr>
        <p:spPr>
          <a:xfrm>
            <a:off x="8476488" y="406908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1,217,819</a:t>
            </a:r>
          </a:p>
        </p:txBody>
      </p:sp>
      <p:sp>
        <p:nvSpPr>
          <p:cNvPr id="215" name="Rectangle 214"/>
          <p:cNvSpPr/>
          <p:nvPr/>
        </p:nvSpPr>
        <p:spPr>
          <a:xfrm>
            <a:off x="9281160" y="406908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6" name="TextBox 215"/>
          <p:cNvSpPr txBox="1"/>
          <p:nvPr/>
        </p:nvSpPr>
        <p:spPr>
          <a:xfrm>
            <a:off x="9299448" y="406908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1,217,819</a:t>
            </a:r>
          </a:p>
        </p:txBody>
      </p:sp>
      <p:sp>
        <p:nvSpPr>
          <p:cNvPr id="217" name="Rectangle 216"/>
          <p:cNvSpPr/>
          <p:nvPr/>
        </p:nvSpPr>
        <p:spPr>
          <a:xfrm>
            <a:off x="10104120" y="406908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8" name="TextBox 217"/>
          <p:cNvSpPr txBox="1"/>
          <p:nvPr/>
        </p:nvSpPr>
        <p:spPr>
          <a:xfrm>
            <a:off x="10122408" y="406908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1,217,819</a:t>
            </a:r>
          </a:p>
        </p:txBody>
      </p:sp>
      <p:sp>
        <p:nvSpPr>
          <p:cNvPr id="219" name="Rectangle 218"/>
          <p:cNvSpPr/>
          <p:nvPr/>
        </p:nvSpPr>
        <p:spPr>
          <a:xfrm>
            <a:off x="10927080" y="406908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0" name="TextBox 219"/>
          <p:cNvSpPr txBox="1"/>
          <p:nvPr/>
        </p:nvSpPr>
        <p:spPr>
          <a:xfrm>
            <a:off x="10945368" y="406908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1,217,819</a:t>
            </a:r>
          </a:p>
        </p:txBody>
      </p:sp>
      <p:sp>
        <p:nvSpPr>
          <p:cNvPr id="221" name="Rectangle 220"/>
          <p:cNvSpPr/>
          <p:nvPr/>
        </p:nvSpPr>
        <p:spPr>
          <a:xfrm>
            <a:off x="320040" y="4434840"/>
            <a:ext cx="237744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2" name="TextBox 221"/>
          <p:cNvSpPr txBox="1"/>
          <p:nvPr/>
        </p:nvSpPr>
        <p:spPr>
          <a:xfrm>
            <a:off x="338328" y="4434840"/>
            <a:ext cx="2340864" cy="365760"/>
          </a:xfrm>
          <a:prstGeom prst="rect">
            <a:avLst/>
          </a:prstGeom>
          <a:noFill/>
        </p:spPr>
        <p:txBody>
          <a:bodyPr wrap="square" anchor="ctr" lIns="45720" rIns="45720" tIns="9144" bIns="9144">
            <a:spAutoFit/>
          </a:bodyPr>
          <a:lstStyle/>
          <a:p>
            <a:pPr algn="l"/>
            <a:r>
              <a:rPr sz="850" b="0" i="0">
                <a:solidFill>
                  <a:srgbClr val="334155"/>
                </a:solidFill>
                <a:latin typeface="Calibri"/>
              </a:rPr>
              <a:t>Utilidades retenidas</a:t>
            </a:r>
          </a:p>
        </p:txBody>
      </p:sp>
      <p:sp>
        <p:nvSpPr>
          <p:cNvPr id="223" name="Rectangle 222"/>
          <p:cNvSpPr/>
          <p:nvPr/>
        </p:nvSpPr>
        <p:spPr>
          <a:xfrm>
            <a:off x="2697480" y="443484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4" name="TextBox 223"/>
          <p:cNvSpPr txBox="1"/>
          <p:nvPr/>
        </p:nvSpPr>
        <p:spPr>
          <a:xfrm>
            <a:off x="2715768" y="443484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0</a:t>
            </a:r>
          </a:p>
        </p:txBody>
      </p:sp>
      <p:sp>
        <p:nvSpPr>
          <p:cNvPr id="225" name="Rectangle 224"/>
          <p:cNvSpPr/>
          <p:nvPr/>
        </p:nvSpPr>
        <p:spPr>
          <a:xfrm>
            <a:off x="3520440" y="443484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6" name="TextBox 225"/>
          <p:cNvSpPr txBox="1"/>
          <p:nvPr/>
        </p:nvSpPr>
        <p:spPr>
          <a:xfrm>
            <a:off x="3538728" y="443484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−1,063,441</a:t>
            </a:r>
          </a:p>
        </p:txBody>
      </p:sp>
      <p:sp>
        <p:nvSpPr>
          <p:cNvPr id="227" name="Rectangle 226"/>
          <p:cNvSpPr/>
          <p:nvPr/>
        </p:nvSpPr>
        <p:spPr>
          <a:xfrm>
            <a:off x="4343400" y="443484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8" name="TextBox 227"/>
          <p:cNvSpPr txBox="1"/>
          <p:nvPr/>
        </p:nvSpPr>
        <p:spPr>
          <a:xfrm>
            <a:off x="4361688" y="443484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−1,225,170</a:t>
            </a:r>
          </a:p>
        </p:txBody>
      </p:sp>
      <p:sp>
        <p:nvSpPr>
          <p:cNvPr id="229" name="Rectangle 228"/>
          <p:cNvSpPr/>
          <p:nvPr/>
        </p:nvSpPr>
        <p:spPr>
          <a:xfrm>
            <a:off x="5166360" y="443484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0" name="TextBox 229"/>
          <p:cNvSpPr txBox="1"/>
          <p:nvPr/>
        </p:nvSpPr>
        <p:spPr>
          <a:xfrm>
            <a:off x="5184648" y="443484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−162,338</a:t>
            </a:r>
          </a:p>
        </p:txBody>
      </p:sp>
      <p:sp>
        <p:nvSpPr>
          <p:cNvPr id="231" name="Rectangle 230"/>
          <p:cNvSpPr/>
          <p:nvPr/>
        </p:nvSpPr>
        <p:spPr>
          <a:xfrm>
            <a:off x="5989320" y="443484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2" name="TextBox 231"/>
          <p:cNvSpPr txBox="1"/>
          <p:nvPr/>
        </p:nvSpPr>
        <p:spPr>
          <a:xfrm>
            <a:off x="6007608" y="443484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1,790,396</a:t>
            </a:r>
          </a:p>
        </p:txBody>
      </p:sp>
      <p:sp>
        <p:nvSpPr>
          <p:cNvPr id="233" name="Rectangle 232"/>
          <p:cNvSpPr/>
          <p:nvPr/>
        </p:nvSpPr>
        <p:spPr>
          <a:xfrm>
            <a:off x="6812280" y="443484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4" name="TextBox 233"/>
          <p:cNvSpPr txBox="1"/>
          <p:nvPr/>
        </p:nvSpPr>
        <p:spPr>
          <a:xfrm>
            <a:off x="6830568" y="443484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5,086,399</a:t>
            </a:r>
          </a:p>
        </p:txBody>
      </p:sp>
      <p:sp>
        <p:nvSpPr>
          <p:cNvPr id="235" name="Rectangle 234"/>
          <p:cNvSpPr/>
          <p:nvPr/>
        </p:nvSpPr>
        <p:spPr>
          <a:xfrm>
            <a:off x="7635240" y="443484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6" name="TextBox 235"/>
          <p:cNvSpPr txBox="1"/>
          <p:nvPr/>
        </p:nvSpPr>
        <p:spPr>
          <a:xfrm>
            <a:off x="7653528" y="443484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9,977,276</a:t>
            </a:r>
          </a:p>
        </p:txBody>
      </p:sp>
      <p:sp>
        <p:nvSpPr>
          <p:cNvPr id="237" name="Rectangle 236"/>
          <p:cNvSpPr/>
          <p:nvPr/>
        </p:nvSpPr>
        <p:spPr>
          <a:xfrm>
            <a:off x="8458200" y="443484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8" name="TextBox 237"/>
          <p:cNvSpPr txBox="1"/>
          <p:nvPr/>
        </p:nvSpPr>
        <p:spPr>
          <a:xfrm>
            <a:off x="8476488" y="443484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16,687,473</a:t>
            </a:r>
          </a:p>
        </p:txBody>
      </p:sp>
      <p:sp>
        <p:nvSpPr>
          <p:cNvPr id="239" name="Rectangle 238"/>
          <p:cNvSpPr/>
          <p:nvPr/>
        </p:nvSpPr>
        <p:spPr>
          <a:xfrm>
            <a:off x="9281160" y="443484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0" name="TextBox 239"/>
          <p:cNvSpPr txBox="1"/>
          <p:nvPr/>
        </p:nvSpPr>
        <p:spPr>
          <a:xfrm>
            <a:off x="9299448" y="443484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25,370,968</a:t>
            </a:r>
          </a:p>
        </p:txBody>
      </p:sp>
      <p:sp>
        <p:nvSpPr>
          <p:cNvPr id="241" name="Rectangle 240"/>
          <p:cNvSpPr/>
          <p:nvPr/>
        </p:nvSpPr>
        <p:spPr>
          <a:xfrm>
            <a:off x="10104120" y="443484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2" name="TextBox 241"/>
          <p:cNvSpPr txBox="1"/>
          <p:nvPr/>
        </p:nvSpPr>
        <p:spPr>
          <a:xfrm>
            <a:off x="10122408" y="443484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36,410,042</a:t>
            </a:r>
          </a:p>
        </p:txBody>
      </p:sp>
      <p:sp>
        <p:nvSpPr>
          <p:cNvPr id="243" name="Rectangle 242"/>
          <p:cNvSpPr/>
          <p:nvPr/>
        </p:nvSpPr>
        <p:spPr>
          <a:xfrm>
            <a:off x="10927080" y="4434840"/>
            <a:ext cx="822960" cy="365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4" name="TextBox 243"/>
          <p:cNvSpPr txBox="1"/>
          <p:nvPr/>
        </p:nvSpPr>
        <p:spPr>
          <a:xfrm>
            <a:off x="10945368" y="4434840"/>
            <a:ext cx="786384" cy="365760"/>
          </a:xfrm>
          <a:prstGeom prst="rect">
            <a:avLst/>
          </a:prstGeom>
          <a:noFill/>
        </p:spPr>
        <p:txBody>
          <a:bodyPr wrap="square" anchor="ctr" lIns="45720" rIns="45720" tIns="9144" bIns="9144">
            <a:spAutoFit/>
          </a:bodyPr>
          <a:lstStyle/>
          <a:p>
            <a:pPr algn="r"/>
            <a:r>
              <a:rPr sz="850" b="0" i="0">
                <a:solidFill>
                  <a:srgbClr val="334155"/>
                </a:solidFill>
                <a:latin typeface="Calibri"/>
              </a:rPr>
              <a:t>49,999,080</a:t>
            </a:r>
          </a:p>
        </p:txBody>
      </p:sp>
      <p:sp>
        <p:nvSpPr>
          <p:cNvPr id="245" name="Rectangle 244"/>
          <p:cNvSpPr/>
          <p:nvPr/>
        </p:nvSpPr>
        <p:spPr>
          <a:xfrm>
            <a:off x="320040" y="4800600"/>
            <a:ext cx="237744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6" name="TextBox 245"/>
          <p:cNvSpPr txBox="1"/>
          <p:nvPr/>
        </p:nvSpPr>
        <p:spPr>
          <a:xfrm>
            <a:off x="338328" y="4800600"/>
            <a:ext cx="2340864" cy="365760"/>
          </a:xfrm>
          <a:prstGeom prst="rect">
            <a:avLst/>
          </a:prstGeom>
          <a:noFill/>
        </p:spPr>
        <p:txBody>
          <a:bodyPr wrap="square" anchor="ctr" lIns="45720" rIns="45720" tIns="9144" bIns="9144">
            <a:spAutoFit/>
          </a:bodyPr>
          <a:lstStyle/>
          <a:p>
            <a:pPr algn="l"/>
            <a:r>
              <a:rPr sz="850" b="1" i="0">
                <a:solidFill>
                  <a:srgbClr val="0D2341"/>
                </a:solidFill>
                <a:latin typeface="Calibri"/>
              </a:rPr>
              <a:t>TOTAL PASIVO Y PATRIMONIO</a:t>
            </a:r>
          </a:p>
        </p:txBody>
      </p:sp>
      <p:sp>
        <p:nvSpPr>
          <p:cNvPr id="247" name="Rectangle 246"/>
          <p:cNvSpPr/>
          <p:nvPr/>
        </p:nvSpPr>
        <p:spPr>
          <a:xfrm>
            <a:off x="2697480" y="4800600"/>
            <a:ext cx="82296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8" name="TextBox 247"/>
          <p:cNvSpPr txBox="1"/>
          <p:nvPr/>
        </p:nvSpPr>
        <p:spPr>
          <a:xfrm>
            <a:off x="2715768" y="4800600"/>
            <a:ext cx="786384" cy="365760"/>
          </a:xfrm>
          <a:prstGeom prst="rect">
            <a:avLst/>
          </a:prstGeom>
          <a:noFill/>
        </p:spPr>
        <p:txBody>
          <a:bodyPr wrap="square" anchor="ctr" lIns="45720" rIns="45720" tIns="9144" bIns="9144">
            <a:spAutoFit/>
          </a:bodyPr>
          <a:lstStyle/>
          <a:p>
            <a:pPr algn="r"/>
            <a:r>
              <a:rPr sz="850" b="1" i="0">
                <a:solidFill>
                  <a:srgbClr val="0D2341"/>
                </a:solidFill>
                <a:latin typeface="Calibri"/>
              </a:rPr>
              <a:t>1,784,058</a:t>
            </a:r>
          </a:p>
        </p:txBody>
      </p:sp>
      <p:sp>
        <p:nvSpPr>
          <p:cNvPr id="249" name="Rectangle 248"/>
          <p:cNvSpPr/>
          <p:nvPr/>
        </p:nvSpPr>
        <p:spPr>
          <a:xfrm>
            <a:off x="3520440" y="4800600"/>
            <a:ext cx="82296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0" name="TextBox 249"/>
          <p:cNvSpPr txBox="1"/>
          <p:nvPr/>
        </p:nvSpPr>
        <p:spPr>
          <a:xfrm>
            <a:off x="3538728" y="4800600"/>
            <a:ext cx="786384" cy="365760"/>
          </a:xfrm>
          <a:prstGeom prst="rect">
            <a:avLst/>
          </a:prstGeom>
          <a:noFill/>
        </p:spPr>
        <p:txBody>
          <a:bodyPr wrap="square" anchor="ctr" lIns="45720" rIns="45720" tIns="9144" bIns="9144">
            <a:spAutoFit/>
          </a:bodyPr>
          <a:lstStyle/>
          <a:p>
            <a:pPr algn="r"/>
            <a:r>
              <a:rPr sz="850" b="1" i="0">
                <a:solidFill>
                  <a:srgbClr val="0D2341"/>
                </a:solidFill>
                <a:latin typeface="Calibri"/>
              </a:rPr>
              <a:t>1,579,358</a:t>
            </a:r>
          </a:p>
        </p:txBody>
      </p:sp>
      <p:sp>
        <p:nvSpPr>
          <p:cNvPr id="251" name="Rectangle 250"/>
          <p:cNvSpPr/>
          <p:nvPr/>
        </p:nvSpPr>
        <p:spPr>
          <a:xfrm>
            <a:off x="4343400" y="4800600"/>
            <a:ext cx="82296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2" name="TextBox 251"/>
          <p:cNvSpPr txBox="1"/>
          <p:nvPr/>
        </p:nvSpPr>
        <p:spPr>
          <a:xfrm>
            <a:off x="4361688" y="4800600"/>
            <a:ext cx="786384" cy="365760"/>
          </a:xfrm>
          <a:prstGeom prst="rect">
            <a:avLst/>
          </a:prstGeom>
          <a:noFill/>
        </p:spPr>
        <p:txBody>
          <a:bodyPr wrap="square" anchor="ctr" lIns="45720" rIns="45720" tIns="9144" bIns="9144">
            <a:spAutoFit/>
          </a:bodyPr>
          <a:lstStyle/>
          <a:p>
            <a:pPr algn="r"/>
            <a:r>
              <a:rPr sz="850" b="1" i="0">
                <a:solidFill>
                  <a:srgbClr val="0D2341"/>
                </a:solidFill>
                <a:latin typeface="Calibri"/>
              </a:rPr>
              <a:t>1,487,915</a:t>
            </a:r>
          </a:p>
        </p:txBody>
      </p:sp>
      <p:sp>
        <p:nvSpPr>
          <p:cNvPr id="253" name="Rectangle 252"/>
          <p:cNvSpPr/>
          <p:nvPr/>
        </p:nvSpPr>
        <p:spPr>
          <a:xfrm>
            <a:off x="5166360" y="4800600"/>
            <a:ext cx="82296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4" name="TextBox 253"/>
          <p:cNvSpPr txBox="1"/>
          <p:nvPr/>
        </p:nvSpPr>
        <p:spPr>
          <a:xfrm>
            <a:off x="5184648" y="4800600"/>
            <a:ext cx="786384" cy="365760"/>
          </a:xfrm>
          <a:prstGeom prst="rect">
            <a:avLst/>
          </a:prstGeom>
          <a:noFill/>
        </p:spPr>
        <p:txBody>
          <a:bodyPr wrap="square" anchor="ctr" lIns="45720" rIns="45720" tIns="9144" bIns="9144">
            <a:spAutoFit/>
          </a:bodyPr>
          <a:lstStyle/>
          <a:p>
            <a:pPr algn="r"/>
            <a:r>
              <a:rPr sz="850" b="1" i="0">
                <a:solidFill>
                  <a:srgbClr val="0D2341"/>
                </a:solidFill>
                <a:latin typeface="Calibri"/>
              </a:rPr>
              <a:t>2,375,367</a:t>
            </a:r>
          </a:p>
        </p:txBody>
      </p:sp>
      <p:sp>
        <p:nvSpPr>
          <p:cNvPr id="255" name="Rectangle 254"/>
          <p:cNvSpPr/>
          <p:nvPr/>
        </p:nvSpPr>
        <p:spPr>
          <a:xfrm>
            <a:off x="5989320" y="4800600"/>
            <a:ext cx="82296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6" name="TextBox 255"/>
          <p:cNvSpPr txBox="1"/>
          <p:nvPr/>
        </p:nvSpPr>
        <p:spPr>
          <a:xfrm>
            <a:off x="6007608" y="4800600"/>
            <a:ext cx="786384" cy="365760"/>
          </a:xfrm>
          <a:prstGeom prst="rect">
            <a:avLst/>
          </a:prstGeom>
          <a:noFill/>
        </p:spPr>
        <p:txBody>
          <a:bodyPr wrap="square" anchor="ctr" lIns="45720" rIns="45720" tIns="9144" bIns="9144">
            <a:spAutoFit/>
          </a:bodyPr>
          <a:lstStyle/>
          <a:p>
            <a:pPr algn="r"/>
            <a:r>
              <a:rPr sz="850" b="1" i="0">
                <a:solidFill>
                  <a:srgbClr val="0D2341"/>
                </a:solidFill>
                <a:latin typeface="Calibri"/>
              </a:rPr>
              <a:t>4,128,168</a:t>
            </a:r>
          </a:p>
        </p:txBody>
      </p:sp>
      <p:sp>
        <p:nvSpPr>
          <p:cNvPr id="257" name="Rectangle 256"/>
          <p:cNvSpPr/>
          <p:nvPr/>
        </p:nvSpPr>
        <p:spPr>
          <a:xfrm>
            <a:off x="6812280" y="4800600"/>
            <a:ext cx="82296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8" name="TextBox 257"/>
          <p:cNvSpPr txBox="1"/>
          <p:nvPr/>
        </p:nvSpPr>
        <p:spPr>
          <a:xfrm>
            <a:off x="6830568" y="4800600"/>
            <a:ext cx="786384" cy="365760"/>
          </a:xfrm>
          <a:prstGeom prst="rect">
            <a:avLst/>
          </a:prstGeom>
          <a:noFill/>
        </p:spPr>
        <p:txBody>
          <a:bodyPr wrap="square" anchor="ctr" lIns="45720" rIns="45720" tIns="9144" bIns="9144">
            <a:spAutoFit/>
          </a:bodyPr>
          <a:lstStyle/>
          <a:p>
            <a:pPr algn="r"/>
            <a:r>
              <a:rPr sz="850" b="1" i="0">
                <a:solidFill>
                  <a:srgbClr val="0D2341"/>
                </a:solidFill>
                <a:latin typeface="Calibri"/>
              </a:rPr>
              <a:t>7,196,246</a:t>
            </a:r>
          </a:p>
        </p:txBody>
      </p:sp>
      <p:sp>
        <p:nvSpPr>
          <p:cNvPr id="259" name="Rectangle 258"/>
          <p:cNvSpPr/>
          <p:nvPr/>
        </p:nvSpPr>
        <p:spPr>
          <a:xfrm>
            <a:off x="7635240" y="4800600"/>
            <a:ext cx="82296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0" name="TextBox 259"/>
          <p:cNvSpPr txBox="1"/>
          <p:nvPr/>
        </p:nvSpPr>
        <p:spPr>
          <a:xfrm>
            <a:off x="7653528" y="4800600"/>
            <a:ext cx="786384" cy="365760"/>
          </a:xfrm>
          <a:prstGeom prst="rect">
            <a:avLst/>
          </a:prstGeom>
          <a:noFill/>
        </p:spPr>
        <p:txBody>
          <a:bodyPr wrap="square" anchor="ctr" lIns="45720" rIns="45720" tIns="9144" bIns="9144">
            <a:spAutoFit/>
          </a:bodyPr>
          <a:lstStyle/>
          <a:p>
            <a:pPr algn="r"/>
            <a:r>
              <a:rPr sz="850" b="1" i="0">
                <a:solidFill>
                  <a:srgbClr val="0D2341"/>
                </a:solidFill>
                <a:latin typeface="Calibri"/>
              </a:rPr>
              <a:t>12,087,124</a:t>
            </a:r>
          </a:p>
        </p:txBody>
      </p:sp>
      <p:sp>
        <p:nvSpPr>
          <p:cNvPr id="261" name="Rectangle 260"/>
          <p:cNvSpPr/>
          <p:nvPr/>
        </p:nvSpPr>
        <p:spPr>
          <a:xfrm>
            <a:off x="8458200" y="4800600"/>
            <a:ext cx="82296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2" name="TextBox 261"/>
          <p:cNvSpPr txBox="1"/>
          <p:nvPr/>
        </p:nvSpPr>
        <p:spPr>
          <a:xfrm>
            <a:off x="8476488" y="4800600"/>
            <a:ext cx="786384" cy="365760"/>
          </a:xfrm>
          <a:prstGeom prst="rect">
            <a:avLst/>
          </a:prstGeom>
          <a:noFill/>
        </p:spPr>
        <p:txBody>
          <a:bodyPr wrap="square" anchor="ctr" lIns="45720" rIns="45720" tIns="9144" bIns="9144">
            <a:spAutoFit/>
          </a:bodyPr>
          <a:lstStyle/>
          <a:p>
            <a:pPr algn="r"/>
            <a:r>
              <a:rPr sz="850" b="1" i="0">
                <a:solidFill>
                  <a:srgbClr val="0D2341"/>
                </a:solidFill>
                <a:latin typeface="Calibri"/>
              </a:rPr>
              <a:t>18,797,320</a:t>
            </a:r>
          </a:p>
        </p:txBody>
      </p:sp>
      <p:sp>
        <p:nvSpPr>
          <p:cNvPr id="263" name="Rectangle 262"/>
          <p:cNvSpPr/>
          <p:nvPr/>
        </p:nvSpPr>
        <p:spPr>
          <a:xfrm>
            <a:off x="9281160" y="4800600"/>
            <a:ext cx="82296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4" name="TextBox 263"/>
          <p:cNvSpPr txBox="1"/>
          <p:nvPr/>
        </p:nvSpPr>
        <p:spPr>
          <a:xfrm>
            <a:off x="9299448" y="4800600"/>
            <a:ext cx="786384" cy="365760"/>
          </a:xfrm>
          <a:prstGeom prst="rect">
            <a:avLst/>
          </a:prstGeom>
          <a:noFill/>
        </p:spPr>
        <p:txBody>
          <a:bodyPr wrap="square" anchor="ctr" lIns="45720" rIns="45720" tIns="9144" bIns="9144">
            <a:spAutoFit/>
          </a:bodyPr>
          <a:lstStyle/>
          <a:p>
            <a:pPr algn="r"/>
            <a:r>
              <a:rPr sz="850" b="1" i="0">
                <a:solidFill>
                  <a:srgbClr val="0D2341"/>
                </a:solidFill>
                <a:latin typeface="Calibri"/>
              </a:rPr>
              <a:t>27,480,816</a:t>
            </a:r>
          </a:p>
        </p:txBody>
      </p:sp>
      <p:sp>
        <p:nvSpPr>
          <p:cNvPr id="265" name="Rectangle 264"/>
          <p:cNvSpPr/>
          <p:nvPr/>
        </p:nvSpPr>
        <p:spPr>
          <a:xfrm>
            <a:off x="10104120" y="4800600"/>
            <a:ext cx="82296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6" name="TextBox 265"/>
          <p:cNvSpPr txBox="1"/>
          <p:nvPr/>
        </p:nvSpPr>
        <p:spPr>
          <a:xfrm>
            <a:off x="10122408" y="4800600"/>
            <a:ext cx="786384" cy="365760"/>
          </a:xfrm>
          <a:prstGeom prst="rect">
            <a:avLst/>
          </a:prstGeom>
          <a:noFill/>
        </p:spPr>
        <p:txBody>
          <a:bodyPr wrap="square" anchor="ctr" lIns="45720" rIns="45720" tIns="9144" bIns="9144">
            <a:spAutoFit/>
          </a:bodyPr>
          <a:lstStyle/>
          <a:p>
            <a:pPr algn="r"/>
            <a:r>
              <a:rPr sz="850" b="1" i="0">
                <a:solidFill>
                  <a:srgbClr val="0D2341"/>
                </a:solidFill>
                <a:latin typeface="Calibri"/>
              </a:rPr>
              <a:t>38,519,890</a:t>
            </a:r>
          </a:p>
        </p:txBody>
      </p:sp>
      <p:sp>
        <p:nvSpPr>
          <p:cNvPr id="267" name="Rectangle 266"/>
          <p:cNvSpPr/>
          <p:nvPr/>
        </p:nvSpPr>
        <p:spPr>
          <a:xfrm>
            <a:off x="10927080" y="4800600"/>
            <a:ext cx="822960" cy="365760"/>
          </a:xfrm>
          <a:prstGeom prst="rect">
            <a:avLst/>
          </a:prstGeom>
          <a:solidFill>
            <a:srgbClr val="E6F4F6"/>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8" name="TextBox 267"/>
          <p:cNvSpPr txBox="1"/>
          <p:nvPr/>
        </p:nvSpPr>
        <p:spPr>
          <a:xfrm>
            <a:off x="10945368" y="4800600"/>
            <a:ext cx="786384" cy="365760"/>
          </a:xfrm>
          <a:prstGeom prst="rect">
            <a:avLst/>
          </a:prstGeom>
          <a:noFill/>
        </p:spPr>
        <p:txBody>
          <a:bodyPr wrap="square" anchor="ctr" lIns="45720" rIns="45720" tIns="9144" bIns="9144">
            <a:spAutoFit/>
          </a:bodyPr>
          <a:lstStyle/>
          <a:p>
            <a:pPr algn="r"/>
            <a:r>
              <a:rPr sz="850" b="1" i="0">
                <a:solidFill>
                  <a:srgbClr val="0D2341"/>
                </a:solidFill>
                <a:latin typeface="Calibri"/>
              </a:rPr>
              <a:t>52,108,928</a:t>
            </a:r>
          </a:p>
        </p:txBody>
      </p:sp>
      <p:sp>
        <p:nvSpPr>
          <p:cNvPr id="269" name="TextBox 268"/>
          <p:cNvSpPr txBox="1"/>
          <p:nvPr/>
        </p:nvSpPr>
        <p:spPr>
          <a:xfrm>
            <a:off x="320040" y="5349240"/>
            <a:ext cx="11521440" cy="274320"/>
          </a:xfrm>
          <a:prstGeom prst="rect">
            <a:avLst/>
          </a:prstGeom>
          <a:noFill/>
        </p:spPr>
        <p:txBody>
          <a:bodyPr wrap="square" anchor="ctr">
            <a:spAutoFit/>
          </a:bodyPr>
          <a:lstStyle/>
          <a:p>
            <a:pPr algn="l"/>
            <a:r>
              <a:rPr sz="850" b="0" i="1">
                <a:solidFill>
                  <a:srgbClr val="64748B"/>
                </a:solidFill>
                <a:latin typeface="Calibri"/>
              </a:rPr>
              <a:t>Supuestos: sin reparto de dividendos; déficits de los años 1 y 2 cubiertos con aportes de socios; la recuperación del capital de trabajo (año 10) es una convención de evaluación y no se registra como caja. Activo = pasivo + patrimonio en todos los años. Cifras redondeadas (diferencias de L 1 en las sumas).</a:t>
            </a:r>
          </a:p>
        </p:txBody>
      </p:sp>
      <p:sp>
        <p:nvSpPr>
          <p:cNvPr id="270" name="TextBox 269"/>
          <p:cNvSpPr txBox="1"/>
          <p:nvPr/>
        </p:nvSpPr>
        <p:spPr>
          <a:xfrm>
            <a:off x="320040" y="6583680"/>
            <a:ext cx="11521440" cy="201168"/>
          </a:xfrm>
          <a:prstGeom prst="rect">
            <a:avLst/>
          </a:prstGeom>
          <a:noFill/>
        </p:spPr>
        <p:txBody>
          <a:bodyPr wrap="square" anchor="ctr">
            <a:spAutoFit/>
          </a:bodyPr>
          <a:lstStyle/>
          <a:p>
            <a:pPr algn="ctr"/>
            <a:r>
              <a:rPr sz="800" b="0" i="0">
                <a:solidFill>
                  <a:srgbClr val="64748B"/>
                </a:solidFill>
                <a:latin typeface="Calibri"/>
              </a:rPr>
              <a:t>Maestría en Agronegocios · Universidad EAFIT · Zamorano · 2026   |   Caballero · Valladares · Medal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E783CA9-6FFC-4A5C-8070-73DABA78C17B}">
  <we:reference id="WA200010725" version="1.0.0.1" store="Omex" storeType="OMEX"/>
  <we:alternateReferences>
    <we:reference id="WA200010725" version="1.0.0.1" store="WA200010725" storeType="OMEX"/>
  </we:alternateReferences>
  <we:properties>
    <we:property name="claude.fileId" value="&quot;4560c314-448b-424d-afca-702a2a5a5b0d&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10</TotalTime>
  <Words>4090</Words>
  <Application>Microsoft Office PowerPoint</Application>
  <PresentationFormat>Panorámica</PresentationFormat>
  <Paragraphs>708</Paragraphs>
  <Slides>23</Slides>
  <Notes>23</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23</vt:i4>
      </vt:variant>
    </vt:vector>
  </HeadingPairs>
  <TitlesOfParts>
    <vt:vector size="26"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FredyValladares23@outlook.com</dc:creator>
  <cp:lastModifiedBy>Elkin Arcesio Gomez Salazar</cp:lastModifiedBy>
  <cp:revision>4</cp:revision>
  <dcterms:created xsi:type="dcterms:W3CDTF">2026-09-17T05:51:58Z</dcterms:created>
  <dcterms:modified xsi:type="dcterms:W3CDTF">2026-09-24T15:00:51Z</dcterms:modified>
</cp:coreProperties>
</file>