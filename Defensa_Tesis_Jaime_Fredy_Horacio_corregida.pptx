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1" r:id="rId34"/>
    <p:sldId id="280" r:id="rId4"/>
    <p:sldId id="282" r:id="rId35"/>
    <p:sldId id="260" r:id="rId6"/>
    <p:sldId id="283" r:id="rId36"/>
    <p:sldId id="264" r:id="rId10"/>
    <p:sldId id="265" r:id="rId11"/>
    <p:sldId id="266" r:id="rId12"/>
    <p:sldId id="284" r:id="rId37"/>
    <p:sldId id="293" r:id="rId46"/>
    <p:sldId id="271" r:id="rId17"/>
    <p:sldId id="272" r:id="rId18"/>
    <p:sldId id="290" r:id="rId43"/>
    <p:sldId id="275" r:id="rId21"/>
    <p:sldId id="276" r:id="rId22"/>
    <p:sldId id="292" r:id="rId45"/>
    <p:sldId id="277" r:id="rId23"/>
    <p:sldId id="278" r:id="rId24"/>
    <p:sldId id="294" r:id="rId47"/>
    <p:sldId id="259" r:id="rId5"/>
    <p:sldId id="261" r:id="rId7"/>
    <p:sldId id="262" r:id="rId8"/>
    <p:sldId id="263" r:id="rId9"/>
    <p:sldId id="267" r:id="rId13"/>
    <p:sldId id="285" r:id="rId38"/>
    <p:sldId id="286" r:id="rId39"/>
    <p:sldId id="268" r:id="rId14"/>
    <p:sldId id="269" r:id="rId15"/>
    <p:sldId id="287" r:id="rId40"/>
    <p:sldId id="270" r:id="rId16"/>
    <p:sldId id="288" r:id="rId41"/>
    <p:sldId id="289" r:id="rId42"/>
    <p:sldId id="273" r:id="rId19"/>
    <p:sldId id="274" r:id="rId20"/>
    <p:sldId id="291" r:id="rId44"/>
    <p:sldId id="295" r:id="rId48"/>
    <p:sldId id="296" r:id="rId49"/>
    <p:sldId id="297" r:id="rId50"/>
    <p:sldId id="298" r:id="rId51"/>
    <p:sldId id="299" r:id="rId52"/>
    <p:sldId id="300" r:id="rId5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B2C3D4-0000-4000-8000-000000000001}" name="Claude (revisión ONUDI)" initials="CR" userId="Claude"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laude (revisión ONUDI)" initials="CR"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460595-9126-482A-A3B9-5B759A5C0DC6}" v="1" dt="2026-09-24T14:52:43.9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38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kin Gómez" userId="385c81511b083e44" providerId="LiveId" clId="{28FC696F-35B8-4250-866E-37577D9724C4}"/>
    <pc:docChg chg="custSel addSld delSld modSld">
      <pc:chgData name="Elkin Gómez" userId="385c81511b083e44" providerId="LiveId" clId="{28FC696F-35B8-4250-866E-37577D9724C4}" dt="2026-09-24T15:00:44.512" v="399" actId="20577"/>
      <pc:docMkLst>
        <pc:docMk/>
      </pc:docMkLst>
      <pc:sldChg chg="addSp modSp mod">
        <pc:chgData name="Elkin Gómez" userId="385c81511b083e44" providerId="LiveId" clId="{28FC696F-35B8-4250-866E-37577D9724C4}" dt="2026-09-24T14:58:05.499" v="263" actId="20577"/>
        <pc:sldMkLst>
          <pc:docMk/>
          <pc:sldMk cId="0" sldId="257"/>
        </pc:sldMkLst>
        <pc:spChg chg="add mod">
          <ac:chgData name="Elkin Gómez" userId="385c81511b083e44" providerId="LiveId" clId="{28FC696F-35B8-4250-866E-37577D9724C4}" dt="2026-09-24T14:58:05.499" v="263" actId="20577"/>
          <ac:spMkLst>
            <pc:docMk/>
            <pc:sldMk cId="0" sldId="257"/>
            <ac:spMk id="37" creationId="{B5DE28D2-48C6-452D-9224-58A1B0B8C1F8}"/>
          </ac:spMkLst>
        </pc:spChg>
      </pc:sldChg>
      <pc:sldChg chg="del">
        <pc:chgData name="Elkin Gómez" userId="385c81511b083e44" providerId="LiveId" clId="{28FC696F-35B8-4250-866E-37577D9724C4}" dt="2026-09-24T14:55:51.865" v="1"/>
        <pc:sldMkLst>
          <pc:docMk/>
          <pc:sldMk cId="0" sldId="258"/>
        </pc:sldMkLst>
      </pc:sldChg>
      <pc:sldChg chg="addSp modSp mod">
        <pc:chgData name="Elkin Gómez" userId="385c81511b083e44" providerId="LiveId" clId="{28FC696F-35B8-4250-866E-37577D9724C4}" dt="2026-09-24T14:56:42.896" v="54"/>
        <pc:sldMkLst>
          <pc:docMk/>
          <pc:sldMk cId="0" sldId="259"/>
        </pc:sldMkLst>
        <pc:spChg chg="add mod">
          <ac:chgData name="Elkin Gómez" userId="385c81511b083e44" providerId="LiveId" clId="{28FC696F-35B8-4250-866E-37577D9724C4}" dt="2026-09-24T14:56:42.896" v="54"/>
          <ac:spMkLst>
            <pc:docMk/>
            <pc:sldMk cId="0" sldId="259"/>
            <ac:spMk id="26" creationId="{3ADF0D01-B711-45A3-8B76-5C4E882061A6}"/>
          </ac:spMkLst>
        </pc:spChg>
      </pc:sldChg>
      <pc:sldChg chg="addSp modSp mod">
        <pc:chgData name="Elkin Gómez" userId="385c81511b083e44" providerId="LiveId" clId="{28FC696F-35B8-4250-866E-37577D9724C4}" dt="2026-09-24T14:56:42.899" v="71"/>
        <pc:sldMkLst>
          <pc:docMk/>
          <pc:sldMk cId="0" sldId="260"/>
        </pc:sldMkLst>
        <pc:spChg chg="add mod">
          <ac:chgData name="Elkin Gómez" userId="385c81511b083e44" providerId="LiveId" clId="{28FC696F-35B8-4250-866E-37577D9724C4}" dt="2026-09-24T14:56:42.899" v="71"/>
          <ac:spMkLst>
            <pc:docMk/>
            <pc:sldMk cId="0" sldId="260"/>
            <ac:spMk id="49" creationId="{49AA6EAD-9C6B-4858-ACDE-F2FF03709C07}"/>
          </ac:spMkLst>
        </pc:spChg>
      </pc:sldChg>
      <pc:sldChg chg="addSp modSp mod">
        <pc:chgData name="Elkin Gómez" userId="385c81511b083e44" providerId="LiveId" clId="{28FC696F-35B8-4250-866E-37577D9724C4}" dt="2026-09-24T14:59:07.070" v="359" actId="33524"/>
        <pc:sldMkLst>
          <pc:docMk/>
          <pc:sldMk cId="0" sldId="261"/>
        </pc:sldMkLst>
        <pc:spChg chg="add mod">
          <ac:chgData name="Elkin Gómez" userId="385c81511b083e44" providerId="LiveId" clId="{28FC696F-35B8-4250-866E-37577D9724C4}" dt="2026-09-24T14:59:07.070" v="359" actId="33524"/>
          <ac:spMkLst>
            <pc:docMk/>
            <pc:sldMk cId="0" sldId="261"/>
            <ac:spMk id="22" creationId="{EF4D83EE-C0F9-4B72-BAA2-5FE6C6382ACC}"/>
          </ac:spMkLst>
        </pc:spChg>
      </pc:sldChg>
      <pc:sldChg chg="addSp delSp modSp mod">
        <pc:chgData name="Elkin Gómez" userId="385c81511b083e44" providerId="LiveId" clId="{28FC696F-35B8-4250-866E-37577D9724C4}" dt="2026-09-24T14:59:14.070" v="360" actId="478"/>
        <pc:sldMkLst>
          <pc:docMk/>
          <pc:sldMk cId="0" sldId="262"/>
        </pc:sldMkLst>
        <pc:spChg chg="add del mod">
          <ac:chgData name="Elkin Gómez" userId="385c81511b083e44" providerId="LiveId" clId="{28FC696F-35B8-4250-866E-37577D9724C4}" dt="2026-09-24T14:59:14.070" v="360" actId="478"/>
          <ac:spMkLst>
            <pc:docMk/>
            <pc:sldMk cId="0" sldId="262"/>
            <ac:spMk id="38" creationId="{D4A01838-C5EC-4050-A2FC-E27A9E9E6C44}"/>
          </ac:spMkLst>
        </pc:spChg>
      </pc:sldChg>
      <pc:sldChg chg="addSp delSp modSp mod">
        <pc:chgData name="Elkin Gómez" userId="385c81511b083e44" providerId="LiveId" clId="{28FC696F-35B8-4250-866E-37577D9724C4}" dt="2026-09-24T15:00:03.335" v="364" actId="478"/>
        <pc:sldMkLst>
          <pc:docMk/>
          <pc:sldMk cId="0" sldId="265"/>
        </pc:sldMkLst>
        <pc:spChg chg="add del mod">
          <ac:chgData name="Elkin Gómez" userId="385c81511b083e44" providerId="LiveId" clId="{28FC696F-35B8-4250-866E-37577D9724C4}" dt="2026-09-24T15:00:03.335" v="364" actId="478"/>
          <ac:spMkLst>
            <pc:docMk/>
            <pc:sldMk cId="0" sldId="265"/>
            <ac:spMk id="82" creationId="{52A25B1E-D8BB-4478-9FF9-D019E848E264}"/>
          </ac:spMkLst>
        </pc:spChg>
      </pc:sldChg>
      <pc:sldChg chg="addSp modSp mod">
        <pc:chgData name="Elkin Gómez" userId="385c81511b083e44" providerId="LiveId" clId="{28FC696F-35B8-4250-866E-37577D9724C4}" dt="2026-09-24T14:56:42.939" v="139"/>
        <pc:sldMkLst>
          <pc:docMk/>
          <pc:sldMk cId="0" sldId="267"/>
        </pc:sldMkLst>
        <pc:spChg chg="add mod">
          <ac:chgData name="Elkin Gómez" userId="385c81511b083e44" providerId="LiveId" clId="{28FC696F-35B8-4250-866E-37577D9724C4}" dt="2026-09-24T14:56:42.939" v="139"/>
          <ac:spMkLst>
            <pc:docMk/>
            <pc:sldMk cId="0" sldId="267"/>
            <ac:spMk id="55" creationId="{90FE9E98-742F-4F0B-9198-1A3E12BBF151}"/>
          </ac:spMkLst>
        </pc:spChg>
      </pc:sldChg>
      <pc:sldChg chg="addSp modSp mod">
        <pc:chgData name="Elkin Gómez" userId="385c81511b083e44" providerId="LiveId" clId="{28FC696F-35B8-4250-866E-37577D9724C4}" dt="2026-09-24T15:00:44.512" v="399" actId="20577"/>
        <pc:sldMkLst>
          <pc:docMk/>
          <pc:sldMk cId="0" sldId="269"/>
        </pc:sldMkLst>
        <pc:spChg chg="add mod">
          <ac:chgData name="Elkin Gómez" userId="385c81511b083e44" providerId="LiveId" clId="{28FC696F-35B8-4250-866E-37577D9724C4}" dt="2026-09-24T15:00:44.512" v="399" actId="20577"/>
          <ac:spMkLst>
            <pc:docMk/>
            <pc:sldMk cId="0" sldId="269"/>
            <ac:spMk id="57" creationId="{B5B782C2-F317-44AC-B988-4FFF4FA9DAF8}"/>
          </ac:spMkLst>
        </pc:spChg>
      </pc:sldChg>
      <pc:sldChg chg="addSp modSp mod">
        <pc:chgData name="Elkin Gómez" userId="385c81511b083e44" providerId="LiveId" clId="{28FC696F-35B8-4250-866E-37577D9724C4}" dt="2026-09-24T14:56:52.757" v="259"/>
        <pc:sldMkLst>
          <pc:docMk/>
          <pc:sldMk cId="0" sldId="271"/>
        </pc:sldMkLst>
        <pc:spChg chg="add mod">
          <ac:chgData name="Elkin Gómez" userId="385c81511b083e44" providerId="LiveId" clId="{28FC696F-35B8-4250-866E-37577D9724C4}" dt="2026-09-24T14:56:52.757" v="259"/>
          <ac:spMkLst>
            <pc:docMk/>
            <pc:sldMk cId="0" sldId="271"/>
            <ac:spMk id="65" creationId="{F6E891EB-BF5C-4E85-A711-81AD31614CA5}"/>
          </ac:spMkLst>
        </pc:spChg>
      </pc:sldChg>
      <pc:sldChg chg="addSp modSp mod">
        <pc:chgData name="Elkin Gómez" userId="385c81511b083e44" providerId="LiveId" clId="{28FC696F-35B8-4250-866E-37577D9724C4}" dt="2026-09-24T14:56:42.962" v="190"/>
        <pc:sldMkLst>
          <pc:docMk/>
          <pc:sldMk cId="0" sldId="272"/>
        </pc:sldMkLst>
        <pc:spChg chg="add mod">
          <ac:chgData name="Elkin Gómez" userId="385c81511b083e44" providerId="LiveId" clId="{28FC696F-35B8-4250-866E-37577D9724C4}" dt="2026-09-24T14:56:42.962" v="190"/>
          <ac:spMkLst>
            <pc:docMk/>
            <pc:sldMk cId="0" sldId="272"/>
            <ac:spMk id="5" creationId="{8F40E589-20E7-402C-A6E5-99D6B21063A8}"/>
          </ac:spMkLst>
        </pc:spChg>
      </pc:sldChg>
      <pc:sldChg chg="addSp modSp mod">
        <pc:chgData name="Elkin Gómez" userId="385c81511b083e44" providerId="LiveId" clId="{28FC696F-35B8-4250-866E-37577D9724C4}" dt="2026-09-24T14:56:42.967" v="207"/>
        <pc:sldMkLst>
          <pc:docMk/>
          <pc:sldMk cId="0" sldId="273"/>
        </pc:sldMkLst>
        <pc:spChg chg="add mod">
          <ac:chgData name="Elkin Gómez" userId="385c81511b083e44" providerId="LiveId" clId="{28FC696F-35B8-4250-866E-37577D9724C4}" dt="2026-09-24T14:56:42.967" v="207"/>
          <ac:spMkLst>
            <pc:docMk/>
            <pc:sldMk cId="0" sldId="273"/>
            <ac:spMk id="62" creationId="{3B6FE4FA-38BF-4194-9400-FDF93D400CA5}"/>
          </ac:spMkLst>
        </pc:spChg>
      </pc:sldChg>
      <pc:sldChg chg="addSp modSp mod">
        <pc:chgData name="Elkin Gómez" userId="385c81511b083e44" providerId="LiveId" clId="{28FC696F-35B8-4250-866E-37577D9724C4}" dt="2026-09-24T14:56:42.979" v="224"/>
        <pc:sldMkLst>
          <pc:docMk/>
          <pc:sldMk cId="0" sldId="275"/>
        </pc:sldMkLst>
        <pc:spChg chg="add mod">
          <ac:chgData name="Elkin Gómez" userId="385c81511b083e44" providerId="LiveId" clId="{28FC696F-35B8-4250-866E-37577D9724C4}" dt="2026-09-24T14:56:42.979" v="224"/>
          <ac:spMkLst>
            <pc:docMk/>
            <pc:sldMk cId="0" sldId="275"/>
            <ac:spMk id="73" creationId="{D19EE002-A8C0-43EB-8683-DA3C3041ABA8}"/>
          </ac:spMkLst>
        </pc:spChg>
      </pc:sldChg>
      <pc:sldChg chg="addSp modSp mod">
        <pc:chgData name="Elkin Gómez" userId="385c81511b083e44" providerId="LiveId" clId="{28FC696F-35B8-4250-866E-37577D9724C4}" dt="2026-09-24T14:56:42.986" v="241"/>
        <pc:sldMkLst>
          <pc:docMk/>
          <pc:sldMk cId="0" sldId="276"/>
        </pc:sldMkLst>
        <pc:spChg chg="add mod">
          <ac:chgData name="Elkin Gómez" userId="385c81511b083e44" providerId="LiveId" clId="{28FC696F-35B8-4250-866E-37577D9724C4}" dt="2026-09-24T14:56:42.986" v="241"/>
          <ac:spMkLst>
            <pc:docMk/>
            <pc:sldMk cId="0" sldId="276"/>
            <ac:spMk id="36" creationId="{728FE2D5-72B8-4ABA-86F0-DE4C0A6048A3}"/>
          </ac:spMkLst>
        </pc:spChg>
      </pc:sldChg>
      <pc:sldChg chg="addSp modSp mod">
        <pc:chgData name="Elkin Gómez" userId="385c81511b083e44" providerId="LiveId" clId="{28FC696F-35B8-4250-866E-37577D9724C4}" dt="2026-09-24T14:56:42.994" v="258"/>
        <pc:sldMkLst>
          <pc:docMk/>
          <pc:sldMk cId="0" sldId="277"/>
        </pc:sldMkLst>
        <pc:spChg chg="add mod">
          <ac:chgData name="Elkin Gómez" userId="385c81511b083e44" providerId="LiveId" clId="{28FC696F-35B8-4250-866E-37577D9724C4}" dt="2026-09-24T14:56:42.994" v="258"/>
          <ac:spMkLst>
            <pc:docMk/>
            <pc:sldMk cId="0" sldId="277"/>
            <ac:spMk id="36" creationId="{C5B3E143-622A-4217-8A1F-81904FE55A6C}"/>
          </ac:spMkLst>
        </pc:spChg>
      </pc:sldChg>
      <pc:sldChg chg="add del">
        <pc:chgData name="Elkin Gómez" userId="385c81511b083e44" providerId="LiveId" clId="{28FC696F-35B8-4250-866E-37577D9724C4}" dt="2026-09-24T14:56:06.494" v="3"/>
        <pc:sldMkLst>
          <pc:docMk/>
          <pc:sldMk cId="1731679758" sldId="279"/>
        </pc:sldMkLst>
      </pc:sldChg>
      <pc:sldChg chg="addSp modSp add mod">
        <pc:chgData name="Elkin Gómez" userId="385c81511b083e44" providerId="LiveId" clId="{28FC696F-35B8-4250-866E-37577D9724C4}" dt="2026-09-24T14:56:42.882" v="37"/>
        <pc:sldMkLst>
          <pc:docMk/>
          <pc:sldMk cId="3543442249" sldId="280"/>
        </pc:sldMkLst>
        <pc:spChg chg="add mod">
          <ac:chgData name="Elkin Gómez" userId="385c81511b083e44" providerId="LiveId" clId="{28FC696F-35B8-4250-866E-37577D9724C4}" dt="2026-09-24T14:56:42.882" v="37"/>
          <ac:spMkLst>
            <pc:docMk/>
            <pc:sldMk cId="3543442249" sldId="280"/>
            <ac:spMk id="25" creationId="{49B94A2C-185C-454A-8860-68543C6D3658}"/>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Volumen proyectado (L/año)</c:v>
                </c:pt>
              </c:strCache>
            </c:strRef>
          </c:tx>
          <c:spPr>
            <a:ln w="28575">
              <a:solidFill>
                <a:srgbClr val="0D2341"/>
              </a:solidFill>
            </a:ln>
          </c:spPr>
          <c:marker>
            <c:symbol val="circle"/>
            <c:size val="6"/>
            <c:spPr>
              <a:solidFill>
                <a:srgbClr val="0D2341"/>
              </a:solidFill>
              <a:ln>
                <a:solidFill>
                  <a:srgbClr val="0D2341"/>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Sheet1!$B$2:$B$11</c:f>
              <c:numCache>
                <c:formatCode>General</c:formatCode>
                <c:ptCount val="10"/>
                <c:pt idx="0">
                  <c:v>108000</c:v>
                </c:pt>
                <c:pt idx="1">
                  <c:v>180000</c:v>
                </c:pt>
                <c:pt idx="2">
                  <c:v>270000</c:v>
                </c:pt>
                <c:pt idx="3">
                  <c:v>378000</c:v>
                </c:pt>
                <c:pt idx="4">
                  <c:v>504000</c:v>
                </c:pt>
                <c:pt idx="5">
                  <c:v>630000</c:v>
                </c:pt>
                <c:pt idx="6">
                  <c:v>774000</c:v>
                </c:pt>
                <c:pt idx="7">
                  <c:v>918000</c:v>
                </c:pt>
                <c:pt idx="8">
                  <c:v>1080000</c:v>
                </c:pt>
                <c:pt idx="9">
                  <c:v>1242000</c:v>
                </c:pt>
              </c:numCache>
            </c:numRef>
          </c:val>
          <c:smooth val="0"/>
        </c:ser>
        <c:ser>
          <c:idx val="1"/>
          <c:order val="1"/>
          <c:tx>
            <c:strRef>
              <c:f>Sheet1!$C$1</c:f>
              <c:strCache>
                <c:ptCount val="1"/>
                <c:pt idx="0">
                  <c:v>Punto de equilibrio contable (L/año)</c:v>
                </c:pt>
              </c:strCache>
            </c:strRef>
          </c:tx>
          <c:spPr>
            <a:ln w="28575">
              <a:solidFill>
                <a:srgbClr val="B5862A"/>
              </a:solidFill>
            </a:ln>
          </c:spPr>
          <c:marker>
            <c:symbol val="circle"/>
            <c:size val="6"/>
            <c:spPr>
              <a:solidFill>
                <a:srgbClr val="B5862A"/>
              </a:solidFill>
              <a:ln>
                <a:solidFill>
                  <a:srgbClr val="B5862A"/>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Sheet1!$C$2:$C$11</c:f>
              <c:numCache>
                <c:formatCode>General</c:formatCode>
                <c:ptCount val="10"/>
                <c:pt idx="0">
                  <c:v>184940</c:v>
                </c:pt>
                <c:pt idx="1">
                  <c:v>184216</c:v>
                </c:pt>
                <c:pt idx="2">
                  <c:v>183524</c:v>
                </c:pt>
                <c:pt idx="3">
                  <c:v>182861</c:v>
                </c:pt>
                <c:pt idx="4">
                  <c:v>182227</c:v>
                </c:pt>
                <c:pt idx="5">
                  <c:v>174033</c:v>
                </c:pt>
                <c:pt idx="6">
                  <c:v>173779</c:v>
                </c:pt>
                <c:pt idx="7">
                  <c:v>173536</c:v>
                </c:pt>
                <c:pt idx="8">
                  <c:v>173304</c:v>
                </c:pt>
                <c:pt idx="9">
                  <c:v>173082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950">
                <a:solidFill>
                  <a:srgbClr val="334155"/>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950">
                <a:solidFill>
                  <a:srgbClr val="334155"/>
                </a:solidFill>
              </a:defRPr>
            </a:pPr>
          </a:p>
        </c:txPr>
        <c:crossAx val="2118791784"/>
        <c:crosses val="autoZero"/>
      </c:valAx>
    </c:plotArea>
    <c:legend>
      <c:legendPos val="b"/>
      <c:layout/>
      <c:overlay val="0"/>
      <c:txPr>
        <a:bodyPr/>
        <a:lstStyle/>
        <a:p>
          <a:pPr>
            <a:defRPr sz="1000">
              <a:solidFill>
                <a:srgbClr val="334155"/>
              </a:solidFill>
            </a:defRPr>
          </a:pPr>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D2341"/>
                </a:solidFill>
              </a:rPr>
              <a:t>Variación del VAN sin financiamiento vs. caso base (L 15.37 M)</a:t>
            </a:r>
          </a:p>
        </c:rich>
      </c:tx>
      <c:layout/>
      <c:overlay val="0"/>
    </c:title>
    <c:autoTitleDeleted val="0"/>
    <c:plotArea>
      <c:barChart>
        <c:barDir val="bar"/>
        <c:grouping val="clustered"/>
        <c:ser>
          <c:idx val="0"/>
          <c:order val="0"/>
          <c:tx>
            <c:strRef>
              <c:f>Sheet1!$B$1</c:f>
              <c:strCache>
                <c:ptCount val="1"/>
                <c:pt idx="0">
                  <c:v>Variable en su valor mínimo</c:v>
                </c:pt>
              </c:strCache>
            </c:strRef>
          </c:tx>
          <c:spPr>
            <a:solidFill>
              <a:srgbClr val="8FB8C9"/>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Sheet1!$B$2:$B$12</c:f>
              <c:numCache>
                <c:formatCode>General</c:formatCode>
                <c:ptCount val="11"/>
                <c:pt idx="0">
                  <c:v>150281</c:v>
                </c:pt>
                <c:pt idx="1">
                  <c:v>153645</c:v>
                </c:pt>
                <c:pt idx="2">
                  <c:v>195366</c:v>
                </c:pt>
                <c:pt idx="3">
                  <c:v>-221828</c:v>
                </c:pt>
                <c:pt idx="4">
                  <c:v>185724</c:v>
                </c:pt>
                <c:pt idx="5">
                  <c:v>-499065</c:v>
                </c:pt>
                <c:pt idx="6">
                  <c:v>-428655</c:v>
                </c:pt>
                <c:pt idx="7">
                  <c:v>-777930</c:v>
                </c:pt>
                <c:pt idx="8">
                  <c:v>3021116</c:v>
                </c:pt>
                <c:pt idx="9">
                  <c:v>-4253647</c:v>
                </c:pt>
                <c:pt idx="10">
                  <c:v>-3812864</c:v>
                </c:pt>
              </c:numCache>
            </c:numRef>
          </c:val>
        </c:ser>
        <c:ser>
          <c:idx val="1"/>
          <c:order val="1"/>
          <c:tx>
            <c:strRef>
              <c:f>Sheet1!$C$1</c:f>
              <c:strCache>
                <c:ptCount val="1"/>
                <c:pt idx="0">
                  <c:v>Variable en su valor máximo</c:v>
                </c:pt>
              </c:strCache>
            </c:strRef>
          </c:tx>
          <c:spPr>
            <a:solidFill>
              <a:srgbClr val="0D2341"/>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Sheet1!$C$2:$C$12</c:f>
              <c:numCache>
                <c:formatCode>General</c:formatCode>
                <c:ptCount val="11"/>
                <c:pt idx="0">
                  <c:v>-187851</c:v>
                </c:pt>
                <c:pt idx="1">
                  <c:v>-230380</c:v>
                </c:pt>
                <c:pt idx="2">
                  <c:v>-195365</c:v>
                </c:pt>
                <c:pt idx="3">
                  <c:v>223083</c:v>
                </c:pt>
                <c:pt idx="4">
                  <c:v>-282935</c:v>
                </c:pt>
                <c:pt idx="5">
                  <c:v>499072</c:v>
                </c:pt>
                <c:pt idx="6">
                  <c:v>586339</c:v>
                </c:pt>
                <c:pt idx="7">
                  <c:v>777930</c:v>
                </c:pt>
                <c:pt idx="8">
                  <c:v>-4532075</c:v>
                </c:pt>
                <c:pt idx="9">
                  <c:v>4244793</c:v>
                </c:pt>
                <c:pt idx="10">
                  <c:v>5073107</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a:solidFill>
              <a:srgbClr val="334155"/>
            </a:solidFill>
          </a:ln>
        </c:spPr>
        <c:txPr>
          <a:bodyPr/>
          <a:lstStyle/>
          <a:p>
            <a:pPr>
              <a:defRPr sz="950">
                <a:solidFill>
                  <a:srgbClr val="334155"/>
                </a:solidFill>
              </a:defRPr>
            </a:pPr>
          </a:p>
        </c:txPr>
        <c:crossAx val="-2113994440"/>
        <c:crosses val="autoZero"/>
        <c:auto val="1"/>
        <c:lblAlgn val="ctr"/>
        <c:lblOffset val="100"/>
        <c:noMultiLvlLbl val="0"/>
      </c:catAx>
      <c:valAx>
        <c:axId val="-2113994440"/>
        <c:scaling>
          <c:max val="6000000.0"/>
          <c:min val="-6000000.0"/>
        </c:scaling>
        <c:delete val="0"/>
        <c:axPos val="b"/>
        <c:majorGridlines>
          <c:spPr>
            <a:ln>
              <a:solidFill>
                <a:srgbClr val="E2E8F0"/>
              </a:solidFill>
            </a:ln>
          </c:spPr>
        </c:majorGridlines>
        <c:numFmt formatCode="#,##0,,&quot;M&quot;;−#,##0,,&quot;M&quot;" sourceLinked="0"/>
        <c:majorTickMark val="out"/>
        <c:minorTickMark val="none"/>
        <c:tickLblPos val="nextTo"/>
        <c:spPr>
          <a:ln>
            <a:noFill/>
          </a:ln>
        </c:spPr>
        <c:txPr>
          <a:bodyPr/>
          <a:lstStyle/>
          <a:p>
            <a:pPr>
              <a:defRPr sz="900"/>
            </a:pPr>
          </a:p>
        </c:txPr>
        <c:crossAx val="-2068027336"/>
        <c:crosses val="autoZero"/>
        <c:majorUnit val="2000000.0"/>
      </c:valAx>
    </c:plotArea>
    <c:legend>
      <c:legendPos val="b"/>
      <c:overlay val="0"/>
      <c:txPr>
        <a:bodyPr/>
        <a:lstStyle/>
        <a:p>
          <a:pPr>
            <a:defRPr sz="950"/>
          </a:pPr>
        </a:p>
      </c:txPr>
    </c:legend>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50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Población: 10,045,495 habitantes (INE, Estadísticas de género en Honduras, julio 2025). La cifra anterior de 8.4 M correspondía a 2012 y la de 666 mil t (FAOSTAT) a 2014; se sustituyeron por datos vigentes. Respaldo: indicadores macroeconómicos con fuentes en la diapositiva 22.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Fuentes: Banco Mundial (2026), Honduras: panorama general; INE (2025), EPHPM 2025 e Informalidad laboral 2024; BCH (2026), Índice de Precios al Consumidor, diciembre 2025; La Tribuna (2026), remesas 2025 con datos del BCH; UNAH (2026), Boletín Económico; BCH (2024), ENIGH 2023-2024.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Económico: PIB +3.4 % proyectado para 2026 (Banco Mundial), inflación de 4.98 % en 2025 (BCH) y remesas por US$12,212 M en 2025 (BCH).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Respaldo: PESTEL en la 25 y el instrumento de encuesta en la 39.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Costos fijos operativos L 28,000/mes y gastos administrativos L 21,600/mes. Crecimiento previsto: mercadeo y ventas, contador, supervisor de producción, técnico de calidad, coordinador de logística y más entregadores.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tasa de 15 % se aplica al flujo del proyecto (100 % capital propio) y al flujo del accionista. WACC = 50 % × 14 % × (1 − 25 %) + 50 % × 15 % = 12.8 %; es referencial y no descuenta ningún flujo. Respaldo: préstamo y estado de resultados en la 33, punto de equilibrio en la 34, flujos en las 40 y 41, balance en la 43.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IRVA sin financiamiento: VAN / L 1,784,058; con financiamiento: VAN / aporte de los socios (L 892,029). B/C = VP de beneficios / (inversión + VP de costos). Con deuda baja el aporte propio, pero entran intereses y amortizaciones. El WACC de 12.8 % es solo referencial. Los VAN usan supuestos puntuales; el VPN medio de @RISK mide otra cosa. Respaldo: conciliación VAN vs. VPN medio de @RISK en la 37.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Una variable a la vez. No simuladas: tasa del préstamo (14 %, contractual), ISR, aportes patronales y estructura de financiamiento. La variación del tipo de cambio se trata como evento de riesgo en la simulación Monte Carlo.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Criterio de las columnas (parámetros de la Tabla 40): severidad según el impacto más probable por evento (alta ≥ L 600,000; media ≥ L 120,000; baja &lt; L 120,000); frecuencia según la probabilidad anual máxima (alta ≥ 0.25; media 0.16–0.24; baja ≤ 0.15). Coincide con la descripción de cada riesgo en la tesis: combustible, tipo de cambio, leche, cadena de frío e inflación son de frecuencia elevada; contaminación de lote, accidente y SENASA son infrecuentes pero costosos. La relación pérdida esperada / VPN medio es 15.06 % (Tabla 43).</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Respaldo: tabla de los 11 eventos con severidad, frecuencia y mitigación en la 36; conciliación VAN vs. VPN medio en la 37.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Dimensiones: comercial, técnica, organizacional, legal, ambiental, financiera y de riesgos. Nicho: HoReCa y detalle urbano. Técnica: la inversión en tanques (L 360,000) incluye el almacenamiento de 5,000 L. Con deuda: VAN L 15.46 M y TIR 63.62 %; equilibrio superado desde el año 3. Variables críticas: consumo por cliente, precio y costo de la leche. Controles críticos: cadena de frío, proveedores y fidelización. Compras de leche en 10 años; no se cuantificaron empleos indirectos, valor agregado ni divisas.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Problema: las grandes industrias migraron a leche UHT y dejaron sin oferta de leche fresca pasteurizada a cafeterías de especialidad y a más de 2,000 clientes tipo A de la región central. Mercado: encuesta a 63 establecimientos. Inversión: activos fijos L 1,395,000; diferidos L 76,000; capital de trabajo L 313,058. Dimensiones evaluadas: comercial, técnica, organizacional, legal, ambiental, financiera y de riesgos.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Fuentes primarias: encuesta estructurada validada por juicio de expertos y cotizaciones de equipos. Secundarias: BCH, INE, SAG, SENASA, ARSA, MiAmbiente, FAOSTAT y literatura. Técnicas: estadística descriptiva; indicadores VAN, TIR, PRI, IRVA y B/C; Monte Carlo con 10,000 iteraciones. Muestra para ± 5 %: 500·1.96²·0.25 / (0.05²·499 + 1.96²·0.25) = 218. Encuestados: HoReCa, pulperías, comercios y otros.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Demanda de leche cruda en L/día: año 1: 305; año 2: 508; año 3: 763; año 4: 1,068; año 5: 1,424; año 10: 3,508. La planta arranca con 1,000 L/día y se diseñó para escalar a 5,000 L/día; la inversión en tanques (L 360,000) incluye el tanque de almacenamiento de 5,000 L. Depreciación según la Ley del ISR. El laboratorio de toma de muestras forma parte del área de recepción. Respaldo: proceso productivo en la 26, materias primas en la 27 y distribución de planta en la 28. (Escribir el número y Enter para saltar.)</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Calidad completa (OHN 18:2018): densidad 1.029–1.033 g/ml; sólidos totales ≥ 12 %; acidez 0.13–0.16 %; prueba de alcohol negativa. La producción depende de pequeños y medianos productores y varía por época en volumen y calidad. Producción nacional ≈ 600 millones de L/año (SAG, 2026).</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La deuda queda cancelada al cierre del año 5. Flujos con financiamiento: año 1 −L 993,690 y año 2 −L 224,128 (Tabla 27). Exposición máxima acumulada de los socios: L 2,109,848 en el año 2.</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Los años 1 y 2 bajo el equilibrio coinciden con las utilidades negativas de la Tabla 26. El PE de efectivo (sin depreciación) es 168,138 L/año.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Escenario pesimista: más inflación, leche L 14.95, merma 3.9 %, precio L 26, consumo 127.5 L/mes y menos clientes, todo a la vez. Respaldo: rangos de cada variable en la diapositiva 35. (Escribir el número y Enter para saltar.)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VAN determinístico: flujo del accionista con supuestos puntuales; precio y costos crecen con la inflación de 4.5 %. VPN medio: promedio de 10,000 iteraciones de la hoja "Estudio Financiero Prob", que no indexa a la inflación la leche, el empaque, el combustible ni los costos fijos. VPN de evaluación: VPN medio menos la pérdida esperada de los 11 eventos (L 3,614,648).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Muestra: población de 500 establecimientos; resultados descriptivos. Entrevistas a actores clave planificadas sin registro de cuántas se hicieron. Costos y demanda deben confirmarse en la factibilidad. La metodología ONUDI pide empleos indirectos, valor agregado nacional y efecto en divisas. Riesgos: probabilidades y severidades por juicio experto, sin historia propia; el modelo probabilístico no indexa algunos costos a la inflación, por eso su VPN medio (L 24.0 M) supera al VAN. Financiamiento: no se evaluó una línea de capital de trabajo.</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Resumen de tres estudios. Si el jurado pregunta por el detalle: legal en la diapositiva 29, estructura organizacional en la 30, plantilla de personal con salarios en la 31 y estudio ambiental en la 32 (escribir el número y Enter para saltar).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Bloque de respaldo. No se presenta: se usa solo si el jurado pregunta. Para saltar a una diapositiva durante la presentación, escribir su número y pulsar Enter.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7315200" cy="6858000"/>
          </a:xfrm>
          <a:prstGeom prst="rect">
            <a:avLst/>
          </a:prstGeom>
          <a:solidFill>
            <a:srgbClr val="FFFFFF"/>
          </a:solidFill>
          <a:ln w="12700">
            <a:solidFill>
              <a:srgbClr val="FFFFFF"/>
            </a:solidFill>
            <a:prstDash val="solid"/>
          </a:ln>
        </p:spPr>
        <p:txBody>
          <a:bodyPr/>
          <a:lstStyle/>
          <a:p>
            <a:endParaRPr lang="es-CO"/>
          </a:p>
        </p:txBody>
      </p:sp>
      <p:sp>
        <p:nvSpPr>
          <p:cNvPr id="3" name="Shape 1"/>
          <p:cNvSpPr/>
          <p:nvPr/>
        </p:nvSpPr>
        <p:spPr>
          <a:xfrm>
            <a:off x="7315200" y="0"/>
            <a:ext cx="4846320" cy="6858000"/>
          </a:xfrm>
          <a:prstGeom prst="rect">
            <a:avLst/>
          </a:prstGeom>
          <a:solidFill>
            <a:srgbClr val="0D2341"/>
          </a:solidFill>
          <a:ln w="12700">
            <a:solidFill>
              <a:srgbClr val="0D2341"/>
            </a:solidFill>
            <a:prstDash val="solid"/>
          </a:ln>
        </p:spPr>
        <p:txBody>
          <a:bodyPr/>
          <a:lstStyle/>
          <a:p>
            <a:endParaRPr lang="es-CO"/>
          </a:p>
        </p:txBody>
      </p:sp>
      <p:sp>
        <p:nvSpPr>
          <p:cNvPr id="4" name="Shape 2"/>
          <p:cNvSpPr/>
          <p:nvPr/>
        </p:nvSpPr>
        <p:spPr>
          <a:xfrm>
            <a:off x="7178040" y="0"/>
            <a:ext cx="137160" cy="6858000"/>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502920" y="502920"/>
            <a:ext cx="6492240" cy="292608"/>
          </a:xfrm>
          <a:prstGeom prst="rect">
            <a:avLst/>
          </a:prstGeom>
          <a:noFill/>
          <a:ln/>
        </p:spPr>
        <p:txBody>
          <a:bodyPr wrap="square" rtlCol="0" anchor="ctr"/>
          <a:lstStyle/>
          <a:p>
            <a:pPr marL="0" indent="0">
              <a:buNone/>
            </a:pPr>
            <a:r>
              <a:rPr lang="en-US" sz="1100" b="1" kern="0" spc="150" dirty="0">
                <a:solidFill>
                  <a:srgbClr val="1A7A8A"/>
                </a:solidFill>
                <a:latin typeface="Calibri" pitchFamily="34" charset="0"/>
                <a:ea typeface="Calibri" pitchFamily="34" charset="-122"/>
                <a:cs typeface="Calibri" pitchFamily="34" charset="-120"/>
              </a:rPr>
              <a:t>MAESTRÍA EN AGRONEGOCIOS · EAFIT · ZAMORANO</a:t>
            </a:r>
            <a:endParaRPr lang="en-US" sz="1100" dirty="0"/>
          </a:p>
        </p:txBody>
      </p:sp>
      <p:sp>
        <p:nvSpPr>
          <p:cNvPr id="6" name="Text 4"/>
          <p:cNvSpPr txBox="1"/>
          <p:nvPr/>
        </p:nvSpPr>
        <p:spPr>
          <a:xfrm>
            <a:off x="502920" y="960120"/>
            <a:ext cx="6538080" cy="1600200"/>
          </a:xfrm>
          <a:prstGeom prst="rect">
            <a:avLst/>
          </a:prstGeom>
          <a:noFill/>
          <a:ln/>
        </p:spPr>
        <p:txBody>
          <a:bodyPr wrap="square" rtlCol="0" anchor="ctr"/>
          <a:lstStyle/>
          <a:p>
            <a:pPr marL="0" indent="0">
              <a:buNone/>
            </a:pPr>
            <a:r>
              <a:rPr lang="es-419" sz="2600" b="1" dirty="0">
                <a:solidFill>
                  <a:srgbClr val="0D2341"/>
                </a:solidFill>
                <a:latin typeface="Calibri" pitchFamily="34" charset="0"/>
                <a:ea typeface="Calibri" pitchFamily="34" charset="-122"/>
                <a:cs typeface="Calibri" pitchFamily="34" charset="-120"/>
              </a:rPr>
              <a:t>Estudio de Prefactibilidad para la Producción y Distribución de Leche Pasteurizada a Mercado Nicho en Honduras</a:t>
            </a:r>
            <a:endParaRPr lang="es-419" sz="2600" dirty="0"/>
          </a:p>
        </p:txBody>
      </p:sp>
      <p:sp>
        <p:nvSpPr>
          <p:cNvPr id="7" name="Text 5"/>
          <p:cNvSpPr txBox="1"/>
          <p:nvPr/>
        </p:nvSpPr>
        <p:spPr>
          <a:xfrm>
            <a:off x="502920" y="2596800"/>
            <a:ext cx="6492240" cy="411480"/>
          </a:xfrm>
          <a:prstGeom prst="rect">
            <a:avLst/>
          </a:prstGeom>
          <a:noFill/>
          <a:ln/>
        </p:spPr>
        <p:txBody>
          <a:bodyPr wrap="square" rtlCol="0" anchor="ctr"/>
          <a:lstStyle/>
          <a:p>
            <a:pPr marL="0" indent="0">
              <a:buNone/>
            </a:pPr>
            <a:r>
              <a:rPr lang="en-US" sz="2200" dirty="0">
                <a:solidFill>
                  <a:srgbClr val="1B3A5C"/>
                </a:solidFill>
                <a:latin typeface="Calibri" pitchFamily="34" charset="0"/>
                <a:ea typeface="Calibri" pitchFamily="34" charset="-122"/>
                <a:cs typeface="Calibri" pitchFamily="34" charset="-120"/>
              </a:rPr>
              <a:t>Leche Fresca Pasteurizada</a:t>
            </a:r>
            <a:endParaRPr lang="en-US" sz="2200" dirty="0"/>
          </a:p>
        </p:txBody>
      </p:sp>
      <p:sp>
        <p:nvSpPr>
          <p:cNvPr id="8" name="Shape 6"/>
          <p:cNvSpPr/>
          <p:nvPr/>
        </p:nvSpPr>
        <p:spPr>
          <a:xfrm>
            <a:off x="502920" y="3100320"/>
            <a:ext cx="6400800" cy="22860"/>
          </a:xfrm>
          <a:prstGeom prst="rect">
            <a:avLst/>
          </a:prstGeom>
          <a:solidFill>
            <a:srgbClr val="CBD5E1"/>
          </a:solidFill>
          <a:ln w="12700">
            <a:solidFill>
              <a:srgbClr val="CBD5E1"/>
            </a:solidFill>
            <a:prstDash val="solid"/>
          </a:ln>
        </p:spPr>
        <p:txBody>
          <a:bodyPr/>
          <a:lstStyle/>
          <a:p>
            <a:endParaRPr lang="es-CO"/>
          </a:p>
        </p:txBody>
      </p:sp>
      <p:sp>
        <p:nvSpPr>
          <p:cNvPr id="9" name="Text 7"/>
          <p:cNvSpPr txBox="1"/>
          <p:nvPr/>
        </p:nvSpPr>
        <p:spPr>
          <a:xfrm>
            <a:off x="502920" y="2926080"/>
            <a:ext cx="6492240" cy="914400"/>
          </a:xfrm>
          <a:prstGeom prst="rect">
            <a:avLst/>
          </a:prstGeom>
          <a:noFill/>
          <a:ln/>
        </p:spPr>
        <p:txBody>
          <a:bodyPr wrap="square" rtlCol="0" anchor="ctr"/>
          <a:lstStyle/>
          <a:p>
            <a:pPr marL="0" indent="0">
              <a:buNone/>
            </a:pPr>
            <a:endParaRPr lang="en-US" sz="1500" dirty="0"/>
          </a:p>
          <a:p>
            <a:pPr marL="0" indent="0">
              <a:buNone/>
            </a:pPr>
            <a:endParaRPr lang="en-US" sz="1500" dirty="0"/>
          </a:p>
        </p:txBody>
      </p:sp>
      <p:sp>
        <p:nvSpPr>
          <p:cNvPr id="10" name="Text 8"/>
          <p:cNvSpPr txBox="1"/>
          <p:nvPr/>
        </p:nvSpPr>
        <p:spPr>
          <a:xfrm>
            <a:off x="7543800" y="118872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11" name="Text 9"/>
          <p:cNvSpPr txBox="1"/>
          <p:nvPr/>
        </p:nvSpPr>
        <p:spPr>
          <a:xfrm>
            <a:off x="7543800" y="1508760"/>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Jaime Mauricio Caballero Madriz</a:t>
            </a:r>
            <a:endParaRPr lang="en-US" sz="1350" dirty="0"/>
          </a:p>
        </p:txBody>
      </p:sp>
      <p:sp>
        <p:nvSpPr>
          <p:cNvPr id="12" name="Text 10"/>
          <p:cNvSpPr txBox="1"/>
          <p:nvPr/>
        </p:nvSpPr>
        <p:spPr>
          <a:xfrm>
            <a:off x="7543800" y="1856232"/>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Fredy Daniel Valladares Suazo</a:t>
            </a:r>
            <a:endParaRPr lang="en-US" sz="1350" dirty="0"/>
          </a:p>
        </p:txBody>
      </p:sp>
      <p:sp>
        <p:nvSpPr>
          <p:cNvPr id="13" name="Text 11"/>
          <p:cNvSpPr txBox="1"/>
          <p:nvPr/>
        </p:nvSpPr>
        <p:spPr>
          <a:xfrm>
            <a:off x="7543800" y="2203704"/>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Horacio Ernesto Medal Picado</a:t>
            </a:r>
            <a:endParaRPr lang="en-US" sz="1350" dirty="0"/>
          </a:p>
        </p:txBody>
      </p:sp>
      <p:sp>
        <p:nvSpPr>
          <p:cNvPr id="14" name="Text 12"/>
          <p:cNvSpPr txBox="1"/>
          <p:nvPr/>
        </p:nvSpPr>
        <p:spPr>
          <a:xfrm>
            <a:off x="7543800" y="274320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5" name="Text 13"/>
          <p:cNvSpPr txBox="1"/>
          <p:nvPr/>
        </p:nvSpPr>
        <p:spPr>
          <a:xfrm>
            <a:off x="7543800" y="3035808"/>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PhD. Elkin Gómez</a:t>
            </a:r>
            <a:endParaRPr lang="en-US" sz="1350" dirty="0"/>
          </a:p>
        </p:txBody>
      </p:sp>
      <p:sp>
        <p:nvSpPr>
          <p:cNvPr id="16" name="Text 14"/>
          <p:cNvSpPr txBox="1"/>
          <p:nvPr/>
        </p:nvSpPr>
        <p:spPr>
          <a:xfrm>
            <a:off x="7543800" y="6217920"/>
            <a:ext cx="4389120" cy="365760"/>
          </a:xfrm>
          <a:prstGeom prst="rect">
            <a:avLst/>
          </a:prstGeom>
          <a:noFill/>
          <a:ln/>
        </p:spPr>
        <p:txBody>
          <a:bodyPr wrap="square" rtlCol="0" anchor="ctr"/>
          <a:lstStyle/>
          <a:p>
            <a:pPr marL="0" indent="0">
              <a:buNone/>
            </a:pPr>
            <a:r>
              <a:rPr lang="en-US" sz="1800" b="1" dirty="0">
                <a:solidFill>
                  <a:srgbClr val="1A7A8A"/>
                </a:solidFill>
                <a:latin typeface="Calibri" pitchFamily="34" charset="0"/>
                <a:ea typeface="Calibri" pitchFamily="34" charset="-122"/>
                <a:cs typeface="Calibri" pitchFamily="34" charset="-120"/>
              </a:rPr>
              <a:t>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FFFFFF"/>
          </a:solidFill>
          <a:ln w="12700">
            <a:solidFill>
              <a:srgbClr val="FFFFFF"/>
            </a:solidFill>
            <a:prstDash val="solid"/>
          </a:ln>
        </p:spPr>
        <p:txBody>
          <a:bodyPr/>
          <a:lstStyle/>
          <a:p>
            <a:endParaRPr lang="es-CO"/>
          </a:p>
        </p:txBody>
      </p:sp>
      <p:sp>
        <p:nvSpPr>
          <p:cNvPr id="3" name="Text 1"/>
          <p:cNvSpPr txBox="1"/>
          <p:nvPr/>
        </p:nvSpPr>
        <p:spPr>
          <a:xfrm>
            <a:off x="502920" y="228600"/>
            <a:ext cx="11247120" cy="411480"/>
          </a:xfrm>
          <a:prstGeom prst="rect">
            <a:avLst/>
          </a:prstGeom>
          <a:noFill/>
          <a:ln/>
        </p:spPr>
        <p:txBody>
          <a:bodyPr wrap="square" rtlCol="0" anchor="ctr"/>
          <a:lstStyle/>
          <a:p>
            <a:pPr marL="0" indent="0">
              <a:buNone/>
            </a:pPr>
            <a:r>
              <a:rPr lang="en-US" sz="1100" b="1" kern="0" spc="200" dirty="0">
                <a:solidFill>
                  <a:srgbClr val="1A7A8A"/>
                </a:solidFill>
                <a:latin typeface="Calibri" pitchFamily="34" charset="0"/>
                <a:ea typeface="Calibri" pitchFamily="34" charset="-122"/>
                <a:cs typeface="Calibri" pitchFamily="34" charset="-120"/>
              </a:rPr>
              <a:t>CONTENIDO</a:t>
            </a:r>
            <a:endParaRPr lang="en-US" sz="1100" dirty="0"/>
          </a:p>
        </p:txBody>
      </p:sp>
      <p:sp>
        <p:nvSpPr>
          <p:cNvPr id="4" name="Text 2"/>
          <p:cNvSpPr txBox="1"/>
          <p:nvPr/>
        </p:nvSpPr>
        <p:spPr>
          <a:xfrm>
            <a:off x="502920" y="658368"/>
            <a:ext cx="1124712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Índice de la Presentación</a:t>
            </a:r>
            <a:endParaRPr lang="en-US" sz="2600" dirty="0"/>
          </a:p>
        </p:txBody>
      </p:sp>
      <p:sp>
        <p:nvSpPr>
          <p:cNvPr id="5" name="Shape 3"/>
          <p:cNvSpPr/>
          <p:nvPr/>
        </p:nvSpPr>
        <p:spPr>
          <a:xfrm>
            <a:off x="502920" y="1234440"/>
            <a:ext cx="11155680" cy="18288"/>
          </a:xfrm>
          <a:prstGeom prst="rect">
            <a:avLst/>
          </a:prstGeom>
          <a:solidFill>
            <a:srgbClr val="CBD5E1"/>
          </a:solidFill>
          <a:ln w="12700">
            <a:solidFill>
              <a:srgbClr val="CBD5E1"/>
            </a:solidFill>
            <a:prstDash val="solid"/>
          </a:ln>
        </p:spPr>
        <p:txBody>
          <a:bodyPr/>
          <a:lstStyle/>
          <a:p>
            <a:endParaRPr lang="es-CO"/>
          </a:p>
        </p:txBody>
      </p:sp>
      <p:sp>
        <p:nvSpPr>
          <p:cNvPr id="36" name="Text 3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7" name="TextBox 36"/>
          <p:cNvSpPr txBox="1"/>
          <p:nvPr/>
        </p:nvSpPr>
        <p:spPr>
          <a:xfrm>
            <a:off x="502920" y="1389888"/>
            <a:ext cx="411480" cy="365760"/>
          </a:xfrm>
          <a:prstGeom prst="rect">
            <a:avLst/>
          </a:prstGeom>
          <a:noFill/>
        </p:spPr>
        <p:txBody>
          <a:bodyPr wrap="square" anchor="ctr">
            <a:spAutoFit/>
          </a:bodyPr>
          <a:lstStyle/>
          <a:p>
            <a:pPr algn="l"/>
            <a:r>
              <a:rPr sz="1250" b="1" i="0">
                <a:solidFill>
                  <a:srgbClr val="1A7A8A"/>
                </a:solidFill>
                <a:latin typeface="Calibri"/>
              </a:rPr>
              <a:t>1</a:t>
            </a:r>
          </a:p>
        </p:txBody>
      </p:sp>
      <p:sp>
        <p:nvSpPr>
          <p:cNvPr id="38" name="TextBox 37"/>
          <p:cNvSpPr txBox="1"/>
          <p:nvPr/>
        </p:nvSpPr>
        <p:spPr>
          <a:xfrm>
            <a:off x="978408" y="1389888"/>
            <a:ext cx="5212080" cy="365760"/>
          </a:xfrm>
          <a:prstGeom prst="rect">
            <a:avLst/>
          </a:prstGeom>
          <a:noFill/>
        </p:spPr>
        <p:txBody>
          <a:bodyPr wrap="square" anchor="ctr">
            <a:spAutoFit/>
          </a:bodyPr>
          <a:lstStyle/>
          <a:p>
            <a:pPr algn="l"/>
            <a:r>
              <a:rPr sz="1250" b="0" i="0">
                <a:solidFill>
                  <a:srgbClr val="334155"/>
                </a:solidFill>
                <a:latin typeface="Calibri"/>
              </a:rPr>
              <a:t>Resumen ejecutivo</a:t>
            </a:r>
          </a:p>
        </p:txBody>
      </p:sp>
      <p:sp>
        <p:nvSpPr>
          <p:cNvPr id="39" name="TextBox 38"/>
          <p:cNvSpPr txBox="1"/>
          <p:nvPr/>
        </p:nvSpPr>
        <p:spPr>
          <a:xfrm>
            <a:off x="502920" y="1956816"/>
            <a:ext cx="411480" cy="365760"/>
          </a:xfrm>
          <a:prstGeom prst="rect">
            <a:avLst/>
          </a:prstGeom>
          <a:noFill/>
        </p:spPr>
        <p:txBody>
          <a:bodyPr wrap="square" anchor="ctr">
            <a:spAutoFit/>
          </a:bodyPr>
          <a:lstStyle/>
          <a:p>
            <a:pPr algn="l"/>
            <a:r>
              <a:rPr sz="1250" b="1" i="0">
                <a:solidFill>
                  <a:srgbClr val="1A7A8A"/>
                </a:solidFill>
                <a:latin typeface="Calibri"/>
              </a:rPr>
              <a:t>2</a:t>
            </a:r>
          </a:p>
        </p:txBody>
      </p:sp>
      <p:sp>
        <p:nvSpPr>
          <p:cNvPr id="40" name="TextBox 39"/>
          <p:cNvSpPr txBox="1"/>
          <p:nvPr/>
        </p:nvSpPr>
        <p:spPr>
          <a:xfrm>
            <a:off x="978408" y="1956816"/>
            <a:ext cx="5212080" cy="365760"/>
          </a:xfrm>
          <a:prstGeom prst="rect">
            <a:avLst/>
          </a:prstGeom>
          <a:noFill/>
        </p:spPr>
        <p:txBody>
          <a:bodyPr wrap="square" anchor="ctr">
            <a:spAutoFit/>
          </a:bodyPr>
          <a:lstStyle/>
          <a:p>
            <a:pPr algn="l"/>
            <a:r>
              <a:rPr sz="1250" b="0" i="0">
                <a:solidFill>
                  <a:srgbClr val="334155"/>
                </a:solidFill>
                <a:latin typeface="Calibri"/>
              </a:rPr>
              <a:t>Contexto del sector lácteo</a:t>
            </a:r>
          </a:p>
        </p:txBody>
      </p:sp>
      <p:sp>
        <p:nvSpPr>
          <p:cNvPr id="41" name="TextBox 40"/>
          <p:cNvSpPr txBox="1"/>
          <p:nvPr/>
        </p:nvSpPr>
        <p:spPr>
          <a:xfrm>
            <a:off x="502920" y="2523744"/>
            <a:ext cx="411480" cy="365760"/>
          </a:xfrm>
          <a:prstGeom prst="rect">
            <a:avLst/>
          </a:prstGeom>
          <a:noFill/>
        </p:spPr>
        <p:txBody>
          <a:bodyPr wrap="square" anchor="ctr">
            <a:spAutoFit/>
          </a:bodyPr>
          <a:lstStyle/>
          <a:p>
            <a:pPr algn="l"/>
            <a:r>
              <a:rPr sz="1250" b="1" i="0">
                <a:solidFill>
                  <a:srgbClr val="1A7A8A"/>
                </a:solidFill>
                <a:latin typeface="Calibri"/>
              </a:rPr>
              <a:t>3</a:t>
            </a:r>
          </a:p>
        </p:txBody>
      </p:sp>
      <p:sp>
        <p:nvSpPr>
          <p:cNvPr id="42" name="TextBox 41"/>
          <p:cNvSpPr txBox="1"/>
          <p:nvPr/>
        </p:nvSpPr>
        <p:spPr>
          <a:xfrm>
            <a:off x="978408" y="2523744"/>
            <a:ext cx="5212080" cy="365760"/>
          </a:xfrm>
          <a:prstGeom prst="rect">
            <a:avLst/>
          </a:prstGeom>
          <a:noFill/>
        </p:spPr>
        <p:txBody>
          <a:bodyPr wrap="square" anchor="ctr">
            <a:spAutoFit/>
          </a:bodyPr>
          <a:lstStyle/>
          <a:p>
            <a:pPr algn="l"/>
            <a:r>
              <a:rPr sz="1250" b="0" i="0">
                <a:solidFill>
                  <a:srgbClr val="334155"/>
                </a:solidFill>
                <a:latin typeface="Calibri"/>
              </a:rPr>
              <a:t>Planteamiento del problema y pregunta de investigación</a:t>
            </a:r>
          </a:p>
        </p:txBody>
      </p:sp>
      <p:sp>
        <p:nvSpPr>
          <p:cNvPr id="43" name="TextBox 42"/>
          <p:cNvSpPr txBox="1"/>
          <p:nvPr/>
        </p:nvSpPr>
        <p:spPr>
          <a:xfrm>
            <a:off x="502920" y="3090672"/>
            <a:ext cx="411480" cy="365760"/>
          </a:xfrm>
          <a:prstGeom prst="rect">
            <a:avLst/>
          </a:prstGeom>
          <a:noFill/>
        </p:spPr>
        <p:txBody>
          <a:bodyPr wrap="square" anchor="ctr">
            <a:spAutoFit/>
          </a:bodyPr>
          <a:lstStyle/>
          <a:p>
            <a:pPr algn="l"/>
            <a:r>
              <a:rPr sz="1250" b="1" i="0">
                <a:solidFill>
                  <a:srgbClr val="1A7A8A"/>
                </a:solidFill>
                <a:latin typeface="Calibri"/>
              </a:rPr>
              <a:t>4</a:t>
            </a:r>
          </a:p>
        </p:txBody>
      </p:sp>
      <p:sp>
        <p:nvSpPr>
          <p:cNvPr id="44" name="TextBox 43"/>
          <p:cNvSpPr txBox="1"/>
          <p:nvPr/>
        </p:nvSpPr>
        <p:spPr>
          <a:xfrm>
            <a:off x="978408" y="3090672"/>
            <a:ext cx="5212080" cy="365760"/>
          </a:xfrm>
          <a:prstGeom prst="rect">
            <a:avLst/>
          </a:prstGeom>
          <a:noFill/>
        </p:spPr>
        <p:txBody>
          <a:bodyPr wrap="square" anchor="ctr">
            <a:spAutoFit/>
          </a:bodyPr>
          <a:lstStyle/>
          <a:p>
            <a:pPr algn="l"/>
            <a:r>
              <a:rPr sz="1250" b="0" i="0">
                <a:solidFill>
                  <a:srgbClr val="334155"/>
                </a:solidFill>
                <a:latin typeface="Calibri"/>
              </a:rPr>
              <a:t>Objetivos del estudio</a:t>
            </a:r>
          </a:p>
        </p:txBody>
      </p:sp>
      <p:sp>
        <p:nvSpPr>
          <p:cNvPr id="45" name="TextBox 44"/>
          <p:cNvSpPr txBox="1"/>
          <p:nvPr/>
        </p:nvSpPr>
        <p:spPr>
          <a:xfrm>
            <a:off x="502920" y="3657600"/>
            <a:ext cx="411480" cy="365760"/>
          </a:xfrm>
          <a:prstGeom prst="rect">
            <a:avLst/>
          </a:prstGeom>
          <a:noFill/>
        </p:spPr>
        <p:txBody>
          <a:bodyPr wrap="square" anchor="ctr">
            <a:spAutoFit/>
          </a:bodyPr>
          <a:lstStyle/>
          <a:p>
            <a:pPr algn="l"/>
            <a:r>
              <a:rPr sz="1250" b="1" i="0">
                <a:solidFill>
                  <a:srgbClr val="1A7A8A"/>
                </a:solidFill>
                <a:latin typeface="Calibri"/>
              </a:rPr>
              <a:t>5</a:t>
            </a:r>
          </a:p>
        </p:txBody>
      </p:sp>
      <p:sp>
        <p:nvSpPr>
          <p:cNvPr id="46" name="TextBox 45"/>
          <p:cNvSpPr txBox="1"/>
          <p:nvPr/>
        </p:nvSpPr>
        <p:spPr>
          <a:xfrm>
            <a:off x="978408" y="3657600"/>
            <a:ext cx="5212080" cy="365760"/>
          </a:xfrm>
          <a:prstGeom prst="rect">
            <a:avLst/>
          </a:prstGeom>
          <a:noFill/>
        </p:spPr>
        <p:txBody>
          <a:bodyPr wrap="square" anchor="ctr">
            <a:spAutoFit/>
          </a:bodyPr>
          <a:lstStyle/>
          <a:p>
            <a:pPr algn="l"/>
            <a:r>
              <a:rPr sz="1250" b="0" i="0">
                <a:solidFill>
                  <a:srgbClr val="334155"/>
                </a:solidFill>
                <a:latin typeface="Calibri"/>
              </a:rPr>
              <a:t>Diseño metodológico</a:t>
            </a:r>
          </a:p>
        </p:txBody>
      </p:sp>
      <p:sp>
        <p:nvSpPr>
          <p:cNvPr id="47" name="TextBox 46"/>
          <p:cNvSpPr txBox="1"/>
          <p:nvPr/>
        </p:nvSpPr>
        <p:spPr>
          <a:xfrm>
            <a:off x="502920" y="4224528"/>
            <a:ext cx="411480" cy="365760"/>
          </a:xfrm>
          <a:prstGeom prst="rect">
            <a:avLst/>
          </a:prstGeom>
          <a:noFill/>
        </p:spPr>
        <p:txBody>
          <a:bodyPr wrap="square" anchor="ctr">
            <a:spAutoFit/>
          </a:bodyPr>
          <a:lstStyle/>
          <a:p>
            <a:pPr algn="l"/>
            <a:r>
              <a:rPr sz="1250" b="1" i="0">
                <a:solidFill>
                  <a:srgbClr val="1A7A8A"/>
                </a:solidFill>
                <a:latin typeface="Calibri"/>
              </a:rPr>
              <a:t>6</a:t>
            </a:r>
          </a:p>
        </p:txBody>
      </p:sp>
      <p:sp>
        <p:nvSpPr>
          <p:cNvPr id="48" name="TextBox 47"/>
          <p:cNvSpPr txBox="1"/>
          <p:nvPr/>
        </p:nvSpPr>
        <p:spPr>
          <a:xfrm>
            <a:off x="978408" y="4224528"/>
            <a:ext cx="5212080" cy="365760"/>
          </a:xfrm>
          <a:prstGeom prst="rect">
            <a:avLst/>
          </a:prstGeom>
          <a:noFill/>
        </p:spPr>
        <p:txBody>
          <a:bodyPr wrap="square" anchor="ctr">
            <a:spAutoFit/>
          </a:bodyPr>
          <a:lstStyle/>
          <a:p>
            <a:pPr algn="l"/>
            <a:r>
              <a:rPr sz="1250" b="0" i="0">
                <a:solidFill>
                  <a:srgbClr val="334155"/>
                </a:solidFill>
                <a:latin typeface="Calibri"/>
              </a:rPr>
              <a:t>Estudio sectorial: 5 Fuerzas de Porter</a:t>
            </a:r>
          </a:p>
        </p:txBody>
      </p:sp>
      <p:sp>
        <p:nvSpPr>
          <p:cNvPr id="49" name="TextBox 48"/>
          <p:cNvSpPr txBox="1"/>
          <p:nvPr/>
        </p:nvSpPr>
        <p:spPr>
          <a:xfrm>
            <a:off x="502920" y="4791456"/>
            <a:ext cx="411480" cy="365760"/>
          </a:xfrm>
          <a:prstGeom prst="rect">
            <a:avLst/>
          </a:prstGeom>
          <a:noFill/>
        </p:spPr>
        <p:txBody>
          <a:bodyPr wrap="square" anchor="ctr">
            <a:spAutoFit/>
          </a:bodyPr>
          <a:lstStyle/>
          <a:p>
            <a:pPr algn="l"/>
            <a:r>
              <a:rPr sz="1250" b="1" i="0">
                <a:solidFill>
                  <a:srgbClr val="1A7A8A"/>
                </a:solidFill>
                <a:latin typeface="Calibri"/>
              </a:rPr>
              <a:t>7</a:t>
            </a:r>
          </a:p>
        </p:txBody>
      </p:sp>
      <p:sp>
        <p:nvSpPr>
          <p:cNvPr id="50" name="TextBox 49"/>
          <p:cNvSpPr txBox="1"/>
          <p:nvPr/>
        </p:nvSpPr>
        <p:spPr>
          <a:xfrm>
            <a:off x="978408" y="4791456"/>
            <a:ext cx="5212080" cy="365760"/>
          </a:xfrm>
          <a:prstGeom prst="rect">
            <a:avLst/>
          </a:prstGeom>
          <a:noFill/>
        </p:spPr>
        <p:txBody>
          <a:bodyPr wrap="square" anchor="ctr">
            <a:spAutoFit/>
          </a:bodyPr>
          <a:lstStyle/>
          <a:p>
            <a:pPr algn="l"/>
            <a:r>
              <a:rPr sz="1250" b="0" i="0">
                <a:solidFill>
                  <a:srgbClr val="334155"/>
                </a:solidFill>
                <a:latin typeface="Calibri"/>
              </a:rPr>
              <a:t>Análisis de mercado</a:t>
            </a:r>
          </a:p>
        </p:txBody>
      </p:sp>
      <p:sp>
        <p:nvSpPr>
          <p:cNvPr id="51" name="TextBox 50"/>
          <p:cNvSpPr txBox="1"/>
          <p:nvPr/>
        </p:nvSpPr>
        <p:spPr>
          <a:xfrm>
            <a:off x="502920" y="5358383"/>
            <a:ext cx="411480" cy="365760"/>
          </a:xfrm>
          <a:prstGeom prst="rect">
            <a:avLst/>
          </a:prstGeom>
          <a:noFill/>
        </p:spPr>
        <p:txBody>
          <a:bodyPr wrap="square" anchor="ctr">
            <a:spAutoFit/>
          </a:bodyPr>
          <a:lstStyle/>
          <a:p>
            <a:pPr algn="l"/>
            <a:r>
              <a:rPr sz="1250" b="1" i="0">
                <a:solidFill>
                  <a:srgbClr val="1A7A8A"/>
                </a:solidFill>
                <a:latin typeface="Calibri"/>
              </a:rPr>
              <a:t>8</a:t>
            </a:r>
          </a:p>
        </p:txBody>
      </p:sp>
      <p:sp>
        <p:nvSpPr>
          <p:cNvPr id="52" name="TextBox 51"/>
          <p:cNvSpPr txBox="1"/>
          <p:nvPr/>
        </p:nvSpPr>
        <p:spPr>
          <a:xfrm>
            <a:off x="978408" y="5358383"/>
            <a:ext cx="5212080" cy="365760"/>
          </a:xfrm>
          <a:prstGeom prst="rect">
            <a:avLst/>
          </a:prstGeom>
          <a:noFill/>
        </p:spPr>
        <p:txBody>
          <a:bodyPr wrap="square" anchor="ctr">
            <a:spAutoFit/>
          </a:bodyPr>
          <a:lstStyle/>
          <a:p>
            <a:pPr algn="l"/>
            <a:r>
              <a:rPr sz="1250" b="0" i="0">
                <a:solidFill>
                  <a:srgbClr val="334155"/>
                </a:solidFill>
                <a:latin typeface="Calibri"/>
              </a:rPr>
              <a:t>Estudio técnico: localización, tamaño y equipos</a:t>
            </a:r>
          </a:p>
        </p:txBody>
      </p:sp>
      <p:sp>
        <p:nvSpPr>
          <p:cNvPr id="53" name="TextBox 52"/>
          <p:cNvSpPr txBox="1"/>
          <p:nvPr/>
        </p:nvSpPr>
        <p:spPr>
          <a:xfrm>
            <a:off x="6446520" y="1389888"/>
            <a:ext cx="411480" cy="365760"/>
          </a:xfrm>
          <a:prstGeom prst="rect">
            <a:avLst/>
          </a:prstGeom>
          <a:noFill/>
        </p:spPr>
        <p:txBody>
          <a:bodyPr wrap="square" anchor="ctr">
            <a:spAutoFit/>
          </a:bodyPr>
          <a:lstStyle/>
          <a:p>
            <a:pPr algn="l"/>
            <a:r>
              <a:rPr sz="1250" b="1" i="0">
                <a:solidFill>
                  <a:srgbClr val="1A7A8A"/>
                </a:solidFill>
                <a:latin typeface="Calibri"/>
              </a:rPr>
              <a:t>9</a:t>
            </a:r>
          </a:p>
        </p:txBody>
      </p:sp>
      <p:sp>
        <p:nvSpPr>
          <p:cNvPr id="54" name="TextBox 53"/>
          <p:cNvSpPr txBox="1"/>
          <p:nvPr/>
        </p:nvSpPr>
        <p:spPr>
          <a:xfrm>
            <a:off x="6922008" y="1389888"/>
            <a:ext cx="5212080" cy="365760"/>
          </a:xfrm>
          <a:prstGeom prst="rect">
            <a:avLst/>
          </a:prstGeom>
          <a:noFill/>
        </p:spPr>
        <p:txBody>
          <a:bodyPr wrap="square" anchor="ctr">
            <a:spAutoFit/>
          </a:bodyPr>
          <a:lstStyle/>
          <a:p>
            <a:pPr algn="l"/>
            <a:r>
              <a:rPr sz="1250" b="0" i="0">
                <a:solidFill>
                  <a:srgbClr val="334155"/>
                </a:solidFill>
                <a:latin typeface="Calibri"/>
              </a:rPr>
              <a:t>Estudios legal, organizacional y ambiental</a:t>
            </a:r>
          </a:p>
        </p:txBody>
      </p:sp>
      <p:sp>
        <p:nvSpPr>
          <p:cNvPr id="55" name="TextBox 54"/>
          <p:cNvSpPr txBox="1"/>
          <p:nvPr/>
        </p:nvSpPr>
        <p:spPr>
          <a:xfrm>
            <a:off x="6446520" y="1956816"/>
            <a:ext cx="411480" cy="365760"/>
          </a:xfrm>
          <a:prstGeom prst="rect">
            <a:avLst/>
          </a:prstGeom>
          <a:noFill/>
        </p:spPr>
        <p:txBody>
          <a:bodyPr wrap="square" anchor="ctr">
            <a:spAutoFit/>
          </a:bodyPr>
          <a:lstStyle/>
          <a:p>
            <a:pPr algn="l"/>
            <a:r>
              <a:rPr sz="1250" b="1" i="0">
                <a:solidFill>
                  <a:srgbClr val="1A7A8A"/>
                </a:solidFill>
                <a:latin typeface="Calibri"/>
              </a:rPr>
              <a:t>10</a:t>
            </a:r>
          </a:p>
        </p:txBody>
      </p:sp>
      <p:sp>
        <p:nvSpPr>
          <p:cNvPr id="56" name="TextBox 55"/>
          <p:cNvSpPr txBox="1"/>
          <p:nvPr/>
        </p:nvSpPr>
        <p:spPr>
          <a:xfrm>
            <a:off x="6922008" y="1956816"/>
            <a:ext cx="5212080" cy="365760"/>
          </a:xfrm>
          <a:prstGeom prst="rect">
            <a:avLst/>
          </a:prstGeom>
          <a:noFill/>
        </p:spPr>
        <p:txBody>
          <a:bodyPr wrap="square" anchor="ctr">
            <a:spAutoFit/>
          </a:bodyPr>
          <a:lstStyle/>
          <a:p>
            <a:pPr algn="l"/>
            <a:r>
              <a:rPr sz="1250" b="0" i="0">
                <a:solidFill>
                  <a:srgbClr val="334155"/>
                </a:solidFill>
                <a:latin typeface="Calibri"/>
              </a:rPr>
              <a:t>Inversión y financiamiento</a:t>
            </a:r>
          </a:p>
        </p:txBody>
      </p:sp>
      <p:sp>
        <p:nvSpPr>
          <p:cNvPr id="57" name="TextBox 56"/>
          <p:cNvSpPr txBox="1"/>
          <p:nvPr/>
        </p:nvSpPr>
        <p:spPr>
          <a:xfrm>
            <a:off x="6446520" y="2523744"/>
            <a:ext cx="411480" cy="365760"/>
          </a:xfrm>
          <a:prstGeom prst="rect">
            <a:avLst/>
          </a:prstGeom>
          <a:noFill/>
        </p:spPr>
        <p:txBody>
          <a:bodyPr wrap="square" anchor="ctr">
            <a:spAutoFit/>
          </a:bodyPr>
          <a:lstStyle/>
          <a:p>
            <a:pPr algn="l"/>
            <a:r>
              <a:rPr sz="1250" b="1" i="0">
                <a:solidFill>
                  <a:srgbClr val="1A7A8A"/>
                </a:solidFill>
                <a:latin typeface="Calibri"/>
              </a:rPr>
              <a:t>11</a:t>
            </a:r>
          </a:p>
        </p:txBody>
      </p:sp>
      <p:sp>
        <p:nvSpPr>
          <p:cNvPr id="58" name="TextBox 57"/>
          <p:cNvSpPr txBox="1"/>
          <p:nvPr/>
        </p:nvSpPr>
        <p:spPr>
          <a:xfrm>
            <a:off x="6922008" y="2523744"/>
            <a:ext cx="5212080" cy="365760"/>
          </a:xfrm>
          <a:prstGeom prst="rect">
            <a:avLst/>
          </a:prstGeom>
          <a:noFill/>
        </p:spPr>
        <p:txBody>
          <a:bodyPr wrap="square" anchor="ctr">
            <a:spAutoFit/>
          </a:bodyPr>
          <a:lstStyle/>
          <a:p>
            <a:pPr algn="l"/>
            <a:r>
              <a:rPr sz="1250" b="0" i="0">
                <a:solidFill>
                  <a:srgbClr val="334155"/>
                </a:solidFill>
                <a:latin typeface="Calibri"/>
              </a:rPr>
              <a:t>Indicadores financieros</a:t>
            </a:r>
          </a:p>
        </p:txBody>
      </p:sp>
      <p:sp>
        <p:nvSpPr>
          <p:cNvPr id="59" name="TextBox 58"/>
          <p:cNvSpPr txBox="1"/>
          <p:nvPr/>
        </p:nvSpPr>
        <p:spPr>
          <a:xfrm>
            <a:off x="6446520" y="3090672"/>
            <a:ext cx="411480" cy="365760"/>
          </a:xfrm>
          <a:prstGeom prst="rect">
            <a:avLst/>
          </a:prstGeom>
          <a:noFill/>
        </p:spPr>
        <p:txBody>
          <a:bodyPr wrap="square" anchor="ctr">
            <a:spAutoFit/>
          </a:bodyPr>
          <a:lstStyle/>
          <a:p>
            <a:pPr algn="l"/>
            <a:r>
              <a:rPr sz="1250" b="1" i="0">
                <a:solidFill>
                  <a:srgbClr val="1A7A8A"/>
                </a:solidFill>
                <a:latin typeface="Calibri"/>
              </a:rPr>
              <a:t>12</a:t>
            </a:r>
          </a:p>
        </p:txBody>
      </p:sp>
      <p:sp>
        <p:nvSpPr>
          <p:cNvPr id="60" name="TextBox 59"/>
          <p:cNvSpPr txBox="1"/>
          <p:nvPr/>
        </p:nvSpPr>
        <p:spPr>
          <a:xfrm>
            <a:off x="6922008" y="3090672"/>
            <a:ext cx="5212080" cy="365760"/>
          </a:xfrm>
          <a:prstGeom prst="rect">
            <a:avLst/>
          </a:prstGeom>
          <a:noFill/>
        </p:spPr>
        <p:txBody>
          <a:bodyPr wrap="square" anchor="ctr">
            <a:spAutoFit/>
          </a:bodyPr>
          <a:lstStyle/>
          <a:p>
            <a:pPr algn="l"/>
            <a:r>
              <a:rPr sz="1250" b="0" i="0">
                <a:solidFill>
                  <a:srgbClr val="334155"/>
                </a:solidFill>
                <a:latin typeface="Calibri"/>
              </a:rPr>
              <a:t>Sensibilidad y escenarios</a:t>
            </a:r>
          </a:p>
        </p:txBody>
      </p:sp>
      <p:sp>
        <p:nvSpPr>
          <p:cNvPr id="61" name="TextBox 60"/>
          <p:cNvSpPr txBox="1"/>
          <p:nvPr/>
        </p:nvSpPr>
        <p:spPr>
          <a:xfrm>
            <a:off x="6446520" y="3657600"/>
            <a:ext cx="411480" cy="365760"/>
          </a:xfrm>
          <a:prstGeom prst="rect">
            <a:avLst/>
          </a:prstGeom>
          <a:noFill/>
        </p:spPr>
        <p:txBody>
          <a:bodyPr wrap="square" anchor="ctr">
            <a:spAutoFit/>
          </a:bodyPr>
          <a:lstStyle/>
          <a:p>
            <a:pPr algn="l"/>
            <a:r>
              <a:rPr sz="1250" b="1" i="0">
                <a:solidFill>
                  <a:srgbClr val="1A7A8A"/>
                </a:solidFill>
                <a:latin typeface="Calibri"/>
              </a:rPr>
              <a:t>13</a:t>
            </a:r>
          </a:p>
        </p:txBody>
      </p:sp>
      <p:sp>
        <p:nvSpPr>
          <p:cNvPr id="62" name="TextBox 61"/>
          <p:cNvSpPr txBox="1"/>
          <p:nvPr/>
        </p:nvSpPr>
        <p:spPr>
          <a:xfrm>
            <a:off x="6922008" y="3657600"/>
            <a:ext cx="5212080" cy="365760"/>
          </a:xfrm>
          <a:prstGeom prst="rect">
            <a:avLst/>
          </a:prstGeom>
          <a:noFill/>
        </p:spPr>
        <p:txBody>
          <a:bodyPr wrap="square" anchor="ctr">
            <a:spAutoFit/>
          </a:bodyPr>
          <a:lstStyle/>
          <a:p>
            <a:pPr algn="l"/>
            <a:r>
              <a:rPr sz="1250" b="0" i="0">
                <a:solidFill>
                  <a:srgbClr val="334155"/>
                </a:solidFill>
                <a:latin typeface="Calibri"/>
              </a:rPr>
              <a:t>Riesgos: efecto sobre el valor del proyecto</a:t>
            </a:r>
          </a:p>
        </p:txBody>
      </p:sp>
      <p:sp>
        <p:nvSpPr>
          <p:cNvPr id="63" name="TextBox 62"/>
          <p:cNvSpPr txBox="1"/>
          <p:nvPr/>
        </p:nvSpPr>
        <p:spPr>
          <a:xfrm>
            <a:off x="6446520" y="4224528"/>
            <a:ext cx="411480" cy="365760"/>
          </a:xfrm>
          <a:prstGeom prst="rect">
            <a:avLst/>
          </a:prstGeom>
          <a:noFill/>
        </p:spPr>
        <p:txBody>
          <a:bodyPr wrap="square" anchor="ctr">
            <a:spAutoFit/>
          </a:bodyPr>
          <a:lstStyle/>
          <a:p>
            <a:pPr algn="l"/>
            <a:r>
              <a:rPr sz="1250" b="1" i="0">
                <a:solidFill>
                  <a:srgbClr val="1A7A8A"/>
                </a:solidFill>
                <a:latin typeface="Calibri"/>
              </a:rPr>
              <a:t>14</a:t>
            </a:r>
          </a:p>
        </p:txBody>
      </p:sp>
      <p:sp>
        <p:nvSpPr>
          <p:cNvPr id="64" name="TextBox 63"/>
          <p:cNvSpPr txBox="1"/>
          <p:nvPr/>
        </p:nvSpPr>
        <p:spPr>
          <a:xfrm>
            <a:off x="6922008" y="4224528"/>
            <a:ext cx="5212080" cy="365760"/>
          </a:xfrm>
          <a:prstGeom prst="rect">
            <a:avLst/>
          </a:prstGeom>
          <a:noFill/>
        </p:spPr>
        <p:txBody>
          <a:bodyPr wrap="square" anchor="ctr">
            <a:spAutoFit/>
          </a:bodyPr>
          <a:lstStyle/>
          <a:p>
            <a:pPr algn="l"/>
            <a:r>
              <a:rPr sz="1250" b="0" i="0">
                <a:solidFill>
                  <a:srgbClr val="334155"/>
                </a:solidFill>
                <a:latin typeface="Calibri"/>
              </a:rPr>
              <a:t>Conclusiones, limitaciones y recomendaciones</a:t>
            </a:r>
          </a:p>
        </p:txBody>
      </p:sp>
      <p:sp>
        <p:nvSpPr>
          <p:cNvPr id="65" name="TextBox 64"/>
          <p:cNvSpPr txBox="1"/>
          <p:nvPr/>
        </p:nvSpPr>
        <p:spPr>
          <a:xfrm>
            <a:off x="6446520" y="4791456"/>
            <a:ext cx="411480" cy="365760"/>
          </a:xfrm>
          <a:prstGeom prst="rect">
            <a:avLst/>
          </a:prstGeom>
          <a:noFill/>
        </p:spPr>
        <p:txBody>
          <a:bodyPr wrap="square" anchor="ctr">
            <a:spAutoFit/>
          </a:bodyPr>
          <a:lstStyle/>
          <a:p>
            <a:pPr algn="l"/>
            <a:r>
              <a:rPr sz="1250" b="1" i="0">
                <a:solidFill>
                  <a:srgbClr val="1A7A8A"/>
                </a:solidFill>
                <a:latin typeface="Calibri"/>
              </a:rPr>
              <a:t>15</a:t>
            </a:r>
          </a:p>
        </p:txBody>
      </p:sp>
      <p:sp>
        <p:nvSpPr>
          <p:cNvPr id="66" name="TextBox 65"/>
          <p:cNvSpPr txBox="1"/>
          <p:nvPr/>
        </p:nvSpPr>
        <p:spPr>
          <a:xfrm>
            <a:off x="6922008" y="4791456"/>
            <a:ext cx="5212080" cy="365760"/>
          </a:xfrm>
          <a:prstGeom prst="rect">
            <a:avLst/>
          </a:prstGeom>
          <a:noFill/>
        </p:spPr>
        <p:txBody>
          <a:bodyPr wrap="square" anchor="ctr">
            <a:spAutoFit/>
          </a:bodyPr>
          <a:lstStyle/>
          <a:p>
            <a:pPr algn="l"/>
            <a:r>
              <a:rPr sz="1250" b="0" i="0">
                <a:solidFill>
                  <a:srgbClr val="334155"/>
                </a:solidFill>
                <a:latin typeface="Calibri"/>
              </a:rPr>
              <a:t>Anexos de respaldo y bibliografía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INTRODUCCIÓN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Sector Lácteo en Honduras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115568"/>
            <a:ext cx="11521440" cy="777240"/>
          </a:xfrm>
          <a:prstGeom prst="rect">
            <a:avLst/>
          </a:prstGeom>
          <a:noFill/>
          <a:ln/>
        </p:spPr>
        <p:txBody>
          <a:bodyPr wrap="square" rtlCol="0" anchor="ctr"/>
          <a:lstStyle/>
          <a:p>
            <a:pPr marL="0" indent="0">
              <a:buNone/>
            </a:pPr>
            <a:r>
              <a:rPr lang="en-US" sz="1300" dirty="0">
                <a:solidFill>
                  <a:srgbClr val="334155"/>
                </a:solidFill>
                <a:latin typeface="Calibri" pitchFamily="34" charset="0"/>
                <a:ea typeface="Calibri" pitchFamily="34" charset="-122"/>
                <a:cs typeface="Calibri" pitchFamily="34" charset="-120"/>
              </a:rPr>
              <a:t>La leche y sus derivados son componentes esenciales de la dieta hondureña y pilares de la economía agroindustrial. El país cuenta con dos circuitos: el industrial (formalizado, ~25 % del total) y el artesanal (mayoría, distribución local). Las grandes empresas migraron a leche UHT, dejando un nicho desatendido de leche fresca pasteurizada.</a:t>
            </a:r>
            <a:endParaRPr lang="en-US" sz="1300" dirty="0"/>
          </a:p>
        </p:txBody>
      </p:sp>
      <p:sp>
        <p:nvSpPr>
          <p:cNvPr id="24" name="Text 2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5" name="Rectangle 24"/>
          <p:cNvSpPr/>
          <p:nvPr/>
        </p:nvSpPr>
        <p:spPr>
          <a:xfrm>
            <a:off x="32004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79" y="1947672"/>
            <a:ext cx="3429000" cy="662940"/>
          </a:xfrm>
          <a:prstGeom prst="rect">
            <a:avLst/>
          </a:prstGeom>
          <a:noFill/>
        </p:spPr>
        <p:txBody>
          <a:bodyPr wrap="square" anchor="ctr">
            <a:spAutoFit/>
          </a:bodyPr>
          <a:lstStyle/>
          <a:p>
            <a:pPr algn="ctr"/>
            <a:r>
              <a:rPr sz="2600" b="1" i="0">
                <a:solidFill>
                  <a:srgbClr val="1A7A8A"/>
                </a:solidFill>
                <a:latin typeface="Calibri"/>
              </a:rPr>
              <a:t>10.0 M</a:t>
            </a:r>
          </a:p>
        </p:txBody>
      </p:sp>
      <p:sp>
        <p:nvSpPr>
          <p:cNvPr id="27" name="TextBox 26"/>
          <p:cNvSpPr txBox="1"/>
          <p:nvPr/>
        </p:nvSpPr>
        <p:spPr>
          <a:xfrm>
            <a:off x="411479" y="2563977"/>
            <a:ext cx="3429000" cy="371246"/>
          </a:xfrm>
          <a:prstGeom prst="rect">
            <a:avLst/>
          </a:prstGeom>
          <a:noFill/>
        </p:spPr>
        <p:txBody>
          <a:bodyPr wrap="square" anchor="ctr">
            <a:spAutoFit/>
          </a:bodyPr>
          <a:lstStyle/>
          <a:p>
            <a:pPr algn="ctr"/>
            <a:r>
              <a:rPr sz="1050" b="0" i="0">
                <a:solidFill>
                  <a:srgbClr val="334155"/>
                </a:solidFill>
                <a:latin typeface="Calibri"/>
              </a:rPr>
              <a:t>Habitantes en Honduras</a:t>
            </a:r>
          </a:p>
        </p:txBody>
      </p:sp>
      <p:sp>
        <p:nvSpPr>
          <p:cNvPr id="28" name="TextBox 27"/>
          <p:cNvSpPr txBox="1"/>
          <p:nvPr/>
        </p:nvSpPr>
        <p:spPr>
          <a:xfrm>
            <a:off x="411479" y="2882188"/>
            <a:ext cx="3429000" cy="265176"/>
          </a:xfrm>
          <a:prstGeom prst="rect">
            <a:avLst/>
          </a:prstGeom>
          <a:noFill/>
        </p:spPr>
        <p:txBody>
          <a:bodyPr wrap="square" anchor="ctr">
            <a:spAutoFit/>
          </a:bodyPr>
          <a:lstStyle/>
          <a:p>
            <a:pPr algn="ctr"/>
            <a:r>
              <a:rPr sz="850" b="0" i="1">
                <a:solidFill>
                  <a:srgbClr val="64748B"/>
                </a:solidFill>
                <a:latin typeface="Calibri"/>
              </a:rPr>
              <a:t>INE, 2025</a:t>
            </a:r>
          </a:p>
        </p:txBody>
      </p:sp>
      <p:sp>
        <p:nvSpPr>
          <p:cNvPr id="29" name="Rectangle 28"/>
          <p:cNvSpPr/>
          <p:nvPr/>
        </p:nvSpPr>
        <p:spPr>
          <a:xfrm>
            <a:off x="416052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51959" y="1947672"/>
            <a:ext cx="3429000" cy="662940"/>
          </a:xfrm>
          <a:prstGeom prst="rect">
            <a:avLst/>
          </a:prstGeom>
          <a:noFill/>
        </p:spPr>
        <p:txBody>
          <a:bodyPr wrap="square" anchor="ctr">
            <a:spAutoFit/>
          </a:bodyPr>
          <a:lstStyle/>
          <a:p>
            <a:pPr algn="ctr"/>
            <a:r>
              <a:rPr sz="2600" b="1" i="0">
                <a:solidFill>
                  <a:srgbClr val="1A7A8A"/>
                </a:solidFill>
                <a:latin typeface="Calibri"/>
              </a:rPr>
              <a:t>350,000</a:t>
            </a:r>
          </a:p>
        </p:txBody>
      </p:sp>
      <p:sp>
        <p:nvSpPr>
          <p:cNvPr id="31" name="TextBox 30"/>
          <p:cNvSpPr txBox="1"/>
          <p:nvPr/>
        </p:nvSpPr>
        <p:spPr>
          <a:xfrm>
            <a:off x="4251959" y="2563977"/>
            <a:ext cx="3429000" cy="371246"/>
          </a:xfrm>
          <a:prstGeom prst="rect">
            <a:avLst/>
          </a:prstGeom>
          <a:noFill/>
        </p:spPr>
        <p:txBody>
          <a:bodyPr wrap="square" anchor="ctr">
            <a:spAutoFit/>
          </a:bodyPr>
          <a:lstStyle/>
          <a:p>
            <a:pPr algn="ctr"/>
            <a:r>
              <a:rPr sz="1050" b="0" i="0">
                <a:solidFill>
                  <a:srgbClr val="334155"/>
                </a:solidFill>
                <a:latin typeface="Calibri"/>
              </a:rPr>
              <a:t>Empleos directos en la cadena láctea</a:t>
            </a:r>
          </a:p>
        </p:txBody>
      </p:sp>
      <p:sp>
        <p:nvSpPr>
          <p:cNvPr id="32" name="TextBox 31"/>
          <p:cNvSpPr txBox="1"/>
          <p:nvPr/>
        </p:nvSpPr>
        <p:spPr>
          <a:xfrm>
            <a:off x="4251959" y="2882188"/>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33" name="Rectangle 32"/>
          <p:cNvSpPr/>
          <p:nvPr/>
        </p:nvSpPr>
        <p:spPr>
          <a:xfrm>
            <a:off x="800100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92440" y="1947672"/>
            <a:ext cx="3429000" cy="662940"/>
          </a:xfrm>
          <a:prstGeom prst="rect">
            <a:avLst/>
          </a:prstGeom>
          <a:noFill/>
        </p:spPr>
        <p:txBody>
          <a:bodyPr wrap="square" anchor="ctr">
            <a:spAutoFit/>
          </a:bodyPr>
          <a:lstStyle/>
          <a:p>
            <a:pPr algn="ctr"/>
            <a:r>
              <a:rPr sz="2600" b="1" i="0">
                <a:solidFill>
                  <a:srgbClr val="1A7A8A"/>
                </a:solidFill>
                <a:latin typeface="Calibri"/>
              </a:rPr>
              <a:t>~25 %</a:t>
            </a:r>
          </a:p>
        </p:txBody>
      </p:sp>
      <p:sp>
        <p:nvSpPr>
          <p:cNvPr id="35" name="TextBox 34"/>
          <p:cNvSpPr txBox="1"/>
          <p:nvPr/>
        </p:nvSpPr>
        <p:spPr>
          <a:xfrm>
            <a:off x="8092440" y="2563977"/>
            <a:ext cx="3429000" cy="371246"/>
          </a:xfrm>
          <a:prstGeom prst="rect">
            <a:avLst/>
          </a:prstGeom>
          <a:noFill/>
        </p:spPr>
        <p:txBody>
          <a:bodyPr wrap="square" anchor="ctr">
            <a:spAutoFit/>
          </a:bodyPr>
          <a:lstStyle/>
          <a:p>
            <a:pPr algn="ctr"/>
            <a:r>
              <a:rPr sz="1050" b="0" i="0">
                <a:solidFill>
                  <a:srgbClr val="334155"/>
                </a:solidFill>
                <a:latin typeface="Calibri"/>
              </a:rPr>
              <a:t>Producción vía circuito industrial</a:t>
            </a:r>
          </a:p>
        </p:txBody>
      </p:sp>
      <p:sp>
        <p:nvSpPr>
          <p:cNvPr id="36" name="TextBox 35"/>
          <p:cNvSpPr txBox="1"/>
          <p:nvPr/>
        </p:nvSpPr>
        <p:spPr>
          <a:xfrm>
            <a:off x="8092440" y="2882188"/>
            <a:ext cx="3429000" cy="265176"/>
          </a:xfrm>
          <a:prstGeom prst="rect">
            <a:avLst/>
          </a:prstGeom>
          <a:noFill/>
        </p:spPr>
        <p:txBody>
          <a:bodyPr wrap="square" anchor="ctr">
            <a:spAutoFit/>
          </a:bodyPr>
          <a:lstStyle/>
          <a:p>
            <a:pPr algn="ctr"/>
            <a:r>
              <a:rPr sz="850" b="0" i="1">
                <a:solidFill>
                  <a:srgbClr val="64748B"/>
                </a:solidFill>
                <a:latin typeface="Calibri"/>
              </a:rPr>
              <a:t>Holmann, 2001</a:t>
            </a:r>
          </a:p>
        </p:txBody>
      </p:sp>
      <p:sp>
        <p:nvSpPr>
          <p:cNvPr id="37" name="Rectangle 36"/>
          <p:cNvSpPr/>
          <p:nvPr/>
        </p:nvSpPr>
        <p:spPr>
          <a:xfrm>
            <a:off x="32004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11479" y="3429000"/>
            <a:ext cx="3429000" cy="662940"/>
          </a:xfrm>
          <a:prstGeom prst="rect">
            <a:avLst/>
          </a:prstGeom>
          <a:noFill/>
        </p:spPr>
        <p:txBody>
          <a:bodyPr wrap="square" anchor="ctr">
            <a:spAutoFit/>
          </a:bodyPr>
          <a:lstStyle/>
          <a:p>
            <a:pPr algn="ctr"/>
            <a:r>
              <a:rPr sz="2600" b="1" i="0">
                <a:solidFill>
                  <a:srgbClr val="1A7A8A"/>
                </a:solidFill>
                <a:latin typeface="Calibri"/>
              </a:rPr>
              <a:t>15 %</a:t>
            </a:r>
          </a:p>
        </p:txBody>
      </p:sp>
      <p:sp>
        <p:nvSpPr>
          <p:cNvPr id="39" name="TextBox 38"/>
          <p:cNvSpPr txBox="1"/>
          <p:nvPr/>
        </p:nvSpPr>
        <p:spPr>
          <a:xfrm>
            <a:off x="411479" y="4045305"/>
            <a:ext cx="3429000" cy="371246"/>
          </a:xfrm>
          <a:prstGeom prst="rect">
            <a:avLst/>
          </a:prstGeom>
          <a:noFill/>
        </p:spPr>
        <p:txBody>
          <a:bodyPr wrap="square" anchor="ctr">
            <a:spAutoFit/>
          </a:bodyPr>
          <a:lstStyle/>
          <a:p>
            <a:pPr algn="ctr"/>
            <a:r>
              <a:rPr sz="1050" b="0" i="0">
                <a:solidFill>
                  <a:srgbClr val="334155"/>
                </a:solidFill>
                <a:latin typeface="Calibri"/>
              </a:rPr>
              <a:t>Aporte de la cadena láctea al PIB agropecuario</a:t>
            </a:r>
          </a:p>
        </p:txBody>
      </p:sp>
      <p:sp>
        <p:nvSpPr>
          <p:cNvPr id="40" name="TextBox 39"/>
          <p:cNvSpPr txBox="1"/>
          <p:nvPr/>
        </p:nvSpPr>
        <p:spPr>
          <a:xfrm>
            <a:off x="411479" y="4363516"/>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41" name="Rectangle 40"/>
          <p:cNvSpPr/>
          <p:nvPr/>
        </p:nvSpPr>
        <p:spPr>
          <a:xfrm>
            <a:off x="416052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251959" y="3429000"/>
            <a:ext cx="3429000" cy="662940"/>
          </a:xfrm>
          <a:prstGeom prst="rect">
            <a:avLst/>
          </a:prstGeom>
          <a:noFill/>
        </p:spPr>
        <p:txBody>
          <a:bodyPr wrap="square" anchor="ctr">
            <a:spAutoFit/>
          </a:bodyPr>
          <a:lstStyle/>
          <a:p>
            <a:pPr algn="ctr"/>
            <a:r>
              <a:rPr sz="2600" b="1" i="0">
                <a:solidFill>
                  <a:srgbClr val="1A7A8A"/>
                </a:solidFill>
                <a:latin typeface="Calibri"/>
              </a:rPr>
              <a:t>~600 M L</a:t>
            </a:r>
          </a:p>
        </p:txBody>
      </p:sp>
      <p:sp>
        <p:nvSpPr>
          <p:cNvPr id="43" name="TextBox 42"/>
          <p:cNvSpPr txBox="1"/>
          <p:nvPr/>
        </p:nvSpPr>
        <p:spPr>
          <a:xfrm>
            <a:off x="4251959" y="4045305"/>
            <a:ext cx="3429000" cy="371246"/>
          </a:xfrm>
          <a:prstGeom prst="rect">
            <a:avLst/>
          </a:prstGeom>
          <a:noFill/>
        </p:spPr>
        <p:txBody>
          <a:bodyPr wrap="square" anchor="ctr">
            <a:spAutoFit/>
          </a:bodyPr>
          <a:lstStyle/>
          <a:p>
            <a:pPr algn="ctr"/>
            <a:r>
              <a:rPr sz="1050" b="0" i="0">
                <a:solidFill>
                  <a:srgbClr val="334155"/>
                </a:solidFill>
                <a:latin typeface="Calibri"/>
              </a:rPr>
              <a:t>Producción nacional de leche por año</a:t>
            </a:r>
          </a:p>
        </p:txBody>
      </p:sp>
      <p:sp>
        <p:nvSpPr>
          <p:cNvPr id="44" name="TextBox 43"/>
          <p:cNvSpPr txBox="1"/>
          <p:nvPr/>
        </p:nvSpPr>
        <p:spPr>
          <a:xfrm>
            <a:off x="4251959" y="4363516"/>
            <a:ext cx="3429000" cy="265176"/>
          </a:xfrm>
          <a:prstGeom prst="rect">
            <a:avLst/>
          </a:prstGeom>
          <a:noFill/>
        </p:spPr>
        <p:txBody>
          <a:bodyPr wrap="square" anchor="ctr">
            <a:spAutoFit/>
          </a:bodyPr>
          <a:lstStyle/>
          <a:p>
            <a:pPr algn="ctr"/>
            <a:r>
              <a:rPr sz="850" b="0" i="1">
                <a:solidFill>
                  <a:srgbClr val="64748B"/>
                </a:solidFill>
                <a:latin typeface="Calibri"/>
              </a:rPr>
              <a:t>SAG, 2026</a:t>
            </a:r>
          </a:p>
        </p:txBody>
      </p:sp>
      <p:sp>
        <p:nvSpPr>
          <p:cNvPr id="45" name="Rectangle 44"/>
          <p:cNvSpPr/>
          <p:nvPr/>
        </p:nvSpPr>
        <p:spPr>
          <a:xfrm>
            <a:off x="800100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092440" y="3429000"/>
            <a:ext cx="3429000" cy="662940"/>
          </a:xfrm>
          <a:prstGeom prst="rect">
            <a:avLst/>
          </a:prstGeom>
          <a:noFill/>
        </p:spPr>
        <p:txBody>
          <a:bodyPr wrap="square" anchor="ctr">
            <a:spAutoFit/>
          </a:bodyPr>
          <a:lstStyle/>
          <a:p>
            <a:pPr algn="ctr"/>
            <a:r>
              <a:rPr sz="2600" b="1" i="0">
                <a:solidFill>
                  <a:srgbClr val="1A7A8A"/>
                </a:solidFill>
                <a:latin typeface="Calibri"/>
              </a:rPr>
              <a:t>+2,000</a:t>
            </a:r>
          </a:p>
        </p:txBody>
      </p:sp>
      <p:sp>
        <p:nvSpPr>
          <p:cNvPr id="47" name="TextBox 46"/>
          <p:cNvSpPr txBox="1"/>
          <p:nvPr/>
        </p:nvSpPr>
        <p:spPr>
          <a:xfrm>
            <a:off x="8092440" y="4045305"/>
            <a:ext cx="3429000" cy="371246"/>
          </a:xfrm>
          <a:prstGeom prst="rect">
            <a:avLst/>
          </a:prstGeom>
          <a:noFill/>
        </p:spPr>
        <p:txBody>
          <a:bodyPr wrap="square" anchor="ctr">
            <a:spAutoFit/>
          </a:bodyPr>
          <a:lstStyle/>
          <a:p>
            <a:pPr algn="ctr"/>
            <a:r>
              <a:rPr sz="1050" b="0" i="0">
                <a:solidFill>
                  <a:srgbClr val="334155"/>
                </a:solidFill>
                <a:latin typeface="Calibri"/>
              </a:rPr>
              <a:t>Clientes potenciales tipo A, región central</a:t>
            </a:r>
          </a:p>
        </p:txBody>
      </p:sp>
      <p:sp>
        <p:nvSpPr>
          <p:cNvPr id="48" name="TextBox 47"/>
          <p:cNvSpPr txBox="1"/>
          <p:nvPr/>
        </p:nvSpPr>
        <p:spPr>
          <a:xfrm>
            <a:off x="8092440" y="4363516"/>
            <a:ext cx="3429000" cy="265176"/>
          </a:xfrm>
          <a:prstGeom prst="rect">
            <a:avLst/>
          </a:prstGeom>
          <a:noFill/>
        </p:spPr>
        <p:txBody>
          <a:bodyPr wrap="square" anchor="ctr">
            <a:spAutoFit/>
          </a:bodyPr>
          <a:lstStyle/>
          <a:p>
            <a:pPr algn="ctr"/>
            <a:r>
              <a:rPr sz="850" b="0" i="1">
                <a:solidFill>
                  <a:srgbClr val="64748B"/>
                </a:solidFill>
                <a:latin typeface="Calibri"/>
              </a:rPr>
              <a:t>Censos comerciales del equipo</a:t>
            </a:r>
          </a:p>
        </p:txBody>
      </p:sp>
      <p:sp>
        <p:nvSpPr>
          <p:cNvPr id="49" name="TextBox 48"/>
          <p:cNvSpPr txBox="1"/>
          <p:nvPr/>
        </p:nvSpPr>
        <p:spPr>
          <a:xfrm>
            <a:off x="320040" y="4983480"/>
            <a:ext cx="11521440" cy="274320"/>
          </a:xfrm>
          <a:prstGeom prst="rect">
            <a:avLst/>
          </a:prstGeom>
          <a:noFill/>
        </p:spPr>
        <p:txBody>
          <a:bodyPr wrap="square" anchor="ctr">
            <a:spAutoFit/>
          </a:bodyPr>
          <a:lstStyle/>
          <a:p>
            <a:pPr algn="l"/>
            <a:r>
              <a:rPr sz="850" b="0" i="1">
                <a:solidFill>
                  <a:srgbClr val="64748B"/>
                </a:solidFill>
                <a:latin typeface="Calibri"/>
              </a:rPr>
              <a:t>Fuentes: INE (2025); CNP+L Honduras (2017); Holmann (2001); SAG (2026).</a:t>
            </a:r>
          </a:p>
        </p:txBody>
      </p:sp>
    </p:spTree>
    <p:extLst>
      <p:ext uri="{BB962C8B-B14F-4D97-AF65-F5344CB8AC3E}">
        <p14:creationId xmlns:p14="http://schemas.microsoft.com/office/powerpoint/2010/main" val="354344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CONTEXTO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Macroeconómicos de Honduras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88720"/>
            <a:ext cx="3566160" cy="1280160"/>
          </a:xfrm>
          <a:prstGeom prst="rect">
            <a:avLst/>
          </a:prstGeom>
          <a:solidFill>
            <a:srgbClr val="E6F4F6"/>
          </a:solidFill>
          <a:ln w="12700">
            <a:solidFill>
              <a:srgbClr val="CBD5E1"/>
            </a:solidFill>
            <a:prstDash val="solid"/>
          </a:ln>
        </p:spPr>
        <p:txBody>
          <a:bodyPr/>
          <a:lstStyle/>
          <a:p>
            <a:endParaRPr lang="es-CO"/>
          </a:p>
        </p:txBody>
      </p:sp>
      <p:sp>
        <p:nvSpPr>
          <p:cNvPr id="6" name="Text 4"/>
          <p:cNvSpPr txBox="1"/>
          <p:nvPr/>
        </p:nvSpPr>
        <p:spPr>
          <a:xfrm>
            <a:off x="41148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3.4 %</a:t>
            </a:r>
            <a:endParaRPr lang="en-US" sz="2800" dirty="0"/>
          </a:p>
        </p:txBody>
      </p:sp>
      <p:sp>
        <p:nvSpPr>
          <p:cNvPr id="7" name="Text 5"/>
          <p:cNvSpPr txBox="1"/>
          <p:nvPr/>
        </p:nvSpPr>
        <p:spPr>
          <a:xfrm>
            <a:off x="41148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Crecimiento PIB 2026, proyección (Banco Mundial, 2026)</a:t>
            </a:r>
            <a:endParaRPr lang="en-US" sz="1100" dirty="0"/>
          </a:p>
        </p:txBody>
      </p:sp>
      <p:sp>
        <p:nvSpPr>
          <p:cNvPr id="8" name="Shape 6"/>
          <p:cNvSpPr/>
          <p:nvPr/>
        </p:nvSpPr>
        <p:spPr>
          <a:xfrm>
            <a:off x="416052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4251960" y="1325880"/>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4.9 %</a:t>
            </a:r>
            <a:endParaRPr lang="en-US" sz="2800" dirty="0"/>
          </a:p>
        </p:txBody>
      </p:sp>
      <p:sp>
        <p:nvSpPr>
          <p:cNvPr id="10" name="Text 8"/>
          <p:cNvSpPr txBox="1"/>
          <p:nvPr/>
        </p:nvSpPr>
        <p:spPr>
          <a:xfrm>
            <a:off x="425196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Desempleo abierto 2025 (INE, 2025)</a:t>
            </a:r>
            <a:endParaRPr lang="en-US" sz="1100" dirty="0"/>
          </a:p>
        </p:txBody>
      </p:sp>
      <p:sp>
        <p:nvSpPr>
          <p:cNvPr id="11" name="Shape 9"/>
          <p:cNvSpPr/>
          <p:nvPr/>
        </p:nvSpPr>
        <p:spPr>
          <a:xfrm>
            <a:off x="800100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809244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4.98 %</a:t>
            </a:r>
            <a:endParaRPr lang="en-US" sz="2800" dirty="0"/>
          </a:p>
        </p:txBody>
      </p:sp>
      <p:sp>
        <p:nvSpPr>
          <p:cNvPr id="13" name="Text 11"/>
          <p:cNvSpPr txBox="1"/>
          <p:nvPr/>
        </p:nvSpPr>
        <p:spPr>
          <a:xfrm>
            <a:off x="809244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Inflación interanual 2025 (BCH, 2026)</a:t>
            </a:r>
            <a:endParaRPr lang="en-US" sz="1100" dirty="0"/>
          </a:p>
        </p:txBody>
      </p:sp>
      <p:sp>
        <p:nvSpPr>
          <p:cNvPr id="14" name="Shape 12"/>
          <p:cNvSpPr/>
          <p:nvPr/>
        </p:nvSpPr>
        <p:spPr>
          <a:xfrm>
            <a:off x="32004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41148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74.8 %</a:t>
            </a:r>
            <a:endParaRPr lang="en-US" sz="2800" dirty="0"/>
          </a:p>
        </p:txBody>
      </p:sp>
      <p:sp>
        <p:nvSpPr>
          <p:cNvPr id="16" name="Text 14"/>
          <p:cNvSpPr txBox="1"/>
          <p:nvPr/>
        </p:nvSpPr>
        <p:spPr>
          <a:xfrm>
            <a:off x="41148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Informalidad laboral 2024 (INE, 2025)</a:t>
            </a:r>
            <a:endParaRPr lang="en-US" sz="1100" dirty="0"/>
          </a:p>
        </p:txBody>
      </p:sp>
      <p:sp>
        <p:nvSpPr>
          <p:cNvPr id="17" name="Shape 15"/>
          <p:cNvSpPr/>
          <p:nvPr/>
        </p:nvSpPr>
        <p:spPr>
          <a:xfrm>
            <a:off x="4160520" y="2633472"/>
            <a:ext cx="3566160" cy="1280160"/>
          </a:xfrm>
          <a:prstGeom prst="rect">
            <a:avLst/>
          </a:prstGeom>
          <a:solidFill>
            <a:srgbClr val="E6F4F6"/>
          </a:solidFill>
          <a:ln w="12700">
            <a:solidFill>
              <a:srgbClr val="CBD5E1"/>
            </a:solidFill>
            <a:prstDash val="solid"/>
          </a:ln>
        </p:spPr>
        <p:txBody>
          <a:bodyPr/>
          <a:lstStyle/>
          <a:p>
            <a:endParaRPr lang="es-CO"/>
          </a:p>
        </p:txBody>
      </p:sp>
      <p:sp>
        <p:nvSpPr>
          <p:cNvPr id="18" name="Text 16"/>
          <p:cNvSpPr txBox="1"/>
          <p:nvPr/>
        </p:nvSpPr>
        <p:spPr>
          <a:xfrm>
            <a:off x="4251960" y="2770632"/>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US$12,212 M</a:t>
            </a:r>
            <a:endParaRPr lang="en-US" sz="2800" dirty="0"/>
          </a:p>
        </p:txBody>
      </p:sp>
      <p:sp>
        <p:nvSpPr>
          <p:cNvPr id="19" name="Text 17"/>
          <p:cNvSpPr txBox="1"/>
          <p:nvPr/>
        </p:nvSpPr>
        <p:spPr>
          <a:xfrm>
            <a:off x="425196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Remesas 2025, ≈29 % del PIB (BCH en La Tribuna, 2026; UNAH, 2026)</a:t>
            </a:r>
            <a:endParaRPr lang="en-US" sz="1100" dirty="0"/>
          </a:p>
        </p:txBody>
      </p:sp>
      <p:sp>
        <p:nvSpPr>
          <p:cNvPr id="20" name="Shape 18"/>
          <p:cNvSpPr/>
          <p:nvPr/>
        </p:nvSpPr>
        <p:spPr>
          <a:xfrm>
            <a:off x="800100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09244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26.5 %</a:t>
            </a:r>
            <a:endParaRPr lang="en-US" sz="2800" dirty="0"/>
          </a:p>
        </p:txBody>
      </p:sp>
      <p:sp>
        <p:nvSpPr>
          <p:cNvPr id="22" name="Text 20"/>
          <p:cNvSpPr txBox="1"/>
          <p:nvPr/>
        </p:nvSpPr>
        <p:spPr>
          <a:xfrm>
            <a:off x="809244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Gasto del hogar en alimentos (BCH, ENIGH 2023-2024)</a:t>
            </a:r>
            <a:endParaRPr lang="en-US" sz="1100" dirty="0"/>
          </a:p>
        </p:txBody>
      </p:sp>
      <p:sp>
        <p:nvSpPr>
          <p:cNvPr id="23" name="Shape 21"/>
          <p:cNvSpPr/>
          <p:nvPr/>
        </p:nvSpPr>
        <p:spPr>
          <a:xfrm>
            <a:off x="320040" y="4114800"/>
            <a:ext cx="11430000" cy="82296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502920" y="4187952"/>
            <a:ext cx="11064240" cy="676656"/>
          </a:xfrm>
          <a:prstGeom prst="rect">
            <a:avLst/>
          </a:prstGeom>
          <a:noFill/>
          <a:ln/>
        </p:spPr>
        <p:txBody>
          <a:bodyPr wrap="square" rtlCol="0" anchor="ctr"/>
          <a:lstStyle/>
          <a:p>
            <a:pPr marL="0" indent="0">
              <a:buNone/>
            </a:pPr>
            <a:r>
              <a:rPr lang="en-US" sz="1200" dirty="0">
                <a:solidFill>
                  <a:srgbClr val="1B3A5C"/>
                </a:solidFill>
                <a:latin typeface="Calibri" pitchFamily="34" charset="0"/>
                <a:ea typeface="Calibri" pitchFamily="34" charset="-122"/>
                <a:cs typeface="Calibri" pitchFamily="34" charset="-120"/>
              </a:rPr>
              <a:t>Contexto: PIB y remesas sostienen un segmento urbano con capacidad de pago; por la informalidad (74.8 %), el nicho es HoReCa y consumidor formal. El modelo usa inflación de 4.5 % (meta BCH: 4 % ± 1).</a:t>
            </a:r>
            <a:endParaRPr lang="en-US" sz="1200" dirty="0"/>
          </a:p>
        </p:txBody>
      </p:sp>
      <p:sp>
        <p:nvSpPr>
          <p:cNvPr id="25" name="Text 2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6" name="TextBox 25"/>
          <p:cNvSpPr txBox="1"/>
          <p:nvPr/>
        </p:nvSpPr>
        <p:spPr>
          <a:xfrm>
            <a:off x="320040" y="5074920"/>
            <a:ext cx="11521440" cy="274320"/>
          </a:xfrm>
          <a:prstGeom prst="rect">
            <a:avLst/>
          </a:prstGeom>
          <a:noFill/>
        </p:spPr>
        <p:txBody>
          <a:bodyPr wrap="square" anchor="ctr">
            <a:spAutoFit/>
          </a:bodyPr>
          <a:lstStyle/>
          <a:p>
            <a:pPr algn="l"/>
            <a:r>
              <a:rPr sz="850" b="0" i="1">
                <a:solidFill>
                  <a:srgbClr val="64748B"/>
                </a:solidFill>
                <a:latin typeface="Calibri"/>
              </a:rPr>
              <a:t>Fuentes: Banco Mundial (2026); INE (2025); BCH (2024, 2026); La Tribuna (2026); UNAH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OBJETIVOS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Objetivos del Estudio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097280"/>
            <a:ext cx="11430000" cy="777240"/>
          </a:xfrm>
          <a:prstGeom prst="rect">
            <a:avLst/>
          </a:prstGeom>
          <a:solidFill>
            <a:srgbClr val="1B3A5C"/>
          </a:solidFill>
          <a:ln w="12700">
            <a:solidFill>
              <a:srgbClr val="1B3A5C"/>
            </a:solidFill>
            <a:prstDash val="solid"/>
          </a:ln>
        </p:spPr>
        <p:txBody>
          <a:bodyPr/>
          <a:lstStyle/>
          <a:p>
            <a:endParaRPr lang="es-CO"/>
          </a:p>
        </p:txBody>
      </p:sp>
      <p:sp>
        <p:nvSpPr>
          <p:cNvPr id="6" name="Text 4"/>
          <p:cNvSpPr txBox="1"/>
          <p:nvPr/>
        </p:nvSpPr>
        <p:spPr>
          <a:xfrm>
            <a:off x="502920" y="1152144"/>
            <a:ext cx="2743200" cy="256032"/>
          </a:xfrm>
          <a:prstGeom prst="rect">
            <a:avLst/>
          </a:prstGeom>
          <a:noFill/>
          <a:ln/>
        </p:spPr>
        <p:txBody>
          <a:bodyPr wrap="square" rtlCol="0" anchor="ctr"/>
          <a:lstStyle/>
          <a:p>
            <a:pPr marL="0" indent="0">
              <a:buNone/>
            </a:pPr>
            <a:r>
              <a:rPr lang="en-US" sz="900" b="1" kern="0" spc="100" dirty="0">
                <a:solidFill>
                  <a:srgbClr val="1A7A8A"/>
                </a:solidFill>
                <a:latin typeface="Calibri" pitchFamily="34" charset="0"/>
                <a:ea typeface="Calibri" pitchFamily="34" charset="-122"/>
                <a:cs typeface="Calibri" pitchFamily="34" charset="-120"/>
              </a:rPr>
              <a:t>OBJETIVO GENERAL</a:t>
            </a:r>
            <a:endParaRPr lang="en-US" sz="900" dirty="0"/>
          </a:p>
        </p:txBody>
      </p:sp>
      <p:sp>
        <p:nvSpPr>
          <p:cNvPr id="7" name="Text 5"/>
          <p:cNvSpPr txBox="1"/>
          <p:nvPr/>
        </p:nvSpPr>
        <p:spPr>
          <a:xfrm>
            <a:off x="502920" y="1389888"/>
            <a:ext cx="11064240" cy="402336"/>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Evaluar la prefactibilidad de crear una nueva marca de leche fresca o fluida en Honduras, para capturar un mercado nicho actualmente no atendido por ninguna empresa en el país.</a:t>
            </a:r>
            <a:endParaRPr lang="en-US" sz="1200" dirty="0"/>
          </a:p>
        </p:txBody>
      </p:sp>
      <p:sp>
        <p:nvSpPr>
          <p:cNvPr id="8" name="Shape 6"/>
          <p:cNvSpPr/>
          <p:nvPr/>
        </p:nvSpPr>
        <p:spPr>
          <a:xfrm>
            <a:off x="3200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Shape 8"/>
          <p:cNvSpPr/>
          <p:nvPr/>
        </p:nvSpPr>
        <p:spPr>
          <a:xfrm>
            <a:off x="7315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11" name="Text 9"/>
          <p:cNvSpPr txBox="1"/>
          <p:nvPr/>
        </p:nvSpPr>
        <p:spPr>
          <a:xfrm>
            <a:off x="8229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Sectorial</a:t>
            </a:r>
            <a:endParaRPr lang="en-US" sz="1200" dirty="0"/>
          </a:p>
        </p:txBody>
      </p:sp>
      <p:sp>
        <p:nvSpPr>
          <p:cNvPr id="12" name="Text 10"/>
          <p:cNvSpPr txBox="1"/>
          <p:nvPr/>
        </p:nvSpPr>
        <p:spPr>
          <a:xfrm>
            <a:off x="8229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PESTEL + 5 Fuerzas de Porter: condiciones macro y micro del sector lácteo.</a:t>
            </a:r>
            <a:endParaRPr lang="en-US" sz="1100" dirty="0"/>
          </a:p>
        </p:txBody>
      </p:sp>
      <p:sp>
        <p:nvSpPr>
          <p:cNvPr id="13" name="Shape 11"/>
          <p:cNvSpPr/>
          <p:nvPr/>
        </p:nvSpPr>
        <p:spPr>
          <a:xfrm>
            <a:off x="3200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3200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7315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8229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Administrativo</a:t>
            </a:r>
            <a:endParaRPr lang="en-US" sz="1200" dirty="0"/>
          </a:p>
        </p:txBody>
      </p:sp>
      <p:sp>
        <p:nvSpPr>
          <p:cNvPr id="17" name="Text 15"/>
          <p:cNvSpPr txBox="1"/>
          <p:nvPr/>
        </p:nvSpPr>
        <p:spPr>
          <a:xfrm>
            <a:off x="8229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Estructura organizacional y procesos de gestión eficientes y escalables.</a:t>
            </a:r>
            <a:endParaRPr lang="en-US" sz="1100" dirty="0"/>
          </a:p>
        </p:txBody>
      </p:sp>
      <p:sp>
        <p:nvSpPr>
          <p:cNvPr id="18" name="Shape 16"/>
          <p:cNvSpPr/>
          <p:nvPr/>
        </p:nvSpPr>
        <p:spPr>
          <a:xfrm>
            <a:off x="3200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3200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Shape 18"/>
          <p:cNvSpPr/>
          <p:nvPr/>
        </p:nvSpPr>
        <p:spPr>
          <a:xfrm>
            <a:off x="7315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229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de Mercado</a:t>
            </a:r>
            <a:endParaRPr lang="en-US" sz="1200" dirty="0"/>
          </a:p>
        </p:txBody>
      </p:sp>
      <p:sp>
        <p:nvSpPr>
          <p:cNvPr id="22" name="Text 20"/>
          <p:cNvSpPr txBox="1"/>
          <p:nvPr/>
        </p:nvSpPr>
        <p:spPr>
          <a:xfrm>
            <a:off x="8229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Demanda potencial, oferta existente y comportamiento de consumidores (63 encuestas).</a:t>
            </a:r>
            <a:endParaRPr lang="en-US" sz="1100" dirty="0"/>
          </a:p>
        </p:txBody>
      </p:sp>
      <p:sp>
        <p:nvSpPr>
          <p:cNvPr id="23" name="Shape 21"/>
          <p:cNvSpPr/>
          <p:nvPr/>
        </p:nvSpPr>
        <p:spPr>
          <a:xfrm>
            <a:off x="3200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3200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Shape 23"/>
          <p:cNvSpPr/>
          <p:nvPr/>
        </p:nvSpPr>
        <p:spPr>
          <a:xfrm>
            <a:off x="7315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8229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Ambiental</a:t>
            </a:r>
            <a:endParaRPr lang="en-US" sz="1200" dirty="0"/>
          </a:p>
        </p:txBody>
      </p:sp>
      <p:sp>
        <p:nvSpPr>
          <p:cNvPr id="27" name="Text 25"/>
          <p:cNvSpPr txBox="1"/>
          <p:nvPr/>
        </p:nvSpPr>
        <p:spPr>
          <a:xfrm>
            <a:off x="8229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Impactos ambientales y medidas de mitigación (MIAMBIENTE, SENASA).</a:t>
            </a:r>
            <a:endParaRPr lang="en-US" sz="1100" dirty="0"/>
          </a:p>
        </p:txBody>
      </p:sp>
      <p:sp>
        <p:nvSpPr>
          <p:cNvPr id="28" name="Shape 26"/>
          <p:cNvSpPr/>
          <p:nvPr/>
        </p:nvSpPr>
        <p:spPr>
          <a:xfrm>
            <a:off x="62636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29" name="Text 27"/>
          <p:cNvSpPr txBox="1"/>
          <p:nvPr/>
        </p:nvSpPr>
        <p:spPr>
          <a:xfrm>
            <a:off x="62636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Shape 28"/>
          <p:cNvSpPr/>
          <p:nvPr/>
        </p:nvSpPr>
        <p:spPr>
          <a:xfrm>
            <a:off x="66751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67665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Técnico</a:t>
            </a:r>
            <a:endParaRPr lang="en-US" sz="1200" dirty="0"/>
          </a:p>
        </p:txBody>
      </p:sp>
      <p:sp>
        <p:nvSpPr>
          <p:cNvPr id="32" name="Text 30"/>
          <p:cNvSpPr txBox="1"/>
          <p:nvPr/>
        </p:nvSpPr>
        <p:spPr>
          <a:xfrm>
            <a:off x="67665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Infraestructura, procesos productivos y capacidad instalada.</a:t>
            </a:r>
            <a:endParaRPr lang="en-US" sz="1100" dirty="0"/>
          </a:p>
        </p:txBody>
      </p:sp>
      <p:sp>
        <p:nvSpPr>
          <p:cNvPr id="33" name="Shape 31"/>
          <p:cNvSpPr/>
          <p:nvPr/>
        </p:nvSpPr>
        <p:spPr>
          <a:xfrm>
            <a:off x="62636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62636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Shape 33"/>
          <p:cNvSpPr/>
          <p:nvPr/>
        </p:nvSpPr>
        <p:spPr>
          <a:xfrm>
            <a:off x="66751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67665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Financiero</a:t>
            </a:r>
            <a:endParaRPr lang="en-US" sz="1200" dirty="0"/>
          </a:p>
        </p:txBody>
      </p:sp>
      <p:sp>
        <p:nvSpPr>
          <p:cNvPr id="37" name="Text 35"/>
          <p:cNvSpPr txBox="1"/>
          <p:nvPr/>
        </p:nvSpPr>
        <p:spPr>
          <a:xfrm>
            <a:off x="67665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Proyectar inversiones, costos e ingresos; calcular VAN, TIR, B/C.</a:t>
            </a:r>
            <a:endParaRPr lang="en-US" sz="1100" dirty="0"/>
          </a:p>
        </p:txBody>
      </p:sp>
      <p:sp>
        <p:nvSpPr>
          <p:cNvPr id="38" name="Shape 36"/>
          <p:cNvSpPr/>
          <p:nvPr/>
        </p:nvSpPr>
        <p:spPr>
          <a:xfrm>
            <a:off x="62636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39" name="Text 37"/>
          <p:cNvSpPr txBox="1"/>
          <p:nvPr/>
        </p:nvSpPr>
        <p:spPr>
          <a:xfrm>
            <a:off x="62636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Shape 38"/>
          <p:cNvSpPr/>
          <p:nvPr/>
        </p:nvSpPr>
        <p:spPr>
          <a:xfrm>
            <a:off x="66751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7665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Legal</a:t>
            </a:r>
            <a:endParaRPr lang="en-US" sz="1200" dirty="0"/>
          </a:p>
        </p:txBody>
      </p:sp>
      <p:sp>
        <p:nvSpPr>
          <p:cNvPr id="42" name="Text 40"/>
          <p:cNvSpPr txBox="1"/>
          <p:nvPr/>
        </p:nvSpPr>
        <p:spPr>
          <a:xfrm>
            <a:off x="67665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Normativas, permisos y obligaciones jurídicas (SENASA, ARSA, SAG).</a:t>
            </a:r>
            <a:endParaRPr lang="en-US" sz="1100" dirty="0"/>
          </a:p>
        </p:txBody>
      </p:sp>
      <p:sp>
        <p:nvSpPr>
          <p:cNvPr id="43" name="Shape 41"/>
          <p:cNvSpPr/>
          <p:nvPr/>
        </p:nvSpPr>
        <p:spPr>
          <a:xfrm>
            <a:off x="62636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44" name="Text 42"/>
          <p:cNvSpPr txBox="1"/>
          <p:nvPr/>
        </p:nvSpPr>
        <p:spPr>
          <a:xfrm>
            <a:off x="62636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Shape 43"/>
          <p:cNvSpPr/>
          <p:nvPr/>
        </p:nvSpPr>
        <p:spPr>
          <a:xfrm>
            <a:off x="66751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46" name="Text 44"/>
          <p:cNvSpPr txBox="1"/>
          <p:nvPr/>
        </p:nvSpPr>
        <p:spPr>
          <a:xfrm>
            <a:off x="67665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Análisis de Riesgos</a:t>
            </a:r>
            <a:endParaRPr lang="en-US" sz="1200" dirty="0"/>
          </a:p>
        </p:txBody>
      </p:sp>
      <p:sp>
        <p:nvSpPr>
          <p:cNvPr id="47" name="Text 45"/>
          <p:cNvSpPr txBox="1"/>
          <p:nvPr/>
        </p:nvSpPr>
        <p:spPr>
          <a:xfrm>
            <a:off x="67665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Simulaciones Monte Carlo con @RISK para cuantificar incertidumbre.</a:t>
            </a:r>
            <a:endParaRPr lang="en-US" sz="1100" dirty="0"/>
          </a:p>
        </p:txBody>
      </p:sp>
      <p:sp>
        <p:nvSpPr>
          <p:cNvPr id="48" name="Text 46"/>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JUSTIFICACIÓN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¿Por qué "Pura"?</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Canal HoReCa sin abastecer</a:t>
            </a:r>
            <a:endParaRPr lang="en-US" sz="1350" dirty="0"/>
          </a:p>
        </p:txBody>
      </p:sp>
      <p:sp>
        <p:nvSpPr>
          <p:cNvPr id="8" name="Text 6"/>
          <p:cNvSpPr txBox="1"/>
          <p:nvPr/>
        </p:nvSpPr>
        <p:spPr>
          <a:xfrm>
            <a:off x="48463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Cafeterías y restaurantes necesitan leche fresca para la espuma; la UHT no la logra. Nadie la ofrece en Honduras.</a:t>
            </a:r>
            <a:endParaRPr lang="en-US" sz="1150" dirty="0"/>
          </a:p>
        </p:txBody>
      </p:sp>
      <p:sp>
        <p:nvSpPr>
          <p:cNvPr id="9" name="Shape 7"/>
          <p:cNvSpPr/>
          <p:nvPr/>
        </p:nvSpPr>
        <p:spPr>
          <a:xfrm>
            <a:off x="608076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10" name="Shape 8"/>
          <p:cNvSpPr/>
          <p:nvPr/>
        </p:nvSpPr>
        <p:spPr>
          <a:xfrm>
            <a:off x="608076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624535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Mercado de detalle amplio</a:t>
            </a:r>
            <a:endParaRPr lang="en-US" sz="1350" dirty="0"/>
          </a:p>
        </p:txBody>
      </p:sp>
      <p:sp>
        <p:nvSpPr>
          <p:cNvPr id="12" name="Text 10"/>
          <p:cNvSpPr txBox="1"/>
          <p:nvPr/>
        </p:nvSpPr>
        <p:spPr>
          <a:xfrm>
            <a:off x="624535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+2,000 clientes tipo "A" de la región central hoy la sustituyen con UHT por falta de oferta.</a:t>
            </a:r>
            <a:endParaRPr lang="en-US" sz="1150" dirty="0"/>
          </a:p>
        </p:txBody>
      </p:sp>
      <p:sp>
        <p:nvSpPr>
          <p:cNvPr id="13" name="Shape 11"/>
          <p:cNvSpPr/>
          <p:nvPr/>
        </p:nvSpPr>
        <p:spPr>
          <a:xfrm>
            <a:off x="32004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4" name="Shape 12"/>
          <p:cNvSpPr/>
          <p:nvPr/>
        </p:nvSpPr>
        <p:spPr>
          <a:xfrm>
            <a:off x="32004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Propuesta de valor diferenciada</a:t>
            </a:r>
            <a:endParaRPr lang="en-US" sz="1350" dirty="0"/>
          </a:p>
        </p:txBody>
      </p:sp>
      <p:sp>
        <p:nvSpPr>
          <p:cNvPr id="16" name="Text 14"/>
          <p:cNvSpPr txBox="1"/>
          <p:nvPr/>
        </p:nvSpPr>
        <p:spPr>
          <a:xfrm>
            <a:off x="48463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HTST (72 °C) conserva nutrientes y sabor; la UHT (&gt;135 °C) altera las propiedades organolépticas.</a:t>
            </a:r>
            <a:endParaRPr lang="en-US" sz="1150" dirty="0"/>
          </a:p>
        </p:txBody>
      </p:sp>
      <p:sp>
        <p:nvSpPr>
          <p:cNvPr id="17" name="Shape 15"/>
          <p:cNvSpPr/>
          <p:nvPr/>
        </p:nvSpPr>
        <p:spPr>
          <a:xfrm>
            <a:off x="608076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8" name="Shape 16"/>
          <p:cNvSpPr/>
          <p:nvPr/>
        </p:nvSpPr>
        <p:spPr>
          <a:xfrm>
            <a:off x="608076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624535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Respaldo del estudio de mercado</a:t>
            </a:r>
            <a:endParaRPr lang="en-US" sz="1350" dirty="0"/>
          </a:p>
        </p:txBody>
      </p:sp>
      <p:sp>
        <p:nvSpPr>
          <p:cNvPr id="20" name="Text 18"/>
          <p:cNvSpPr txBox="1"/>
          <p:nvPr/>
        </p:nvSpPr>
        <p:spPr>
          <a:xfrm>
            <a:off x="624535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el producto y 48 % pagaría L 26–30 por litro (precio base L 28).</a:t>
            </a:r>
            <a:endParaRPr lang="en-US" sz="1150" dirty="0"/>
          </a:p>
        </p:txBody>
      </p:sp>
      <p:sp>
        <p:nvSpPr>
          <p:cNvPr id="21" name="Text 1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METODOLOGÍA</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Metodología ONUDI · Componentes del Estudio</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1148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1  Sectorial</a:t>
            </a:r>
            <a:endParaRPr lang="en-US" sz="1300" dirty="0"/>
          </a:p>
        </p:txBody>
      </p:sp>
      <p:sp>
        <p:nvSpPr>
          <p:cNvPr id="7" name="Shape 5"/>
          <p:cNvSpPr/>
          <p:nvPr/>
        </p:nvSpPr>
        <p:spPr>
          <a:xfrm>
            <a:off x="32004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8" name="Text 6"/>
          <p:cNvSpPr txBox="1"/>
          <p:nvPr/>
        </p:nvSpPr>
        <p:spPr>
          <a:xfrm>
            <a:off x="41148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PESTEL + Porter. Análisis cuantitativo y cualitativo del entorno macro y competitivo.</a:t>
            </a:r>
            <a:endParaRPr lang="en-US" sz="1150" dirty="0"/>
          </a:p>
        </p:txBody>
      </p:sp>
      <p:sp>
        <p:nvSpPr>
          <p:cNvPr id="9" name="Shape 7"/>
          <p:cNvSpPr/>
          <p:nvPr/>
        </p:nvSpPr>
        <p:spPr>
          <a:xfrm>
            <a:off x="333375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0" name="Text 8"/>
          <p:cNvSpPr txBox="1"/>
          <p:nvPr/>
        </p:nvSpPr>
        <p:spPr>
          <a:xfrm>
            <a:off x="342519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2  Mercado</a:t>
            </a:r>
            <a:endParaRPr lang="en-US" sz="1300" dirty="0"/>
          </a:p>
        </p:txBody>
      </p:sp>
      <p:sp>
        <p:nvSpPr>
          <p:cNvPr id="11" name="Shape 9"/>
          <p:cNvSpPr/>
          <p:nvPr/>
        </p:nvSpPr>
        <p:spPr>
          <a:xfrm>
            <a:off x="333375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342519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Encuestas a 63 establecimientos. Evalúa demanda, competencia y define estrategia "Pura".</a:t>
            </a:r>
            <a:endParaRPr lang="en-US" sz="1150" dirty="0"/>
          </a:p>
        </p:txBody>
      </p:sp>
      <p:sp>
        <p:nvSpPr>
          <p:cNvPr id="13" name="Shape 11"/>
          <p:cNvSpPr/>
          <p:nvPr/>
        </p:nvSpPr>
        <p:spPr>
          <a:xfrm>
            <a:off x="634746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643890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3  Técnico</a:t>
            </a:r>
            <a:endParaRPr lang="en-US" sz="1300" dirty="0"/>
          </a:p>
        </p:txBody>
      </p:sp>
      <p:sp>
        <p:nvSpPr>
          <p:cNvPr id="15" name="Shape 13"/>
          <p:cNvSpPr/>
          <p:nvPr/>
        </p:nvSpPr>
        <p:spPr>
          <a:xfrm>
            <a:off x="634746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643890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Localización (Comayagua), proceso HTST, capacidad 1,000–5,000 L/día y equipos.</a:t>
            </a:r>
            <a:endParaRPr lang="en-US" sz="1150" dirty="0"/>
          </a:p>
        </p:txBody>
      </p:sp>
      <p:sp>
        <p:nvSpPr>
          <p:cNvPr id="17" name="Shape 15"/>
          <p:cNvSpPr/>
          <p:nvPr/>
        </p:nvSpPr>
        <p:spPr>
          <a:xfrm>
            <a:off x="936117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945261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4  Legal</a:t>
            </a:r>
            <a:endParaRPr lang="en-US" sz="1300" dirty="0"/>
          </a:p>
        </p:txBody>
      </p:sp>
      <p:sp>
        <p:nvSpPr>
          <p:cNvPr id="19" name="Shape 17"/>
          <p:cNvSpPr/>
          <p:nvPr/>
        </p:nvSpPr>
        <p:spPr>
          <a:xfrm>
            <a:off x="936117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945261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Regulatorio: ARSA (licencia sanitaria), SENASA (inocuidad), SAG (producción), MIAMBIENTE.</a:t>
            </a:r>
            <a:endParaRPr lang="en-US" sz="1150" dirty="0"/>
          </a:p>
        </p:txBody>
      </p:sp>
      <p:sp>
        <p:nvSpPr>
          <p:cNvPr id="21" name="Shape 19"/>
          <p:cNvSpPr/>
          <p:nvPr/>
        </p:nvSpPr>
        <p:spPr>
          <a:xfrm>
            <a:off x="32004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5  Administrativo</a:t>
            </a:r>
            <a:endParaRPr lang="en-US" sz="1300" dirty="0"/>
          </a:p>
        </p:txBody>
      </p:sp>
      <p:sp>
        <p:nvSpPr>
          <p:cNvPr id="23" name="Shape 21"/>
          <p:cNvSpPr/>
          <p:nvPr/>
        </p:nvSpPr>
        <p:spPr>
          <a:xfrm>
            <a:off x="32004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4" name="Text 22"/>
          <p:cNvSpPr txBox="1"/>
          <p:nvPr/>
        </p:nvSpPr>
        <p:spPr>
          <a:xfrm>
            <a:off x="41148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Estructura funcional escalable. Organigrama, roles, salarios y gestión del talento.</a:t>
            </a:r>
            <a:endParaRPr lang="en-US" sz="1150" dirty="0"/>
          </a:p>
        </p:txBody>
      </p:sp>
      <p:sp>
        <p:nvSpPr>
          <p:cNvPr id="25" name="Shape 23"/>
          <p:cNvSpPr/>
          <p:nvPr/>
        </p:nvSpPr>
        <p:spPr>
          <a:xfrm>
            <a:off x="333375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342519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6  Ambiental</a:t>
            </a:r>
            <a:endParaRPr lang="en-US" sz="1300" dirty="0"/>
          </a:p>
        </p:txBody>
      </p:sp>
      <p:sp>
        <p:nvSpPr>
          <p:cNvPr id="27" name="Shape 25"/>
          <p:cNvSpPr/>
          <p:nvPr/>
        </p:nvSpPr>
        <p:spPr>
          <a:xfrm>
            <a:off x="333375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8" name="Text 26"/>
          <p:cNvSpPr txBox="1"/>
          <p:nvPr/>
        </p:nvSpPr>
        <p:spPr>
          <a:xfrm>
            <a:off x="342519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Ley General del Ambiente, SERNA/MIAMBIENTE, SENASA. Gestión de efluentes y residuos.</a:t>
            </a:r>
            <a:endParaRPr lang="en-US" sz="1150" dirty="0"/>
          </a:p>
        </p:txBody>
      </p:sp>
      <p:sp>
        <p:nvSpPr>
          <p:cNvPr id="29" name="Shape 27"/>
          <p:cNvSpPr/>
          <p:nvPr/>
        </p:nvSpPr>
        <p:spPr>
          <a:xfrm>
            <a:off x="634746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43890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7  Financiero</a:t>
            </a:r>
            <a:endParaRPr lang="en-US" sz="1300" dirty="0"/>
          </a:p>
        </p:txBody>
      </p:sp>
      <p:sp>
        <p:nvSpPr>
          <p:cNvPr id="31" name="Shape 29"/>
          <p:cNvSpPr/>
          <p:nvPr/>
        </p:nvSpPr>
        <p:spPr>
          <a:xfrm>
            <a:off x="634746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643890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Proyección 10 años: inversión L 1,784,058, flujos de caja, VAN, TIR, B/C.</a:t>
            </a:r>
            <a:endParaRPr lang="en-US" sz="1150" dirty="0"/>
          </a:p>
        </p:txBody>
      </p:sp>
      <p:sp>
        <p:nvSpPr>
          <p:cNvPr id="33" name="Shape 31"/>
          <p:cNvSpPr/>
          <p:nvPr/>
        </p:nvSpPr>
        <p:spPr>
          <a:xfrm>
            <a:off x="936117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4" name="Text 32"/>
          <p:cNvSpPr txBox="1"/>
          <p:nvPr/>
        </p:nvSpPr>
        <p:spPr>
          <a:xfrm>
            <a:off x="945261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8  Riesgos</a:t>
            </a:r>
            <a:endParaRPr lang="en-US" sz="1300" dirty="0"/>
          </a:p>
        </p:txBody>
      </p:sp>
      <p:sp>
        <p:nvSpPr>
          <p:cNvPr id="35" name="Shape 33"/>
          <p:cNvSpPr/>
          <p:nvPr/>
        </p:nvSpPr>
        <p:spPr>
          <a:xfrm>
            <a:off x="936117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945261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Simulación Monte Carlo (@RISK) con 11 eventos bajo enfoque frecuencia-severidad.</a:t>
            </a:r>
            <a:endParaRPr lang="en-US" sz="1150" dirty="0"/>
          </a:p>
        </p:txBody>
      </p:sp>
      <p:sp>
        <p:nvSpPr>
          <p:cNvPr id="37" name="Text 35"/>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Sectorial · PESTEL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9319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39319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P</a:t>
            </a:r>
            <a:endParaRPr lang="en-US" sz="2000" dirty="0"/>
          </a:p>
        </p:txBody>
      </p:sp>
      <p:sp>
        <p:nvSpPr>
          <p:cNvPr id="8" name="Text 6"/>
          <p:cNvSpPr txBox="1"/>
          <p:nvPr/>
        </p:nvSpPr>
        <p:spPr>
          <a:xfrm>
            <a:off x="97840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POLÍTICO</a:t>
            </a:r>
            <a:endParaRPr lang="en-US" sz="1100" dirty="0"/>
          </a:p>
        </p:txBody>
      </p:sp>
      <p:sp>
        <p:nvSpPr>
          <p:cNvPr id="9" name="Text 7"/>
          <p:cNvSpPr txBox="1"/>
          <p:nvPr/>
        </p:nvSpPr>
        <p:spPr>
          <a:xfrm>
            <a:off x="42976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Regulación de SAG y SENASA; marco legal estable y política de inocuidad activa.</a:t>
            </a:r>
            <a:endParaRPr lang="en-US" sz="1150" dirty="0"/>
          </a:p>
        </p:txBody>
      </p:sp>
      <p:sp>
        <p:nvSpPr>
          <p:cNvPr id="10" name="Shape 8"/>
          <p:cNvSpPr/>
          <p:nvPr/>
        </p:nvSpPr>
        <p:spPr>
          <a:xfrm>
            <a:off x="411480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87952" y="1261872"/>
            <a:ext cx="502920" cy="502920"/>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18795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13" name="Text 11"/>
          <p:cNvSpPr txBox="1"/>
          <p:nvPr/>
        </p:nvSpPr>
        <p:spPr>
          <a:xfrm>
            <a:off x="4773168" y="1325880"/>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ECONÓMICO</a:t>
            </a:r>
            <a:endParaRPr lang="en-US" sz="1100" dirty="0"/>
          </a:p>
        </p:txBody>
      </p:sp>
      <p:sp>
        <p:nvSpPr>
          <p:cNvPr id="14" name="Text 12"/>
          <p:cNvSpPr txBox="1"/>
          <p:nvPr/>
        </p:nvSpPr>
        <p:spPr>
          <a:xfrm>
            <a:off x="422452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PIB +3.4 % (2026), inflación 4.98 % y remesas US$12,212 M: segmento urbano que paga por calidad.</a:t>
            </a:r>
            <a:endParaRPr lang="en-US" sz="1150" dirty="0"/>
          </a:p>
        </p:txBody>
      </p:sp>
      <p:sp>
        <p:nvSpPr>
          <p:cNvPr id="15" name="Shape 13"/>
          <p:cNvSpPr/>
          <p:nvPr/>
        </p:nvSpPr>
        <p:spPr>
          <a:xfrm>
            <a:off x="790956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798271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798271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a:t>
            </a:r>
            <a:endParaRPr lang="en-US" sz="2000" dirty="0"/>
          </a:p>
        </p:txBody>
      </p:sp>
      <p:sp>
        <p:nvSpPr>
          <p:cNvPr id="18" name="Text 16"/>
          <p:cNvSpPr txBox="1"/>
          <p:nvPr/>
        </p:nvSpPr>
        <p:spPr>
          <a:xfrm>
            <a:off x="856792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SOCIAL</a:t>
            </a:r>
            <a:endParaRPr lang="en-US" sz="1100" dirty="0"/>
          </a:p>
        </p:txBody>
      </p:sp>
      <p:sp>
        <p:nvSpPr>
          <p:cNvPr id="19" name="Text 17"/>
          <p:cNvSpPr txBox="1"/>
          <p:nvPr/>
        </p:nvSpPr>
        <p:spPr>
          <a:xfrm>
            <a:off x="801928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Consumo tradicional de leche cruda; tendencia urbana a productos naturales y de calidad.</a:t>
            </a:r>
            <a:endParaRPr lang="en-US" sz="1150" dirty="0"/>
          </a:p>
        </p:txBody>
      </p:sp>
      <p:sp>
        <p:nvSpPr>
          <p:cNvPr id="20" name="Shape 18"/>
          <p:cNvSpPr/>
          <p:nvPr/>
        </p:nvSpPr>
        <p:spPr>
          <a:xfrm>
            <a:off x="32004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9319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39319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a:t>
            </a:r>
            <a:endParaRPr lang="en-US" sz="2000" dirty="0"/>
          </a:p>
        </p:txBody>
      </p:sp>
      <p:sp>
        <p:nvSpPr>
          <p:cNvPr id="23" name="Text 21"/>
          <p:cNvSpPr txBox="1"/>
          <p:nvPr/>
        </p:nvSpPr>
        <p:spPr>
          <a:xfrm>
            <a:off x="97840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TECNOLÓGICO</a:t>
            </a:r>
            <a:endParaRPr lang="en-US" sz="1100" dirty="0"/>
          </a:p>
        </p:txBody>
      </p:sp>
      <p:sp>
        <p:nvSpPr>
          <p:cNvPr id="24" name="Text 22"/>
          <p:cNvSpPr txBox="1"/>
          <p:nvPr/>
        </p:nvSpPr>
        <p:spPr>
          <a:xfrm>
            <a:off x="42976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Tecnología HTST disponible y regulada (RTCA); HACCP implementable desde el inicio.</a:t>
            </a:r>
            <a:endParaRPr lang="en-US" sz="1150" dirty="0"/>
          </a:p>
        </p:txBody>
      </p:sp>
      <p:sp>
        <p:nvSpPr>
          <p:cNvPr id="25" name="Shape 23"/>
          <p:cNvSpPr/>
          <p:nvPr/>
        </p:nvSpPr>
        <p:spPr>
          <a:xfrm>
            <a:off x="411480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87952" y="3419856"/>
            <a:ext cx="502920" cy="502920"/>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18795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28" name="Text 26"/>
          <p:cNvSpPr txBox="1"/>
          <p:nvPr/>
        </p:nvSpPr>
        <p:spPr>
          <a:xfrm>
            <a:off x="4773168" y="3483864"/>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ECOLÓGICO</a:t>
            </a:r>
            <a:endParaRPr lang="en-US" sz="1100" dirty="0"/>
          </a:p>
        </p:txBody>
      </p:sp>
      <p:sp>
        <p:nvSpPr>
          <p:cNvPr id="29" name="Text 27"/>
          <p:cNvSpPr txBox="1"/>
          <p:nvPr/>
        </p:nvSpPr>
        <p:spPr>
          <a:xfrm>
            <a:off x="422452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Vulnerabilidad climática, gestión de efluentes (MiAmbiente) y huella energética del frío.</a:t>
            </a:r>
            <a:endParaRPr lang="en-US" sz="1150" dirty="0"/>
          </a:p>
        </p:txBody>
      </p:sp>
      <p:sp>
        <p:nvSpPr>
          <p:cNvPr id="30" name="Shape 28"/>
          <p:cNvSpPr/>
          <p:nvPr/>
        </p:nvSpPr>
        <p:spPr>
          <a:xfrm>
            <a:off x="790956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798271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798271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L</a:t>
            </a:r>
            <a:endParaRPr lang="en-US" sz="2000" dirty="0"/>
          </a:p>
        </p:txBody>
      </p:sp>
      <p:sp>
        <p:nvSpPr>
          <p:cNvPr id="33" name="Text 31"/>
          <p:cNvSpPr txBox="1"/>
          <p:nvPr/>
        </p:nvSpPr>
        <p:spPr>
          <a:xfrm>
            <a:off x="856792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LEGAL</a:t>
            </a:r>
            <a:endParaRPr lang="en-US" sz="1100" dirty="0"/>
          </a:p>
        </p:txBody>
      </p:sp>
      <p:sp>
        <p:nvSpPr>
          <p:cNvPr id="34" name="Text 32"/>
          <p:cNvSpPr txBox="1"/>
          <p:nvPr/>
        </p:nvSpPr>
        <p:spPr>
          <a:xfrm>
            <a:off x="801928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Ley de Inocuidad y Ordenanza de Inspección Sanitaria de Leche; registro ARSA y permisos SENASA.</a:t>
            </a:r>
            <a:endParaRPr lang="en-US" sz="115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Sectorial · 5 Fuerzas de Porter</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4389120" y="2606040"/>
            <a:ext cx="3383280" cy="1965960"/>
          </a:xfrm>
          <a:prstGeom prst="rect">
            <a:avLst/>
          </a:prstGeom>
          <a:solidFill>
            <a:srgbClr val="0D2341"/>
          </a:solidFill>
          <a:ln w="12700">
            <a:solidFill>
              <a:srgbClr val="0D2341"/>
            </a:solidFill>
            <a:prstDash val="solid"/>
          </a:ln>
        </p:spPr>
        <p:txBody>
          <a:bodyPr/>
          <a:lstStyle/>
          <a:p>
            <a:endParaRPr lang="es-CO"/>
          </a:p>
        </p:txBody>
      </p:sp>
      <p:sp>
        <p:nvSpPr>
          <p:cNvPr id="6" name="Text 4"/>
          <p:cNvSpPr txBox="1"/>
          <p:nvPr/>
        </p:nvSpPr>
        <p:spPr>
          <a:xfrm>
            <a:off x="4480560" y="2697480"/>
            <a:ext cx="3200400" cy="475488"/>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ESTRATEGIA DE</a:t>
            </a:r>
            <a:endParaRPr lang="en-US" sz="1100" dirty="0"/>
          </a:p>
          <a:p>
            <a:pPr marL="0" indent="0" algn="ctr">
              <a:buNone/>
            </a:pPr>
            <a:r>
              <a:rPr lang="en-US" sz="1100" b="1" dirty="0">
                <a:solidFill>
                  <a:srgbClr val="1A7A8A"/>
                </a:solidFill>
                <a:latin typeface="Calibri" pitchFamily="34" charset="0"/>
                <a:ea typeface="Calibri" pitchFamily="34" charset="-122"/>
                <a:cs typeface="Calibri" pitchFamily="34" charset="-120"/>
              </a:rPr>
              <a:t>POSICIONAMIENTO</a:t>
            </a:r>
            <a:endParaRPr lang="en-US" sz="1100" dirty="0"/>
          </a:p>
        </p:txBody>
      </p:sp>
      <p:sp>
        <p:nvSpPr>
          <p:cNvPr id="7" name="Text 5"/>
          <p:cNvSpPr txBox="1"/>
          <p:nvPr/>
        </p:nvSpPr>
        <p:spPr>
          <a:xfrm>
            <a:off x="4526280" y="3200400"/>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Única leche fresca fluida en Honduras</a:t>
            </a:r>
            <a:endParaRPr lang="en-US" sz="1100" dirty="0"/>
          </a:p>
        </p:txBody>
      </p:sp>
      <p:sp>
        <p:nvSpPr>
          <p:cNvPr id="8" name="Text 6"/>
          <p:cNvSpPr txBox="1"/>
          <p:nvPr/>
        </p:nvSpPr>
        <p:spPr>
          <a:xfrm>
            <a:off x="4526280" y="3493008"/>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Alianza con ganaderos CREL certificados</a:t>
            </a:r>
            <a:endParaRPr lang="en-US" sz="1100" dirty="0"/>
          </a:p>
        </p:txBody>
      </p:sp>
      <p:sp>
        <p:nvSpPr>
          <p:cNvPr id="9" name="Text 7"/>
          <p:cNvSpPr txBox="1"/>
          <p:nvPr/>
        </p:nvSpPr>
        <p:spPr>
          <a:xfrm>
            <a:off x="4526280" y="3785616"/>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Foco: HoReCa y cafeterías gourmet</a:t>
            </a:r>
            <a:endParaRPr lang="en-US" sz="1100" dirty="0"/>
          </a:p>
        </p:txBody>
      </p:sp>
      <p:sp>
        <p:nvSpPr>
          <p:cNvPr id="10" name="Text 8"/>
          <p:cNvSpPr txBox="1"/>
          <p:nvPr/>
        </p:nvSpPr>
        <p:spPr>
          <a:xfrm>
            <a:off x="4526280" y="4078224"/>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Precio L 28/L validado por mercado</a:t>
            </a:r>
            <a:endParaRPr lang="en-US" sz="1100" dirty="0"/>
          </a:p>
        </p:txBody>
      </p:sp>
      <p:sp>
        <p:nvSpPr>
          <p:cNvPr id="11" name="Shape 9"/>
          <p:cNvSpPr/>
          <p:nvPr/>
        </p:nvSpPr>
        <p:spPr>
          <a:xfrm>
            <a:off x="22860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2" name="Text 10"/>
          <p:cNvSpPr txBox="1"/>
          <p:nvPr/>
        </p:nvSpPr>
        <p:spPr>
          <a:xfrm>
            <a:off x="33832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Proveedores · Medio-alto</a:t>
            </a:r>
            <a:endParaRPr lang="en-US" sz="1200" dirty="0"/>
          </a:p>
        </p:txBody>
      </p:sp>
      <p:sp>
        <p:nvSpPr>
          <p:cNvPr id="13" name="Text 11"/>
          <p:cNvSpPr txBox="1"/>
          <p:nvPr/>
        </p:nvSpPr>
        <p:spPr>
          <a:xfrm>
            <a:off x="33832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Alta atomización de ganaderos y dependencia del clima. Contratos con CREL estabilizan suministro y precio.</a:t>
            </a:r>
            <a:endParaRPr lang="en-US" sz="1150" dirty="0"/>
          </a:p>
        </p:txBody>
      </p:sp>
      <p:sp>
        <p:nvSpPr>
          <p:cNvPr id="14" name="Shape 12"/>
          <p:cNvSpPr/>
          <p:nvPr/>
        </p:nvSpPr>
        <p:spPr>
          <a:xfrm>
            <a:off x="809244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5" name="Text 13"/>
          <p:cNvSpPr txBox="1"/>
          <p:nvPr/>
        </p:nvSpPr>
        <p:spPr>
          <a:xfrm>
            <a:off x="820216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Nuevos Competidores · Medio</a:t>
            </a:r>
            <a:endParaRPr lang="en-US" sz="1200" dirty="0"/>
          </a:p>
        </p:txBody>
      </p:sp>
      <p:sp>
        <p:nvSpPr>
          <p:cNvPr id="16" name="Text 14"/>
          <p:cNvSpPr txBox="1"/>
          <p:nvPr/>
        </p:nvSpPr>
        <p:spPr>
          <a:xfrm>
            <a:off x="820216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Barreras moderadas: tecnología, permisos SENASA/ARSA e inversión; mercado controlado por un actor dominante.</a:t>
            </a:r>
            <a:endParaRPr lang="en-US" sz="1150" dirty="0"/>
          </a:p>
        </p:txBody>
      </p:sp>
      <p:sp>
        <p:nvSpPr>
          <p:cNvPr id="17" name="Shape 15"/>
          <p:cNvSpPr/>
          <p:nvPr/>
        </p:nvSpPr>
        <p:spPr>
          <a:xfrm>
            <a:off x="22860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18" name="Text 16"/>
          <p:cNvSpPr txBox="1"/>
          <p:nvPr/>
        </p:nvSpPr>
        <p:spPr>
          <a:xfrm>
            <a:off x="33832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Rivalidad Competitiva · Alta</a:t>
            </a:r>
            <a:endParaRPr lang="en-US" sz="1200" dirty="0"/>
          </a:p>
        </p:txBody>
      </p:sp>
      <p:sp>
        <p:nvSpPr>
          <p:cNvPr id="19" name="Text 17"/>
          <p:cNvSpPr txBox="1"/>
          <p:nvPr/>
        </p:nvSpPr>
        <p:spPr>
          <a:xfrm>
            <a:off x="33832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Sula (Lacthosa) domina con UHT (83 % de preferencia), seguida de Leyde y Dos Pinos. Nadie ofrece leche fresca fluida.</a:t>
            </a:r>
            <a:endParaRPr lang="en-US" sz="1150" dirty="0"/>
          </a:p>
        </p:txBody>
      </p:sp>
      <p:sp>
        <p:nvSpPr>
          <p:cNvPr id="20" name="Shape 18"/>
          <p:cNvSpPr/>
          <p:nvPr/>
        </p:nvSpPr>
        <p:spPr>
          <a:xfrm>
            <a:off x="809244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21" name="Text 19"/>
          <p:cNvSpPr txBox="1"/>
          <p:nvPr/>
        </p:nvSpPr>
        <p:spPr>
          <a:xfrm>
            <a:off x="820216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Clientes · Medio</a:t>
            </a:r>
            <a:endParaRPr lang="en-US" sz="1200" dirty="0"/>
          </a:p>
        </p:txBody>
      </p:sp>
      <p:sp>
        <p:nvSpPr>
          <p:cNvPr id="22" name="Text 20"/>
          <p:cNvSpPr txBox="1"/>
          <p:nvPr/>
        </p:nvSpPr>
        <p:spPr>
          <a:xfrm>
            <a:off x="820216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Supermercados negocian fuerte; canal detalle y HoReCa (+2,000 clientes tipo A) son más accesibles y valoran servicio local.</a:t>
            </a:r>
            <a:endParaRPr lang="en-US" sz="1150" dirty="0"/>
          </a:p>
        </p:txBody>
      </p:sp>
      <p:sp>
        <p:nvSpPr>
          <p:cNvPr id="23" name="Shape 21"/>
          <p:cNvSpPr/>
          <p:nvPr/>
        </p:nvSpPr>
        <p:spPr>
          <a:xfrm>
            <a:off x="4114800" y="5120640"/>
            <a:ext cx="3931920" cy="132588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4224528" y="5212080"/>
            <a:ext cx="373075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Productos Sustitutos · Alto</a:t>
            </a:r>
            <a:endParaRPr lang="en-US" sz="1200" dirty="0"/>
          </a:p>
        </p:txBody>
      </p:sp>
      <p:sp>
        <p:nvSpPr>
          <p:cNvPr id="25" name="Text 23"/>
          <p:cNvSpPr txBox="1"/>
          <p:nvPr/>
        </p:nvSpPr>
        <p:spPr>
          <a:xfrm>
            <a:off x="4224528" y="5541264"/>
            <a:ext cx="3730752" cy="99669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Leche UHT (Sula, Dos Pinos), bebidas vegetales (soya, almendra, avena), leche cruda informal.</a:t>
            </a:r>
            <a:endParaRPr lang="en-US" sz="1150" dirty="0"/>
          </a:p>
        </p:txBody>
      </p:sp>
      <p:sp>
        <p:nvSpPr>
          <p:cNvPr id="26" name="Text 2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MERCADO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Análisis de Mercado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42415"/>
            <a:ext cx="4114800" cy="256032"/>
          </a:xfrm>
          <a:prstGeom prst="rect">
            <a:avLst/>
          </a:prstGeom>
          <a:noFill/>
          <a:ln/>
        </p:spPr>
        <p:txBody>
          <a:bodyPr wrap="non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Encuesta a 63 establecimientos (abril–mayo de 2026)</a:t>
            </a:r>
            <a:endParaRPr lang="en-US" sz="1150" dirty="0"/>
          </a:p>
        </p:txBody>
      </p:sp>
      <p:sp>
        <p:nvSpPr>
          <p:cNvPr id="6" name="Shape 4"/>
          <p:cNvSpPr/>
          <p:nvPr/>
        </p:nvSpPr>
        <p:spPr>
          <a:xfrm>
            <a:off x="594360" y="1426464"/>
            <a:ext cx="274320" cy="2743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594360" y="142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8" name="Text 6"/>
          <p:cNvSpPr txBox="1"/>
          <p:nvPr/>
        </p:nvSpPr>
        <p:spPr>
          <a:xfrm>
            <a:off x="1005840" y="140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Alta intención de compra</a:t>
            </a:r>
            <a:endParaRPr lang="en-US" sz="1250" dirty="0"/>
          </a:p>
        </p:txBody>
      </p:sp>
      <p:sp>
        <p:nvSpPr>
          <p:cNvPr id="9" name="Text 7"/>
          <p:cNvSpPr txBox="1"/>
          <p:nvPr/>
        </p:nvSpPr>
        <p:spPr>
          <a:xfrm>
            <a:off x="1005840" y="169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HoReCa y detalle valoran frescura e inocuidad.</a:t>
            </a:r>
            <a:endParaRPr lang="en-US" sz="1150" dirty="0"/>
          </a:p>
        </p:txBody>
      </p:sp>
      <p:sp>
        <p:nvSpPr>
          <p:cNvPr id="10" name="Shape 8"/>
          <p:cNvSpPr/>
          <p:nvPr/>
        </p:nvSpPr>
        <p:spPr>
          <a:xfrm>
            <a:off x="594360" y="2146464"/>
            <a:ext cx="274320" cy="27432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594360" y="214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 name="Text 10"/>
          <p:cNvSpPr txBox="1"/>
          <p:nvPr/>
        </p:nvSpPr>
        <p:spPr>
          <a:xfrm>
            <a:off x="1005840" y="212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Consumo frecuente</a:t>
            </a:r>
            <a:endParaRPr lang="en-US" sz="1250" dirty="0"/>
          </a:p>
        </p:txBody>
      </p:sp>
      <p:sp>
        <p:nvSpPr>
          <p:cNvPr id="13" name="Text 11"/>
          <p:cNvSpPr txBox="1"/>
          <p:nvPr/>
        </p:nvSpPr>
        <p:spPr>
          <a:xfrm>
            <a:off x="1005840" y="241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Compra frecuente de lácteos; alta rotación en clientes tipo A.</a:t>
            </a:r>
            <a:endParaRPr lang="en-US" sz="1150" dirty="0"/>
          </a:p>
        </p:txBody>
      </p:sp>
      <p:sp>
        <p:nvSpPr>
          <p:cNvPr id="14" name="Shape 12"/>
          <p:cNvSpPr/>
          <p:nvPr/>
        </p:nvSpPr>
        <p:spPr>
          <a:xfrm>
            <a:off x="594360" y="2866464"/>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594360" y="286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1005840" y="284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Precio validado</a:t>
            </a:r>
            <a:endParaRPr lang="en-US" sz="1250" dirty="0"/>
          </a:p>
        </p:txBody>
      </p:sp>
      <p:sp>
        <p:nvSpPr>
          <p:cNvPr id="17" name="Text 15"/>
          <p:cNvSpPr txBox="1"/>
          <p:nvPr/>
        </p:nvSpPr>
        <p:spPr>
          <a:xfrm>
            <a:off x="1005840" y="313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El 48 % pagaría L 26–30 por litro (precio base L 28).</a:t>
            </a:r>
            <a:endParaRPr lang="en-US" sz="1150" dirty="0"/>
          </a:p>
        </p:txBody>
      </p:sp>
      <p:sp>
        <p:nvSpPr>
          <p:cNvPr id="18" name="Shape 16"/>
          <p:cNvSpPr/>
          <p:nvPr/>
        </p:nvSpPr>
        <p:spPr>
          <a:xfrm>
            <a:off x="594360" y="3586464"/>
            <a:ext cx="274320" cy="27432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594360" y="358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8"/>
          <p:cNvSpPr txBox="1"/>
          <p:nvPr/>
        </p:nvSpPr>
        <p:spPr>
          <a:xfrm>
            <a:off x="1005840" y="356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Brecha de oferta</a:t>
            </a:r>
            <a:endParaRPr lang="en-US" sz="1250" dirty="0"/>
          </a:p>
        </p:txBody>
      </p:sp>
      <p:sp>
        <p:nvSpPr>
          <p:cNvPr id="21" name="Text 19"/>
          <p:cNvSpPr txBox="1"/>
          <p:nvPr/>
        </p:nvSpPr>
        <p:spPr>
          <a:xfrm>
            <a:off x="1005840" y="385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Nadie ofrece leche fresca fluida; se usa UHT por falta de oferta.</a:t>
            </a:r>
            <a:endParaRPr lang="en-US" sz="1150" dirty="0"/>
          </a:p>
        </p:txBody>
      </p:sp>
      <p:sp>
        <p:nvSpPr>
          <p:cNvPr id="22" name="Shape 20"/>
          <p:cNvSpPr/>
          <p:nvPr/>
        </p:nvSpPr>
        <p:spPr>
          <a:xfrm>
            <a:off x="4480560" y="1143000"/>
            <a:ext cx="7315200" cy="384048"/>
          </a:xfrm>
          <a:prstGeom prst="rect">
            <a:avLst/>
          </a:prstGeom>
          <a:solidFill>
            <a:srgbClr val="0D2341"/>
          </a:solidFill>
          <a:ln w="12700">
            <a:solidFill>
              <a:srgbClr val="0D2341"/>
            </a:solidFill>
            <a:prstDash val="solid"/>
          </a:ln>
        </p:spPr>
        <p:txBody>
          <a:bodyPr/>
          <a:lstStyle/>
          <a:p>
            <a:endParaRPr lang="es-CO"/>
          </a:p>
        </p:txBody>
      </p:sp>
      <p:sp>
        <p:nvSpPr>
          <p:cNvPr id="23" name="Text 21"/>
          <p:cNvSpPr txBox="1"/>
          <p:nvPr/>
        </p:nvSpPr>
        <p:spPr>
          <a:xfrm>
            <a:off x="4526280" y="1170432"/>
            <a:ext cx="7223760" cy="292608"/>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Proyección de Clientes y Ventas a 10 Años</a:t>
            </a:r>
            <a:endParaRPr lang="en-US" sz="1150" dirty="0"/>
          </a:p>
        </p:txBody>
      </p:sp>
      <p:sp>
        <p:nvSpPr>
          <p:cNvPr id="24" name="Text 22"/>
          <p:cNvSpPr txBox="1"/>
          <p:nvPr/>
        </p:nvSpPr>
        <p:spPr>
          <a:xfrm>
            <a:off x="4526280" y="4846320"/>
            <a:ext cx="7223760" cy="20116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Precio inicial L 28/litro · Ajuste inflación 4.5 %/año · Consumo promedio 150 L/mes</a:t>
            </a:r>
            <a:endParaRPr lang="en-US" sz="900" dirty="0"/>
          </a:p>
        </p:txBody>
      </p:sp>
      <p:sp>
        <p:nvSpPr>
          <p:cNvPr id="25" name="Shape 23"/>
          <p:cNvSpPr/>
          <p:nvPr/>
        </p:nvSpPr>
        <p:spPr>
          <a:xfrm>
            <a:off x="4480560" y="1691640"/>
            <a:ext cx="731520" cy="347472"/>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4526280" y="1719072"/>
            <a:ext cx="658368"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Año</a:t>
            </a:r>
            <a:endParaRPr lang="en-US" sz="1100" dirty="0"/>
          </a:p>
        </p:txBody>
      </p:sp>
      <p:sp>
        <p:nvSpPr>
          <p:cNvPr id="27" name="Shape 25"/>
          <p:cNvSpPr/>
          <p:nvPr/>
        </p:nvSpPr>
        <p:spPr>
          <a:xfrm>
            <a:off x="5212080" y="1691640"/>
            <a:ext cx="1371600" cy="347472"/>
          </a:xfrm>
          <a:prstGeom prst="rect">
            <a:avLst/>
          </a:prstGeom>
          <a:solidFill>
            <a:srgbClr val="1B3A5C"/>
          </a:solidFill>
          <a:ln w="12700">
            <a:solidFill>
              <a:srgbClr val="1B3A5C"/>
            </a:solidFill>
            <a:prstDash val="solid"/>
          </a:ln>
        </p:spPr>
        <p:txBody>
          <a:bodyPr/>
          <a:lstStyle/>
          <a:p>
            <a:endParaRPr lang="es-CO"/>
          </a:p>
        </p:txBody>
      </p:sp>
      <p:sp>
        <p:nvSpPr>
          <p:cNvPr id="28" name="Text 26"/>
          <p:cNvSpPr txBox="1"/>
          <p:nvPr/>
        </p:nvSpPr>
        <p:spPr>
          <a:xfrm>
            <a:off x="5257800" y="1719072"/>
            <a:ext cx="12984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Clientes</a:t>
            </a:r>
            <a:endParaRPr lang="en-US" sz="1100" dirty="0"/>
          </a:p>
        </p:txBody>
      </p:sp>
      <p:sp>
        <p:nvSpPr>
          <p:cNvPr id="29" name="Shape 27"/>
          <p:cNvSpPr/>
          <p:nvPr/>
        </p:nvSpPr>
        <p:spPr>
          <a:xfrm>
            <a:off x="6583680" y="1691640"/>
            <a:ext cx="2011680" cy="347472"/>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629400" y="1719072"/>
            <a:ext cx="193852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Litros/año</a:t>
            </a:r>
            <a:endParaRPr lang="en-US" sz="1100" dirty="0"/>
          </a:p>
        </p:txBody>
      </p:sp>
      <p:sp>
        <p:nvSpPr>
          <p:cNvPr id="31" name="Shape 29"/>
          <p:cNvSpPr/>
          <p:nvPr/>
        </p:nvSpPr>
        <p:spPr>
          <a:xfrm>
            <a:off x="8595360" y="1691640"/>
            <a:ext cx="3200400" cy="34747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641080" y="1719072"/>
            <a:ext cx="31272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Ingresos (L)</a:t>
            </a:r>
            <a:endParaRPr lang="en-US" sz="1100" dirty="0"/>
          </a:p>
        </p:txBody>
      </p:sp>
      <p:sp>
        <p:nvSpPr>
          <p:cNvPr id="33" name="Shape 31"/>
          <p:cNvSpPr/>
          <p:nvPr/>
        </p:nvSpPr>
        <p:spPr>
          <a:xfrm>
            <a:off x="4480560" y="2039112"/>
            <a:ext cx="731520" cy="420624"/>
          </a:xfrm>
          <a:prstGeom prst="rect">
            <a:avLst/>
          </a:prstGeom>
          <a:solidFill>
            <a:srgbClr val="F1F5F9"/>
          </a:solidFill>
          <a:ln w="12700">
            <a:solidFill>
              <a:srgbClr val="CBD5E1"/>
            </a:solidFill>
            <a:prstDash val="solid"/>
          </a:ln>
        </p:spPr>
        <p:txBody>
          <a:bodyPr/>
          <a:lstStyle/>
          <a:p>
            <a:endParaRPr lang="es-CO"/>
          </a:p>
        </p:txBody>
      </p:sp>
      <p:sp>
        <p:nvSpPr>
          <p:cNvPr id="34" name="Text 32"/>
          <p:cNvSpPr txBox="1"/>
          <p:nvPr/>
        </p:nvSpPr>
        <p:spPr>
          <a:xfrm>
            <a:off x="4526280" y="2130552"/>
            <a:ext cx="658368" cy="274320"/>
          </a:xfrm>
          <a:prstGeom prst="rect">
            <a:avLst/>
          </a:prstGeom>
          <a:noFill/>
          <a:ln/>
        </p:spPr>
        <p:txBody>
          <a:bodyPr wrap="square" rtlCol="0" anchor="ctr"/>
          <a:lstStyle/>
          <a:p>
            <a:pPr marL="0" indent="0" algn="ctr">
              <a:buNone/>
            </a:pPr>
            <a:r>
              <a:rPr lang="en-US" sz="1250" b="1" dirty="0">
                <a:solidFill>
                  <a:srgbClr val="334155"/>
                </a:solidFill>
                <a:latin typeface="Calibri" pitchFamily="34" charset="0"/>
                <a:ea typeface="Calibri" pitchFamily="34" charset="-122"/>
                <a:cs typeface="Calibri" pitchFamily="34" charset="-120"/>
              </a:rPr>
              <a:t>1</a:t>
            </a:r>
            <a:endParaRPr lang="en-US" sz="1250" dirty="0"/>
          </a:p>
        </p:txBody>
      </p:sp>
      <p:sp>
        <p:nvSpPr>
          <p:cNvPr id="35" name="Shape 33"/>
          <p:cNvSpPr/>
          <p:nvPr/>
        </p:nvSpPr>
        <p:spPr>
          <a:xfrm>
            <a:off x="5212080" y="2039112"/>
            <a:ext cx="1371600" cy="420624"/>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5257800" y="2130552"/>
            <a:ext cx="12984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60</a:t>
            </a:r>
            <a:endParaRPr lang="en-US" sz="1250" dirty="0"/>
          </a:p>
        </p:txBody>
      </p:sp>
      <p:sp>
        <p:nvSpPr>
          <p:cNvPr id="37" name="Shape 35"/>
          <p:cNvSpPr/>
          <p:nvPr/>
        </p:nvSpPr>
        <p:spPr>
          <a:xfrm>
            <a:off x="6583680" y="2039112"/>
            <a:ext cx="2011680" cy="420624"/>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6629400" y="2130552"/>
            <a:ext cx="193852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108,000</a:t>
            </a:r>
            <a:endParaRPr lang="en-US" sz="1250" dirty="0"/>
          </a:p>
        </p:txBody>
      </p:sp>
      <p:sp>
        <p:nvSpPr>
          <p:cNvPr id="39" name="Shape 37"/>
          <p:cNvSpPr/>
          <p:nvPr/>
        </p:nvSpPr>
        <p:spPr>
          <a:xfrm>
            <a:off x="8595360" y="2039112"/>
            <a:ext cx="3200400" cy="420624"/>
          </a:xfrm>
          <a:prstGeom prst="rect">
            <a:avLst/>
          </a:prstGeom>
          <a:solidFill>
            <a:srgbClr val="F1F5F9"/>
          </a:solidFill>
          <a:ln w="12700">
            <a:solidFill>
              <a:srgbClr val="CBD5E1"/>
            </a:solidFill>
            <a:prstDash val="solid"/>
          </a:ln>
        </p:spPr>
        <p:txBody>
          <a:bodyPr/>
          <a:lstStyle/>
          <a:p>
            <a:endParaRPr lang="es-CO"/>
          </a:p>
        </p:txBody>
      </p:sp>
      <p:sp>
        <p:nvSpPr>
          <p:cNvPr id="40" name="Text 38"/>
          <p:cNvSpPr txBox="1"/>
          <p:nvPr/>
        </p:nvSpPr>
        <p:spPr>
          <a:xfrm>
            <a:off x="8641080" y="2130552"/>
            <a:ext cx="31272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L 3,024,000</a:t>
            </a:r>
            <a:endParaRPr lang="en-US" sz="1250" dirty="0"/>
          </a:p>
        </p:txBody>
      </p:sp>
      <p:sp>
        <p:nvSpPr>
          <p:cNvPr id="41" name="Shape 39"/>
          <p:cNvSpPr/>
          <p:nvPr/>
        </p:nvSpPr>
        <p:spPr>
          <a:xfrm>
            <a:off x="4480560" y="2496312"/>
            <a:ext cx="731520" cy="420624"/>
          </a:xfrm>
          <a:prstGeom prst="rect">
            <a:avLst/>
          </a:prstGeom>
          <a:solidFill>
            <a:srgbClr val="FFFFFF"/>
          </a:solidFill>
          <a:ln w="12700">
            <a:solidFill>
              <a:srgbClr val="CBD5E1"/>
            </a:solidFill>
            <a:prstDash val="solid"/>
          </a:ln>
        </p:spPr>
        <p:txBody>
          <a:bodyPr/>
          <a:lstStyle/>
          <a:p>
            <a:endParaRPr lang="es-CO"/>
          </a:p>
        </p:txBody>
      </p:sp>
      <p:sp>
        <p:nvSpPr>
          <p:cNvPr id="42" name="Text 40"/>
          <p:cNvSpPr txBox="1"/>
          <p:nvPr/>
        </p:nvSpPr>
        <p:spPr>
          <a:xfrm>
            <a:off x="4526280" y="25877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2</a:t>
            </a:r>
            <a:endParaRPr lang="en-US" sz="1250" dirty="0"/>
          </a:p>
        </p:txBody>
      </p:sp>
      <p:sp>
        <p:nvSpPr>
          <p:cNvPr id="43" name="Shape 41"/>
          <p:cNvSpPr/>
          <p:nvPr/>
        </p:nvSpPr>
        <p:spPr>
          <a:xfrm>
            <a:off x="5212080" y="2496312"/>
            <a:ext cx="1371600" cy="420624"/>
          </a:xfrm>
          <a:prstGeom prst="rect">
            <a:avLst/>
          </a:prstGeom>
          <a:solidFill>
            <a:srgbClr val="FFFFFF"/>
          </a:solidFill>
          <a:ln w="12700">
            <a:solidFill>
              <a:srgbClr val="CBD5E1"/>
            </a:solidFill>
            <a:prstDash val="solid"/>
          </a:ln>
        </p:spPr>
        <p:txBody>
          <a:bodyPr/>
          <a:lstStyle/>
          <a:p>
            <a:endParaRPr lang="es-CO"/>
          </a:p>
        </p:txBody>
      </p:sp>
      <p:sp>
        <p:nvSpPr>
          <p:cNvPr id="44" name="Text 42"/>
          <p:cNvSpPr txBox="1"/>
          <p:nvPr/>
        </p:nvSpPr>
        <p:spPr>
          <a:xfrm>
            <a:off x="5257800" y="25877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100</a:t>
            </a:r>
            <a:endParaRPr lang="en-US" sz="1250" dirty="0"/>
          </a:p>
        </p:txBody>
      </p:sp>
      <p:sp>
        <p:nvSpPr>
          <p:cNvPr id="45" name="Shape 43"/>
          <p:cNvSpPr/>
          <p:nvPr/>
        </p:nvSpPr>
        <p:spPr>
          <a:xfrm>
            <a:off x="6583680" y="2496312"/>
            <a:ext cx="2011680" cy="420624"/>
          </a:xfrm>
          <a:prstGeom prst="rect">
            <a:avLst/>
          </a:prstGeom>
          <a:solidFill>
            <a:srgbClr val="FFFFFF"/>
          </a:solidFill>
          <a:ln w="12700">
            <a:solidFill>
              <a:srgbClr val="CBD5E1"/>
            </a:solidFill>
            <a:prstDash val="solid"/>
          </a:ln>
        </p:spPr>
        <p:txBody>
          <a:bodyPr/>
          <a:lstStyle/>
          <a:p>
            <a:endParaRPr lang="es-CO"/>
          </a:p>
        </p:txBody>
      </p:sp>
      <p:sp>
        <p:nvSpPr>
          <p:cNvPr id="46" name="Text 44"/>
          <p:cNvSpPr txBox="1"/>
          <p:nvPr/>
        </p:nvSpPr>
        <p:spPr>
          <a:xfrm>
            <a:off x="6629400" y="25877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180,000</a:t>
            </a:r>
            <a:endParaRPr lang="en-US" sz="1250" dirty="0"/>
          </a:p>
        </p:txBody>
      </p:sp>
      <p:sp>
        <p:nvSpPr>
          <p:cNvPr id="47" name="Shape 45"/>
          <p:cNvSpPr/>
          <p:nvPr/>
        </p:nvSpPr>
        <p:spPr>
          <a:xfrm>
            <a:off x="8595360" y="2496312"/>
            <a:ext cx="3200400" cy="420624"/>
          </a:xfrm>
          <a:prstGeom prst="rect">
            <a:avLst/>
          </a:prstGeom>
          <a:solidFill>
            <a:srgbClr val="FFFFFF"/>
          </a:solidFill>
          <a:ln w="12700">
            <a:solidFill>
              <a:srgbClr val="CBD5E1"/>
            </a:solidFill>
            <a:prstDash val="solid"/>
          </a:ln>
        </p:spPr>
        <p:txBody>
          <a:bodyPr/>
          <a:lstStyle/>
          <a:p>
            <a:endParaRPr lang="es-CO"/>
          </a:p>
        </p:txBody>
      </p:sp>
      <p:sp>
        <p:nvSpPr>
          <p:cNvPr id="48" name="Text 46"/>
          <p:cNvSpPr txBox="1"/>
          <p:nvPr/>
        </p:nvSpPr>
        <p:spPr>
          <a:xfrm>
            <a:off x="8641080" y="25877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5,266,800</a:t>
            </a:r>
            <a:endParaRPr lang="en-US" sz="1250" dirty="0"/>
          </a:p>
        </p:txBody>
      </p:sp>
      <p:sp>
        <p:nvSpPr>
          <p:cNvPr id="49" name="Shape 47"/>
          <p:cNvSpPr/>
          <p:nvPr/>
        </p:nvSpPr>
        <p:spPr>
          <a:xfrm>
            <a:off x="4480560" y="2953512"/>
            <a:ext cx="731520" cy="420624"/>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4526280" y="30449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3</a:t>
            </a:r>
            <a:endParaRPr lang="en-US" sz="1250" dirty="0"/>
          </a:p>
        </p:txBody>
      </p:sp>
      <p:sp>
        <p:nvSpPr>
          <p:cNvPr id="51" name="Shape 49"/>
          <p:cNvSpPr/>
          <p:nvPr/>
        </p:nvSpPr>
        <p:spPr>
          <a:xfrm>
            <a:off x="5212080" y="2953512"/>
            <a:ext cx="1371600" cy="420624"/>
          </a:xfrm>
          <a:prstGeom prst="rect">
            <a:avLst/>
          </a:prstGeom>
          <a:solidFill>
            <a:srgbClr val="F1F5F9"/>
          </a:solidFill>
          <a:ln w="12700">
            <a:solidFill>
              <a:srgbClr val="CBD5E1"/>
            </a:solidFill>
            <a:prstDash val="solid"/>
          </a:ln>
        </p:spPr>
        <p:txBody>
          <a:bodyPr/>
          <a:lstStyle/>
          <a:p>
            <a:endParaRPr lang="es-CO"/>
          </a:p>
        </p:txBody>
      </p:sp>
      <p:sp>
        <p:nvSpPr>
          <p:cNvPr id="52" name="Text 50"/>
          <p:cNvSpPr txBox="1"/>
          <p:nvPr/>
        </p:nvSpPr>
        <p:spPr>
          <a:xfrm>
            <a:off x="5257800" y="30449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150</a:t>
            </a:r>
            <a:endParaRPr lang="en-US" sz="1250" dirty="0"/>
          </a:p>
        </p:txBody>
      </p:sp>
      <p:sp>
        <p:nvSpPr>
          <p:cNvPr id="53" name="Shape 51"/>
          <p:cNvSpPr/>
          <p:nvPr/>
        </p:nvSpPr>
        <p:spPr>
          <a:xfrm>
            <a:off x="6583680" y="2953512"/>
            <a:ext cx="2011680" cy="420624"/>
          </a:xfrm>
          <a:prstGeom prst="rect">
            <a:avLst/>
          </a:prstGeom>
          <a:solidFill>
            <a:srgbClr val="F1F5F9"/>
          </a:solidFill>
          <a:ln w="12700">
            <a:solidFill>
              <a:srgbClr val="CBD5E1"/>
            </a:solidFill>
            <a:prstDash val="solid"/>
          </a:ln>
        </p:spPr>
        <p:txBody>
          <a:bodyPr/>
          <a:lstStyle/>
          <a:p>
            <a:endParaRPr lang="es-CO"/>
          </a:p>
        </p:txBody>
      </p:sp>
      <p:sp>
        <p:nvSpPr>
          <p:cNvPr id="54" name="Text 52"/>
          <p:cNvSpPr txBox="1"/>
          <p:nvPr/>
        </p:nvSpPr>
        <p:spPr>
          <a:xfrm>
            <a:off x="6629400" y="30449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270,000</a:t>
            </a:r>
            <a:endParaRPr lang="en-US" sz="1250" dirty="0"/>
          </a:p>
        </p:txBody>
      </p:sp>
      <p:sp>
        <p:nvSpPr>
          <p:cNvPr id="55" name="Shape 53"/>
          <p:cNvSpPr/>
          <p:nvPr/>
        </p:nvSpPr>
        <p:spPr>
          <a:xfrm>
            <a:off x="8595360" y="2953512"/>
            <a:ext cx="3200400" cy="420624"/>
          </a:xfrm>
          <a:prstGeom prst="rect">
            <a:avLst/>
          </a:prstGeom>
          <a:solidFill>
            <a:srgbClr val="F1F5F9"/>
          </a:solidFill>
          <a:ln w="12700">
            <a:solidFill>
              <a:srgbClr val="CBD5E1"/>
            </a:solidFill>
            <a:prstDash val="solid"/>
          </a:ln>
        </p:spPr>
        <p:txBody>
          <a:bodyPr/>
          <a:lstStyle/>
          <a:p>
            <a:endParaRPr lang="es-CO"/>
          </a:p>
        </p:txBody>
      </p:sp>
      <p:sp>
        <p:nvSpPr>
          <p:cNvPr id="56" name="Text 54"/>
          <p:cNvSpPr txBox="1"/>
          <p:nvPr/>
        </p:nvSpPr>
        <p:spPr>
          <a:xfrm>
            <a:off x="8641080" y="30449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8,255,709</a:t>
            </a:r>
            <a:endParaRPr lang="en-US" sz="1250" dirty="0"/>
          </a:p>
        </p:txBody>
      </p:sp>
      <p:sp>
        <p:nvSpPr>
          <p:cNvPr id="57" name="Shape 55"/>
          <p:cNvSpPr/>
          <p:nvPr/>
        </p:nvSpPr>
        <p:spPr>
          <a:xfrm>
            <a:off x="4480560" y="3410712"/>
            <a:ext cx="731520" cy="420624"/>
          </a:xfrm>
          <a:prstGeom prst="rect">
            <a:avLst/>
          </a:prstGeom>
          <a:solidFill>
            <a:srgbClr val="FFFFFF"/>
          </a:solidFill>
          <a:ln w="12700">
            <a:solidFill>
              <a:srgbClr val="CBD5E1"/>
            </a:solidFill>
            <a:prstDash val="solid"/>
          </a:ln>
        </p:spPr>
        <p:txBody>
          <a:bodyPr/>
          <a:lstStyle/>
          <a:p>
            <a:endParaRPr lang="es-CO"/>
          </a:p>
        </p:txBody>
      </p:sp>
      <p:sp>
        <p:nvSpPr>
          <p:cNvPr id="58" name="Text 56"/>
          <p:cNvSpPr txBox="1"/>
          <p:nvPr/>
        </p:nvSpPr>
        <p:spPr>
          <a:xfrm>
            <a:off x="4526280" y="35021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p>
        </p:txBody>
      </p:sp>
      <p:sp>
        <p:nvSpPr>
          <p:cNvPr id="59" name="Shape 57"/>
          <p:cNvSpPr/>
          <p:nvPr/>
        </p:nvSpPr>
        <p:spPr>
          <a:xfrm>
            <a:off x="5212080" y="3410712"/>
            <a:ext cx="1371600" cy="420624"/>
          </a:xfrm>
          <a:prstGeom prst="rect">
            <a:avLst/>
          </a:prstGeom>
          <a:solidFill>
            <a:srgbClr val="FFFFFF"/>
          </a:solidFill>
          <a:ln w="12700">
            <a:solidFill>
              <a:srgbClr val="CBD5E1"/>
            </a:solidFill>
            <a:prstDash val="solid"/>
          </a:ln>
        </p:spPr>
        <p:txBody>
          <a:bodyPr/>
          <a:lstStyle/>
          <a:p>
            <a:endParaRPr lang="es-CO"/>
          </a:p>
        </p:txBody>
      </p:sp>
      <p:sp>
        <p:nvSpPr>
          <p:cNvPr id="60" name="Text 58"/>
          <p:cNvSpPr txBox="1"/>
          <p:nvPr/>
        </p:nvSpPr>
        <p:spPr>
          <a:xfrm>
            <a:off x="5257800" y="35021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280</a:t>
            </a:r>
            <a:endParaRPr lang="en-US" sz="1250" dirty="0"/>
          </a:p>
        </p:txBody>
      </p:sp>
      <p:sp>
        <p:nvSpPr>
          <p:cNvPr id="61" name="Shape 59"/>
          <p:cNvSpPr/>
          <p:nvPr/>
        </p:nvSpPr>
        <p:spPr>
          <a:xfrm>
            <a:off x="6583680" y="3410712"/>
            <a:ext cx="2011680" cy="420624"/>
          </a:xfrm>
          <a:prstGeom prst="rect">
            <a:avLst/>
          </a:prstGeom>
          <a:solidFill>
            <a:srgbClr val="FFFFFF"/>
          </a:solidFill>
          <a:ln w="12700">
            <a:solidFill>
              <a:srgbClr val="CBD5E1"/>
            </a:solidFill>
            <a:prstDash val="solid"/>
          </a:ln>
        </p:spPr>
        <p:txBody>
          <a:bodyPr/>
          <a:lstStyle/>
          <a:p>
            <a:endParaRPr lang="es-CO"/>
          </a:p>
        </p:txBody>
      </p:sp>
      <p:sp>
        <p:nvSpPr>
          <p:cNvPr id="62" name="Text 60"/>
          <p:cNvSpPr txBox="1"/>
          <p:nvPr/>
        </p:nvSpPr>
        <p:spPr>
          <a:xfrm>
            <a:off x="6629400" y="35021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504,000</a:t>
            </a:r>
            <a:endParaRPr lang="en-US" sz="1250" dirty="0"/>
          </a:p>
        </p:txBody>
      </p:sp>
      <p:sp>
        <p:nvSpPr>
          <p:cNvPr id="63" name="Shape 61"/>
          <p:cNvSpPr/>
          <p:nvPr/>
        </p:nvSpPr>
        <p:spPr>
          <a:xfrm>
            <a:off x="8595360" y="3410712"/>
            <a:ext cx="3200400" cy="420624"/>
          </a:xfrm>
          <a:prstGeom prst="rect">
            <a:avLst/>
          </a:prstGeom>
          <a:solidFill>
            <a:srgbClr val="FFFFFF"/>
          </a:solidFill>
          <a:ln w="12700">
            <a:solidFill>
              <a:srgbClr val="CBD5E1"/>
            </a:solidFill>
            <a:prstDash val="solid"/>
          </a:ln>
        </p:spPr>
        <p:txBody>
          <a:bodyPr/>
          <a:lstStyle/>
          <a:p>
            <a:endParaRPr lang="es-CO"/>
          </a:p>
        </p:txBody>
      </p:sp>
      <p:sp>
        <p:nvSpPr>
          <p:cNvPr id="64" name="Text 62"/>
          <p:cNvSpPr txBox="1"/>
          <p:nvPr/>
        </p:nvSpPr>
        <p:spPr>
          <a:xfrm>
            <a:off x="8641080" y="35021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16,828,822</a:t>
            </a:r>
            <a:endParaRPr lang="en-US" sz="1250" dirty="0"/>
          </a:p>
        </p:txBody>
      </p:sp>
      <p:sp>
        <p:nvSpPr>
          <p:cNvPr id="65" name="Shape 63"/>
          <p:cNvSpPr/>
          <p:nvPr/>
        </p:nvSpPr>
        <p:spPr>
          <a:xfrm>
            <a:off x="4480560" y="3867912"/>
            <a:ext cx="731520" cy="420624"/>
          </a:xfrm>
          <a:prstGeom prst="rect">
            <a:avLst/>
          </a:prstGeom>
          <a:solidFill>
            <a:srgbClr val="F1F5F9"/>
          </a:solidFill>
          <a:ln w="12700">
            <a:solidFill>
              <a:srgbClr val="CBD5E1"/>
            </a:solidFill>
            <a:prstDash val="solid"/>
          </a:ln>
        </p:spPr>
        <p:txBody>
          <a:bodyPr/>
          <a:lstStyle/>
          <a:p>
            <a:endParaRPr lang="es-CO"/>
          </a:p>
        </p:txBody>
      </p:sp>
      <p:sp>
        <p:nvSpPr>
          <p:cNvPr id="66" name="Text 64"/>
          <p:cNvSpPr txBox="1"/>
          <p:nvPr/>
        </p:nvSpPr>
        <p:spPr>
          <a:xfrm>
            <a:off x="4526280" y="39593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7</a:t>
            </a:r>
            <a:endParaRPr lang="en-US" sz="1250" dirty="0"/>
          </a:p>
        </p:txBody>
      </p:sp>
      <p:sp>
        <p:nvSpPr>
          <p:cNvPr id="67" name="Shape 65"/>
          <p:cNvSpPr/>
          <p:nvPr/>
        </p:nvSpPr>
        <p:spPr>
          <a:xfrm>
            <a:off x="5212080" y="3867912"/>
            <a:ext cx="1371600" cy="420624"/>
          </a:xfrm>
          <a:prstGeom prst="rect">
            <a:avLst/>
          </a:prstGeom>
          <a:solidFill>
            <a:srgbClr val="F1F5F9"/>
          </a:solidFill>
          <a:ln w="12700">
            <a:solidFill>
              <a:srgbClr val="CBD5E1"/>
            </a:solidFill>
            <a:prstDash val="solid"/>
          </a:ln>
        </p:spPr>
        <p:txBody>
          <a:bodyPr/>
          <a:lstStyle/>
          <a:p>
            <a:endParaRPr lang="es-CO"/>
          </a:p>
        </p:txBody>
      </p:sp>
      <p:sp>
        <p:nvSpPr>
          <p:cNvPr id="68" name="Text 66"/>
          <p:cNvSpPr txBox="1"/>
          <p:nvPr/>
        </p:nvSpPr>
        <p:spPr>
          <a:xfrm>
            <a:off x="5257800" y="39593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430</a:t>
            </a:r>
            <a:endParaRPr lang="en-US" sz="1250" dirty="0"/>
          </a:p>
        </p:txBody>
      </p:sp>
      <p:sp>
        <p:nvSpPr>
          <p:cNvPr id="69" name="Shape 67"/>
          <p:cNvSpPr/>
          <p:nvPr/>
        </p:nvSpPr>
        <p:spPr>
          <a:xfrm>
            <a:off x="6583680" y="3867912"/>
            <a:ext cx="2011680" cy="420624"/>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629400" y="39593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774,000</a:t>
            </a:r>
            <a:endParaRPr lang="en-US" sz="1250" dirty="0"/>
          </a:p>
        </p:txBody>
      </p:sp>
      <p:sp>
        <p:nvSpPr>
          <p:cNvPr id="71" name="Shape 69"/>
          <p:cNvSpPr/>
          <p:nvPr/>
        </p:nvSpPr>
        <p:spPr>
          <a:xfrm>
            <a:off x="8595360" y="3867912"/>
            <a:ext cx="3200400" cy="420624"/>
          </a:xfrm>
          <a:prstGeom prst="rect">
            <a:avLst/>
          </a:prstGeom>
          <a:solidFill>
            <a:srgbClr val="F1F5F9"/>
          </a:solidFill>
          <a:ln w="12700">
            <a:solidFill>
              <a:srgbClr val="CBD5E1"/>
            </a:solidFill>
            <a:prstDash val="solid"/>
          </a:ln>
        </p:spPr>
        <p:txBody>
          <a:bodyPr/>
          <a:lstStyle/>
          <a:p>
            <a:endParaRPr lang="es-CO"/>
          </a:p>
        </p:txBody>
      </p:sp>
      <p:sp>
        <p:nvSpPr>
          <p:cNvPr id="72" name="Text 70"/>
          <p:cNvSpPr txBox="1"/>
          <p:nvPr/>
        </p:nvSpPr>
        <p:spPr>
          <a:xfrm>
            <a:off x="8641080" y="39593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28,222,581</a:t>
            </a:r>
            <a:endParaRPr lang="en-US" sz="1250" dirty="0"/>
          </a:p>
        </p:txBody>
      </p:sp>
      <p:sp>
        <p:nvSpPr>
          <p:cNvPr id="73" name="Shape 71"/>
          <p:cNvSpPr/>
          <p:nvPr/>
        </p:nvSpPr>
        <p:spPr>
          <a:xfrm>
            <a:off x="4480560" y="4325112"/>
            <a:ext cx="731520" cy="420624"/>
          </a:xfrm>
          <a:prstGeom prst="rect">
            <a:avLst/>
          </a:prstGeom>
          <a:solidFill>
            <a:srgbClr val="FFFFFF"/>
          </a:solidFill>
          <a:ln w="12700">
            <a:solidFill>
              <a:srgbClr val="CBD5E1"/>
            </a:solidFill>
            <a:prstDash val="solid"/>
          </a:ln>
        </p:spPr>
        <p:txBody>
          <a:bodyPr/>
          <a:lstStyle/>
          <a:p>
            <a:endParaRPr lang="es-CO"/>
          </a:p>
        </p:txBody>
      </p:sp>
      <p:sp>
        <p:nvSpPr>
          <p:cNvPr id="74" name="Text 72"/>
          <p:cNvSpPr txBox="1"/>
          <p:nvPr/>
        </p:nvSpPr>
        <p:spPr>
          <a:xfrm>
            <a:off x="4526280" y="4416552"/>
            <a:ext cx="658368" cy="274320"/>
          </a:xfrm>
          <a:prstGeom prst="rect">
            <a:avLst/>
          </a:prstGeom>
          <a:noFill/>
          <a:ln/>
        </p:spPr>
        <p:txBody>
          <a:bodyPr wrap="square" rtlCol="0" anchor="ctr"/>
          <a:lstStyle/>
          <a:p>
            <a:pPr marL="0" indent="0" algn="ctr">
              <a:buNone/>
            </a:pPr>
            <a:r>
              <a:rPr lang="en-US" sz="1250" b="1" dirty="0">
                <a:solidFill>
                  <a:srgbClr val="1A7A8A"/>
                </a:solidFill>
                <a:latin typeface="Calibri" pitchFamily="34" charset="0"/>
                <a:ea typeface="Calibri" pitchFamily="34" charset="-122"/>
                <a:cs typeface="Calibri" pitchFamily="34" charset="-120"/>
              </a:rPr>
              <a:t>10</a:t>
            </a:r>
            <a:endParaRPr lang="en-US" sz="1250" dirty="0"/>
          </a:p>
        </p:txBody>
      </p:sp>
      <p:sp>
        <p:nvSpPr>
          <p:cNvPr id="75" name="Shape 73"/>
          <p:cNvSpPr/>
          <p:nvPr/>
        </p:nvSpPr>
        <p:spPr>
          <a:xfrm>
            <a:off x="5212080" y="4325112"/>
            <a:ext cx="1371600" cy="420624"/>
          </a:xfrm>
          <a:prstGeom prst="rect">
            <a:avLst/>
          </a:prstGeom>
          <a:solidFill>
            <a:srgbClr val="FFFFFF"/>
          </a:solidFill>
          <a:ln w="12700">
            <a:solidFill>
              <a:srgbClr val="CBD5E1"/>
            </a:solidFill>
            <a:prstDash val="solid"/>
          </a:ln>
        </p:spPr>
        <p:txBody>
          <a:bodyPr/>
          <a:lstStyle/>
          <a:p>
            <a:endParaRPr lang="es-CO"/>
          </a:p>
        </p:txBody>
      </p:sp>
      <p:sp>
        <p:nvSpPr>
          <p:cNvPr id="76" name="Text 74"/>
          <p:cNvSpPr txBox="1"/>
          <p:nvPr/>
        </p:nvSpPr>
        <p:spPr>
          <a:xfrm>
            <a:off x="5257800" y="4416552"/>
            <a:ext cx="12984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690</a:t>
            </a:r>
            <a:endParaRPr lang="en-US" sz="1250" dirty="0"/>
          </a:p>
        </p:txBody>
      </p:sp>
      <p:sp>
        <p:nvSpPr>
          <p:cNvPr id="77" name="Shape 75"/>
          <p:cNvSpPr/>
          <p:nvPr/>
        </p:nvSpPr>
        <p:spPr>
          <a:xfrm>
            <a:off x="6583680" y="4325112"/>
            <a:ext cx="2011680" cy="420624"/>
          </a:xfrm>
          <a:prstGeom prst="rect">
            <a:avLst/>
          </a:prstGeom>
          <a:solidFill>
            <a:srgbClr val="FFFFFF"/>
          </a:solidFill>
          <a:ln w="12700">
            <a:solidFill>
              <a:srgbClr val="CBD5E1"/>
            </a:solidFill>
            <a:prstDash val="solid"/>
          </a:ln>
        </p:spPr>
        <p:txBody>
          <a:bodyPr/>
          <a:lstStyle/>
          <a:p>
            <a:endParaRPr lang="es-CO"/>
          </a:p>
        </p:txBody>
      </p:sp>
      <p:sp>
        <p:nvSpPr>
          <p:cNvPr id="78" name="Text 76"/>
          <p:cNvSpPr txBox="1"/>
          <p:nvPr/>
        </p:nvSpPr>
        <p:spPr>
          <a:xfrm>
            <a:off x="6629400" y="4416552"/>
            <a:ext cx="193852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1,242,000</a:t>
            </a:r>
            <a:endParaRPr lang="en-US" sz="1250" dirty="0"/>
          </a:p>
        </p:txBody>
      </p:sp>
      <p:sp>
        <p:nvSpPr>
          <p:cNvPr id="79" name="Shape 77"/>
          <p:cNvSpPr/>
          <p:nvPr/>
        </p:nvSpPr>
        <p:spPr>
          <a:xfrm>
            <a:off x="8595360" y="4325112"/>
            <a:ext cx="3200400" cy="420624"/>
          </a:xfrm>
          <a:prstGeom prst="rect">
            <a:avLst/>
          </a:prstGeom>
          <a:solidFill>
            <a:srgbClr val="FFFFFF"/>
          </a:solidFill>
          <a:ln w="12700">
            <a:solidFill>
              <a:srgbClr val="CBD5E1"/>
            </a:solidFill>
            <a:prstDash val="solid"/>
          </a:ln>
        </p:spPr>
        <p:txBody>
          <a:bodyPr/>
          <a:lstStyle/>
          <a:p>
            <a:endParaRPr lang="es-CO"/>
          </a:p>
        </p:txBody>
      </p:sp>
      <p:sp>
        <p:nvSpPr>
          <p:cNvPr id="80" name="Text 78"/>
          <p:cNvSpPr txBox="1"/>
          <p:nvPr/>
        </p:nvSpPr>
        <p:spPr>
          <a:xfrm>
            <a:off x="8641080" y="4416552"/>
            <a:ext cx="31272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L 51,680,445</a:t>
            </a:r>
            <a:endParaRPr lang="en-US" sz="1250" dirty="0"/>
          </a:p>
        </p:txBody>
      </p:sp>
      <p:sp>
        <p:nvSpPr>
          <p:cNvPr id="81" name="Text 7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Técnico · Localización</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03520" cy="640080"/>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57200" y="1188720"/>
            <a:ext cx="5120640" cy="45720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Localización Óptima: Comayagua</a:t>
            </a:r>
            <a:endParaRPr lang="en-US" sz="1700" dirty="0"/>
          </a:p>
        </p:txBody>
      </p:sp>
      <p:sp>
        <p:nvSpPr>
          <p:cNvPr id="7" name="Text 5"/>
          <p:cNvSpPr txBox="1"/>
          <p:nvPr/>
        </p:nvSpPr>
        <p:spPr>
          <a:xfrm>
            <a:off x="320040" y="1828800"/>
            <a:ext cx="5303520" cy="7772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a 500 m de la primera entrada a Comayagua, entre Tegucigalpa y San Pedro Sula: distribución a la zona central y norte.</a:t>
            </a:r>
            <a:endParaRPr lang="en-US" sz="1150" dirty="0"/>
          </a:p>
        </p:txBody>
      </p:sp>
      <p:sp>
        <p:nvSpPr>
          <p:cNvPr id="8" name="Shape 6"/>
          <p:cNvSpPr/>
          <p:nvPr/>
        </p:nvSpPr>
        <p:spPr>
          <a:xfrm>
            <a:off x="320040" y="2697480"/>
            <a:ext cx="274320" cy="274320"/>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697480"/>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txBox="1"/>
          <p:nvPr/>
        </p:nvSpPr>
        <p:spPr>
          <a:xfrm>
            <a:off x="676656" y="2697480"/>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Acceso a productores ganaderos certificados de la región y CREL</a:t>
            </a:r>
            <a:endParaRPr lang="en-US" sz="1150" dirty="0"/>
          </a:p>
        </p:txBody>
      </p:sp>
      <p:sp>
        <p:nvSpPr>
          <p:cNvPr id="11" name="Shape 9"/>
          <p:cNvSpPr/>
          <p:nvPr/>
        </p:nvSpPr>
        <p:spPr>
          <a:xfrm>
            <a:off x="320040" y="3081528"/>
            <a:ext cx="274320" cy="274320"/>
          </a:xfrm>
          <a:prstGeom prst="rect">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320040" y="3081528"/>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txBox="1"/>
          <p:nvPr/>
        </p:nvSpPr>
        <p:spPr>
          <a:xfrm>
            <a:off x="676656" y="3081528"/>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Logística de cadena de frío eficiente hacia ambas ciudades principales</a:t>
            </a:r>
            <a:endParaRPr lang="en-US" sz="1150" dirty="0"/>
          </a:p>
        </p:txBody>
      </p:sp>
      <p:sp>
        <p:nvSpPr>
          <p:cNvPr id="14" name="Shape 12"/>
          <p:cNvSpPr/>
          <p:nvPr/>
        </p:nvSpPr>
        <p:spPr>
          <a:xfrm>
            <a:off x="320040" y="3465576"/>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320040" y="3465576"/>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676656" y="3465576"/>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Zonificación agroindustrial compatible con procesamiento de lácteos</a:t>
            </a:r>
            <a:endParaRPr lang="en-US" sz="1150" dirty="0"/>
          </a:p>
        </p:txBody>
      </p:sp>
      <p:sp>
        <p:nvSpPr>
          <p:cNvPr id="17" name="Shape 15"/>
          <p:cNvSpPr/>
          <p:nvPr/>
        </p:nvSpPr>
        <p:spPr>
          <a:xfrm>
            <a:off x="320040" y="3849624"/>
            <a:ext cx="274320" cy="274320"/>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320040" y="384962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txBox="1"/>
          <p:nvPr/>
        </p:nvSpPr>
        <p:spPr>
          <a:xfrm>
            <a:off x="676656" y="3849624"/>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conectividad directa Tegucigalpa - San Pedro Sula</a:t>
            </a:r>
            <a:endParaRPr lang="en-US" sz="1150" dirty="0"/>
          </a:p>
        </p:txBody>
      </p:sp>
      <p:sp>
        <p:nvSpPr>
          <p:cNvPr id="86" name="Text 8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87" name="Rectangle 86"/>
          <p:cNvSpPr/>
          <p:nvPr/>
        </p:nvSpPr>
        <p:spPr>
          <a:xfrm>
            <a:off x="5943600" y="1115568"/>
            <a:ext cx="5806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35040" y="1115568"/>
            <a:ext cx="5669280" cy="365760"/>
          </a:xfrm>
          <a:prstGeom prst="rect">
            <a:avLst/>
          </a:prstGeom>
          <a:noFill/>
        </p:spPr>
        <p:txBody>
          <a:bodyPr wrap="square" anchor="ctr">
            <a:spAutoFit/>
          </a:bodyPr>
          <a:lstStyle/>
          <a:p>
            <a:pPr algn="l"/>
            <a:r>
              <a:rPr sz="1100" b="1" i="0">
                <a:solidFill>
                  <a:srgbClr val="FFFFFF"/>
                </a:solidFill>
                <a:latin typeface="Calibri"/>
              </a:rPr>
              <a:t>Matriz de selección de localización (Tabla 8 de la tesis)</a:t>
            </a:r>
          </a:p>
        </p:txBody>
      </p:sp>
      <p:sp>
        <p:nvSpPr>
          <p:cNvPr id="89" name="Rectangle 88"/>
          <p:cNvSpPr/>
          <p:nvPr/>
        </p:nvSpPr>
        <p:spPr>
          <a:xfrm>
            <a:off x="5943600" y="1554480"/>
            <a:ext cx="251460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961888" y="1554480"/>
            <a:ext cx="2478024" cy="310896"/>
          </a:xfrm>
          <a:prstGeom prst="rect">
            <a:avLst/>
          </a:prstGeom>
          <a:noFill/>
        </p:spPr>
        <p:txBody>
          <a:bodyPr wrap="square" anchor="ctr" lIns="45720" rIns="45720" tIns="9144" bIns="9144">
            <a:spAutoFit/>
          </a:bodyPr>
          <a:lstStyle/>
          <a:p>
            <a:pPr algn="l"/>
            <a:r>
              <a:rPr sz="1050" b="1" i="0">
                <a:solidFill>
                  <a:srgbClr val="FFFFFF"/>
                </a:solidFill>
                <a:latin typeface="Calibri"/>
              </a:rPr>
              <a:t>Criterio</a:t>
            </a:r>
          </a:p>
        </p:txBody>
      </p:sp>
      <p:sp>
        <p:nvSpPr>
          <p:cNvPr id="91" name="Rectangle 90"/>
          <p:cNvSpPr/>
          <p:nvPr/>
        </p:nvSpPr>
        <p:spPr>
          <a:xfrm>
            <a:off x="8458200" y="1554480"/>
            <a:ext cx="82296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8476488" y="1554480"/>
            <a:ext cx="786384" cy="310896"/>
          </a:xfrm>
          <a:prstGeom prst="rect">
            <a:avLst/>
          </a:prstGeom>
          <a:noFill/>
        </p:spPr>
        <p:txBody>
          <a:bodyPr wrap="square" anchor="ctr" lIns="45720" rIns="45720" tIns="9144" bIns="9144">
            <a:spAutoFit/>
          </a:bodyPr>
          <a:lstStyle/>
          <a:p>
            <a:pPr algn="ctr"/>
            <a:r>
              <a:rPr sz="1050" b="1" i="0">
                <a:solidFill>
                  <a:srgbClr val="FFFFFF"/>
                </a:solidFill>
                <a:latin typeface="Calibri"/>
              </a:rPr>
              <a:t>Peso</a:t>
            </a:r>
          </a:p>
        </p:txBody>
      </p:sp>
      <p:sp>
        <p:nvSpPr>
          <p:cNvPr id="93" name="Rectangle 92"/>
          <p:cNvSpPr/>
          <p:nvPr/>
        </p:nvSpPr>
        <p:spPr>
          <a:xfrm>
            <a:off x="928116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29944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Comayagua</a:t>
            </a:r>
          </a:p>
        </p:txBody>
      </p:sp>
      <p:sp>
        <p:nvSpPr>
          <p:cNvPr id="95" name="Rectangle 94"/>
          <p:cNvSpPr/>
          <p:nvPr/>
        </p:nvSpPr>
        <p:spPr>
          <a:xfrm>
            <a:off x="1051560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053388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Villanueva</a:t>
            </a:r>
          </a:p>
        </p:txBody>
      </p:sp>
      <p:sp>
        <p:nvSpPr>
          <p:cNvPr id="97" name="Rectangle 96"/>
          <p:cNvSpPr/>
          <p:nvPr/>
        </p:nvSpPr>
        <p:spPr>
          <a:xfrm>
            <a:off x="5943600" y="1865376"/>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961888" y="1865376"/>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Costo</a:t>
            </a:r>
          </a:p>
        </p:txBody>
      </p:sp>
      <p:sp>
        <p:nvSpPr>
          <p:cNvPr id="99" name="Rectangle 98"/>
          <p:cNvSpPr/>
          <p:nvPr/>
        </p:nvSpPr>
        <p:spPr>
          <a:xfrm>
            <a:off x="8458200" y="1865376"/>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8476488" y="1865376"/>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01" name="Rectangle 100"/>
          <p:cNvSpPr/>
          <p:nvPr/>
        </p:nvSpPr>
        <p:spPr>
          <a:xfrm>
            <a:off x="928116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929944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03" name="Rectangle 102"/>
          <p:cNvSpPr/>
          <p:nvPr/>
        </p:nvSpPr>
        <p:spPr>
          <a:xfrm>
            <a:off x="1051560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1053388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0.10</a:t>
            </a:r>
          </a:p>
        </p:txBody>
      </p:sp>
      <p:sp>
        <p:nvSpPr>
          <p:cNvPr id="105" name="Rectangle 104"/>
          <p:cNvSpPr/>
          <p:nvPr/>
        </p:nvSpPr>
        <p:spPr>
          <a:xfrm>
            <a:off x="5943600" y="2194560"/>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5961888" y="2194560"/>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Logística</a:t>
            </a:r>
          </a:p>
        </p:txBody>
      </p:sp>
      <p:sp>
        <p:nvSpPr>
          <p:cNvPr id="107" name="Rectangle 106"/>
          <p:cNvSpPr/>
          <p:nvPr/>
        </p:nvSpPr>
        <p:spPr>
          <a:xfrm>
            <a:off x="8458200" y="2194560"/>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476488" y="2194560"/>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09" name="Rectangle 108"/>
          <p:cNvSpPr/>
          <p:nvPr/>
        </p:nvSpPr>
        <p:spPr>
          <a:xfrm>
            <a:off x="928116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29944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1" name="Rectangle 110"/>
          <p:cNvSpPr/>
          <p:nvPr/>
        </p:nvSpPr>
        <p:spPr>
          <a:xfrm>
            <a:off x="1051560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1053388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3" name="Rectangle 112"/>
          <p:cNvSpPr/>
          <p:nvPr/>
        </p:nvSpPr>
        <p:spPr>
          <a:xfrm>
            <a:off x="5943600" y="2523744"/>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5961888" y="2523744"/>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Proveedores</a:t>
            </a:r>
          </a:p>
        </p:txBody>
      </p:sp>
      <p:sp>
        <p:nvSpPr>
          <p:cNvPr id="115" name="Rectangle 114"/>
          <p:cNvSpPr/>
          <p:nvPr/>
        </p:nvSpPr>
        <p:spPr>
          <a:xfrm>
            <a:off x="8458200" y="2523744"/>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8476488" y="2523744"/>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17" name="Rectangle 116"/>
          <p:cNvSpPr/>
          <p:nvPr/>
        </p:nvSpPr>
        <p:spPr>
          <a:xfrm>
            <a:off x="928116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929944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0.45</a:t>
            </a:r>
          </a:p>
        </p:txBody>
      </p:sp>
      <p:sp>
        <p:nvSpPr>
          <p:cNvPr id="119" name="Rectangle 118"/>
          <p:cNvSpPr/>
          <p:nvPr/>
        </p:nvSpPr>
        <p:spPr>
          <a:xfrm>
            <a:off x="1051560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053388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0.15</a:t>
            </a:r>
          </a:p>
        </p:txBody>
      </p:sp>
      <p:sp>
        <p:nvSpPr>
          <p:cNvPr id="121" name="Rectangle 120"/>
          <p:cNvSpPr/>
          <p:nvPr/>
        </p:nvSpPr>
        <p:spPr>
          <a:xfrm>
            <a:off x="5943600" y="2852927"/>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961888" y="2852927"/>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Competencia</a:t>
            </a:r>
          </a:p>
        </p:txBody>
      </p:sp>
      <p:sp>
        <p:nvSpPr>
          <p:cNvPr id="123" name="Rectangle 122"/>
          <p:cNvSpPr/>
          <p:nvPr/>
        </p:nvSpPr>
        <p:spPr>
          <a:xfrm>
            <a:off x="8458200" y="2852927"/>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8476488" y="2852927"/>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25" name="Rectangle 124"/>
          <p:cNvSpPr/>
          <p:nvPr/>
        </p:nvSpPr>
        <p:spPr>
          <a:xfrm>
            <a:off x="928116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929944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7" name="Rectangle 126"/>
          <p:cNvSpPr/>
          <p:nvPr/>
        </p:nvSpPr>
        <p:spPr>
          <a:xfrm>
            <a:off x="1051560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1053388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9" name="Rectangle 128"/>
          <p:cNvSpPr/>
          <p:nvPr/>
        </p:nvSpPr>
        <p:spPr>
          <a:xfrm>
            <a:off x="5943600" y="3182111"/>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961888" y="3182111"/>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Disponibilidad de mano de obra</a:t>
            </a:r>
          </a:p>
        </p:txBody>
      </p:sp>
      <p:sp>
        <p:nvSpPr>
          <p:cNvPr id="131" name="Rectangle 130"/>
          <p:cNvSpPr/>
          <p:nvPr/>
        </p:nvSpPr>
        <p:spPr>
          <a:xfrm>
            <a:off x="8458200" y="3182111"/>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8476488" y="3182111"/>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33" name="Rectangle 132"/>
          <p:cNvSpPr/>
          <p:nvPr/>
        </p:nvSpPr>
        <p:spPr>
          <a:xfrm>
            <a:off x="928116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29944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5" name="Rectangle 134"/>
          <p:cNvSpPr/>
          <p:nvPr/>
        </p:nvSpPr>
        <p:spPr>
          <a:xfrm>
            <a:off x="1051560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53388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7" name="Rectangle 136"/>
          <p:cNvSpPr/>
          <p:nvPr/>
        </p:nvSpPr>
        <p:spPr>
          <a:xfrm>
            <a:off x="5943600" y="3511295"/>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5961888" y="3511295"/>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Accesibilidad</a:t>
            </a:r>
          </a:p>
        </p:txBody>
      </p:sp>
      <p:sp>
        <p:nvSpPr>
          <p:cNvPr id="139" name="Rectangle 138"/>
          <p:cNvSpPr/>
          <p:nvPr/>
        </p:nvSpPr>
        <p:spPr>
          <a:xfrm>
            <a:off x="8458200" y="3511295"/>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8476488" y="3511295"/>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41" name="Rectangle 140"/>
          <p:cNvSpPr/>
          <p:nvPr/>
        </p:nvSpPr>
        <p:spPr>
          <a:xfrm>
            <a:off x="928116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929944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3" name="Rectangle 142"/>
          <p:cNvSpPr/>
          <p:nvPr/>
        </p:nvSpPr>
        <p:spPr>
          <a:xfrm>
            <a:off x="1051560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1053388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5" name="Rectangle 144"/>
          <p:cNvSpPr/>
          <p:nvPr/>
        </p:nvSpPr>
        <p:spPr>
          <a:xfrm>
            <a:off x="5943600" y="3840479"/>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961888" y="3840479"/>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Flujo de personas</a:t>
            </a:r>
          </a:p>
        </p:txBody>
      </p:sp>
      <p:sp>
        <p:nvSpPr>
          <p:cNvPr id="147" name="Rectangle 146"/>
          <p:cNvSpPr/>
          <p:nvPr/>
        </p:nvSpPr>
        <p:spPr>
          <a:xfrm>
            <a:off x="8458200" y="3840479"/>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8476488" y="3840479"/>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49" name="Rectangle 148"/>
          <p:cNvSpPr/>
          <p:nvPr/>
        </p:nvSpPr>
        <p:spPr>
          <a:xfrm>
            <a:off x="928116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929944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1" name="Rectangle 150"/>
          <p:cNvSpPr/>
          <p:nvPr/>
        </p:nvSpPr>
        <p:spPr>
          <a:xfrm>
            <a:off x="1051560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1053388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3" name="Rectangle 152"/>
          <p:cNvSpPr/>
          <p:nvPr/>
        </p:nvSpPr>
        <p:spPr>
          <a:xfrm>
            <a:off x="5943600" y="4169663"/>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961888" y="4169663"/>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Acceso a materia prima</a:t>
            </a:r>
          </a:p>
        </p:txBody>
      </p:sp>
      <p:sp>
        <p:nvSpPr>
          <p:cNvPr id="155" name="Rectangle 154"/>
          <p:cNvSpPr/>
          <p:nvPr/>
        </p:nvSpPr>
        <p:spPr>
          <a:xfrm>
            <a:off x="8458200" y="4169663"/>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8476488" y="4169663"/>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20 %</a:t>
            </a:r>
          </a:p>
        </p:txBody>
      </p:sp>
      <p:sp>
        <p:nvSpPr>
          <p:cNvPr id="157" name="Rectangle 156"/>
          <p:cNvSpPr/>
          <p:nvPr/>
        </p:nvSpPr>
        <p:spPr>
          <a:xfrm>
            <a:off x="928116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929944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0.60</a:t>
            </a:r>
          </a:p>
        </p:txBody>
      </p:sp>
      <p:sp>
        <p:nvSpPr>
          <p:cNvPr id="159" name="Rectangle 158"/>
          <p:cNvSpPr/>
          <p:nvPr/>
        </p:nvSpPr>
        <p:spPr>
          <a:xfrm>
            <a:off x="1051560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1053388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0.20</a:t>
            </a:r>
          </a:p>
        </p:txBody>
      </p:sp>
      <p:sp>
        <p:nvSpPr>
          <p:cNvPr id="161" name="Rectangle 160"/>
          <p:cNvSpPr/>
          <p:nvPr/>
        </p:nvSpPr>
        <p:spPr>
          <a:xfrm>
            <a:off x="5943600" y="4498848"/>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5961888" y="4498848"/>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Impuestos</a:t>
            </a:r>
          </a:p>
        </p:txBody>
      </p:sp>
      <p:sp>
        <p:nvSpPr>
          <p:cNvPr id="163" name="Rectangle 162"/>
          <p:cNvSpPr/>
          <p:nvPr/>
        </p:nvSpPr>
        <p:spPr>
          <a:xfrm>
            <a:off x="8458200" y="4498848"/>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8476488" y="4498848"/>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65" name="Rectangle 164"/>
          <p:cNvSpPr/>
          <p:nvPr/>
        </p:nvSpPr>
        <p:spPr>
          <a:xfrm>
            <a:off x="928116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929944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7" name="Rectangle 166"/>
          <p:cNvSpPr/>
          <p:nvPr/>
        </p:nvSpPr>
        <p:spPr>
          <a:xfrm>
            <a:off x="1051560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1053388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9" name="Rectangle 168"/>
          <p:cNvSpPr/>
          <p:nvPr/>
        </p:nvSpPr>
        <p:spPr>
          <a:xfrm>
            <a:off x="5943600" y="4828032"/>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5961888" y="4828032"/>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Permisos</a:t>
            </a:r>
          </a:p>
        </p:txBody>
      </p:sp>
      <p:sp>
        <p:nvSpPr>
          <p:cNvPr id="171" name="Rectangle 170"/>
          <p:cNvSpPr/>
          <p:nvPr/>
        </p:nvSpPr>
        <p:spPr>
          <a:xfrm>
            <a:off x="8458200" y="4828032"/>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8476488" y="4828032"/>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73" name="Rectangle 172"/>
          <p:cNvSpPr/>
          <p:nvPr/>
        </p:nvSpPr>
        <p:spPr>
          <a:xfrm>
            <a:off x="928116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929944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5" name="Rectangle 174"/>
          <p:cNvSpPr/>
          <p:nvPr/>
        </p:nvSpPr>
        <p:spPr>
          <a:xfrm>
            <a:off x="1051560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1053388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7" name="Rectangle 176"/>
          <p:cNvSpPr/>
          <p:nvPr/>
        </p:nvSpPr>
        <p:spPr>
          <a:xfrm>
            <a:off x="5943600" y="5157216"/>
            <a:ext cx="251460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5961888" y="5157216"/>
            <a:ext cx="2478024" cy="329184"/>
          </a:xfrm>
          <a:prstGeom prst="rect">
            <a:avLst/>
          </a:prstGeom>
          <a:noFill/>
        </p:spPr>
        <p:txBody>
          <a:bodyPr wrap="square" anchor="ctr" lIns="45720" rIns="45720" tIns="9144" bIns="9144">
            <a:spAutoFit/>
          </a:bodyPr>
          <a:lstStyle/>
          <a:p>
            <a:pPr algn="l"/>
            <a:r>
              <a:rPr sz="1050" b="1" i="0">
                <a:solidFill>
                  <a:srgbClr val="0D2341"/>
                </a:solidFill>
                <a:latin typeface="Calibri"/>
              </a:rPr>
              <a:t>TOTAL</a:t>
            </a:r>
          </a:p>
        </p:txBody>
      </p:sp>
      <p:sp>
        <p:nvSpPr>
          <p:cNvPr id="179" name="Rectangle 178"/>
          <p:cNvSpPr/>
          <p:nvPr/>
        </p:nvSpPr>
        <p:spPr>
          <a:xfrm>
            <a:off x="8458200" y="5157216"/>
            <a:ext cx="82296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8476488" y="5157216"/>
            <a:ext cx="78638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100 %</a:t>
            </a:r>
          </a:p>
        </p:txBody>
      </p:sp>
      <p:sp>
        <p:nvSpPr>
          <p:cNvPr id="181" name="Rectangle 180"/>
          <p:cNvSpPr/>
          <p:nvPr/>
        </p:nvSpPr>
        <p:spPr>
          <a:xfrm>
            <a:off x="928116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929944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2.50</a:t>
            </a:r>
          </a:p>
        </p:txBody>
      </p:sp>
      <p:sp>
        <p:nvSpPr>
          <p:cNvPr id="183" name="Rectangle 182"/>
          <p:cNvSpPr/>
          <p:nvPr/>
        </p:nvSpPr>
        <p:spPr>
          <a:xfrm>
            <a:off x="1051560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53388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1.60</a:t>
            </a:r>
          </a:p>
        </p:txBody>
      </p:sp>
      <p:sp>
        <p:nvSpPr>
          <p:cNvPr id="185" name="TextBox 184"/>
          <p:cNvSpPr txBox="1"/>
          <p:nvPr/>
        </p:nvSpPr>
        <p:spPr>
          <a:xfrm>
            <a:off x="5943600" y="5577840"/>
            <a:ext cx="5806440" cy="365760"/>
          </a:xfrm>
          <a:prstGeom prst="rect">
            <a:avLst/>
          </a:prstGeom>
          <a:noFill/>
        </p:spPr>
        <p:txBody>
          <a:bodyPr wrap="square" anchor="ctr">
            <a:spAutoFit/>
          </a:bodyPr>
          <a:lstStyle/>
          <a:p>
            <a:pPr algn="l"/>
            <a:r>
              <a:rPr sz="950" b="0" i="1">
                <a:solidFill>
                  <a:srgbClr val="64748B"/>
                </a:solidFill>
                <a:latin typeface="Calibri"/>
              </a:rPr>
              <a:t>Escala: 1 = bajo, 2 = medio, 3 = alto. Cada celda muestra puntaje / puntaje ponderado.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Proceso Productivo · HTST y Capacidad Instalada</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9144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9144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214884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8" name="Shape 6"/>
          <p:cNvSpPr/>
          <p:nvPr/>
        </p:nvSpPr>
        <p:spPr>
          <a:xfrm>
            <a:off x="3200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3931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Recibo de</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Leche Cruda</a:t>
            </a:r>
            <a:endParaRPr lang="en-US" sz="1250" dirty="0"/>
          </a:p>
        </p:txBody>
      </p:sp>
      <p:sp>
        <p:nvSpPr>
          <p:cNvPr id="10" name="Text 8"/>
          <p:cNvSpPr txBox="1"/>
          <p:nvPr/>
        </p:nvSpPr>
        <p:spPr>
          <a:xfrm>
            <a:off x="3931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Plataforma de recibo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Control calidad SENASA</a:t>
            </a:r>
            <a:endParaRPr lang="en-US" sz="1150" dirty="0"/>
          </a:p>
        </p:txBody>
      </p:sp>
      <p:sp>
        <p:nvSpPr>
          <p:cNvPr id="11" name="Shape 9"/>
          <p:cNvSpPr/>
          <p:nvPr/>
        </p:nvSpPr>
        <p:spPr>
          <a:xfrm>
            <a:off x="288036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288036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Shape 11"/>
          <p:cNvSpPr/>
          <p:nvPr/>
        </p:nvSpPr>
        <p:spPr>
          <a:xfrm>
            <a:off x="411480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14" name="Shape 12"/>
          <p:cNvSpPr/>
          <p:nvPr/>
        </p:nvSpPr>
        <p:spPr>
          <a:xfrm>
            <a:off x="228600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235915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Previo</a:t>
            </a:r>
            <a:endParaRPr lang="en-US" sz="1250" dirty="0"/>
          </a:p>
        </p:txBody>
      </p:sp>
      <p:sp>
        <p:nvSpPr>
          <p:cNvPr id="16" name="Text 14"/>
          <p:cNvSpPr txBox="1"/>
          <p:nvPr/>
        </p:nvSpPr>
        <p:spPr>
          <a:xfrm>
            <a:off x="235915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Tanque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Medición volumen</a:t>
            </a:r>
            <a:endParaRPr lang="en-US" sz="1150" dirty="0"/>
          </a:p>
        </p:txBody>
      </p:sp>
      <p:sp>
        <p:nvSpPr>
          <p:cNvPr id="17" name="Shape 15"/>
          <p:cNvSpPr/>
          <p:nvPr/>
        </p:nvSpPr>
        <p:spPr>
          <a:xfrm>
            <a:off x="484632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484632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Shape 17"/>
          <p:cNvSpPr/>
          <p:nvPr/>
        </p:nvSpPr>
        <p:spPr>
          <a:xfrm>
            <a:off x="608076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0" name="Shape 18"/>
          <p:cNvSpPr/>
          <p:nvPr/>
        </p:nvSpPr>
        <p:spPr>
          <a:xfrm>
            <a:off x="425196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432511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Pasteurización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HTST</a:t>
            </a:r>
            <a:endParaRPr lang="en-US" sz="1250" dirty="0"/>
          </a:p>
        </p:txBody>
      </p:sp>
      <p:sp>
        <p:nvSpPr>
          <p:cNvPr id="22" name="Text 20"/>
          <p:cNvSpPr txBox="1"/>
          <p:nvPr/>
        </p:nvSpPr>
        <p:spPr>
          <a:xfrm>
            <a:off x="432511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72 °C / 15 seg</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Placas de intercambio</a:t>
            </a:r>
            <a:endParaRPr lang="en-US" sz="1150" dirty="0"/>
          </a:p>
        </p:txBody>
      </p:sp>
      <p:sp>
        <p:nvSpPr>
          <p:cNvPr id="23" name="Shape 21"/>
          <p:cNvSpPr/>
          <p:nvPr/>
        </p:nvSpPr>
        <p:spPr>
          <a:xfrm>
            <a:off x="681228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681228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Shape 23"/>
          <p:cNvSpPr/>
          <p:nvPr/>
        </p:nvSpPr>
        <p:spPr>
          <a:xfrm>
            <a:off x="804672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6" name="Shape 24"/>
          <p:cNvSpPr/>
          <p:nvPr/>
        </p:nvSpPr>
        <p:spPr>
          <a:xfrm>
            <a:off x="621792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7" name="Text 25"/>
          <p:cNvSpPr txBox="1"/>
          <p:nvPr/>
        </p:nvSpPr>
        <p:spPr>
          <a:xfrm>
            <a:off x="629107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Final</a:t>
            </a:r>
            <a:endParaRPr lang="en-US" sz="1250" dirty="0"/>
          </a:p>
        </p:txBody>
      </p:sp>
      <p:sp>
        <p:nvSpPr>
          <p:cNvPr id="28" name="Text 26"/>
          <p:cNvSpPr txBox="1"/>
          <p:nvPr/>
        </p:nvSpPr>
        <p:spPr>
          <a:xfrm>
            <a:off x="629107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Reducción a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Equipo intercamb.</a:t>
            </a:r>
            <a:endParaRPr lang="en-US" sz="1150" dirty="0"/>
          </a:p>
        </p:txBody>
      </p:sp>
      <p:sp>
        <p:nvSpPr>
          <p:cNvPr id="29" name="Shape 27"/>
          <p:cNvSpPr/>
          <p:nvPr/>
        </p:nvSpPr>
        <p:spPr>
          <a:xfrm>
            <a:off x="877824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0" name="Text 28"/>
          <p:cNvSpPr txBox="1"/>
          <p:nvPr/>
        </p:nvSpPr>
        <p:spPr>
          <a:xfrm>
            <a:off x="877824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Shape 29"/>
          <p:cNvSpPr/>
          <p:nvPr/>
        </p:nvSpPr>
        <p:spPr>
          <a:xfrm>
            <a:off x="1001268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32" name="Shape 30"/>
          <p:cNvSpPr/>
          <p:nvPr/>
        </p:nvSpPr>
        <p:spPr>
          <a:xfrm>
            <a:off x="818388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825703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Envasado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en Bolsa</a:t>
            </a:r>
            <a:endParaRPr lang="en-US" sz="1250" dirty="0"/>
          </a:p>
        </p:txBody>
      </p:sp>
      <p:sp>
        <p:nvSpPr>
          <p:cNvPr id="34" name="Text 32"/>
          <p:cNvSpPr txBox="1"/>
          <p:nvPr/>
        </p:nvSpPr>
        <p:spPr>
          <a:xfrm>
            <a:off x="825703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Bolsa polietileno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1 litro / 500 ml</a:t>
            </a:r>
            <a:endParaRPr lang="en-US" sz="1150" dirty="0"/>
          </a:p>
        </p:txBody>
      </p:sp>
      <p:sp>
        <p:nvSpPr>
          <p:cNvPr id="35" name="Shape 33"/>
          <p:cNvSpPr/>
          <p:nvPr/>
        </p:nvSpPr>
        <p:spPr>
          <a:xfrm>
            <a:off x="107442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107442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7" name="Shape 35"/>
          <p:cNvSpPr/>
          <p:nvPr/>
        </p:nvSpPr>
        <p:spPr>
          <a:xfrm>
            <a:off x="101498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102229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Distribución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Cadena Frío</a:t>
            </a:r>
            <a:endParaRPr lang="en-US" sz="1250" dirty="0"/>
          </a:p>
        </p:txBody>
      </p:sp>
      <p:sp>
        <p:nvSpPr>
          <p:cNvPr id="39" name="Text 37"/>
          <p:cNvSpPr txBox="1"/>
          <p:nvPr/>
        </p:nvSpPr>
        <p:spPr>
          <a:xfrm>
            <a:off x="102229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Camión refrigerado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4 °C constante</a:t>
            </a:r>
            <a:endParaRPr lang="en-US" sz="1150" dirty="0"/>
          </a:p>
        </p:txBody>
      </p:sp>
      <p:sp>
        <p:nvSpPr>
          <p:cNvPr id="40" name="Shape 38"/>
          <p:cNvSpPr/>
          <p:nvPr/>
        </p:nvSpPr>
        <p:spPr>
          <a:xfrm>
            <a:off x="320040"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1" name="Text 39"/>
          <p:cNvSpPr txBox="1"/>
          <p:nvPr/>
        </p:nvSpPr>
        <p:spPr>
          <a:xfrm>
            <a:off x="411480"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1,000 L/día</a:t>
            </a:r>
            <a:endParaRPr lang="en-US" sz="2000" dirty="0"/>
          </a:p>
        </p:txBody>
      </p:sp>
      <p:sp>
        <p:nvSpPr>
          <p:cNvPr id="42" name="Text 40"/>
          <p:cNvSpPr txBox="1"/>
          <p:nvPr/>
        </p:nvSpPr>
        <p:spPr>
          <a:xfrm>
            <a:off x="411480"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inicial</a:t>
            </a:r>
            <a:endParaRPr lang="en-US" sz="1150" dirty="0"/>
          </a:p>
        </p:txBody>
      </p:sp>
      <p:sp>
        <p:nvSpPr>
          <p:cNvPr id="43" name="Shape 41"/>
          <p:cNvSpPr/>
          <p:nvPr/>
        </p:nvSpPr>
        <p:spPr>
          <a:xfrm>
            <a:off x="3227832"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4" name="Text 42"/>
          <p:cNvSpPr txBox="1"/>
          <p:nvPr/>
        </p:nvSpPr>
        <p:spPr>
          <a:xfrm>
            <a:off x="3319272"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5,000 L/día</a:t>
            </a:r>
            <a:endParaRPr lang="en-US" sz="2000" dirty="0"/>
          </a:p>
        </p:txBody>
      </p:sp>
      <p:sp>
        <p:nvSpPr>
          <p:cNvPr id="45" name="Text 43"/>
          <p:cNvSpPr txBox="1"/>
          <p:nvPr/>
        </p:nvSpPr>
        <p:spPr>
          <a:xfrm>
            <a:off x="3319272"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máxima (escalable)</a:t>
            </a:r>
            <a:endParaRPr lang="en-US" sz="1150" dirty="0"/>
          </a:p>
        </p:txBody>
      </p:sp>
      <p:sp>
        <p:nvSpPr>
          <p:cNvPr id="46" name="Shape 44"/>
          <p:cNvSpPr/>
          <p:nvPr/>
        </p:nvSpPr>
        <p:spPr>
          <a:xfrm>
            <a:off x="6135624"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7" name="Text 45"/>
          <p:cNvSpPr txBox="1"/>
          <p:nvPr/>
        </p:nvSpPr>
        <p:spPr>
          <a:xfrm>
            <a:off x="6227064"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72 °C / 15s</a:t>
            </a:r>
            <a:endParaRPr lang="en-US" sz="2000" dirty="0"/>
          </a:p>
        </p:txBody>
      </p:sp>
      <p:sp>
        <p:nvSpPr>
          <p:cNvPr id="48" name="Text 46"/>
          <p:cNvSpPr txBox="1"/>
          <p:nvPr/>
        </p:nvSpPr>
        <p:spPr>
          <a:xfrm>
            <a:off x="6227064"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Parámetro HTST</a:t>
            </a:r>
            <a:endParaRPr lang="en-US" sz="1150" dirty="0"/>
          </a:p>
        </p:txBody>
      </p:sp>
      <p:sp>
        <p:nvSpPr>
          <p:cNvPr id="49" name="Shape 47"/>
          <p:cNvSpPr/>
          <p:nvPr/>
        </p:nvSpPr>
        <p:spPr>
          <a:xfrm>
            <a:off x="9043416"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50" name="Text 48"/>
          <p:cNvSpPr txBox="1"/>
          <p:nvPr/>
        </p:nvSpPr>
        <p:spPr>
          <a:xfrm>
            <a:off x="9134856"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4 °C</a:t>
            </a:r>
            <a:endParaRPr lang="en-US" sz="2000" dirty="0"/>
          </a:p>
        </p:txBody>
      </p:sp>
      <p:sp>
        <p:nvSpPr>
          <p:cNvPr id="51" name="Text 49"/>
          <p:cNvSpPr txBox="1"/>
          <p:nvPr/>
        </p:nvSpPr>
        <p:spPr>
          <a:xfrm>
            <a:off x="9134856"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Temperatura cadena de frío</a:t>
            </a:r>
            <a:endParaRPr lang="en-US" sz="1150" dirty="0"/>
          </a:p>
        </p:txBody>
      </p:sp>
      <p:sp>
        <p:nvSpPr>
          <p:cNvPr id="52" name="Shape 50"/>
          <p:cNvSpPr/>
          <p:nvPr/>
        </p:nvSpPr>
        <p:spPr>
          <a:xfrm>
            <a:off x="320040" y="5623560"/>
            <a:ext cx="11430000" cy="640080"/>
          </a:xfrm>
          <a:prstGeom prst="rect">
            <a:avLst/>
          </a:prstGeom>
          <a:solidFill>
            <a:srgbClr val="1B3A5C"/>
          </a:solidFill>
          <a:ln w="12700">
            <a:solidFill>
              <a:srgbClr val="1B3A5C"/>
            </a:solidFill>
            <a:prstDash val="solid"/>
          </a:ln>
        </p:spPr>
        <p:txBody>
          <a:bodyPr/>
          <a:lstStyle/>
          <a:p>
            <a:endParaRPr lang="es-CO"/>
          </a:p>
        </p:txBody>
      </p:sp>
      <p:sp>
        <p:nvSpPr>
          <p:cNvPr id="53" name="Text 51"/>
          <p:cNvSpPr txBox="1"/>
          <p:nvPr/>
        </p:nvSpPr>
        <p:spPr>
          <a:xfrm>
            <a:off x="457200" y="5742432"/>
            <a:ext cx="11155680" cy="3657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Sistema HACCP implementable desde inicio · Control microbiológico diario · Trazabilidad completa del lote · BPM y POES</a:t>
            </a:r>
            <a:endParaRPr lang="en-US" sz="1200" dirty="0"/>
          </a:p>
        </p:txBody>
      </p:sp>
      <p:sp>
        <p:nvSpPr>
          <p:cNvPr id="54" name="Text 5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LEGAL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Legal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5349240" cy="475488"/>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2976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ARSA</a:t>
            </a:r>
            <a:endParaRPr lang="en-US" sz="1600" dirty="0"/>
          </a:p>
        </p:txBody>
      </p:sp>
      <p:sp>
        <p:nvSpPr>
          <p:cNvPr id="8" name="Text 6"/>
          <p:cNvSpPr txBox="1"/>
          <p:nvPr/>
        </p:nvSpPr>
        <p:spPr>
          <a:xfrm>
            <a:off x="173736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Agencia de Regulación Sanitaria</a:t>
            </a:r>
            <a:endParaRPr lang="en-US" sz="1100" dirty="0"/>
          </a:p>
        </p:txBody>
      </p:sp>
      <p:sp>
        <p:nvSpPr>
          <p:cNvPr id="9" name="Text 7"/>
          <p:cNvSpPr txBox="1"/>
          <p:nvPr/>
        </p:nvSpPr>
        <p:spPr>
          <a:xfrm>
            <a:off x="429768" y="173736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59436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sanitaria de establecimiento procesador</a:t>
            </a:r>
            <a:endParaRPr lang="en-US" sz="1150" dirty="0"/>
          </a:p>
        </p:txBody>
      </p:sp>
      <p:sp>
        <p:nvSpPr>
          <p:cNvPr id="11" name="Text 9"/>
          <p:cNvSpPr txBox="1"/>
          <p:nvPr/>
        </p:nvSpPr>
        <p:spPr>
          <a:xfrm>
            <a:off x="429768" y="224028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59436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sanitario del producto (leche pasteurizada)</a:t>
            </a:r>
            <a:endParaRPr lang="en-US" sz="1150" dirty="0"/>
          </a:p>
        </p:txBody>
      </p:sp>
      <p:sp>
        <p:nvSpPr>
          <p:cNvPr id="13" name="Text 11"/>
          <p:cNvSpPr txBox="1"/>
          <p:nvPr/>
        </p:nvSpPr>
        <p:spPr>
          <a:xfrm>
            <a:off x="429768" y="274320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59436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Análisis de laboratorio y etiqueta del producto</a:t>
            </a:r>
            <a:endParaRPr lang="en-US" sz="1150" dirty="0"/>
          </a:p>
        </p:txBody>
      </p:sp>
      <p:sp>
        <p:nvSpPr>
          <p:cNvPr id="15" name="Shape 13"/>
          <p:cNvSpPr/>
          <p:nvPr/>
        </p:nvSpPr>
        <p:spPr>
          <a:xfrm>
            <a:off x="635508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6355080" y="1143000"/>
            <a:ext cx="5349240" cy="475488"/>
          </a:xfrm>
          <a:prstGeom prst="rect">
            <a:avLst/>
          </a:prstGeom>
          <a:solidFill>
            <a:srgbClr val="1B3A5C"/>
          </a:solidFill>
          <a:ln w="12700">
            <a:solidFill>
              <a:srgbClr val="1B3A5C"/>
            </a:solidFill>
            <a:prstDash val="solid"/>
          </a:ln>
        </p:spPr>
        <p:txBody>
          <a:bodyPr/>
          <a:lstStyle/>
          <a:p>
            <a:endParaRPr lang="es-CO"/>
          </a:p>
        </p:txBody>
      </p:sp>
      <p:sp>
        <p:nvSpPr>
          <p:cNvPr id="17" name="Text 15"/>
          <p:cNvSpPr txBox="1"/>
          <p:nvPr/>
        </p:nvSpPr>
        <p:spPr>
          <a:xfrm>
            <a:off x="646480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SENASA</a:t>
            </a:r>
            <a:endParaRPr lang="en-US" sz="1600" dirty="0"/>
          </a:p>
        </p:txBody>
      </p:sp>
      <p:sp>
        <p:nvSpPr>
          <p:cNvPr id="18" name="Text 16"/>
          <p:cNvSpPr txBox="1"/>
          <p:nvPr/>
        </p:nvSpPr>
        <p:spPr>
          <a:xfrm>
            <a:off x="777240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Servicio Nacional de Sanidad e Inocuidad Agroalimentaria</a:t>
            </a:r>
            <a:endParaRPr lang="en-US" sz="1100" dirty="0"/>
          </a:p>
        </p:txBody>
      </p:sp>
      <p:sp>
        <p:nvSpPr>
          <p:cNvPr id="19" name="Text 17"/>
          <p:cNvSpPr txBox="1"/>
          <p:nvPr/>
        </p:nvSpPr>
        <p:spPr>
          <a:xfrm>
            <a:off x="6464808" y="173736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62940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Permiso de funcionamiento como planta procesadora</a:t>
            </a:r>
            <a:endParaRPr lang="en-US" sz="1150" dirty="0"/>
          </a:p>
        </p:txBody>
      </p:sp>
      <p:sp>
        <p:nvSpPr>
          <p:cNvPr id="21" name="Text 19"/>
          <p:cNvSpPr txBox="1"/>
          <p:nvPr/>
        </p:nvSpPr>
        <p:spPr>
          <a:xfrm>
            <a:off x="6464808" y="224028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662940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de establecimiento procesador de origen animal</a:t>
            </a:r>
            <a:endParaRPr lang="en-US" sz="1150" dirty="0"/>
          </a:p>
        </p:txBody>
      </p:sp>
      <p:sp>
        <p:nvSpPr>
          <p:cNvPr id="23" name="Text 21"/>
          <p:cNvSpPr txBox="1"/>
          <p:nvPr/>
        </p:nvSpPr>
        <p:spPr>
          <a:xfrm>
            <a:off x="6464808" y="274320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662940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Inspección de planta y plan de BPM y POES</a:t>
            </a:r>
            <a:endParaRPr lang="en-US" sz="1150" dirty="0"/>
          </a:p>
        </p:txBody>
      </p:sp>
      <p:sp>
        <p:nvSpPr>
          <p:cNvPr id="25" name="Shape 23"/>
          <p:cNvSpPr/>
          <p:nvPr/>
        </p:nvSpPr>
        <p:spPr>
          <a:xfrm>
            <a:off x="32004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320040" y="3611880"/>
            <a:ext cx="5349240" cy="475488"/>
          </a:xfrm>
          <a:prstGeom prst="rect">
            <a:avLst/>
          </a:prstGeom>
          <a:solidFill>
            <a:srgbClr val="B5862A"/>
          </a:solidFill>
          <a:ln w="12700">
            <a:solidFill>
              <a:srgbClr val="B5862A"/>
            </a:solidFill>
            <a:prstDash val="solid"/>
          </a:ln>
        </p:spPr>
        <p:txBody>
          <a:bodyPr/>
          <a:lstStyle/>
          <a:p>
            <a:endParaRPr lang="es-CO"/>
          </a:p>
        </p:txBody>
      </p:sp>
      <p:sp>
        <p:nvSpPr>
          <p:cNvPr id="27" name="Text 25"/>
          <p:cNvSpPr txBox="1"/>
          <p:nvPr/>
        </p:nvSpPr>
        <p:spPr>
          <a:xfrm>
            <a:off x="429768" y="367588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SAG</a:t>
            </a:r>
            <a:endParaRPr lang="en-US" sz="1600" dirty="0"/>
          </a:p>
        </p:txBody>
      </p:sp>
      <p:sp>
        <p:nvSpPr>
          <p:cNvPr id="28" name="Text 26"/>
          <p:cNvSpPr txBox="1"/>
          <p:nvPr/>
        </p:nvSpPr>
        <p:spPr>
          <a:xfrm>
            <a:off x="173736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Agricultura y Ganadería</a:t>
            </a:r>
            <a:endParaRPr lang="en-US" sz="1100" dirty="0"/>
          </a:p>
        </p:txBody>
      </p:sp>
      <p:sp>
        <p:nvSpPr>
          <p:cNvPr id="29" name="Text 27"/>
          <p:cNvSpPr txBox="1"/>
          <p:nvPr/>
        </p:nvSpPr>
        <p:spPr>
          <a:xfrm>
            <a:off x="429768" y="420624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59436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Rectoría sanitaria del sector lácteo a través de SENASA</a:t>
            </a:r>
            <a:endParaRPr lang="en-US" sz="1150" dirty="0"/>
          </a:p>
        </p:txBody>
      </p:sp>
      <p:sp>
        <p:nvSpPr>
          <p:cNvPr id="31" name="Text 29"/>
          <p:cNvSpPr txBox="1"/>
          <p:nvPr/>
        </p:nvSpPr>
        <p:spPr>
          <a:xfrm>
            <a:off x="429768" y="470916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59436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Reglamento de Inspección y Certificación Sanitaria de la Leche</a:t>
            </a:r>
            <a:endParaRPr lang="en-US" sz="1150" dirty="0"/>
          </a:p>
        </p:txBody>
      </p:sp>
      <p:sp>
        <p:nvSpPr>
          <p:cNvPr id="33" name="Text 31"/>
          <p:cNvSpPr txBox="1"/>
          <p:nvPr/>
        </p:nvSpPr>
        <p:spPr>
          <a:xfrm>
            <a:off x="429768" y="521208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59436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67.04.66:12 (leche pasteurizada) y 67.04.50:17</a:t>
            </a:r>
            <a:endParaRPr lang="en-US" sz="1150" dirty="0"/>
          </a:p>
        </p:txBody>
      </p:sp>
      <p:sp>
        <p:nvSpPr>
          <p:cNvPr id="35" name="Shape 33"/>
          <p:cNvSpPr/>
          <p:nvPr/>
        </p:nvSpPr>
        <p:spPr>
          <a:xfrm>
            <a:off x="635508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36" name="Shape 34"/>
          <p:cNvSpPr/>
          <p:nvPr/>
        </p:nvSpPr>
        <p:spPr>
          <a:xfrm>
            <a:off x="6355080" y="3611880"/>
            <a:ext cx="5349240" cy="475488"/>
          </a:xfrm>
          <a:prstGeom prst="rect">
            <a:avLst/>
          </a:prstGeom>
          <a:solidFill>
            <a:srgbClr val="C0392B"/>
          </a:solidFill>
          <a:ln w="12700">
            <a:solidFill>
              <a:srgbClr val="C0392B"/>
            </a:solidFill>
            <a:prstDash val="solid"/>
          </a:ln>
        </p:spPr>
        <p:txBody>
          <a:bodyPr/>
          <a:lstStyle/>
          <a:p>
            <a:endParaRPr lang="es-CO"/>
          </a:p>
        </p:txBody>
      </p:sp>
      <p:sp>
        <p:nvSpPr>
          <p:cNvPr id="37" name="Text 35"/>
          <p:cNvSpPr txBox="1"/>
          <p:nvPr/>
        </p:nvSpPr>
        <p:spPr>
          <a:xfrm>
            <a:off x="6464807" y="3675888"/>
            <a:ext cx="1444361"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MIAMBIENTE</a:t>
            </a:r>
            <a:endParaRPr lang="en-US" sz="1600" dirty="0"/>
          </a:p>
        </p:txBody>
      </p:sp>
      <p:sp>
        <p:nvSpPr>
          <p:cNvPr id="38" name="Text 36"/>
          <p:cNvSpPr txBox="1"/>
          <p:nvPr/>
        </p:nvSpPr>
        <p:spPr>
          <a:xfrm>
            <a:off x="777240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Recursos Naturales y Ambiente</a:t>
            </a:r>
            <a:endParaRPr lang="en-US" sz="1100" dirty="0"/>
          </a:p>
        </p:txBody>
      </p:sp>
      <p:sp>
        <p:nvSpPr>
          <p:cNvPr id="39" name="Text 37"/>
          <p:cNvSpPr txBox="1"/>
          <p:nvPr/>
        </p:nvSpPr>
        <p:spPr>
          <a:xfrm>
            <a:off x="6464808" y="420624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662940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Evaluación de Impacto Ambiental (EIA) preoperacional</a:t>
            </a:r>
            <a:endParaRPr lang="en-US" sz="1150" dirty="0"/>
          </a:p>
        </p:txBody>
      </p:sp>
      <p:sp>
        <p:nvSpPr>
          <p:cNvPr id="41" name="Text 39"/>
          <p:cNvSpPr txBox="1"/>
          <p:nvPr/>
        </p:nvSpPr>
        <p:spPr>
          <a:xfrm>
            <a:off x="6464808" y="470916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2" name="Text 40"/>
          <p:cNvSpPr txBox="1"/>
          <p:nvPr/>
        </p:nvSpPr>
        <p:spPr>
          <a:xfrm>
            <a:off x="662940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ambiental</a:t>
            </a:r>
            <a:endParaRPr lang="en-US" sz="1150" dirty="0"/>
          </a:p>
        </p:txBody>
      </p:sp>
      <p:sp>
        <p:nvSpPr>
          <p:cNvPr id="43" name="Text 41"/>
          <p:cNvSpPr txBox="1"/>
          <p:nvPr/>
        </p:nvSpPr>
        <p:spPr>
          <a:xfrm>
            <a:off x="6464808" y="521208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4" name="Text 42"/>
          <p:cNvSpPr txBox="1"/>
          <p:nvPr/>
        </p:nvSpPr>
        <p:spPr>
          <a:xfrm>
            <a:off x="662940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Autorización de manejo y descarga de efluentes</a:t>
            </a:r>
            <a:endParaRPr lang="en-US" sz="1150" dirty="0"/>
          </a:p>
        </p:txBody>
      </p:sp>
      <p:sp>
        <p:nvSpPr>
          <p:cNvPr id="45" name="Text 4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ADMINISTRATIVO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Estudio Administrativo · Estructura Organizacional</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6" name="Text 5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57" name="Rectangle 56"/>
          <p:cNvSpPr/>
          <p:nvPr/>
        </p:nvSpPr>
        <p:spPr>
          <a:xfrm>
            <a:off x="4480560" y="1234440"/>
            <a:ext cx="32004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480560" y="1234440"/>
            <a:ext cx="3200400" cy="502920"/>
          </a:xfrm>
          <a:prstGeom prst="rect">
            <a:avLst/>
          </a:prstGeom>
          <a:noFill/>
        </p:spPr>
        <p:txBody>
          <a:bodyPr wrap="square" anchor="ctr">
            <a:spAutoFit/>
          </a:bodyPr>
          <a:lstStyle/>
          <a:p>
            <a:pPr algn="ctr"/>
            <a:r>
              <a:rPr sz="1300" b="1" i="0">
                <a:solidFill>
                  <a:srgbClr val="FFFFFF"/>
                </a:solidFill>
                <a:latin typeface="Calibri"/>
              </a:rPr>
              <a:t>Gerente de Operaciones</a:t>
            </a:r>
          </a:p>
        </p:txBody>
      </p:sp>
      <p:sp>
        <p:nvSpPr>
          <p:cNvPr id="59" name="Rectangle 58"/>
          <p:cNvSpPr/>
          <p:nvPr/>
        </p:nvSpPr>
        <p:spPr>
          <a:xfrm>
            <a:off x="6071616" y="1737360"/>
            <a:ext cx="27432" cy="50292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481328" y="2231136"/>
            <a:ext cx="8622792" cy="27432"/>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8132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4864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48640" y="2542032"/>
            <a:ext cx="1892807" cy="603504"/>
          </a:xfrm>
          <a:prstGeom prst="rect">
            <a:avLst/>
          </a:prstGeom>
          <a:noFill/>
        </p:spPr>
        <p:txBody>
          <a:bodyPr wrap="square" anchor="ctr">
            <a:spAutoFit/>
          </a:bodyPr>
          <a:lstStyle/>
          <a:p>
            <a:pPr algn="ctr"/>
            <a:r>
              <a:rPr sz="1050" b="1" i="0">
                <a:solidFill>
                  <a:srgbClr val="FFFFFF"/>
                </a:solidFill>
                <a:latin typeface="Calibri"/>
              </a:rPr>
              <a:t>Asistente de televenta</a:t>
            </a:r>
          </a:p>
          <a:p>
            <a:pPr algn="ctr"/>
            <a:r>
              <a:rPr sz="1050" b="1" i="0">
                <a:solidFill>
                  <a:srgbClr val="FFFFFF"/>
                </a:solidFill>
                <a:latin typeface="Calibri"/>
              </a:rPr>
              <a:t>y facturación</a:t>
            </a:r>
          </a:p>
        </p:txBody>
      </p:sp>
      <p:sp>
        <p:nvSpPr>
          <p:cNvPr id="64" name="Rectangle 63"/>
          <p:cNvSpPr/>
          <p:nvPr/>
        </p:nvSpPr>
        <p:spPr>
          <a:xfrm>
            <a:off x="54864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548640" y="3200400"/>
            <a:ext cx="1892807" cy="301752"/>
          </a:xfrm>
          <a:prstGeom prst="rect">
            <a:avLst/>
          </a:prstGeom>
          <a:noFill/>
        </p:spPr>
        <p:txBody>
          <a:bodyPr wrap="square" anchor="ctr">
            <a:spAutoFit/>
          </a:bodyPr>
          <a:lstStyle/>
          <a:p>
            <a:pPr algn="ctr"/>
            <a:r>
              <a:rPr sz="950" b="0" i="0">
                <a:solidFill>
                  <a:srgbClr val="334155"/>
                </a:solidFill>
                <a:latin typeface="Calibri"/>
              </a:rPr>
              <a:t>Pedidos y cartera</a:t>
            </a:r>
          </a:p>
        </p:txBody>
      </p:sp>
      <p:sp>
        <p:nvSpPr>
          <p:cNvPr id="66" name="Rectangle 65"/>
          <p:cNvSpPr/>
          <p:nvPr/>
        </p:nvSpPr>
        <p:spPr>
          <a:xfrm>
            <a:off x="54864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548640" y="3547872"/>
            <a:ext cx="1892807" cy="301752"/>
          </a:xfrm>
          <a:prstGeom prst="rect">
            <a:avLst/>
          </a:prstGeom>
          <a:noFill/>
        </p:spPr>
        <p:txBody>
          <a:bodyPr wrap="square" anchor="ctr">
            <a:spAutoFit/>
          </a:bodyPr>
          <a:lstStyle/>
          <a:p>
            <a:pPr algn="ctr"/>
            <a:r>
              <a:rPr sz="950" b="0" i="0">
                <a:solidFill>
                  <a:srgbClr val="334155"/>
                </a:solidFill>
                <a:latin typeface="Calibri"/>
              </a:rPr>
              <a:t>Facturación</a:t>
            </a:r>
          </a:p>
        </p:txBody>
      </p:sp>
      <p:sp>
        <p:nvSpPr>
          <p:cNvPr id="68" name="Rectangle 67"/>
          <p:cNvSpPr/>
          <p:nvPr/>
        </p:nvSpPr>
        <p:spPr>
          <a:xfrm>
            <a:off x="54864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548640" y="3895344"/>
            <a:ext cx="1892807" cy="301752"/>
          </a:xfrm>
          <a:prstGeom prst="rect">
            <a:avLst/>
          </a:prstGeom>
          <a:noFill/>
        </p:spPr>
        <p:txBody>
          <a:bodyPr wrap="square" anchor="ctr">
            <a:spAutoFit/>
          </a:bodyPr>
          <a:lstStyle/>
          <a:p>
            <a:pPr algn="ctr"/>
            <a:r>
              <a:rPr sz="950" b="0" i="0">
                <a:solidFill>
                  <a:srgbClr val="334155"/>
                </a:solidFill>
                <a:latin typeface="Calibri"/>
              </a:rPr>
              <a:t>Reportes de ventas</a:t>
            </a:r>
          </a:p>
        </p:txBody>
      </p:sp>
      <p:sp>
        <p:nvSpPr>
          <p:cNvPr id="70" name="Rectangle 69"/>
          <p:cNvSpPr/>
          <p:nvPr/>
        </p:nvSpPr>
        <p:spPr>
          <a:xfrm>
            <a:off x="363016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269748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2697480" y="2542032"/>
            <a:ext cx="1892807" cy="603504"/>
          </a:xfrm>
          <a:prstGeom prst="rect">
            <a:avLst/>
          </a:prstGeom>
          <a:noFill/>
        </p:spPr>
        <p:txBody>
          <a:bodyPr wrap="square" anchor="ctr">
            <a:spAutoFit/>
          </a:bodyPr>
          <a:lstStyle/>
          <a:p>
            <a:pPr algn="ctr"/>
            <a:r>
              <a:rPr sz="1050" b="1" i="0">
                <a:solidFill>
                  <a:srgbClr val="FFFFFF"/>
                </a:solidFill>
                <a:latin typeface="Calibri"/>
              </a:rPr>
              <a:t>Operador de recibo</a:t>
            </a:r>
          </a:p>
          <a:p>
            <a:pPr algn="ctr"/>
            <a:r>
              <a:rPr sz="1050" b="1" i="0">
                <a:solidFill>
                  <a:srgbClr val="FFFFFF"/>
                </a:solidFill>
                <a:latin typeface="Calibri"/>
              </a:rPr>
              <a:t>y despacho</a:t>
            </a:r>
          </a:p>
        </p:txBody>
      </p:sp>
      <p:sp>
        <p:nvSpPr>
          <p:cNvPr id="73" name="Rectangle 72"/>
          <p:cNvSpPr/>
          <p:nvPr/>
        </p:nvSpPr>
        <p:spPr>
          <a:xfrm>
            <a:off x="269748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697480" y="3200400"/>
            <a:ext cx="1892807" cy="301752"/>
          </a:xfrm>
          <a:prstGeom prst="rect">
            <a:avLst/>
          </a:prstGeom>
          <a:noFill/>
        </p:spPr>
        <p:txBody>
          <a:bodyPr wrap="square" anchor="ctr">
            <a:spAutoFit/>
          </a:bodyPr>
          <a:lstStyle/>
          <a:p>
            <a:pPr algn="ctr"/>
            <a:r>
              <a:rPr sz="950" b="0" i="0">
                <a:solidFill>
                  <a:srgbClr val="334155"/>
                </a:solidFill>
                <a:latin typeface="Calibri"/>
              </a:rPr>
              <a:t>Recepción y temperatura</a:t>
            </a:r>
          </a:p>
        </p:txBody>
      </p:sp>
      <p:sp>
        <p:nvSpPr>
          <p:cNvPr id="75" name="Rectangle 74"/>
          <p:cNvSpPr/>
          <p:nvPr/>
        </p:nvSpPr>
        <p:spPr>
          <a:xfrm>
            <a:off x="269748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97480" y="3547872"/>
            <a:ext cx="1892807" cy="301752"/>
          </a:xfrm>
          <a:prstGeom prst="rect">
            <a:avLst/>
          </a:prstGeom>
          <a:noFill/>
        </p:spPr>
        <p:txBody>
          <a:bodyPr wrap="square" anchor="ctr">
            <a:spAutoFit/>
          </a:bodyPr>
          <a:lstStyle/>
          <a:p>
            <a:pPr algn="ctr"/>
            <a:r>
              <a:rPr sz="950" b="0" i="0">
                <a:solidFill>
                  <a:srgbClr val="334155"/>
                </a:solidFill>
                <a:latin typeface="Calibri"/>
              </a:rPr>
              <a:t>Carga y descarga</a:t>
            </a:r>
          </a:p>
        </p:txBody>
      </p:sp>
      <p:sp>
        <p:nvSpPr>
          <p:cNvPr id="77" name="Rectangle 76"/>
          <p:cNvSpPr/>
          <p:nvPr/>
        </p:nvSpPr>
        <p:spPr>
          <a:xfrm>
            <a:off x="269748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697480" y="3895344"/>
            <a:ext cx="1892807" cy="301752"/>
          </a:xfrm>
          <a:prstGeom prst="rect">
            <a:avLst/>
          </a:prstGeom>
          <a:noFill/>
        </p:spPr>
        <p:txBody>
          <a:bodyPr wrap="square" anchor="ctr">
            <a:spAutoFit/>
          </a:bodyPr>
          <a:lstStyle/>
          <a:p>
            <a:pPr algn="ctr"/>
            <a:r>
              <a:rPr sz="950" b="0" i="0">
                <a:solidFill>
                  <a:srgbClr val="334155"/>
                </a:solidFill>
                <a:latin typeface="Calibri"/>
              </a:rPr>
              <a:t>Trazabilidad</a:t>
            </a:r>
          </a:p>
        </p:txBody>
      </p:sp>
      <p:sp>
        <p:nvSpPr>
          <p:cNvPr id="79" name="Rectangle 78"/>
          <p:cNvSpPr/>
          <p:nvPr/>
        </p:nvSpPr>
        <p:spPr>
          <a:xfrm>
            <a:off x="577900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484632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846320" y="2542032"/>
            <a:ext cx="1892807" cy="603504"/>
          </a:xfrm>
          <a:prstGeom prst="rect">
            <a:avLst/>
          </a:prstGeom>
          <a:noFill/>
        </p:spPr>
        <p:txBody>
          <a:bodyPr wrap="square" anchor="ctr">
            <a:spAutoFit/>
          </a:bodyPr>
          <a:lstStyle/>
          <a:p>
            <a:pPr algn="ctr"/>
            <a:r>
              <a:rPr sz="1050" b="1" i="0">
                <a:solidFill>
                  <a:srgbClr val="FFFFFF"/>
                </a:solidFill>
                <a:latin typeface="Calibri"/>
              </a:rPr>
              <a:t>Operador de pasteuri-</a:t>
            </a:r>
          </a:p>
          <a:p>
            <a:pPr algn="ctr"/>
            <a:r>
              <a:rPr sz="1050" b="1" i="0">
                <a:solidFill>
                  <a:srgbClr val="FFFFFF"/>
                </a:solidFill>
                <a:latin typeface="Calibri"/>
              </a:rPr>
              <a:t>zación y empaque</a:t>
            </a:r>
          </a:p>
        </p:txBody>
      </p:sp>
      <p:sp>
        <p:nvSpPr>
          <p:cNvPr id="82" name="Rectangle 81"/>
          <p:cNvSpPr/>
          <p:nvPr/>
        </p:nvSpPr>
        <p:spPr>
          <a:xfrm>
            <a:off x="484632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846320" y="3200400"/>
            <a:ext cx="1892807" cy="301752"/>
          </a:xfrm>
          <a:prstGeom prst="rect">
            <a:avLst/>
          </a:prstGeom>
          <a:noFill/>
        </p:spPr>
        <p:txBody>
          <a:bodyPr wrap="square" anchor="ctr">
            <a:spAutoFit/>
          </a:bodyPr>
          <a:lstStyle/>
          <a:p>
            <a:pPr algn="ctr"/>
            <a:r>
              <a:rPr sz="950" b="0" i="0">
                <a:solidFill>
                  <a:srgbClr val="334155"/>
                </a:solidFill>
                <a:latin typeface="Calibri"/>
              </a:rPr>
              <a:t>Pasteurización HTST</a:t>
            </a:r>
          </a:p>
        </p:txBody>
      </p:sp>
      <p:sp>
        <p:nvSpPr>
          <p:cNvPr id="84" name="Rectangle 83"/>
          <p:cNvSpPr/>
          <p:nvPr/>
        </p:nvSpPr>
        <p:spPr>
          <a:xfrm>
            <a:off x="484632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846320" y="3547872"/>
            <a:ext cx="1892807" cy="301752"/>
          </a:xfrm>
          <a:prstGeom prst="rect">
            <a:avLst/>
          </a:prstGeom>
          <a:noFill/>
        </p:spPr>
        <p:txBody>
          <a:bodyPr wrap="square" anchor="ctr">
            <a:spAutoFit/>
          </a:bodyPr>
          <a:lstStyle/>
          <a:p>
            <a:pPr algn="ctr"/>
            <a:r>
              <a:rPr sz="950" b="0" i="0">
                <a:solidFill>
                  <a:srgbClr val="334155"/>
                </a:solidFill>
                <a:latin typeface="Calibri"/>
              </a:rPr>
              <a:t>Envasado</a:t>
            </a:r>
          </a:p>
        </p:txBody>
      </p:sp>
      <p:sp>
        <p:nvSpPr>
          <p:cNvPr id="86" name="Rectangle 85"/>
          <p:cNvSpPr/>
          <p:nvPr/>
        </p:nvSpPr>
        <p:spPr>
          <a:xfrm>
            <a:off x="484632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846320" y="3895344"/>
            <a:ext cx="1892807" cy="301752"/>
          </a:xfrm>
          <a:prstGeom prst="rect">
            <a:avLst/>
          </a:prstGeom>
          <a:noFill/>
        </p:spPr>
        <p:txBody>
          <a:bodyPr wrap="square" anchor="ctr">
            <a:spAutoFit/>
          </a:bodyPr>
          <a:lstStyle/>
          <a:p>
            <a:pPr algn="ctr"/>
            <a:r>
              <a:rPr sz="950" b="0" i="0">
                <a:solidFill>
                  <a:srgbClr val="334155"/>
                </a:solidFill>
                <a:latin typeface="Calibri"/>
              </a:rPr>
              <a:t>Control de parámetros</a:t>
            </a:r>
          </a:p>
        </p:txBody>
      </p:sp>
      <p:sp>
        <p:nvSpPr>
          <p:cNvPr id="88" name="Rectangle 87"/>
          <p:cNvSpPr/>
          <p:nvPr/>
        </p:nvSpPr>
        <p:spPr>
          <a:xfrm>
            <a:off x="792784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699516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995160" y="2542032"/>
            <a:ext cx="1892807" cy="603504"/>
          </a:xfrm>
          <a:prstGeom prst="rect">
            <a:avLst/>
          </a:prstGeom>
          <a:noFill/>
        </p:spPr>
        <p:txBody>
          <a:bodyPr wrap="square" anchor="ctr">
            <a:spAutoFit/>
          </a:bodyPr>
          <a:lstStyle/>
          <a:p>
            <a:pPr algn="ctr"/>
            <a:r>
              <a:rPr sz="1050" b="1" i="0">
                <a:solidFill>
                  <a:srgbClr val="FFFFFF"/>
                </a:solidFill>
                <a:latin typeface="Calibri"/>
              </a:rPr>
              <a:t>Operador de mante-</a:t>
            </a:r>
          </a:p>
          <a:p>
            <a:pPr algn="ctr"/>
            <a:r>
              <a:rPr sz="1050" b="1" i="0">
                <a:solidFill>
                  <a:srgbClr val="FFFFFF"/>
                </a:solidFill>
                <a:latin typeface="Calibri"/>
              </a:rPr>
              <a:t>nimiento y aseo</a:t>
            </a:r>
          </a:p>
        </p:txBody>
      </p:sp>
      <p:sp>
        <p:nvSpPr>
          <p:cNvPr id="91" name="Rectangle 90"/>
          <p:cNvSpPr/>
          <p:nvPr/>
        </p:nvSpPr>
        <p:spPr>
          <a:xfrm>
            <a:off x="699516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995160" y="3200400"/>
            <a:ext cx="1892807" cy="301752"/>
          </a:xfrm>
          <a:prstGeom prst="rect">
            <a:avLst/>
          </a:prstGeom>
          <a:noFill/>
        </p:spPr>
        <p:txBody>
          <a:bodyPr wrap="square" anchor="ctr">
            <a:spAutoFit/>
          </a:bodyPr>
          <a:lstStyle/>
          <a:p>
            <a:pPr algn="ctr"/>
            <a:r>
              <a:rPr sz="950" b="0" i="0">
                <a:solidFill>
                  <a:srgbClr val="334155"/>
                </a:solidFill>
                <a:latin typeface="Calibri"/>
              </a:rPr>
              <a:t>Mantenimiento</a:t>
            </a:r>
          </a:p>
        </p:txBody>
      </p:sp>
      <p:sp>
        <p:nvSpPr>
          <p:cNvPr id="93" name="Rectangle 92"/>
          <p:cNvSpPr/>
          <p:nvPr/>
        </p:nvSpPr>
        <p:spPr>
          <a:xfrm>
            <a:off x="699516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6995160" y="3547872"/>
            <a:ext cx="1892807" cy="301752"/>
          </a:xfrm>
          <a:prstGeom prst="rect">
            <a:avLst/>
          </a:prstGeom>
          <a:noFill/>
        </p:spPr>
        <p:txBody>
          <a:bodyPr wrap="square" anchor="ctr">
            <a:spAutoFit/>
          </a:bodyPr>
          <a:lstStyle/>
          <a:p>
            <a:pPr algn="ctr"/>
            <a:r>
              <a:rPr sz="950" b="0" i="0">
                <a:solidFill>
                  <a:srgbClr val="334155"/>
                </a:solidFill>
                <a:latin typeface="Calibri"/>
              </a:rPr>
              <a:t>Limpieza CIP</a:t>
            </a:r>
          </a:p>
        </p:txBody>
      </p:sp>
      <p:sp>
        <p:nvSpPr>
          <p:cNvPr id="95" name="Rectangle 94"/>
          <p:cNvSpPr/>
          <p:nvPr/>
        </p:nvSpPr>
        <p:spPr>
          <a:xfrm>
            <a:off x="699516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995160" y="3895344"/>
            <a:ext cx="1892807" cy="301752"/>
          </a:xfrm>
          <a:prstGeom prst="rect">
            <a:avLst/>
          </a:prstGeom>
          <a:noFill/>
        </p:spPr>
        <p:txBody>
          <a:bodyPr wrap="square" anchor="ctr">
            <a:spAutoFit/>
          </a:bodyPr>
          <a:lstStyle/>
          <a:p>
            <a:pPr algn="ctr"/>
            <a:r>
              <a:rPr sz="950" b="0" i="0">
                <a:solidFill>
                  <a:srgbClr val="334155"/>
                </a:solidFill>
                <a:latin typeface="Calibri"/>
              </a:rPr>
              <a:t>Seguridad e higiene</a:t>
            </a:r>
          </a:p>
        </p:txBody>
      </p:sp>
      <p:sp>
        <p:nvSpPr>
          <p:cNvPr id="97" name="Rectangle 96"/>
          <p:cNvSpPr/>
          <p:nvPr/>
        </p:nvSpPr>
        <p:spPr>
          <a:xfrm>
            <a:off x="1007668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914400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144000" y="2542032"/>
            <a:ext cx="1892807" cy="603504"/>
          </a:xfrm>
          <a:prstGeom prst="rect">
            <a:avLst/>
          </a:prstGeom>
          <a:noFill/>
        </p:spPr>
        <p:txBody>
          <a:bodyPr wrap="square" anchor="ctr">
            <a:spAutoFit/>
          </a:bodyPr>
          <a:lstStyle/>
          <a:p>
            <a:pPr algn="ctr"/>
            <a:r>
              <a:rPr sz="1050" b="1" i="0">
                <a:solidFill>
                  <a:srgbClr val="FFFFFF"/>
                </a:solidFill>
                <a:latin typeface="Calibri"/>
              </a:rPr>
              <a:t>Entregador</a:t>
            </a:r>
          </a:p>
        </p:txBody>
      </p:sp>
      <p:sp>
        <p:nvSpPr>
          <p:cNvPr id="100" name="Rectangle 99"/>
          <p:cNvSpPr/>
          <p:nvPr/>
        </p:nvSpPr>
        <p:spPr>
          <a:xfrm>
            <a:off x="914400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144000" y="3200400"/>
            <a:ext cx="1892807" cy="301752"/>
          </a:xfrm>
          <a:prstGeom prst="rect">
            <a:avLst/>
          </a:prstGeom>
          <a:noFill/>
        </p:spPr>
        <p:txBody>
          <a:bodyPr wrap="square" anchor="ctr">
            <a:spAutoFit/>
          </a:bodyPr>
          <a:lstStyle/>
          <a:p>
            <a:pPr algn="ctr"/>
            <a:r>
              <a:rPr sz="950" b="0" i="0">
                <a:solidFill>
                  <a:srgbClr val="334155"/>
                </a:solidFill>
                <a:latin typeface="Calibri"/>
              </a:rPr>
              <a:t>Distribución</a:t>
            </a:r>
          </a:p>
        </p:txBody>
      </p:sp>
      <p:sp>
        <p:nvSpPr>
          <p:cNvPr id="102" name="Rectangle 101"/>
          <p:cNvSpPr/>
          <p:nvPr/>
        </p:nvSpPr>
        <p:spPr>
          <a:xfrm>
            <a:off x="914400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9144000" y="3547872"/>
            <a:ext cx="1892807" cy="301752"/>
          </a:xfrm>
          <a:prstGeom prst="rect">
            <a:avLst/>
          </a:prstGeom>
          <a:noFill/>
        </p:spPr>
        <p:txBody>
          <a:bodyPr wrap="square" anchor="ctr">
            <a:spAutoFit/>
          </a:bodyPr>
          <a:lstStyle/>
          <a:p>
            <a:pPr algn="ctr"/>
            <a:r>
              <a:rPr sz="950" b="0" i="0">
                <a:solidFill>
                  <a:srgbClr val="334155"/>
                </a:solidFill>
                <a:latin typeface="Calibri"/>
              </a:rPr>
              <a:t>Cobranza</a:t>
            </a:r>
          </a:p>
        </p:txBody>
      </p:sp>
      <p:sp>
        <p:nvSpPr>
          <p:cNvPr id="104" name="Rectangle 103"/>
          <p:cNvSpPr/>
          <p:nvPr/>
        </p:nvSpPr>
        <p:spPr>
          <a:xfrm>
            <a:off x="914400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144000" y="3895344"/>
            <a:ext cx="1892807" cy="301752"/>
          </a:xfrm>
          <a:prstGeom prst="rect">
            <a:avLst/>
          </a:prstGeom>
          <a:noFill/>
        </p:spPr>
        <p:txBody>
          <a:bodyPr wrap="square" anchor="ctr">
            <a:spAutoFit/>
          </a:bodyPr>
          <a:lstStyle/>
          <a:p>
            <a:pPr algn="ctr"/>
            <a:r>
              <a:rPr sz="950" b="0" i="0">
                <a:solidFill>
                  <a:srgbClr val="334155"/>
                </a:solidFill>
                <a:latin typeface="Calibri"/>
              </a:rPr>
              <a:t>Retroalimentación</a:t>
            </a:r>
          </a:p>
        </p:txBody>
      </p:sp>
      <p:sp>
        <p:nvSpPr>
          <p:cNvPr id="106" name="Rectangle 105"/>
          <p:cNvSpPr/>
          <p:nvPr/>
        </p:nvSpPr>
        <p:spPr>
          <a:xfrm>
            <a:off x="502920" y="4434840"/>
            <a:ext cx="11064240" cy="868680"/>
          </a:xfrm>
          <a:prstGeom prst="rect">
            <a:avLst/>
          </a:prstGeom>
          <a:solidFill>
            <a:srgbClr val="E6F4F6"/>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685800" y="4434840"/>
            <a:ext cx="10698480" cy="868680"/>
          </a:xfrm>
          <a:prstGeom prst="rect">
            <a:avLst/>
          </a:prstGeom>
          <a:noFill/>
        </p:spPr>
        <p:txBody>
          <a:bodyPr wrap="square" anchor="ctr">
            <a:spAutoFit/>
          </a:bodyPr>
          <a:lstStyle/>
          <a:p>
            <a:pPr algn="l"/>
            <a:r>
              <a:rPr sz="1200" b="1" i="0">
                <a:solidFill>
                  <a:srgbClr val="1B3A5C"/>
                </a:solidFill>
                <a:latin typeface="Calibri"/>
              </a:rPr>
              <a:t>6 cargos · Planilla L 92,600/mes</a:t>
            </a:r>
          </a:p>
          <a:p>
            <a:pPr algn="l"/>
            <a:r>
              <a:rPr sz="1200" b="1" i="0">
                <a:solidFill>
                  <a:srgbClr val="1B3A5C"/>
                </a:solidFill>
                <a:latin typeface="Calibri"/>
              </a:rPr>
              <a:t>Crecimiento: </a:t>
            </a:r>
            <a:r>
              <a:rPr sz="1200" b="0" i="0">
                <a:solidFill>
                  <a:srgbClr val="1B3A5C"/>
                </a:solidFill>
                <a:latin typeface="Calibri"/>
              </a:rPr>
              <a:t>ventas, contador, supervisor, calidad y logística.</a:t>
            </a:r>
          </a:p>
        </p:txBody>
      </p:sp>
      <p:sp>
        <p:nvSpPr>
          <p:cNvPr id="108" name="TextBox 10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AMBIENTAL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Ambiental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49240" cy="1645920"/>
          </a:xfrm>
          <a:prstGeom prst="rect">
            <a:avLst/>
          </a:prstGeom>
          <a:solidFill>
            <a:srgbClr val="E6F4F6"/>
          </a:solidFill>
          <a:ln w="12700">
            <a:solidFill>
              <a:srgbClr val="CBD5E1"/>
            </a:solidFill>
            <a:prstDash val="solid"/>
          </a:ln>
        </p:spPr>
        <p:txBody>
          <a:bodyPr/>
          <a:lstStyle/>
          <a:p>
            <a:endParaRPr lang="es-CO"/>
          </a:p>
        </p:txBody>
      </p:sp>
      <p:sp>
        <p:nvSpPr>
          <p:cNvPr id="6" name="Shape 4"/>
          <p:cNvSpPr/>
          <p:nvPr/>
        </p:nvSpPr>
        <p:spPr>
          <a:xfrm>
            <a:off x="320040" y="1115568"/>
            <a:ext cx="54864" cy="1645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07008"/>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Marco Normativo</a:t>
            </a:r>
            <a:endParaRPr lang="en-US" sz="1300" dirty="0"/>
          </a:p>
        </p:txBody>
      </p:sp>
      <p:sp>
        <p:nvSpPr>
          <p:cNvPr id="8" name="Text 6"/>
          <p:cNvSpPr txBox="1"/>
          <p:nvPr/>
        </p:nvSpPr>
        <p:spPr>
          <a:xfrm>
            <a:off x="48463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Ley General del Ambiente, Reglamento de Salud Ambiental y requisitos SENASA; EIA previa a operar.</a:t>
            </a:r>
            <a:endParaRPr lang="en-US" sz="1100" dirty="0"/>
          </a:p>
        </p:txBody>
      </p:sp>
      <p:sp>
        <p:nvSpPr>
          <p:cNvPr id="9" name="Shape 7"/>
          <p:cNvSpPr/>
          <p:nvPr/>
        </p:nvSpPr>
        <p:spPr>
          <a:xfrm>
            <a:off x="6355080" y="1115568"/>
            <a:ext cx="5349240" cy="1645920"/>
          </a:xfrm>
          <a:prstGeom prst="rect">
            <a:avLst/>
          </a:prstGeom>
          <a:solidFill>
            <a:srgbClr val="F1F5F9"/>
          </a:solidFill>
          <a:ln w="12700">
            <a:solidFill>
              <a:srgbClr val="CBD5E1"/>
            </a:solidFill>
            <a:prstDash val="solid"/>
          </a:ln>
        </p:spPr>
        <p:txBody>
          <a:bodyPr/>
          <a:lstStyle/>
          <a:p>
            <a:endParaRPr lang="es-CO"/>
          </a:p>
        </p:txBody>
      </p:sp>
      <p:sp>
        <p:nvSpPr>
          <p:cNvPr id="10" name="Shape 8"/>
          <p:cNvSpPr/>
          <p:nvPr/>
        </p:nvSpPr>
        <p:spPr>
          <a:xfrm>
            <a:off x="6355080" y="1115568"/>
            <a:ext cx="54864" cy="1645920"/>
          </a:xfrm>
          <a:prstGeom prst="rect">
            <a:avLst/>
          </a:prstGeom>
          <a:solidFill>
            <a:srgbClr val="1B3A5C"/>
          </a:solidFill>
          <a:ln w="12700">
            <a:solidFill>
              <a:srgbClr val="1B3A5C"/>
            </a:solidFill>
            <a:prstDash val="solid"/>
          </a:ln>
        </p:spPr>
        <p:txBody>
          <a:bodyPr/>
          <a:lstStyle/>
          <a:p>
            <a:endParaRPr lang="es-CO"/>
          </a:p>
        </p:txBody>
      </p:sp>
      <p:sp>
        <p:nvSpPr>
          <p:cNvPr id="11" name="Text 9"/>
          <p:cNvSpPr txBox="1"/>
          <p:nvPr/>
        </p:nvSpPr>
        <p:spPr>
          <a:xfrm>
            <a:off x="6519672" y="1207008"/>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Gestión de Efluentes</a:t>
            </a:r>
            <a:endParaRPr lang="en-US" sz="1300" dirty="0"/>
          </a:p>
        </p:txBody>
      </p:sp>
      <p:sp>
        <p:nvSpPr>
          <p:cNvPr id="12" name="Text 10"/>
          <p:cNvSpPr txBox="1"/>
          <p:nvPr/>
        </p:nvSpPr>
        <p:spPr>
          <a:xfrm>
            <a:off x="651967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Alta carga orgánica: trampa de grasas y tratamiento biológico; límites de DBO y DQO de MiAmbiente.</a:t>
            </a:r>
            <a:endParaRPr lang="en-US" sz="1100" dirty="0"/>
          </a:p>
        </p:txBody>
      </p:sp>
      <p:sp>
        <p:nvSpPr>
          <p:cNvPr id="13" name="Shape 11"/>
          <p:cNvSpPr/>
          <p:nvPr/>
        </p:nvSpPr>
        <p:spPr>
          <a:xfrm>
            <a:off x="320040" y="2889504"/>
            <a:ext cx="5349240" cy="1645920"/>
          </a:xfrm>
          <a:prstGeom prst="rect">
            <a:avLst/>
          </a:prstGeom>
          <a:solidFill>
            <a:srgbClr val="E6F4F6"/>
          </a:solidFill>
          <a:ln w="12700">
            <a:solidFill>
              <a:srgbClr val="CBD5E1"/>
            </a:solidFill>
            <a:prstDash val="solid"/>
          </a:ln>
        </p:spPr>
        <p:txBody>
          <a:bodyPr/>
          <a:lstStyle/>
          <a:p>
            <a:endParaRPr lang="es-CO"/>
          </a:p>
        </p:txBody>
      </p:sp>
      <p:sp>
        <p:nvSpPr>
          <p:cNvPr id="14" name="Shape 12"/>
          <p:cNvSpPr/>
          <p:nvPr/>
        </p:nvSpPr>
        <p:spPr>
          <a:xfrm>
            <a:off x="320040" y="2889504"/>
            <a:ext cx="54864" cy="16459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2980944"/>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Residuos Sólidos</a:t>
            </a:r>
            <a:endParaRPr lang="en-US" sz="1300" dirty="0"/>
          </a:p>
        </p:txBody>
      </p:sp>
      <p:sp>
        <p:nvSpPr>
          <p:cNvPr id="16" name="Text 14"/>
          <p:cNvSpPr txBox="1"/>
          <p:nvPr/>
        </p:nvSpPr>
        <p:spPr>
          <a:xfrm>
            <a:off x="48463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Envases, plásticos y orgánicos: segregación, reciclaje y gestor autorizado.</a:t>
            </a:r>
            <a:endParaRPr lang="en-US" sz="1100" dirty="0"/>
          </a:p>
        </p:txBody>
      </p:sp>
      <p:sp>
        <p:nvSpPr>
          <p:cNvPr id="17" name="Shape 15"/>
          <p:cNvSpPr/>
          <p:nvPr/>
        </p:nvSpPr>
        <p:spPr>
          <a:xfrm>
            <a:off x="6355080" y="2889504"/>
            <a:ext cx="5349240" cy="1645920"/>
          </a:xfrm>
          <a:prstGeom prst="rect">
            <a:avLst/>
          </a:prstGeom>
          <a:solidFill>
            <a:srgbClr val="F1F5F9"/>
          </a:solidFill>
          <a:ln w="12700">
            <a:solidFill>
              <a:srgbClr val="CBD5E1"/>
            </a:solidFill>
            <a:prstDash val="solid"/>
          </a:ln>
        </p:spPr>
        <p:txBody>
          <a:bodyPr/>
          <a:lstStyle/>
          <a:p>
            <a:endParaRPr lang="es-CO"/>
          </a:p>
        </p:txBody>
      </p:sp>
      <p:sp>
        <p:nvSpPr>
          <p:cNvPr id="18" name="Shape 16"/>
          <p:cNvSpPr/>
          <p:nvPr/>
        </p:nvSpPr>
        <p:spPr>
          <a:xfrm>
            <a:off x="6355080" y="2889504"/>
            <a:ext cx="54864" cy="1645920"/>
          </a:xfrm>
          <a:prstGeom prst="rect">
            <a:avLst/>
          </a:prstGeom>
          <a:solidFill>
            <a:srgbClr val="1B3A5C"/>
          </a:solidFill>
          <a:ln w="12700">
            <a:solidFill>
              <a:srgbClr val="1B3A5C"/>
            </a:solidFill>
            <a:prstDash val="solid"/>
          </a:ln>
        </p:spPr>
        <p:txBody>
          <a:bodyPr/>
          <a:lstStyle/>
          <a:p>
            <a:endParaRPr lang="es-CO"/>
          </a:p>
        </p:txBody>
      </p:sp>
      <p:sp>
        <p:nvSpPr>
          <p:cNvPr id="19" name="Text 17"/>
          <p:cNvSpPr txBox="1"/>
          <p:nvPr/>
        </p:nvSpPr>
        <p:spPr>
          <a:xfrm>
            <a:off x="6519672" y="2980944"/>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Cadena de Frío</a:t>
            </a:r>
            <a:endParaRPr lang="en-US" sz="1300" dirty="0"/>
          </a:p>
        </p:txBody>
      </p:sp>
      <p:sp>
        <p:nvSpPr>
          <p:cNvPr id="20" name="Text 18"/>
          <p:cNvSpPr txBox="1"/>
          <p:nvPr/>
        </p:nvSpPr>
        <p:spPr>
          <a:xfrm>
            <a:off x="651967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Refrigeración continua: equipos eficientes, mantenimiento preventivo y respaldo eléctrico.</a:t>
            </a:r>
            <a:endParaRPr lang="en-US" sz="1100" dirty="0"/>
          </a:p>
        </p:txBody>
      </p:sp>
      <p:sp>
        <p:nvSpPr>
          <p:cNvPr id="21" name="Shape 19"/>
          <p:cNvSpPr/>
          <p:nvPr/>
        </p:nvSpPr>
        <p:spPr>
          <a:xfrm>
            <a:off x="320040" y="4663440"/>
            <a:ext cx="5349240" cy="1645920"/>
          </a:xfrm>
          <a:prstGeom prst="rect">
            <a:avLst/>
          </a:prstGeom>
          <a:solidFill>
            <a:srgbClr val="E6F4F6"/>
          </a:solidFill>
          <a:ln w="12700">
            <a:solidFill>
              <a:srgbClr val="CBD5E1"/>
            </a:solidFill>
            <a:prstDash val="solid"/>
          </a:ln>
        </p:spPr>
        <p:txBody>
          <a:bodyPr/>
          <a:lstStyle/>
          <a:p>
            <a:endParaRPr lang="es-CO"/>
          </a:p>
        </p:txBody>
      </p:sp>
      <p:sp>
        <p:nvSpPr>
          <p:cNvPr id="22" name="Shape 20"/>
          <p:cNvSpPr/>
          <p:nvPr/>
        </p:nvSpPr>
        <p:spPr>
          <a:xfrm>
            <a:off x="320040" y="4663440"/>
            <a:ext cx="54864" cy="1645920"/>
          </a:xfrm>
          <a:prstGeom prst="rect">
            <a:avLst/>
          </a:prstGeom>
          <a:solidFill>
            <a:srgbClr val="1A7A8A"/>
          </a:solidFill>
          <a:ln w="12700">
            <a:solidFill>
              <a:srgbClr val="1A7A8A"/>
            </a:solidFill>
            <a:prstDash val="solid"/>
          </a:ln>
        </p:spPr>
        <p:txBody>
          <a:bodyPr/>
          <a:lstStyle/>
          <a:p>
            <a:endParaRPr lang="es-CO"/>
          </a:p>
        </p:txBody>
      </p:sp>
      <p:sp>
        <p:nvSpPr>
          <p:cNvPr id="23" name="Text 21"/>
          <p:cNvSpPr txBox="1"/>
          <p:nvPr/>
        </p:nvSpPr>
        <p:spPr>
          <a:xfrm>
            <a:off x="484632" y="4754880"/>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Medidas de Mitigación</a:t>
            </a:r>
            <a:endParaRPr lang="en-US" sz="1300" dirty="0"/>
          </a:p>
        </p:txBody>
      </p:sp>
      <p:sp>
        <p:nvSpPr>
          <p:cNvPr id="24" name="Text 22"/>
          <p:cNvSpPr txBox="1"/>
          <p:nvPr/>
        </p:nvSpPr>
        <p:spPr>
          <a:xfrm>
            <a:off x="48463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y POES desde el inicio, plan ante derrames y capacitación continua.</a:t>
            </a:r>
            <a:endParaRPr lang="en-US" sz="1100" dirty="0"/>
          </a:p>
        </p:txBody>
      </p:sp>
      <p:sp>
        <p:nvSpPr>
          <p:cNvPr id="25" name="Shape 23"/>
          <p:cNvSpPr/>
          <p:nvPr/>
        </p:nvSpPr>
        <p:spPr>
          <a:xfrm>
            <a:off x="6355080" y="4663440"/>
            <a:ext cx="5349240" cy="1645920"/>
          </a:xfrm>
          <a:prstGeom prst="rect">
            <a:avLst/>
          </a:prstGeom>
          <a:solidFill>
            <a:srgbClr val="F1F5F9"/>
          </a:solidFill>
          <a:ln w="12700">
            <a:solidFill>
              <a:srgbClr val="CBD5E1"/>
            </a:solidFill>
            <a:prstDash val="solid"/>
          </a:ln>
        </p:spPr>
        <p:txBody>
          <a:bodyPr/>
          <a:lstStyle/>
          <a:p>
            <a:endParaRPr lang="es-CO"/>
          </a:p>
        </p:txBody>
      </p:sp>
      <p:sp>
        <p:nvSpPr>
          <p:cNvPr id="26" name="Shape 24"/>
          <p:cNvSpPr/>
          <p:nvPr/>
        </p:nvSpPr>
        <p:spPr>
          <a:xfrm>
            <a:off x="6355080" y="4663440"/>
            <a:ext cx="54864" cy="1645920"/>
          </a:xfrm>
          <a:prstGeom prst="rect">
            <a:avLst/>
          </a:prstGeom>
          <a:solidFill>
            <a:srgbClr val="1B3A5C"/>
          </a:solidFill>
          <a:ln w="12700">
            <a:solidFill>
              <a:srgbClr val="1B3A5C"/>
            </a:solidFill>
            <a:prstDash val="solid"/>
          </a:ln>
        </p:spPr>
        <p:txBody>
          <a:bodyPr/>
          <a:lstStyle/>
          <a:p>
            <a:endParaRPr lang="es-CO"/>
          </a:p>
        </p:txBody>
      </p:sp>
      <p:sp>
        <p:nvSpPr>
          <p:cNvPr id="27" name="Text 25"/>
          <p:cNvSpPr txBox="1"/>
          <p:nvPr/>
        </p:nvSpPr>
        <p:spPr>
          <a:xfrm>
            <a:off x="6519672" y="4754880"/>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Plan de Monitoreo</a:t>
            </a:r>
            <a:endParaRPr lang="en-US" sz="1300" dirty="0"/>
          </a:p>
        </p:txBody>
      </p:sp>
      <p:sp>
        <p:nvSpPr>
          <p:cNvPr id="28" name="Text 26"/>
          <p:cNvSpPr txBox="1"/>
          <p:nvPr/>
        </p:nvSpPr>
        <p:spPr>
          <a:xfrm>
            <a:off x="651967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DBO, DQO y pH mensuales; agua y energía por litro; auditoría trimestral.</a:t>
            </a:r>
            <a:endParaRPr lang="en-US" sz="1100" dirty="0"/>
          </a:p>
        </p:txBody>
      </p:sp>
      <p:sp>
        <p:nvSpPr>
          <p:cNvPr id="29" name="Text 27"/>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FINANCIERO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Financiero · Plan de Inversión y Supuestos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4" name="Text 6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5" name="TextBox 64"/>
          <p:cNvSpPr txBox="1"/>
          <p:nvPr/>
        </p:nvSpPr>
        <p:spPr>
          <a:xfrm>
            <a:off x="320040" y="1097280"/>
            <a:ext cx="5577840" cy="310896"/>
          </a:xfrm>
          <a:prstGeom prst="rect">
            <a:avLst/>
          </a:prstGeom>
          <a:noFill/>
        </p:spPr>
        <p:txBody>
          <a:bodyPr wrap="square" anchor="ctr">
            <a:spAutoFit/>
          </a:bodyPr>
          <a:lstStyle/>
          <a:p>
            <a:pPr algn="l"/>
            <a:r>
              <a:rPr sz="1300" b="1" i="0">
                <a:solidFill>
                  <a:srgbClr val="1B3A5C"/>
                </a:solidFill>
                <a:latin typeface="Calibri"/>
              </a:rPr>
              <a:t>Desglose de la inversión inicial (Tabla 16)</a:t>
            </a:r>
          </a:p>
        </p:txBody>
      </p:sp>
      <p:sp>
        <p:nvSpPr>
          <p:cNvPr id="66" name="Rectangle 65"/>
          <p:cNvSpPr/>
          <p:nvPr/>
        </p:nvSpPr>
        <p:spPr>
          <a:xfrm>
            <a:off x="320040" y="1444752"/>
            <a:ext cx="33832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1444752"/>
            <a:ext cx="3346704" cy="310896"/>
          </a:xfrm>
          <a:prstGeom prst="rect">
            <a:avLst/>
          </a:prstGeom>
          <a:noFill/>
        </p:spPr>
        <p:txBody>
          <a:bodyPr wrap="square" anchor="ctr" lIns="45720" rIns="45720" tIns="9144" bIns="9144">
            <a:spAutoFit/>
          </a:bodyPr>
          <a:lstStyle/>
          <a:p>
            <a:pPr algn="l"/>
            <a:r>
              <a:rPr sz="1050" b="1" i="0">
                <a:solidFill>
                  <a:srgbClr val="FFFFFF"/>
                </a:solidFill>
                <a:latin typeface="Calibri"/>
              </a:rPr>
              <a:t>Rubro</a:t>
            </a:r>
          </a:p>
        </p:txBody>
      </p:sp>
      <p:sp>
        <p:nvSpPr>
          <p:cNvPr id="68" name="Rectangle 67"/>
          <p:cNvSpPr/>
          <p:nvPr/>
        </p:nvSpPr>
        <p:spPr>
          <a:xfrm>
            <a:off x="3703320" y="1444752"/>
            <a:ext cx="13258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3721607" y="1444752"/>
            <a:ext cx="12893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Monto (L)</a:t>
            </a:r>
          </a:p>
        </p:txBody>
      </p:sp>
      <p:sp>
        <p:nvSpPr>
          <p:cNvPr id="70" name="Rectangle 69"/>
          <p:cNvSpPr/>
          <p:nvPr/>
        </p:nvSpPr>
        <p:spPr>
          <a:xfrm>
            <a:off x="5029200" y="1444752"/>
            <a:ext cx="868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047488" y="1444752"/>
            <a:ext cx="832103" cy="310896"/>
          </a:xfrm>
          <a:prstGeom prst="rect">
            <a:avLst/>
          </a:prstGeom>
          <a:noFill/>
        </p:spPr>
        <p:txBody>
          <a:bodyPr wrap="square" anchor="ctr" lIns="45720" rIns="45720" tIns="9144" bIns="9144">
            <a:spAutoFit/>
          </a:bodyPr>
          <a:lstStyle/>
          <a:p>
            <a:pPr algn="ctr"/>
            <a:r>
              <a:rPr sz="1050" b="1" i="0">
                <a:solidFill>
                  <a:srgbClr val="FFFFFF"/>
                </a:solidFill>
                <a:latin typeface="Calibri"/>
              </a:rPr>
              <a:t>%</a:t>
            </a:r>
          </a:p>
        </p:txBody>
      </p:sp>
      <p:sp>
        <p:nvSpPr>
          <p:cNvPr id="72" name="Rectangle 71"/>
          <p:cNvSpPr/>
          <p:nvPr/>
        </p:nvSpPr>
        <p:spPr>
          <a:xfrm>
            <a:off x="320040" y="1755648"/>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38328" y="1755648"/>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Tanques de almacenamiento</a:t>
            </a:r>
          </a:p>
        </p:txBody>
      </p:sp>
      <p:sp>
        <p:nvSpPr>
          <p:cNvPr id="74" name="Rectangle 73"/>
          <p:cNvSpPr/>
          <p:nvPr/>
        </p:nvSpPr>
        <p:spPr>
          <a:xfrm>
            <a:off x="3703320" y="1755648"/>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721607" y="1755648"/>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360,000</a:t>
            </a:r>
          </a:p>
        </p:txBody>
      </p:sp>
      <p:sp>
        <p:nvSpPr>
          <p:cNvPr id="76" name="Rectangle 75"/>
          <p:cNvSpPr/>
          <p:nvPr/>
        </p:nvSpPr>
        <p:spPr>
          <a:xfrm>
            <a:off x="5029200" y="1755648"/>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047488" y="1755648"/>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78" name="Rectangle 77"/>
          <p:cNvSpPr/>
          <p:nvPr/>
        </p:nvSpPr>
        <p:spPr>
          <a:xfrm>
            <a:off x="320040" y="2066544"/>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338328" y="2066544"/>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Pasteurizador HTST</a:t>
            </a:r>
          </a:p>
        </p:txBody>
      </p:sp>
      <p:sp>
        <p:nvSpPr>
          <p:cNvPr id="80" name="Rectangle 79"/>
          <p:cNvSpPr/>
          <p:nvPr/>
        </p:nvSpPr>
        <p:spPr>
          <a:xfrm>
            <a:off x="3703320" y="2066544"/>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721607" y="2066544"/>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150,000</a:t>
            </a:r>
          </a:p>
        </p:txBody>
      </p:sp>
      <p:sp>
        <p:nvSpPr>
          <p:cNvPr id="82" name="Rectangle 81"/>
          <p:cNvSpPr/>
          <p:nvPr/>
        </p:nvSpPr>
        <p:spPr>
          <a:xfrm>
            <a:off x="5029200" y="2066544"/>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047488" y="2066544"/>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84" name="Rectangle 83"/>
          <p:cNvSpPr/>
          <p:nvPr/>
        </p:nvSpPr>
        <p:spPr>
          <a:xfrm>
            <a:off x="320040" y="2377440"/>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8328" y="2377440"/>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Envasadora automática</a:t>
            </a:r>
          </a:p>
        </p:txBody>
      </p:sp>
      <p:sp>
        <p:nvSpPr>
          <p:cNvPr id="86" name="Rectangle 85"/>
          <p:cNvSpPr/>
          <p:nvPr/>
        </p:nvSpPr>
        <p:spPr>
          <a:xfrm>
            <a:off x="3703320" y="2377440"/>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721607" y="2377440"/>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260,000</a:t>
            </a:r>
          </a:p>
        </p:txBody>
      </p:sp>
      <p:sp>
        <p:nvSpPr>
          <p:cNvPr id="88" name="Rectangle 87"/>
          <p:cNvSpPr/>
          <p:nvPr/>
        </p:nvSpPr>
        <p:spPr>
          <a:xfrm>
            <a:off x="5029200" y="2377440"/>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047488" y="2377440"/>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0" name="Rectangle 89"/>
          <p:cNvSpPr/>
          <p:nvPr/>
        </p:nvSpPr>
        <p:spPr>
          <a:xfrm>
            <a:off x="320040" y="2688336"/>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8328" y="2688336"/>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Sistema de enfriamiento</a:t>
            </a:r>
          </a:p>
        </p:txBody>
      </p:sp>
      <p:sp>
        <p:nvSpPr>
          <p:cNvPr id="92" name="Rectangle 91"/>
          <p:cNvSpPr/>
          <p:nvPr/>
        </p:nvSpPr>
        <p:spPr>
          <a:xfrm>
            <a:off x="3703320" y="2688336"/>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721607" y="2688336"/>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125,000</a:t>
            </a:r>
          </a:p>
        </p:txBody>
      </p:sp>
      <p:sp>
        <p:nvSpPr>
          <p:cNvPr id="94" name="Rectangle 93"/>
          <p:cNvSpPr/>
          <p:nvPr/>
        </p:nvSpPr>
        <p:spPr>
          <a:xfrm>
            <a:off x="5029200" y="2688336"/>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047488" y="2688336"/>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6" name="Rectangle 95"/>
          <p:cNvSpPr/>
          <p:nvPr/>
        </p:nvSpPr>
        <p:spPr>
          <a:xfrm>
            <a:off x="320040" y="2999232"/>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38328" y="2999232"/>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Camión de distribución</a:t>
            </a:r>
          </a:p>
        </p:txBody>
      </p:sp>
      <p:sp>
        <p:nvSpPr>
          <p:cNvPr id="98" name="Rectangle 97"/>
          <p:cNvSpPr/>
          <p:nvPr/>
        </p:nvSpPr>
        <p:spPr>
          <a:xfrm>
            <a:off x="3703320" y="2999232"/>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721607" y="2999232"/>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500,000</a:t>
            </a:r>
          </a:p>
        </p:txBody>
      </p:sp>
      <p:sp>
        <p:nvSpPr>
          <p:cNvPr id="100" name="Rectangle 99"/>
          <p:cNvSpPr/>
          <p:nvPr/>
        </p:nvSpPr>
        <p:spPr>
          <a:xfrm>
            <a:off x="5029200" y="2999232"/>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5047488" y="2999232"/>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102" name="Rectangle 101"/>
          <p:cNvSpPr/>
          <p:nvPr/>
        </p:nvSpPr>
        <p:spPr>
          <a:xfrm>
            <a:off x="320040" y="3310127"/>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338328" y="3310127"/>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Activos fijos</a:t>
            </a:r>
          </a:p>
        </p:txBody>
      </p:sp>
      <p:sp>
        <p:nvSpPr>
          <p:cNvPr id="104" name="Rectangle 103"/>
          <p:cNvSpPr/>
          <p:nvPr/>
        </p:nvSpPr>
        <p:spPr>
          <a:xfrm>
            <a:off x="3703320" y="3310127"/>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721607" y="3310127"/>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1,395,000</a:t>
            </a:r>
          </a:p>
        </p:txBody>
      </p:sp>
      <p:sp>
        <p:nvSpPr>
          <p:cNvPr id="106" name="Rectangle 105"/>
          <p:cNvSpPr/>
          <p:nvPr/>
        </p:nvSpPr>
        <p:spPr>
          <a:xfrm>
            <a:off x="5029200" y="3310127"/>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047488" y="3310127"/>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78.2 %</a:t>
            </a:r>
          </a:p>
        </p:txBody>
      </p:sp>
      <p:sp>
        <p:nvSpPr>
          <p:cNvPr id="108" name="Rectangle 107"/>
          <p:cNvSpPr/>
          <p:nvPr/>
        </p:nvSpPr>
        <p:spPr>
          <a:xfrm>
            <a:off x="320040" y="3621023"/>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338328" y="3621023"/>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Gastos diferidos preoperativos y legales</a:t>
            </a:r>
          </a:p>
        </p:txBody>
      </p:sp>
      <p:sp>
        <p:nvSpPr>
          <p:cNvPr id="110" name="Rectangle 109"/>
          <p:cNvSpPr/>
          <p:nvPr/>
        </p:nvSpPr>
        <p:spPr>
          <a:xfrm>
            <a:off x="3703320" y="3621023"/>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3721607" y="3621023"/>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76,000</a:t>
            </a:r>
          </a:p>
        </p:txBody>
      </p:sp>
      <p:sp>
        <p:nvSpPr>
          <p:cNvPr id="112" name="Rectangle 111"/>
          <p:cNvSpPr/>
          <p:nvPr/>
        </p:nvSpPr>
        <p:spPr>
          <a:xfrm>
            <a:off x="5029200" y="3621023"/>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5047488" y="3621023"/>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4.3 %</a:t>
            </a:r>
          </a:p>
        </p:txBody>
      </p:sp>
      <p:sp>
        <p:nvSpPr>
          <p:cNvPr id="114" name="Rectangle 113"/>
          <p:cNvSpPr/>
          <p:nvPr/>
        </p:nvSpPr>
        <p:spPr>
          <a:xfrm>
            <a:off x="320040" y="3931920"/>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38328" y="3931920"/>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Capital de trabajo (1 mes de costos)</a:t>
            </a:r>
          </a:p>
        </p:txBody>
      </p:sp>
      <p:sp>
        <p:nvSpPr>
          <p:cNvPr id="116" name="Rectangle 115"/>
          <p:cNvSpPr/>
          <p:nvPr/>
        </p:nvSpPr>
        <p:spPr>
          <a:xfrm>
            <a:off x="3703320" y="3931920"/>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721607" y="3931920"/>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313,058</a:t>
            </a:r>
          </a:p>
        </p:txBody>
      </p:sp>
      <p:sp>
        <p:nvSpPr>
          <p:cNvPr id="118" name="Rectangle 117"/>
          <p:cNvSpPr/>
          <p:nvPr/>
        </p:nvSpPr>
        <p:spPr>
          <a:xfrm>
            <a:off x="5029200" y="3931920"/>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047488" y="3931920"/>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17.5 %</a:t>
            </a:r>
          </a:p>
        </p:txBody>
      </p:sp>
      <p:sp>
        <p:nvSpPr>
          <p:cNvPr id="120" name="Rectangle 119"/>
          <p:cNvSpPr/>
          <p:nvPr/>
        </p:nvSpPr>
        <p:spPr>
          <a:xfrm>
            <a:off x="320040" y="4242816"/>
            <a:ext cx="33832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38328" y="4242816"/>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INVERSIÓN TOTAL</a:t>
            </a:r>
          </a:p>
        </p:txBody>
      </p:sp>
      <p:sp>
        <p:nvSpPr>
          <p:cNvPr id="122" name="Rectangle 121"/>
          <p:cNvSpPr/>
          <p:nvPr/>
        </p:nvSpPr>
        <p:spPr>
          <a:xfrm>
            <a:off x="3703320" y="4242816"/>
            <a:ext cx="13258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721607" y="4242816"/>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1,784,058</a:t>
            </a:r>
          </a:p>
        </p:txBody>
      </p:sp>
      <p:sp>
        <p:nvSpPr>
          <p:cNvPr id="124" name="Rectangle 123"/>
          <p:cNvSpPr/>
          <p:nvPr/>
        </p:nvSpPr>
        <p:spPr>
          <a:xfrm>
            <a:off x="5029200" y="4242816"/>
            <a:ext cx="8686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5047488" y="4242816"/>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100 %</a:t>
            </a:r>
          </a:p>
        </p:txBody>
      </p:sp>
      <p:sp>
        <p:nvSpPr>
          <p:cNvPr id="126" name="TextBox 125"/>
          <p:cNvSpPr txBox="1"/>
          <p:nvPr/>
        </p:nvSpPr>
        <p:spPr>
          <a:xfrm>
            <a:off x="320040" y="4645152"/>
            <a:ext cx="5577840" cy="274320"/>
          </a:xfrm>
          <a:prstGeom prst="rect">
            <a:avLst/>
          </a:prstGeom>
          <a:noFill/>
        </p:spPr>
        <p:txBody>
          <a:bodyPr wrap="square" anchor="ctr">
            <a:spAutoFit/>
          </a:bodyPr>
          <a:lstStyle/>
          <a:p>
            <a:pPr algn="l"/>
            <a:r>
              <a:rPr sz="1200" b="1" i="0">
                <a:solidFill>
                  <a:srgbClr val="1B3A5C"/>
                </a:solidFill>
                <a:latin typeface="Calibri"/>
              </a:rPr>
              <a:t>Supuestos base</a:t>
            </a:r>
          </a:p>
        </p:txBody>
      </p:sp>
      <p:sp>
        <p:nvSpPr>
          <p:cNvPr id="127" name="Rectangle 126"/>
          <p:cNvSpPr/>
          <p:nvPr/>
        </p:nvSpPr>
        <p:spPr>
          <a:xfrm>
            <a:off x="320040"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365759" y="4956048"/>
            <a:ext cx="1463040" cy="292608"/>
          </a:xfrm>
          <a:prstGeom prst="rect">
            <a:avLst/>
          </a:prstGeom>
          <a:noFill/>
        </p:spPr>
        <p:txBody>
          <a:bodyPr wrap="square" anchor="ctr">
            <a:spAutoFit/>
          </a:bodyPr>
          <a:lstStyle/>
          <a:p>
            <a:pPr algn="l"/>
            <a:r>
              <a:rPr sz="950" b="0" i="0">
                <a:solidFill>
                  <a:srgbClr val="334155"/>
                </a:solidFill>
                <a:latin typeface="Calibri"/>
              </a:rPr>
              <a:t>Horizonte</a:t>
            </a:r>
          </a:p>
        </p:txBody>
      </p:sp>
      <p:sp>
        <p:nvSpPr>
          <p:cNvPr id="129" name="TextBox 128"/>
          <p:cNvSpPr txBox="1"/>
          <p:nvPr/>
        </p:nvSpPr>
        <p:spPr>
          <a:xfrm>
            <a:off x="1737360" y="4956048"/>
            <a:ext cx="1280160" cy="292608"/>
          </a:xfrm>
          <a:prstGeom prst="rect">
            <a:avLst/>
          </a:prstGeom>
          <a:noFill/>
        </p:spPr>
        <p:txBody>
          <a:bodyPr wrap="square" anchor="ctr">
            <a:spAutoFit/>
          </a:bodyPr>
          <a:lstStyle/>
          <a:p>
            <a:pPr algn="r"/>
            <a:r>
              <a:rPr sz="950" b="1" i="0">
                <a:solidFill>
                  <a:srgbClr val="1B3A5C"/>
                </a:solidFill>
                <a:latin typeface="Calibri"/>
              </a:rPr>
              <a:t>10 años</a:t>
            </a:r>
          </a:p>
        </p:txBody>
      </p:sp>
      <p:sp>
        <p:nvSpPr>
          <p:cNvPr id="130" name="Rectangle 129"/>
          <p:cNvSpPr/>
          <p:nvPr/>
        </p:nvSpPr>
        <p:spPr>
          <a:xfrm>
            <a:off x="3127248"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3172968" y="4956048"/>
            <a:ext cx="1463040" cy="292608"/>
          </a:xfrm>
          <a:prstGeom prst="rect">
            <a:avLst/>
          </a:prstGeom>
          <a:noFill/>
        </p:spPr>
        <p:txBody>
          <a:bodyPr wrap="square" anchor="ctr">
            <a:spAutoFit/>
          </a:bodyPr>
          <a:lstStyle/>
          <a:p>
            <a:pPr algn="l"/>
            <a:r>
              <a:rPr sz="950" b="0" i="0">
                <a:solidFill>
                  <a:srgbClr val="334155"/>
                </a:solidFill>
                <a:latin typeface="Calibri"/>
              </a:rPr>
              <a:t>Precio año 1</a:t>
            </a:r>
          </a:p>
        </p:txBody>
      </p:sp>
      <p:sp>
        <p:nvSpPr>
          <p:cNvPr id="132" name="TextBox 131"/>
          <p:cNvSpPr txBox="1"/>
          <p:nvPr/>
        </p:nvSpPr>
        <p:spPr>
          <a:xfrm>
            <a:off x="4544568" y="4956048"/>
            <a:ext cx="1280160" cy="292608"/>
          </a:xfrm>
          <a:prstGeom prst="rect">
            <a:avLst/>
          </a:prstGeom>
          <a:noFill/>
        </p:spPr>
        <p:txBody>
          <a:bodyPr wrap="square" anchor="ctr">
            <a:spAutoFit/>
          </a:bodyPr>
          <a:lstStyle/>
          <a:p>
            <a:pPr algn="r"/>
            <a:r>
              <a:rPr sz="950" b="1" i="0">
                <a:solidFill>
                  <a:srgbClr val="1B3A5C"/>
                </a:solidFill>
                <a:latin typeface="Calibri"/>
              </a:rPr>
              <a:t>L 28.00/litro</a:t>
            </a:r>
          </a:p>
        </p:txBody>
      </p:sp>
      <p:sp>
        <p:nvSpPr>
          <p:cNvPr id="133" name="Rectangle 132"/>
          <p:cNvSpPr/>
          <p:nvPr/>
        </p:nvSpPr>
        <p:spPr>
          <a:xfrm>
            <a:off x="320040"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365759" y="5285232"/>
            <a:ext cx="1463040" cy="292608"/>
          </a:xfrm>
          <a:prstGeom prst="rect">
            <a:avLst/>
          </a:prstGeom>
          <a:noFill/>
        </p:spPr>
        <p:txBody>
          <a:bodyPr wrap="square" anchor="ctr">
            <a:spAutoFit/>
          </a:bodyPr>
          <a:lstStyle/>
          <a:p>
            <a:pPr algn="l"/>
            <a:r>
              <a:rPr sz="950" b="0" i="0">
                <a:solidFill>
                  <a:srgbClr val="334155"/>
                </a:solidFill>
                <a:latin typeface="Calibri"/>
              </a:rPr>
              <a:t>Inflación anual</a:t>
            </a:r>
          </a:p>
        </p:txBody>
      </p:sp>
      <p:sp>
        <p:nvSpPr>
          <p:cNvPr id="135" name="TextBox 134"/>
          <p:cNvSpPr txBox="1"/>
          <p:nvPr/>
        </p:nvSpPr>
        <p:spPr>
          <a:xfrm>
            <a:off x="1737360" y="5285232"/>
            <a:ext cx="1280160" cy="292608"/>
          </a:xfrm>
          <a:prstGeom prst="rect">
            <a:avLst/>
          </a:prstGeom>
          <a:noFill/>
        </p:spPr>
        <p:txBody>
          <a:bodyPr wrap="square" anchor="ctr">
            <a:spAutoFit/>
          </a:bodyPr>
          <a:lstStyle/>
          <a:p>
            <a:pPr algn="r"/>
            <a:r>
              <a:rPr sz="950" b="1" i="0">
                <a:solidFill>
                  <a:srgbClr val="1B3A5C"/>
                </a:solidFill>
                <a:latin typeface="Calibri"/>
              </a:rPr>
              <a:t>4.5 %</a:t>
            </a:r>
          </a:p>
        </p:txBody>
      </p:sp>
      <p:sp>
        <p:nvSpPr>
          <p:cNvPr id="136" name="Rectangle 135"/>
          <p:cNvSpPr/>
          <p:nvPr/>
        </p:nvSpPr>
        <p:spPr>
          <a:xfrm>
            <a:off x="3127248"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172968" y="5285232"/>
            <a:ext cx="1463040" cy="292608"/>
          </a:xfrm>
          <a:prstGeom prst="rect">
            <a:avLst/>
          </a:prstGeom>
          <a:noFill/>
        </p:spPr>
        <p:txBody>
          <a:bodyPr wrap="square" anchor="ctr">
            <a:spAutoFit/>
          </a:bodyPr>
          <a:lstStyle/>
          <a:p>
            <a:pPr algn="l"/>
            <a:r>
              <a:rPr sz="950" b="0" i="0">
                <a:solidFill>
                  <a:srgbClr val="334155"/>
                </a:solidFill>
                <a:latin typeface="Calibri"/>
              </a:rPr>
              <a:t>Clientes año 1</a:t>
            </a:r>
          </a:p>
        </p:txBody>
      </p:sp>
      <p:sp>
        <p:nvSpPr>
          <p:cNvPr id="138" name="TextBox 137"/>
          <p:cNvSpPr txBox="1"/>
          <p:nvPr/>
        </p:nvSpPr>
        <p:spPr>
          <a:xfrm>
            <a:off x="4544568" y="5285232"/>
            <a:ext cx="1280160" cy="292608"/>
          </a:xfrm>
          <a:prstGeom prst="rect">
            <a:avLst/>
          </a:prstGeom>
          <a:noFill/>
        </p:spPr>
        <p:txBody>
          <a:bodyPr wrap="square" anchor="ctr">
            <a:spAutoFit/>
          </a:bodyPr>
          <a:lstStyle/>
          <a:p>
            <a:pPr algn="r"/>
            <a:r>
              <a:rPr sz="950" b="1" i="0">
                <a:solidFill>
                  <a:srgbClr val="1B3A5C"/>
                </a:solidFill>
                <a:latin typeface="Calibri"/>
              </a:rPr>
              <a:t>60</a:t>
            </a:r>
          </a:p>
        </p:txBody>
      </p:sp>
      <p:sp>
        <p:nvSpPr>
          <p:cNvPr id="139" name="Rectangle 138"/>
          <p:cNvSpPr/>
          <p:nvPr/>
        </p:nvSpPr>
        <p:spPr>
          <a:xfrm>
            <a:off x="320040"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365759" y="5614416"/>
            <a:ext cx="1463040" cy="292608"/>
          </a:xfrm>
          <a:prstGeom prst="rect">
            <a:avLst/>
          </a:prstGeom>
          <a:noFill/>
        </p:spPr>
        <p:txBody>
          <a:bodyPr wrap="square" anchor="ctr">
            <a:spAutoFit/>
          </a:bodyPr>
          <a:lstStyle/>
          <a:p>
            <a:pPr algn="l"/>
            <a:r>
              <a:rPr sz="950" b="0" i="0">
                <a:solidFill>
                  <a:srgbClr val="334155"/>
                </a:solidFill>
                <a:latin typeface="Calibri"/>
              </a:rPr>
              <a:t>Consumo por cliente</a:t>
            </a:r>
          </a:p>
        </p:txBody>
      </p:sp>
      <p:sp>
        <p:nvSpPr>
          <p:cNvPr id="141" name="TextBox 140"/>
          <p:cNvSpPr txBox="1"/>
          <p:nvPr/>
        </p:nvSpPr>
        <p:spPr>
          <a:xfrm>
            <a:off x="1737360" y="5614416"/>
            <a:ext cx="1280160" cy="292608"/>
          </a:xfrm>
          <a:prstGeom prst="rect">
            <a:avLst/>
          </a:prstGeom>
          <a:noFill/>
        </p:spPr>
        <p:txBody>
          <a:bodyPr wrap="square" anchor="ctr">
            <a:spAutoFit/>
          </a:bodyPr>
          <a:lstStyle/>
          <a:p>
            <a:pPr algn="r"/>
            <a:r>
              <a:rPr sz="950" b="1" i="0">
                <a:solidFill>
                  <a:srgbClr val="1B3A5C"/>
                </a:solidFill>
                <a:latin typeface="Calibri"/>
              </a:rPr>
              <a:t>150 L/mes</a:t>
            </a:r>
          </a:p>
        </p:txBody>
      </p:sp>
      <p:sp>
        <p:nvSpPr>
          <p:cNvPr id="142" name="Rectangle 141"/>
          <p:cNvSpPr/>
          <p:nvPr/>
        </p:nvSpPr>
        <p:spPr>
          <a:xfrm>
            <a:off x="3127248"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3172968" y="5614416"/>
            <a:ext cx="1463040" cy="292608"/>
          </a:xfrm>
          <a:prstGeom prst="rect">
            <a:avLst/>
          </a:prstGeom>
          <a:noFill/>
        </p:spPr>
        <p:txBody>
          <a:bodyPr wrap="square" anchor="ctr">
            <a:spAutoFit/>
          </a:bodyPr>
          <a:lstStyle/>
          <a:p>
            <a:pPr algn="l"/>
            <a:r>
              <a:rPr sz="950" b="0" i="0">
                <a:solidFill>
                  <a:srgbClr val="334155"/>
                </a:solidFill>
                <a:latin typeface="Calibri"/>
              </a:rPr>
              <a:t>Costos fijos operativos</a:t>
            </a:r>
          </a:p>
        </p:txBody>
      </p:sp>
      <p:sp>
        <p:nvSpPr>
          <p:cNvPr id="144" name="TextBox 143"/>
          <p:cNvSpPr txBox="1"/>
          <p:nvPr/>
        </p:nvSpPr>
        <p:spPr>
          <a:xfrm>
            <a:off x="4544568" y="5614416"/>
            <a:ext cx="1280160" cy="292608"/>
          </a:xfrm>
          <a:prstGeom prst="rect">
            <a:avLst/>
          </a:prstGeom>
          <a:noFill/>
        </p:spPr>
        <p:txBody>
          <a:bodyPr wrap="square" anchor="ctr">
            <a:spAutoFit/>
          </a:bodyPr>
          <a:lstStyle/>
          <a:p>
            <a:pPr algn="r"/>
            <a:r>
              <a:rPr sz="950" b="1" i="0">
                <a:solidFill>
                  <a:srgbClr val="1B3A5C"/>
                </a:solidFill>
                <a:latin typeface="Calibri"/>
              </a:rPr>
              <a:t>L 28,000/mes</a:t>
            </a:r>
          </a:p>
        </p:txBody>
      </p:sp>
      <p:sp>
        <p:nvSpPr>
          <p:cNvPr id="145" name="Rectangle 144"/>
          <p:cNvSpPr/>
          <p:nvPr/>
        </p:nvSpPr>
        <p:spPr>
          <a:xfrm>
            <a:off x="320040"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365759" y="5943600"/>
            <a:ext cx="1463040" cy="292608"/>
          </a:xfrm>
          <a:prstGeom prst="rect">
            <a:avLst/>
          </a:prstGeom>
          <a:noFill/>
        </p:spPr>
        <p:txBody>
          <a:bodyPr wrap="square" anchor="ctr">
            <a:spAutoFit/>
          </a:bodyPr>
          <a:lstStyle/>
          <a:p>
            <a:pPr algn="l"/>
            <a:r>
              <a:rPr sz="950" b="0" i="0">
                <a:solidFill>
                  <a:srgbClr val="334155"/>
                </a:solidFill>
                <a:latin typeface="Calibri"/>
              </a:rPr>
              <a:t>Gastos administrativos</a:t>
            </a:r>
          </a:p>
        </p:txBody>
      </p:sp>
      <p:sp>
        <p:nvSpPr>
          <p:cNvPr id="147" name="TextBox 146"/>
          <p:cNvSpPr txBox="1"/>
          <p:nvPr/>
        </p:nvSpPr>
        <p:spPr>
          <a:xfrm>
            <a:off x="1737360" y="5943600"/>
            <a:ext cx="1280160" cy="292608"/>
          </a:xfrm>
          <a:prstGeom prst="rect">
            <a:avLst/>
          </a:prstGeom>
          <a:noFill/>
        </p:spPr>
        <p:txBody>
          <a:bodyPr wrap="square" anchor="ctr">
            <a:spAutoFit/>
          </a:bodyPr>
          <a:lstStyle/>
          <a:p>
            <a:pPr algn="r"/>
            <a:r>
              <a:rPr sz="950" b="1" i="0">
                <a:solidFill>
                  <a:srgbClr val="1B3A5C"/>
                </a:solidFill>
                <a:latin typeface="Calibri"/>
              </a:rPr>
              <a:t>L 21,600/mes</a:t>
            </a:r>
          </a:p>
        </p:txBody>
      </p:sp>
      <p:sp>
        <p:nvSpPr>
          <p:cNvPr id="148" name="Rectangle 147"/>
          <p:cNvSpPr/>
          <p:nvPr/>
        </p:nvSpPr>
        <p:spPr>
          <a:xfrm>
            <a:off x="3127248"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172968" y="5943600"/>
            <a:ext cx="1463040" cy="292608"/>
          </a:xfrm>
          <a:prstGeom prst="rect">
            <a:avLst/>
          </a:prstGeom>
          <a:noFill/>
        </p:spPr>
        <p:txBody>
          <a:bodyPr wrap="square" anchor="ctr">
            <a:spAutoFit/>
          </a:bodyPr>
          <a:lstStyle/>
          <a:p>
            <a:pPr algn="l"/>
            <a:r>
              <a:rPr sz="950" b="0" i="0">
                <a:solidFill>
                  <a:srgbClr val="334155"/>
                </a:solidFill>
                <a:latin typeface="Calibri"/>
              </a:rPr>
              <a:t>ISR + aport. solidaria</a:t>
            </a:r>
          </a:p>
        </p:txBody>
      </p:sp>
      <p:sp>
        <p:nvSpPr>
          <p:cNvPr id="150" name="TextBox 149"/>
          <p:cNvSpPr txBox="1"/>
          <p:nvPr/>
        </p:nvSpPr>
        <p:spPr>
          <a:xfrm>
            <a:off x="4544568" y="5943600"/>
            <a:ext cx="1280160" cy="292608"/>
          </a:xfrm>
          <a:prstGeom prst="rect">
            <a:avLst/>
          </a:prstGeom>
          <a:noFill/>
        </p:spPr>
        <p:txBody>
          <a:bodyPr wrap="square" anchor="ctr">
            <a:spAutoFit/>
          </a:bodyPr>
          <a:lstStyle/>
          <a:p>
            <a:pPr algn="r"/>
            <a:r>
              <a:rPr sz="950" b="1" i="0">
                <a:solidFill>
                  <a:srgbClr val="1B3A5C"/>
                </a:solidFill>
                <a:latin typeface="Calibri"/>
              </a:rPr>
              <a:t>25 % + 5 %</a:t>
            </a:r>
          </a:p>
        </p:txBody>
      </p:sp>
      <p:sp>
        <p:nvSpPr>
          <p:cNvPr id="151" name="Rectangle 150"/>
          <p:cNvSpPr/>
          <p:nvPr/>
        </p:nvSpPr>
        <p:spPr>
          <a:xfrm>
            <a:off x="6172200" y="1115568"/>
            <a:ext cx="5577840" cy="9144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6309360" y="1152144"/>
            <a:ext cx="5303520" cy="274320"/>
          </a:xfrm>
          <a:prstGeom prst="rect">
            <a:avLst/>
          </a:prstGeom>
          <a:noFill/>
        </p:spPr>
        <p:txBody>
          <a:bodyPr wrap="square" anchor="ctr">
            <a:spAutoFit/>
          </a:bodyPr>
          <a:lstStyle/>
          <a:p>
            <a:pPr algn="l"/>
            <a:r>
              <a:rPr sz="1100" b="1" i="0">
                <a:solidFill>
                  <a:srgbClr val="1A7A8A"/>
                </a:solidFill>
                <a:latin typeface="Calibri"/>
              </a:rPr>
              <a:t>INVERSIÓN TOTAL</a:t>
            </a:r>
          </a:p>
        </p:txBody>
      </p:sp>
      <p:sp>
        <p:nvSpPr>
          <p:cNvPr id="153" name="TextBox 152"/>
          <p:cNvSpPr txBox="1"/>
          <p:nvPr/>
        </p:nvSpPr>
        <p:spPr>
          <a:xfrm>
            <a:off x="6309360" y="1389888"/>
            <a:ext cx="5303520" cy="548640"/>
          </a:xfrm>
          <a:prstGeom prst="rect">
            <a:avLst/>
          </a:prstGeom>
          <a:noFill/>
        </p:spPr>
        <p:txBody>
          <a:bodyPr wrap="square" anchor="ctr">
            <a:spAutoFit/>
          </a:bodyPr>
          <a:lstStyle/>
          <a:p>
            <a:pPr algn="l"/>
            <a:r>
              <a:rPr sz="2800" b="1" i="0">
                <a:solidFill>
                  <a:srgbClr val="FFFFFF"/>
                </a:solidFill>
                <a:latin typeface="Calibri"/>
              </a:rPr>
              <a:t>L 1,784,058</a:t>
            </a:r>
          </a:p>
        </p:txBody>
      </p:sp>
      <p:sp>
        <p:nvSpPr>
          <p:cNvPr id="154" name="Rectangle 153"/>
          <p:cNvSpPr/>
          <p:nvPr/>
        </p:nvSpPr>
        <p:spPr>
          <a:xfrm>
            <a:off x="6172200" y="2121408"/>
            <a:ext cx="2743200" cy="713232"/>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9006840" y="2121408"/>
            <a:ext cx="2743200" cy="713232"/>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6263640" y="2139696"/>
            <a:ext cx="2560320" cy="274320"/>
          </a:xfrm>
          <a:prstGeom prst="rect">
            <a:avLst/>
          </a:prstGeom>
          <a:noFill/>
        </p:spPr>
        <p:txBody>
          <a:bodyPr wrap="square" anchor="ctr">
            <a:spAutoFit/>
          </a:bodyPr>
          <a:lstStyle/>
          <a:p>
            <a:pPr algn="l"/>
            <a:r>
              <a:rPr sz="1050" b="1" i="0">
                <a:solidFill>
                  <a:srgbClr val="1A7A8A"/>
                </a:solidFill>
                <a:latin typeface="Calibri"/>
              </a:rPr>
              <a:t>Recursos propios · 50 %</a:t>
            </a:r>
          </a:p>
        </p:txBody>
      </p:sp>
      <p:sp>
        <p:nvSpPr>
          <p:cNvPr id="157" name="TextBox 156"/>
          <p:cNvSpPr txBox="1"/>
          <p:nvPr/>
        </p:nvSpPr>
        <p:spPr>
          <a:xfrm>
            <a:off x="6263640" y="2414016"/>
            <a:ext cx="2560320" cy="365760"/>
          </a:xfrm>
          <a:prstGeom prst="rect">
            <a:avLst/>
          </a:prstGeom>
          <a:noFill/>
        </p:spPr>
        <p:txBody>
          <a:bodyPr wrap="square" anchor="ctr">
            <a:spAutoFit/>
          </a:bodyPr>
          <a:lstStyle/>
          <a:p>
            <a:pPr algn="l"/>
            <a:r>
              <a:rPr sz="1500" b="1" i="0">
                <a:solidFill>
                  <a:srgbClr val="1A7A8A"/>
                </a:solidFill>
                <a:latin typeface="Calibri"/>
              </a:rPr>
              <a:t>L 892,029</a:t>
            </a:r>
          </a:p>
        </p:txBody>
      </p:sp>
      <p:sp>
        <p:nvSpPr>
          <p:cNvPr id="158" name="TextBox 157"/>
          <p:cNvSpPr txBox="1"/>
          <p:nvPr/>
        </p:nvSpPr>
        <p:spPr>
          <a:xfrm>
            <a:off x="9098280" y="2139696"/>
            <a:ext cx="2560320" cy="274320"/>
          </a:xfrm>
          <a:prstGeom prst="rect">
            <a:avLst/>
          </a:prstGeom>
          <a:noFill/>
        </p:spPr>
        <p:txBody>
          <a:bodyPr wrap="square" anchor="ctr">
            <a:spAutoFit/>
          </a:bodyPr>
          <a:lstStyle/>
          <a:p>
            <a:pPr algn="l"/>
            <a:r>
              <a:rPr sz="1050" b="1" i="0">
                <a:solidFill>
                  <a:srgbClr val="1B3A5C"/>
                </a:solidFill>
                <a:latin typeface="Calibri"/>
              </a:rPr>
              <a:t>Préstamo bancario · 50 %</a:t>
            </a:r>
          </a:p>
        </p:txBody>
      </p:sp>
      <p:sp>
        <p:nvSpPr>
          <p:cNvPr id="159" name="TextBox 158"/>
          <p:cNvSpPr txBox="1"/>
          <p:nvPr/>
        </p:nvSpPr>
        <p:spPr>
          <a:xfrm>
            <a:off x="9098280" y="2414016"/>
            <a:ext cx="2560320" cy="365760"/>
          </a:xfrm>
          <a:prstGeom prst="rect">
            <a:avLst/>
          </a:prstGeom>
          <a:noFill/>
        </p:spPr>
        <p:txBody>
          <a:bodyPr wrap="square" anchor="ctr">
            <a:spAutoFit/>
          </a:bodyPr>
          <a:lstStyle/>
          <a:p>
            <a:pPr algn="l"/>
            <a:r>
              <a:rPr sz="1500" b="1" i="0">
                <a:solidFill>
                  <a:srgbClr val="1B3A5C"/>
                </a:solidFill>
                <a:latin typeface="Calibri"/>
              </a:rPr>
              <a:t>L 892,029</a:t>
            </a:r>
          </a:p>
        </p:txBody>
      </p:sp>
      <p:sp>
        <p:nvSpPr>
          <p:cNvPr id="160" name="TextBox 159"/>
          <p:cNvSpPr txBox="1"/>
          <p:nvPr/>
        </p:nvSpPr>
        <p:spPr>
          <a:xfrm>
            <a:off x="6172200" y="2852928"/>
            <a:ext cx="5577840" cy="256032"/>
          </a:xfrm>
          <a:prstGeom prst="rect">
            <a:avLst/>
          </a:prstGeom>
          <a:noFill/>
        </p:spPr>
        <p:txBody>
          <a:bodyPr wrap="square" anchor="ctr">
            <a:spAutoFit/>
          </a:bodyPr>
          <a:lstStyle/>
          <a:p>
            <a:pPr algn="l"/>
            <a:r>
              <a:rPr sz="1000" b="0" i="1">
                <a:solidFill>
                  <a:srgbClr val="64748B"/>
                </a:solidFill>
                <a:latin typeface="Calibri"/>
              </a:rPr>
              <a:t>Préstamo: 14 % anual · 5 años · cuota constante L 259,833</a:t>
            </a:r>
          </a:p>
        </p:txBody>
      </p:sp>
      <p:sp>
        <p:nvSpPr>
          <p:cNvPr id="161" name="Rectangle 160"/>
          <p:cNvSpPr/>
          <p:nvPr/>
        </p:nvSpPr>
        <p:spPr>
          <a:xfrm>
            <a:off x="6172200" y="3154680"/>
            <a:ext cx="5577840" cy="1417320"/>
          </a:xfrm>
          <a:prstGeom prst="rect">
            <a:avLst/>
          </a:prstGeom>
          <a:solidFill>
            <a:srgbClr val="FFFFFF"/>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309360" y="3200400"/>
            <a:ext cx="5349240" cy="1325880"/>
          </a:xfrm>
          <a:prstGeom prst="rect">
            <a:avLst/>
          </a:prstGeom>
          <a:noFill/>
        </p:spPr>
        <p:txBody>
          <a:bodyPr wrap="square" anchor="t">
            <a:spAutoFit/>
          </a:bodyPr>
          <a:lstStyle/>
          <a:p>
            <a:pPr algn="l">
              <a:spcAft>
                <a:spcPts val="400"/>
              </a:spcAft>
            </a:pPr>
            <a:r>
              <a:rPr sz="1300" b="1" i="0">
                <a:solidFill>
                  <a:srgbClr val="0D2341"/>
                </a:solidFill>
                <a:latin typeface="Calibri"/>
              </a:rPr>
              <a:t>Tasa de descuento única: 15 %</a:t>
            </a:r>
          </a:p>
          <a:p>
            <a:pPr algn="l">
              <a:spcAft>
                <a:spcPts val="400"/>
              </a:spcAft>
            </a:pPr>
            <a:r>
              <a:rPr sz="1150" b="0" i="0">
                <a:solidFill>
                  <a:srgbClr val="334155"/>
                </a:solidFill>
                <a:latin typeface="Calibri"/>
              </a:rPr>
              <a:t>Rendimiento mínimo de los socios (Ke), para ambos flujos.</a:t>
            </a:r>
          </a:p>
          <a:p>
            <a:pPr algn="l">
              <a:spcAft>
                <a:spcPts val="400"/>
              </a:spcAft>
            </a:pPr>
            <a:r>
              <a:rPr sz="1150" b="1" i="0">
                <a:solidFill>
                  <a:srgbClr val="334155"/>
                </a:solidFill>
                <a:latin typeface="Calibri"/>
              </a:rPr>
              <a:t>WACC 12.8 %: </a:t>
            </a:r>
            <a:r>
              <a:rPr sz="1150" b="0" i="0">
                <a:solidFill>
                  <a:srgbClr val="334155"/>
                </a:solidFill>
                <a:latin typeface="Calibri"/>
              </a:rPr>
              <a:t>solo referencia.</a:t>
            </a:r>
          </a:p>
        </p:txBody>
      </p:sp>
      <p:sp>
        <p:nvSpPr>
          <p:cNvPr id="163" name="TextBox 162"/>
          <p:cNvSpPr txBox="1"/>
          <p:nvPr/>
        </p:nvSpPr>
        <p:spPr>
          <a:xfrm>
            <a:off x="6172200" y="4645152"/>
            <a:ext cx="5577840" cy="274320"/>
          </a:xfrm>
          <a:prstGeom prst="rect">
            <a:avLst/>
          </a:prstGeom>
          <a:noFill/>
        </p:spPr>
        <p:txBody>
          <a:bodyPr wrap="square" anchor="ctr">
            <a:spAutoFit/>
          </a:bodyPr>
          <a:lstStyle/>
          <a:p>
            <a:pPr algn="l"/>
            <a:r>
              <a:rPr sz="1200" b="1" i="0">
                <a:solidFill>
                  <a:srgbClr val="1B3A5C"/>
                </a:solidFill>
                <a:latin typeface="Calibri"/>
              </a:rPr>
              <a:t>Estructura de costos y gastos operativos, año 1 (L 3,756,698)</a:t>
            </a:r>
          </a:p>
        </p:txBody>
      </p:sp>
      <p:sp>
        <p:nvSpPr>
          <p:cNvPr id="164" name="Rectangle 163"/>
          <p:cNvSpPr/>
          <p:nvPr/>
        </p:nvSpPr>
        <p:spPr>
          <a:xfrm>
            <a:off x="6172200" y="4983480"/>
            <a:ext cx="2247869" cy="4572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72200" y="4983480"/>
            <a:ext cx="2247869" cy="457200"/>
          </a:xfrm>
          <a:prstGeom prst="rect">
            <a:avLst/>
          </a:prstGeom>
          <a:noFill/>
        </p:spPr>
        <p:txBody>
          <a:bodyPr wrap="square" anchor="ctr">
            <a:spAutoFit/>
          </a:bodyPr>
          <a:lstStyle/>
          <a:p>
            <a:pPr algn="ctr"/>
            <a:r>
              <a:rPr sz="1000" b="1" i="0">
                <a:solidFill>
                  <a:srgbClr val="FFFFFF"/>
                </a:solidFill>
                <a:latin typeface="Calibri"/>
              </a:rPr>
              <a:t>40.3 %</a:t>
            </a:r>
          </a:p>
        </p:txBody>
      </p:sp>
      <p:sp>
        <p:nvSpPr>
          <p:cNvPr id="166" name="Rectangle 165"/>
          <p:cNvSpPr/>
          <p:nvPr/>
        </p:nvSpPr>
        <p:spPr>
          <a:xfrm>
            <a:off x="8420069" y="4983480"/>
            <a:ext cx="2119579"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8420069" y="4983480"/>
            <a:ext cx="2119579" cy="457200"/>
          </a:xfrm>
          <a:prstGeom prst="rect">
            <a:avLst/>
          </a:prstGeom>
          <a:noFill/>
        </p:spPr>
        <p:txBody>
          <a:bodyPr wrap="square" anchor="ctr">
            <a:spAutoFit/>
          </a:bodyPr>
          <a:lstStyle/>
          <a:p>
            <a:pPr algn="ctr"/>
            <a:r>
              <a:rPr sz="1000" b="1" i="0">
                <a:solidFill>
                  <a:srgbClr val="FFFFFF"/>
                </a:solidFill>
                <a:latin typeface="Calibri"/>
              </a:rPr>
              <a:t>38.0 %</a:t>
            </a:r>
          </a:p>
        </p:txBody>
      </p:sp>
      <p:sp>
        <p:nvSpPr>
          <p:cNvPr id="168" name="Rectangle 167"/>
          <p:cNvSpPr/>
          <p:nvPr/>
        </p:nvSpPr>
        <p:spPr>
          <a:xfrm>
            <a:off x="10539648" y="4983480"/>
            <a:ext cx="518739" cy="457200"/>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10539648" y="4983480"/>
            <a:ext cx="518739" cy="457200"/>
          </a:xfrm>
          <a:prstGeom prst="rect">
            <a:avLst/>
          </a:prstGeom>
          <a:noFill/>
        </p:spPr>
        <p:txBody>
          <a:bodyPr wrap="square" anchor="ctr">
            <a:spAutoFit/>
          </a:bodyPr>
          <a:lstStyle/>
          <a:p>
            <a:pPr algn="ctr"/>
            <a:r>
              <a:rPr sz="1000" b="1" i="0">
                <a:solidFill>
                  <a:srgbClr val="0D2341"/>
                </a:solidFill>
                <a:latin typeface="Calibri"/>
              </a:rPr>
              <a:t>9.3 %</a:t>
            </a:r>
          </a:p>
        </p:txBody>
      </p:sp>
      <p:sp>
        <p:nvSpPr>
          <p:cNvPr id="170" name="Rectangle 169"/>
          <p:cNvSpPr/>
          <p:nvPr/>
        </p:nvSpPr>
        <p:spPr>
          <a:xfrm>
            <a:off x="11058387" y="4983480"/>
            <a:ext cx="401604" cy="45720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11459992" y="4983480"/>
            <a:ext cx="145023" cy="45720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11605016" y="4983480"/>
            <a:ext cx="145023" cy="457200"/>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6172200" y="5586983"/>
            <a:ext cx="146304" cy="1463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355080" y="5532120"/>
            <a:ext cx="1691640" cy="256032"/>
          </a:xfrm>
          <a:prstGeom prst="rect">
            <a:avLst/>
          </a:prstGeom>
          <a:noFill/>
        </p:spPr>
        <p:txBody>
          <a:bodyPr wrap="square" anchor="ctr">
            <a:spAutoFit/>
          </a:bodyPr>
          <a:lstStyle/>
          <a:p>
            <a:pPr algn="l"/>
            <a:r>
              <a:rPr sz="950" b="0" i="0">
                <a:solidFill>
                  <a:srgbClr val="334155"/>
                </a:solidFill>
                <a:latin typeface="Calibri"/>
              </a:rPr>
              <a:t>Leche cruda (40.3 %)</a:t>
            </a:r>
          </a:p>
        </p:txBody>
      </p:sp>
      <p:sp>
        <p:nvSpPr>
          <p:cNvPr id="175" name="Rectangle 174"/>
          <p:cNvSpPr/>
          <p:nvPr/>
        </p:nvSpPr>
        <p:spPr>
          <a:xfrm>
            <a:off x="8046720" y="5586983"/>
            <a:ext cx="146304" cy="1463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8229600" y="5532120"/>
            <a:ext cx="1691640" cy="256032"/>
          </a:xfrm>
          <a:prstGeom prst="rect">
            <a:avLst/>
          </a:prstGeom>
          <a:noFill/>
        </p:spPr>
        <p:txBody>
          <a:bodyPr wrap="square" anchor="ctr">
            <a:spAutoFit/>
          </a:bodyPr>
          <a:lstStyle/>
          <a:p>
            <a:pPr algn="l"/>
            <a:r>
              <a:rPr sz="950" b="0" i="0">
                <a:solidFill>
                  <a:srgbClr val="334155"/>
                </a:solidFill>
                <a:latin typeface="Calibri"/>
              </a:rPr>
              <a:t>Personal (38.0 %)</a:t>
            </a:r>
          </a:p>
        </p:txBody>
      </p:sp>
      <p:sp>
        <p:nvSpPr>
          <p:cNvPr id="177" name="Rectangle 176"/>
          <p:cNvSpPr/>
          <p:nvPr/>
        </p:nvSpPr>
        <p:spPr>
          <a:xfrm>
            <a:off x="9921240" y="5586983"/>
            <a:ext cx="146304" cy="146304"/>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10104119" y="5532120"/>
            <a:ext cx="1691640" cy="256032"/>
          </a:xfrm>
          <a:prstGeom prst="rect">
            <a:avLst/>
          </a:prstGeom>
          <a:noFill/>
        </p:spPr>
        <p:txBody>
          <a:bodyPr wrap="square" anchor="ctr">
            <a:spAutoFit/>
          </a:bodyPr>
          <a:lstStyle/>
          <a:p>
            <a:pPr algn="l"/>
            <a:r>
              <a:rPr sz="950" b="0" i="0">
                <a:solidFill>
                  <a:srgbClr val="334155"/>
                </a:solidFill>
                <a:latin typeface="Calibri"/>
              </a:rPr>
              <a:t>Costos fijos oper. (9.3 %)</a:t>
            </a:r>
          </a:p>
        </p:txBody>
      </p:sp>
      <p:sp>
        <p:nvSpPr>
          <p:cNvPr id="179" name="Rectangle 178"/>
          <p:cNvSpPr/>
          <p:nvPr/>
        </p:nvSpPr>
        <p:spPr>
          <a:xfrm>
            <a:off x="6172200" y="5861303"/>
            <a:ext cx="146304" cy="146304"/>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355080" y="5806440"/>
            <a:ext cx="1691640" cy="256032"/>
          </a:xfrm>
          <a:prstGeom prst="rect">
            <a:avLst/>
          </a:prstGeom>
          <a:noFill/>
        </p:spPr>
        <p:txBody>
          <a:bodyPr wrap="square" anchor="ctr">
            <a:spAutoFit/>
          </a:bodyPr>
          <a:lstStyle/>
          <a:p>
            <a:pPr algn="l"/>
            <a:r>
              <a:rPr sz="950" b="0" i="0">
                <a:solidFill>
                  <a:srgbClr val="334155"/>
                </a:solidFill>
                <a:latin typeface="Calibri"/>
              </a:rPr>
              <a:t>Administración (7.2 %)</a:t>
            </a:r>
          </a:p>
        </p:txBody>
      </p:sp>
      <p:sp>
        <p:nvSpPr>
          <p:cNvPr id="181" name="Rectangle 180"/>
          <p:cNvSpPr/>
          <p:nvPr/>
        </p:nvSpPr>
        <p:spPr>
          <a:xfrm>
            <a:off x="8046720" y="5861303"/>
            <a:ext cx="146304" cy="146304"/>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8229600" y="5806440"/>
            <a:ext cx="1691640" cy="256032"/>
          </a:xfrm>
          <a:prstGeom prst="rect">
            <a:avLst/>
          </a:prstGeom>
          <a:noFill/>
        </p:spPr>
        <p:txBody>
          <a:bodyPr wrap="square" anchor="ctr">
            <a:spAutoFit/>
          </a:bodyPr>
          <a:lstStyle/>
          <a:p>
            <a:pPr algn="l"/>
            <a:r>
              <a:rPr sz="950" b="0" i="0">
                <a:solidFill>
                  <a:srgbClr val="334155"/>
                </a:solidFill>
                <a:latin typeface="Calibri"/>
              </a:rPr>
              <a:t>Empaque (2.6 %)</a:t>
            </a:r>
          </a:p>
        </p:txBody>
      </p:sp>
      <p:sp>
        <p:nvSpPr>
          <p:cNvPr id="183" name="Rectangle 182"/>
          <p:cNvSpPr/>
          <p:nvPr/>
        </p:nvSpPr>
        <p:spPr>
          <a:xfrm>
            <a:off x="9921240" y="5861303"/>
            <a:ext cx="146304" cy="146304"/>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104119" y="5806440"/>
            <a:ext cx="1691640" cy="256032"/>
          </a:xfrm>
          <a:prstGeom prst="rect">
            <a:avLst/>
          </a:prstGeom>
          <a:noFill/>
        </p:spPr>
        <p:txBody>
          <a:bodyPr wrap="square" anchor="ctr">
            <a:spAutoFit/>
          </a:bodyPr>
          <a:lstStyle/>
          <a:p>
            <a:pPr algn="l"/>
            <a:r>
              <a:rPr sz="950" b="0" i="0">
                <a:solidFill>
                  <a:srgbClr val="334155"/>
                </a:solidFill>
                <a:latin typeface="Calibri"/>
              </a:rPr>
              <a:t>Combustible (2.6 %)</a:t>
            </a:r>
          </a:p>
        </p:txBody>
      </p:sp>
      <p:sp>
        <p:nvSpPr>
          <p:cNvPr id="185" name="TextBox 18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INDICADORES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Financieros · VAN, TIR, PRI, IRVA y B/C</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42" name="HeaderBg"/>
          <p:cNvSpPr/>
          <p:nvPr/>
        </p:nvSpPr>
        <p:spPr>
          <a:xfrm>
            <a:off x="320040" y="1115568"/>
            <a:ext cx="5440680" cy="411480"/>
          </a:xfrm>
          <a:prstGeom prst="rect">
            <a:avLst/>
          </a:prstGeom>
          <a:solidFill>
            <a:srgbClr val="0D2341"/>
          </a:solidFill>
          <a:ln w="12700">
            <a:solidFill>
              <a:srgbClr val="0D2341"/>
            </a:solidFill>
            <a:prstDash val="solid"/>
          </a:ln>
        </p:spPr>
        <p:txBody>
          <a:bodyPr/>
          <a:lstStyle/>
          <a:p>
            <a:endParaRPr lang="es-CO"/>
          </a:p>
        </p:txBody>
      </p:sp>
      <p:sp>
        <p:nvSpPr>
          <p:cNvPr id="43" name="HeaderTxt"/>
          <p:cNvSpPr txBox="1"/>
          <p:nvPr/>
        </p:nvSpPr>
        <p:spPr>
          <a:xfrm>
            <a:off x="457200" y="1115568"/>
            <a:ext cx="516636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SIN FINANCIAMIENTO</a:t>
            </a:r>
            <a:endParaRPr lang="en-US" sz="1100" dirty="0"/>
          </a:p>
        </p:txBody>
      </p:sp>
      <p:sp>
        <p:nvSpPr>
          <p:cNvPr id="44" name="HeaderBg"/>
          <p:cNvSpPr/>
          <p:nvPr/>
        </p:nvSpPr>
        <p:spPr>
          <a:xfrm>
            <a:off x="6126480" y="1115568"/>
            <a:ext cx="5715000" cy="411480"/>
          </a:xfrm>
          <a:prstGeom prst="rect">
            <a:avLst/>
          </a:prstGeom>
          <a:solidFill>
            <a:srgbClr val="1A7A8A"/>
          </a:solidFill>
          <a:ln w="12700">
            <a:solidFill>
              <a:srgbClr val="1A7A8A"/>
            </a:solidFill>
            <a:prstDash val="solid"/>
          </a:ln>
        </p:spPr>
        <p:txBody>
          <a:bodyPr/>
          <a:lstStyle/>
          <a:p>
            <a:endParaRPr lang="es-CO"/>
          </a:p>
        </p:txBody>
      </p:sp>
      <p:sp>
        <p:nvSpPr>
          <p:cNvPr id="45" name="HeaderTxt"/>
          <p:cNvSpPr txBox="1"/>
          <p:nvPr/>
        </p:nvSpPr>
        <p:spPr>
          <a:xfrm>
            <a:off x="6263640" y="1115568"/>
            <a:ext cx="544068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CON FINANCIAMIENTO (50 % préstamo al 14 % anual)</a:t>
            </a:r>
            <a:endParaRPr lang="en-US" sz="1100" dirty="0"/>
          </a:p>
        </p:txBody>
      </p:sp>
      <p:sp>
        <p:nvSpPr>
          <p:cNvPr id="46" name="CardBg"/>
          <p:cNvSpPr/>
          <p:nvPr/>
        </p:nvSpPr>
        <p:spPr>
          <a:xfrm>
            <a:off x="32004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47" name="CardVal"/>
          <p:cNvSpPr txBox="1"/>
          <p:nvPr/>
        </p:nvSpPr>
        <p:spPr>
          <a:xfrm>
            <a:off x="32004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15,370,631</a:t>
            </a:r>
            <a:endParaRPr lang="en-US" sz="2000" dirty="0"/>
          </a:p>
        </p:txBody>
      </p:sp>
      <p:sp>
        <p:nvSpPr>
          <p:cNvPr id="48" name="CardLbl"/>
          <p:cNvSpPr txBox="1"/>
          <p:nvPr/>
        </p:nvSpPr>
        <p:spPr>
          <a:xfrm>
            <a:off x="32004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sin financiamiento</a:t>
            </a:r>
            <a:endParaRPr lang="en-US" sz="1000" dirty="0"/>
          </a:p>
        </p:txBody>
      </p:sp>
      <p:sp>
        <p:nvSpPr>
          <p:cNvPr id="49" name="CardBg"/>
          <p:cNvSpPr/>
          <p:nvPr/>
        </p:nvSpPr>
        <p:spPr>
          <a:xfrm>
            <a:off x="216408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0" name="CardVal"/>
          <p:cNvSpPr txBox="1"/>
          <p:nvPr/>
        </p:nvSpPr>
        <p:spPr>
          <a:xfrm>
            <a:off x="216408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55.95 %</a:t>
            </a:r>
            <a:endParaRPr lang="en-US" sz="2000" dirty="0"/>
          </a:p>
        </p:txBody>
      </p:sp>
      <p:sp>
        <p:nvSpPr>
          <p:cNvPr id="51" name="CardLbl"/>
          <p:cNvSpPr txBox="1"/>
          <p:nvPr/>
        </p:nvSpPr>
        <p:spPr>
          <a:xfrm>
            <a:off x="216408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sin financiamiento</a:t>
            </a:r>
            <a:endParaRPr lang="en-US" sz="1000" dirty="0"/>
          </a:p>
        </p:txBody>
      </p:sp>
      <p:sp>
        <p:nvSpPr>
          <p:cNvPr id="52" name="CardBg"/>
          <p:cNvSpPr/>
          <p:nvPr/>
        </p:nvSpPr>
        <p:spPr>
          <a:xfrm>
            <a:off x="400812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3" name="CardVal"/>
          <p:cNvSpPr txBox="1"/>
          <p:nvPr/>
        </p:nvSpPr>
        <p:spPr>
          <a:xfrm>
            <a:off x="400812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3.67 años</a:t>
            </a:r>
            <a:endParaRPr lang="en-US" sz="2000" dirty="0"/>
          </a:p>
        </p:txBody>
      </p:sp>
      <p:sp>
        <p:nvSpPr>
          <p:cNvPr id="54" name="CardLbl"/>
          <p:cNvSpPr txBox="1"/>
          <p:nvPr/>
        </p:nvSpPr>
        <p:spPr>
          <a:xfrm>
            <a:off x="400812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55" name="CardBg"/>
          <p:cNvSpPr/>
          <p:nvPr/>
        </p:nvSpPr>
        <p:spPr>
          <a:xfrm>
            <a:off x="32004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6" name="CardVal"/>
          <p:cNvSpPr txBox="1"/>
          <p:nvPr/>
        </p:nvSpPr>
        <p:spPr>
          <a:xfrm>
            <a:off x="32004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8.62</a:t>
            </a:r>
            <a:endParaRPr lang="en-US" sz="2000" dirty="0"/>
          </a:p>
        </p:txBody>
      </p:sp>
      <p:sp>
        <p:nvSpPr>
          <p:cNvPr id="57" name="CardLbl"/>
          <p:cNvSpPr txBox="1"/>
          <p:nvPr/>
        </p:nvSpPr>
        <p:spPr>
          <a:xfrm>
            <a:off x="32004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58" name="CardBg"/>
          <p:cNvSpPr/>
          <p:nvPr/>
        </p:nvSpPr>
        <p:spPr>
          <a:xfrm>
            <a:off x="308610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9" name="CardVal"/>
          <p:cNvSpPr txBox="1"/>
          <p:nvPr/>
        </p:nvSpPr>
        <p:spPr>
          <a:xfrm>
            <a:off x="308610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60" name="CardLbl"/>
          <p:cNvSpPr txBox="1"/>
          <p:nvPr/>
        </p:nvSpPr>
        <p:spPr>
          <a:xfrm>
            <a:off x="308610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61" name="CardBg"/>
          <p:cNvSpPr/>
          <p:nvPr/>
        </p:nvSpPr>
        <p:spPr>
          <a:xfrm>
            <a:off x="612648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2" name="CardVal"/>
          <p:cNvSpPr txBox="1"/>
          <p:nvPr/>
        </p:nvSpPr>
        <p:spPr>
          <a:xfrm>
            <a:off x="612648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15,459,686</a:t>
            </a:r>
            <a:endParaRPr lang="en-US" sz="2000" dirty="0"/>
          </a:p>
        </p:txBody>
      </p:sp>
      <p:sp>
        <p:nvSpPr>
          <p:cNvPr id="63" name="CardLbl"/>
          <p:cNvSpPr txBox="1"/>
          <p:nvPr/>
        </p:nvSpPr>
        <p:spPr>
          <a:xfrm>
            <a:off x="612648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con financiamiento</a:t>
            </a:r>
            <a:endParaRPr lang="en-US" sz="1000" dirty="0"/>
          </a:p>
        </p:txBody>
      </p:sp>
      <p:sp>
        <p:nvSpPr>
          <p:cNvPr id="64" name="CardBg"/>
          <p:cNvSpPr/>
          <p:nvPr/>
        </p:nvSpPr>
        <p:spPr>
          <a:xfrm>
            <a:off x="806196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5" name="CardVal"/>
          <p:cNvSpPr txBox="1"/>
          <p:nvPr/>
        </p:nvSpPr>
        <p:spPr>
          <a:xfrm>
            <a:off x="806196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63.62 %</a:t>
            </a:r>
            <a:endParaRPr lang="en-US" sz="2000" dirty="0"/>
          </a:p>
        </p:txBody>
      </p:sp>
      <p:sp>
        <p:nvSpPr>
          <p:cNvPr id="66" name="CardLbl"/>
          <p:cNvSpPr txBox="1"/>
          <p:nvPr/>
        </p:nvSpPr>
        <p:spPr>
          <a:xfrm>
            <a:off x="806196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con financiamiento</a:t>
            </a:r>
            <a:endParaRPr lang="en-US" sz="1000" dirty="0"/>
          </a:p>
        </p:txBody>
      </p:sp>
      <p:sp>
        <p:nvSpPr>
          <p:cNvPr id="67" name="CardBg"/>
          <p:cNvSpPr/>
          <p:nvPr/>
        </p:nvSpPr>
        <p:spPr>
          <a:xfrm>
            <a:off x="999744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8" name="CardVal"/>
          <p:cNvSpPr txBox="1"/>
          <p:nvPr/>
        </p:nvSpPr>
        <p:spPr>
          <a:xfrm>
            <a:off x="999744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3.66 años</a:t>
            </a:r>
            <a:endParaRPr lang="en-US" sz="2000" dirty="0"/>
          </a:p>
        </p:txBody>
      </p:sp>
      <p:sp>
        <p:nvSpPr>
          <p:cNvPr id="69" name="CardLbl"/>
          <p:cNvSpPr txBox="1"/>
          <p:nvPr/>
        </p:nvSpPr>
        <p:spPr>
          <a:xfrm>
            <a:off x="999744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70" name="CardBg"/>
          <p:cNvSpPr/>
          <p:nvPr/>
        </p:nvSpPr>
        <p:spPr>
          <a:xfrm>
            <a:off x="612648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1" name="CardVal"/>
          <p:cNvSpPr txBox="1"/>
          <p:nvPr/>
        </p:nvSpPr>
        <p:spPr>
          <a:xfrm>
            <a:off x="612648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17.33</a:t>
            </a:r>
            <a:endParaRPr lang="en-US" sz="2000" dirty="0"/>
          </a:p>
        </p:txBody>
      </p:sp>
      <p:sp>
        <p:nvSpPr>
          <p:cNvPr id="72" name="CardLbl"/>
          <p:cNvSpPr txBox="1"/>
          <p:nvPr/>
        </p:nvSpPr>
        <p:spPr>
          <a:xfrm>
            <a:off x="612648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73" name="CardBg"/>
          <p:cNvSpPr/>
          <p:nvPr/>
        </p:nvSpPr>
        <p:spPr>
          <a:xfrm>
            <a:off x="902970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4" name="CardVal"/>
          <p:cNvSpPr txBox="1"/>
          <p:nvPr/>
        </p:nvSpPr>
        <p:spPr>
          <a:xfrm>
            <a:off x="902970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75" name="CardLbl"/>
          <p:cNvSpPr txBox="1"/>
          <p:nvPr/>
        </p:nvSpPr>
        <p:spPr>
          <a:xfrm>
            <a:off x="902970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33" name="Shape 31"/>
          <p:cNvSpPr/>
          <p:nvPr/>
        </p:nvSpPr>
        <p:spPr>
          <a:xfrm>
            <a:off x="320040" y="4279392"/>
            <a:ext cx="182880" cy="274320"/>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594360" y="4297680"/>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IRVA = VAN / inversión aportada; con deuda los socios aportan la mitad, por eso se duplica (8.62 → 17.33).</a:t>
            </a:r>
            <a:endParaRPr lang="en-US" sz="1200" dirty="0"/>
          </a:p>
        </p:txBody>
      </p:sp>
      <p:sp>
        <p:nvSpPr>
          <p:cNvPr id="35" name="Shape 33"/>
          <p:cNvSpPr/>
          <p:nvPr/>
        </p:nvSpPr>
        <p:spPr>
          <a:xfrm>
            <a:off x="320040" y="4663440"/>
            <a:ext cx="182880" cy="274320"/>
          </a:xfrm>
          <a:prstGeom prst="rect">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594360" y="4681728"/>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B/C casi igual (1.239 y 1.241): el VP de intereses y abonos al 15 % casi iguala al préstamo.</a:t>
            </a:r>
            <a:endParaRPr lang="en-US" sz="1200" dirty="0"/>
          </a:p>
        </p:txBody>
      </p:sp>
      <p:sp>
        <p:nvSpPr>
          <p:cNvPr id="37" name="Shape 35"/>
          <p:cNvSpPr/>
          <p:nvPr/>
        </p:nvSpPr>
        <p:spPr>
          <a:xfrm>
            <a:off x="320040" y="5047488"/>
            <a:ext cx="182880" cy="274320"/>
          </a:xfrm>
          <a:prstGeom prst="rect">
            <a:avLst/>
          </a:prstGeom>
          <a:solidFill>
            <a:srgbClr val="1A7A8A"/>
          </a:solidFill>
          <a:ln w="12700">
            <a:solidFill>
              <a:srgbClr val="1A7A8A"/>
            </a:solidFill>
            <a:prstDash val="solid"/>
          </a:ln>
        </p:spPr>
        <p:txBody>
          <a:bodyPr/>
          <a:lstStyle/>
          <a:p>
            <a:endParaRPr lang="es-CO"/>
          </a:p>
        </p:txBody>
      </p:sp>
      <p:sp>
        <p:nvSpPr>
          <p:cNvPr id="38" name="Text 36"/>
          <p:cNvSpPr txBox="1"/>
          <p:nvPr/>
        </p:nvSpPr>
        <p:spPr>
          <a:xfrm>
            <a:off x="594360" y="5065776"/>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Ambos VAN al 15 % (Ke). La TIR con deuda (63.62 %) supera el costo del préstamo (14 %).</a:t>
            </a:r>
            <a:endParaRPr lang="en-US" sz="1200" dirty="0"/>
          </a:p>
        </p:txBody>
      </p:sp>
      <p:sp>
        <p:nvSpPr>
          <p:cNvPr id="39" name="Shape 37"/>
          <p:cNvSpPr/>
          <p:nvPr/>
        </p:nvSpPr>
        <p:spPr>
          <a:xfrm>
            <a:off x="320040" y="5431536"/>
            <a:ext cx="182880" cy="274320"/>
          </a:xfrm>
          <a:prstGeom prst="rect">
            <a:avLst/>
          </a:prstGeom>
          <a:solidFill>
            <a:srgbClr val="1A7A8A"/>
          </a:solidFill>
          <a:ln w="12700">
            <a:solidFill>
              <a:srgbClr val="1A7A8A"/>
            </a:solidFill>
            <a:prstDash val="solid"/>
          </a:ln>
        </p:spPr>
        <p:txBody>
          <a:bodyPr/>
          <a:lstStyle/>
          <a:p>
            <a:endParaRPr lang="es-CO"/>
          </a:p>
        </p:txBody>
      </p:sp>
      <p:sp>
        <p:nvSpPr>
          <p:cNvPr id="40" name="Text 38"/>
          <p:cNvSpPr txBox="1"/>
          <p:nvPr/>
        </p:nvSpPr>
        <p:spPr>
          <a:xfrm>
            <a:off x="594360" y="5449824"/>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VAN determinísticos; el VPN medio de @RISK (L 24.0 M) se concilia en el respaldo (diap. 37).</a:t>
            </a:r>
            <a:endParaRPr lang="en-US" sz="1200" dirty="0"/>
          </a:p>
        </p:txBody>
      </p:sp>
      <p:sp>
        <p:nvSpPr>
          <p:cNvPr id="41" name="Text 3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SENSIBILIDAD</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Análisis de Sensibilidad · Variables Críticas</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1" name="Text 5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2" name="TextBox 61"/>
          <p:cNvSpPr txBox="1"/>
          <p:nvPr/>
        </p:nvSpPr>
        <p:spPr>
          <a:xfrm>
            <a:off x="320040" y="1051560"/>
            <a:ext cx="11430000" cy="274320"/>
          </a:xfrm>
          <a:prstGeom prst="rect">
            <a:avLst/>
          </a:prstGeom>
          <a:noFill/>
        </p:spPr>
        <p:txBody>
          <a:bodyPr wrap="square" anchor="ctr">
            <a:spAutoFit/>
          </a:bodyPr>
          <a:lstStyle/>
          <a:p>
            <a:pPr algn="l"/>
            <a:r>
              <a:rPr sz="1050" b="0" i="1">
                <a:solidFill>
                  <a:srgbClr val="64748B"/>
                </a:solidFill>
                <a:latin typeface="Calibri"/>
              </a:rPr>
              <a:t>Rango del VAN sin financiamiento al mover cada variable entre su mínimo y máximo (Tablas 36 y 37).</a:t>
            </a:r>
          </a:p>
        </p:txBody>
      </p:sp>
      <p:sp>
        <p:nvSpPr>
          <p:cNvPr id="63" name="Rectangle 62"/>
          <p:cNvSpPr/>
          <p:nvPr/>
        </p:nvSpPr>
        <p:spPr>
          <a:xfrm>
            <a:off x="320040" y="1417320"/>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20040" y="1417320"/>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65" name="Rectangle 64"/>
          <p:cNvSpPr/>
          <p:nvPr/>
        </p:nvSpPr>
        <p:spPr>
          <a:xfrm>
            <a:off x="1554480" y="141732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645920" y="1417320"/>
            <a:ext cx="3657600" cy="365760"/>
          </a:xfrm>
          <a:prstGeom prst="rect">
            <a:avLst/>
          </a:prstGeom>
          <a:noFill/>
        </p:spPr>
        <p:txBody>
          <a:bodyPr wrap="square" anchor="ctr">
            <a:spAutoFit/>
          </a:bodyPr>
          <a:lstStyle/>
          <a:p>
            <a:pPr algn="l"/>
            <a:r>
              <a:rPr sz="1100" b="1" i="0">
                <a:solidFill>
                  <a:srgbClr val="1B3A5C"/>
                </a:solidFill>
                <a:latin typeface="Calibri"/>
              </a:rPr>
              <a:t>Consumo por cliente</a:t>
            </a:r>
          </a:p>
        </p:txBody>
      </p:sp>
      <p:sp>
        <p:nvSpPr>
          <p:cNvPr id="67" name="TextBox 66"/>
          <p:cNvSpPr txBox="1"/>
          <p:nvPr/>
        </p:nvSpPr>
        <p:spPr>
          <a:xfrm>
            <a:off x="4846320" y="1417320"/>
            <a:ext cx="3291840" cy="365760"/>
          </a:xfrm>
          <a:prstGeom prst="rect">
            <a:avLst/>
          </a:prstGeom>
          <a:noFill/>
        </p:spPr>
        <p:txBody>
          <a:bodyPr wrap="square" anchor="ctr">
            <a:spAutoFit/>
          </a:bodyPr>
          <a:lstStyle/>
          <a:p>
            <a:pPr algn="l"/>
            <a:r>
              <a:rPr sz="1000" b="0" i="0">
                <a:solidFill>
                  <a:srgbClr val="334155"/>
                </a:solidFill>
                <a:latin typeface="Calibri"/>
              </a:rPr>
              <a:t>Base 150 L/mes · Mín 127.5 L/mes · Máx 180 L/mes</a:t>
            </a:r>
          </a:p>
        </p:txBody>
      </p:sp>
      <p:sp>
        <p:nvSpPr>
          <p:cNvPr id="68" name="TextBox 67"/>
          <p:cNvSpPr txBox="1"/>
          <p:nvPr/>
        </p:nvSpPr>
        <p:spPr>
          <a:xfrm>
            <a:off x="8138160" y="141732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−3.81 M / +5.07 M</a:t>
            </a:r>
            <a:r>
              <a:rPr sz="1000" b="0" i="0">
                <a:solidFill>
                  <a:srgbClr val="64748B"/>
                </a:solidFill>
                <a:latin typeface="Calibri"/>
              </a:rPr>
              <a:t>   Rango: </a:t>
            </a:r>
            <a:r>
              <a:rPr sz="1000" b="1" i="0">
                <a:solidFill>
                  <a:srgbClr val="334155"/>
                </a:solidFill>
                <a:latin typeface="Calibri"/>
              </a:rPr>
              <a:t>L 8.89 M</a:t>
            </a:r>
          </a:p>
        </p:txBody>
      </p:sp>
      <p:sp>
        <p:nvSpPr>
          <p:cNvPr id="69" name="Rectangle 68"/>
          <p:cNvSpPr/>
          <p:nvPr/>
        </p:nvSpPr>
        <p:spPr>
          <a:xfrm>
            <a:off x="320040" y="1837944"/>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20040" y="1837944"/>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1" name="Rectangle 70"/>
          <p:cNvSpPr/>
          <p:nvPr/>
        </p:nvSpPr>
        <p:spPr>
          <a:xfrm>
            <a:off x="1554480" y="183794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45920" y="1837944"/>
            <a:ext cx="3657600" cy="365760"/>
          </a:xfrm>
          <a:prstGeom prst="rect">
            <a:avLst/>
          </a:prstGeom>
          <a:noFill/>
        </p:spPr>
        <p:txBody>
          <a:bodyPr wrap="square" anchor="ctr">
            <a:spAutoFit/>
          </a:bodyPr>
          <a:lstStyle/>
          <a:p>
            <a:pPr algn="l"/>
            <a:r>
              <a:rPr sz="1100" b="1" i="0">
                <a:solidFill>
                  <a:srgbClr val="1B3A5C"/>
                </a:solidFill>
                <a:latin typeface="Calibri"/>
              </a:rPr>
              <a:t>Precio de venta, Año 1</a:t>
            </a:r>
          </a:p>
        </p:txBody>
      </p:sp>
      <p:sp>
        <p:nvSpPr>
          <p:cNvPr id="73" name="TextBox 72"/>
          <p:cNvSpPr txBox="1"/>
          <p:nvPr/>
        </p:nvSpPr>
        <p:spPr>
          <a:xfrm>
            <a:off x="4846320" y="1837944"/>
            <a:ext cx="3291840" cy="365760"/>
          </a:xfrm>
          <a:prstGeom prst="rect">
            <a:avLst/>
          </a:prstGeom>
          <a:noFill/>
        </p:spPr>
        <p:txBody>
          <a:bodyPr wrap="square" anchor="ctr">
            <a:spAutoFit/>
          </a:bodyPr>
          <a:lstStyle/>
          <a:p>
            <a:pPr algn="l"/>
            <a:r>
              <a:rPr sz="1000" b="0" i="0">
                <a:solidFill>
                  <a:srgbClr val="334155"/>
                </a:solidFill>
                <a:latin typeface="Calibri"/>
              </a:rPr>
              <a:t>Base L 28 · Mín L 26 · Máx L 30</a:t>
            </a:r>
          </a:p>
        </p:txBody>
      </p:sp>
      <p:sp>
        <p:nvSpPr>
          <p:cNvPr id="74" name="TextBox 73"/>
          <p:cNvSpPr txBox="1"/>
          <p:nvPr/>
        </p:nvSpPr>
        <p:spPr>
          <a:xfrm>
            <a:off x="8138160" y="183794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−4.25 M / +4.24 M</a:t>
            </a:r>
            <a:r>
              <a:rPr sz="1000" b="0" i="0">
                <a:solidFill>
                  <a:srgbClr val="64748B"/>
                </a:solidFill>
                <a:latin typeface="Calibri"/>
              </a:rPr>
              <a:t>   Rango: </a:t>
            </a:r>
            <a:r>
              <a:rPr sz="1000" b="1" i="0">
                <a:solidFill>
                  <a:srgbClr val="334155"/>
                </a:solidFill>
                <a:latin typeface="Calibri"/>
              </a:rPr>
              <a:t>L 8.50 M</a:t>
            </a:r>
          </a:p>
        </p:txBody>
      </p:sp>
      <p:sp>
        <p:nvSpPr>
          <p:cNvPr id="75" name="Rectangle 74"/>
          <p:cNvSpPr/>
          <p:nvPr/>
        </p:nvSpPr>
        <p:spPr>
          <a:xfrm>
            <a:off x="320040" y="2258568"/>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20040" y="2258568"/>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7" name="Rectangle 76"/>
          <p:cNvSpPr/>
          <p:nvPr/>
        </p:nvSpPr>
        <p:spPr>
          <a:xfrm>
            <a:off x="1554480" y="225856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645920" y="2258568"/>
            <a:ext cx="3657600" cy="365760"/>
          </a:xfrm>
          <a:prstGeom prst="rect">
            <a:avLst/>
          </a:prstGeom>
          <a:noFill/>
        </p:spPr>
        <p:txBody>
          <a:bodyPr wrap="square" anchor="ctr">
            <a:spAutoFit/>
          </a:bodyPr>
          <a:lstStyle/>
          <a:p>
            <a:pPr algn="l"/>
            <a:r>
              <a:rPr sz="1100" b="1" i="0">
                <a:solidFill>
                  <a:srgbClr val="1B3A5C"/>
                </a:solidFill>
                <a:latin typeface="Calibri"/>
              </a:rPr>
              <a:t>Costo de leche cruda</a:t>
            </a:r>
          </a:p>
        </p:txBody>
      </p:sp>
      <p:sp>
        <p:nvSpPr>
          <p:cNvPr id="79" name="TextBox 78"/>
          <p:cNvSpPr txBox="1"/>
          <p:nvPr/>
        </p:nvSpPr>
        <p:spPr>
          <a:xfrm>
            <a:off x="4846320" y="2258568"/>
            <a:ext cx="3291840" cy="365760"/>
          </a:xfrm>
          <a:prstGeom prst="rect">
            <a:avLst/>
          </a:prstGeom>
          <a:noFill/>
        </p:spPr>
        <p:txBody>
          <a:bodyPr wrap="square" anchor="ctr">
            <a:spAutoFit/>
          </a:bodyPr>
          <a:lstStyle/>
          <a:p>
            <a:pPr algn="l"/>
            <a:r>
              <a:rPr sz="1000" b="0" i="0">
                <a:solidFill>
                  <a:srgbClr val="334155"/>
                </a:solidFill>
                <a:latin typeface="Calibri"/>
              </a:rPr>
              <a:t>Base L 13.00 · Mín L 11.70 · Máx L 14.95</a:t>
            </a:r>
          </a:p>
        </p:txBody>
      </p:sp>
      <p:sp>
        <p:nvSpPr>
          <p:cNvPr id="80" name="TextBox 79"/>
          <p:cNvSpPr txBox="1"/>
          <p:nvPr/>
        </p:nvSpPr>
        <p:spPr>
          <a:xfrm>
            <a:off x="8138160" y="225856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+3.02 M / −4.53 M</a:t>
            </a:r>
            <a:r>
              <a:rPr sz="1000" b="0" i="0">
                <a:solidFill>
                  <a:srgbClr val="64748B"/>
                </a:solidFill>
                <a:latin typeface="Calibri"/>
              </a:rPr>
              <a:t>   Rango: </a:t>
            </a:r>
            <a:r>
              <a:rPr sz="1000" b="1" i="0">
                <a:solidFill>
                  <a:srgbClr val="334155"/>
                </a:solidFill>
                <a:latin typeface="Calibri"/>
              </a:rPr>
              <a:t>L 7.55 M</a:t>
            </a:r>
          </a:p>
        </p:txBody>
      </p:sp>
      <p:sp>
        <p:nvSpPr>
          <p:cNvPr id="81" name="Rectangle 80"/>
          <p:cNvSpPr/>
          <p:nvPr/>
        </p:nvSpPr>
        <p:spPr>
          <a:xfrm>
            <a:off x="320040" y="2679192"/>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20040" y="2679192"/>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3" name="Rectangle 82"/>
          <p:cNvSpPr/>
          <p:nvPr/>
        </p:nvSpPr>
        <p:spPr>
          <a:xfrm>
            <a:off x="1554480" y="267919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645920" y="2679192"/>
            <a:ext cx="3657600" cy="365760"/>
          </a:xfrm>
          <a:prstGeom prst="rect">
            <a:avLst/>
          </a:prstGeom>
          <a:noFill/>
        </p:spPr>
        <p:txBody>
          <a:bodyPr wrap="square" anchor="ctr">
            <a:spAutoFit/>
          </a:bodyPr>
          <a:lstStyle/>
          <a:p>
            <a:pPr algn="l"/>
            <a:r>
              <a:rPr sz="1100" b="1" i="0">
                <a:solidFill>
                  <a:srgbClr val="1B3A5C"/>
                </a:solidFill>
                <a:latin typeface="Calibri"/>
              </a:rPr>
              <a:t>Clientes activos, Año 10</a:t>
            </a:r>
          </a:p>
        </p:txBody>
      </p:sp>
      <p:sp>
        <p:nvSpPr>
          <p:cNvPr id="85" name="TextBox 84"/>
          <p:cNvSpPr txBox="1"/>
          <p:nvPr/>
        </p:nvSpPr>
        <p:spPr>
          <a:xfrm>
            <a:off x="4846320" y="2679192"/>
            <a:ext cx="3291840" cy="365760"/>
          </a:xfrm>
          <a:prstGeom prst="rect">
            <a:avLst/>
          </a:prstGeom>
          <a:noFill/>
        </p:spPr>
        <p:txBody>
          <a:bodyPr wrap="square" anchor="ctr">
            <a:spAutoFit/>
          </a:bodyPr>
          <a:lstStyle/>
          <a:p>
            <a:pPr algn="l"/>
            <a:r>
              <a:rPr sz="1000" b="0" i="0">
                <a:solidFill>
                  <a:srgbClr val="334155"/>
                </a:solidFill>
                <a:latin typeface="Calibri"/>
              </a:rPr>
              <a:t>Base 690 · Mín 552 · Máx 828</a:t>
            </a:r>
          </a:p>
        </p:txBody>
      </p:sp>
      <p:sp>
        <p:nvSpPr>
          <p:cNvPr id="86" name="TextBox 85"/>
          <p:cNvSpPr txBox="1"/>
          <p:nvPr/>
        </p:nvSpPr>
        <p:spPr>
          <a:xfrm>
            <a:off x="8138160" y="267919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−0.78 M / +0.78 M</a:t>
            </a:r>
            <a:r>
              <a:rPr sz="1000" b="0" i="0">
                <a:solidFill>
                  <a:srgbClr val="64748B"/>
                </a:solidFill>
                <a:latin typeface="Calibri"/>
              </a:rPr>
              <a:t>   Rango: </a:t>
            </a:r>
            <a:r>
              <a:rPr sz="1000" b="1" i="0">
                <a:solidFill>
                  <a:srgbClr val="334155"/>
                </a:solidFill>
                <a:latin typeface="Calibri"/>
              </a:rPr>
              <a:t>L 1.56 M</a:t>
            </a:r>
          </a:p>
        </p:txBody>
      </p:sp>
      <p:sp>
        <p:nvSpPr>
          <p:cNvPr id="87" name="Rectangle 86"/>
          <p:cNvSpPr/>
          <p:nvPr/>
        </p:nvSpPr>
        <p:spPr>
          <a:xfrm>
            <a:off x="320040" y="3099816"/>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320040" y="3099816"/>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9" name="Rectangle 88"/>
          <p:cNvSpPr/>
          <p:nvPr/>
        </p:nvSpPr>
        <p:spPr>
          <a:xfrm>
            <a:off x="1554480" y="309981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645920" y="3099816"/>
            <a:ext cx="3657600" cy="365760"/>
          </a:xfrm>
          <a:prstGeom prst="rect">
            <a:avLst/>
          </a:prstGeom>
          <a:noFill/>
        </p:spPr>
        <p:txBody>
          <a:bodyPr wrap="square" anchor="ctr">
            <a:spAutoFit/>
          </a:bodyPr>
          <a:lstStyle/>
          <a:p>
            <a:pPr algn="l"/>
            <a:r>
              <a:rPr sz="1100" b="1" i="0">
                <a:solidFill>
                  <a:srgbClr val="1B3A5C"/>
                </a:solidFill>
                <a:latin typeface="Calibri"/>
              </a:rPr>
              <a:t>Inflación anual</a:t>
            </a:r>
          </a:p>
        </p:txBody>
      </p:sp>
      <p:sp>
        <p:nvSpPr>
          <p:cNvPr id="91" name="TextBox 90"/>
          <p:cNvSpPr txBox="1"/>
          <p:nvPr/>
        </p:nvSpPr>
        <p:spPr>
          <a:xfrm>
            <a:off x="4846320" y="3099816"/>
            <a:ext cx="3291840" cy="365760"/>
          </a:xfrm>
          <a:prstGeom prst="rect">
            <a:avLst/>
          </a:prstGeom>
          <a:noFill/>
        </p:spPr>
        <p:txBody>
          <a:bodyPr wrap="square" anchor="ctr">
            <a:spAutoFit/>
          </a:bodyPr>
          <a:lstStyle/>
          <a:p>
            <a:pPr algn="l"/>
            <a:r>
              <a:rPr sz="1000" b="0" i="0">
                <a:solidFill>
                  <a:srgbClr val="334155"/>
                </a:solidFill>
                <a:latin typeface="Calibri"/>
              </a:rPr>
              <a:t>Base 4.5 % · Mín 3.825 % · Máx 5.4 %</a:t>
            </a:r>
          </a:p>
        </p:txBody>
      </p:sp>
      <p:sp>
        <p:nvSpPr>
          <p:cNvPr id="92" name="TextBox 91"/>
          <p:cNvSpPr txBox="1"/>
          <p:nvPr/>
        </p:nvSpPr>
        <p:spPr>
          <a:xfrm>
            <a:off x="8138160" y="309981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−0.43 M / +0.59 M</a:t>
            </a:r>
            <a:r>
              <a:rPr sz="1000" b="0" i="0">
                <a:solidFill>
                  <a:srgbClr val="64748B"/>
                </a:solidFill>
                <a:latin typeface="Calibri"/>
              </a:rPr>
              <a:t>   Rango: </a:t>
            </a:r>
            <a:r>
              <a:rPr sz="1000" b="1" i="0">
                <a:solidFill>
                  <a:srgbClr val="334155"/>
                </a:solidFill>
                <a:latin typeface="Calibri"/>
              </a:rPr>
              <a:t>L 1.01 M</a:t>
            </a:r>
          </a:p>
        </p:txBody>
      </p:sp>
      <p:sp>
        <p:nvSpPr>
          <p:cNvPr id="93" name="Rectangle 92"/>
          <p:cNvSpPr/>
          <p:nvPr/>
        </p:nvSpPr>
        <p:spPr>
          <a:xfrm>
            <a:off x="320040" y="3520440"/>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20040" y="3520440"/>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95" name="Rectangle 94"/>
          <p:cNvSpPr/>
          <p:nvPr/>
        </p:nvSpPr>
        <p:spPr>
          <a:xfrm>
            <a:off x="1554480" y="352044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645920" y="3520440"/>
            <a:ext cx="3657600" cy="365760"/>
          </a:xfrm>
          <a:prstGeom prst="rect">
            <a:avLst/>
          </a:prstGeom>
          <a:noFill/>
        </p:spPr>
        <p:txBody>
          <a:bodyPr wrap="square" anchor="ctr">
            <a:spAutoFit/>
          </a:bodyPr>
          <a:lstStyle/>
          <a:p>
            <a:pPr algn="l"/>
            <a:r>
              <a:rPr sz="1100" b="1" i="0">
                <a:solidFill>
                  <a:srgbClr val="1B3A5C"/>
                </a:solidFill>
                <a:latin typeface="Calibri"/>
              </a:rPr>
              <a:t>Clientes activos, Año 5</a:t>
            </a:r>
          </a:p>
        </p:txBody>
      </p:sp>
      <p:sp>
        <p:nvSpPr>
          <p:cNvPr id="97" name="TextBox 96"/>
          <p:cNvSpPr txBox="1"/>
          <p:nvPr/>
        </p:nvSpPr>
        <p:spPr>
          <a:xfrm>
            <a:off x="4846320" y="3520440"/>
            <a:ext cx="3291840" cy="365760"/>
          </a:xfrm>
          <a:prstGeom prst="rect">
            <a:avLst/>
          </a:prstGeom>
          <a:noFill/>
        </p:spPr>
        <p:txBody>
          <a:bodyPr wrap="square" anchor="ctr">
            <a:spAutoFit/>
          </a:bodyPr>
          <a:lstStyle/>
          <a:p>
            <a:pPr algn="l"/>
            <a:r>
              <a:rPr sz="1000" b="0" i="0">
                <a:solidFill>
                  <a:srgbClr val="334155"/>
                </a:solidFill>
                <a:latin typeface="Calibri"/>
              </a:rPr>
              <a:t>Base 280 · Mín 224 · Máx 336</a:t>
            </a:r>
          </a:p>
        </p:txBody>
      </p:sp>
      <p:sp>
        <p:nvSpPr>
          <p:cNvPr id="98" name="TextBox 97"/>
          <p:cNvSpPr txBox="1"/>
          <p:nvPr/>
        </p:nvSpPr>
        <p:spPr>
          <a:xfrm>
            <a:off x="8138160" y="352044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−0.50 M / +0.50 M</a:t>
            </a:r>
            <a:r>
              <a:rPr sz="1000" b="0" i="0">
                <a:solidFill>
                  <a:srgbClr val="64748B"/>
                </a:solidFill>
                <a:latin typeface="Calibri"/>
              </a:rPr>
              <a:t>   Rango: </a:t>
            </a:r>
            <a:r>
              <a:rPr sz="1000" b="1" i="0">
                <a:solidFill>
                  <a:srgbClr val="334155"/>
                </a:solidFill>
                <a:latin typeface="Calibri"/>
              </a:rPr>
              <a:t>L 1.00 M</a:t>
            </a:r>
          </a:p>
        </p:txBody>
      </p:sp>
      <p:sp>
        <p:nvSpPr>
          <p:cNvPr id="99" name="Rectangle 98"/>
          <p:cNvSpPr/>
          <p:nvPr/>
        </p:nvSpPr>
        <p:spPr>
          <a:xfrm>
            <a:off x="320040" y="3941064"/>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320040" y="3941064"/>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1" name="Rectangle 100"/>
          <p:cNvSpPr/>
          <p:nvPr/>
        </p:nvSpPr>
        <p:spPr>
          <a:xfrm>
            <a:off x="1554480" y="394106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1645920" y="3941064"/>
            <a:ext cx="3657600" cy="365760"/>
          </a:xfrm>
          <a:prstGeom prst="rect">
            <a:avLst/>
          </a:prstGeom>
          <a:noFill/>
        </p:spPr>
        <p:txBody>
          <a:bodyPr wrap="square" anchor="ctr">
            <a:spAutoFit/>
          </a:bodyPr>
          <a:lstStyle/>
          <a:p>
            <a:pPr algn="l"/>
            <a:r>
              <a:rPr sz="1100" b="1" i="0">
                <a:solidFill>
                  <a:srgbClr val="1B3A5C"/>
                </a:solidFill>
                <a:latin typeface="Calibri"/>
              </a:rPr>
              <a:t>Merma de proceso</a:t>
            </a:r>
          </a:p>
        </p:txBody>
      </p:sp>
      <p:sp>
        <p:nvSpPr>
          <p:cNvPr id="103" name="TextBox 102"/>
          <p:cNvSpPr txBox="1"/>
          <p:nvPr/>
        </p:nvSpPr>
        <p:spPr>
          <a:xfrm>
            <a:off x="4846320" y="3941064"/>
            <a:ext cx="3291840" cy="365760"/>
          </a:xfrm>
          <a:prstGeom prst="rect">
            <a:avLst/>
          </a:prstGeom>
          <a:noFill/>
        </p:spPr>
        <p:txBody>
          <a:bodyPr wrap="square" anchor="ctr">
            <a:spAutoFit/>
          </a:bodyPr>
          <a:lstStyle/>
          <a:p>
            <a:pPr algn="l"/>
            <a:r>
              <a:rPr sz="1000" b="0" i="0">
                <a:solidFill>
                  <a:srgbClr val="334155"/>
                </a:solidFill>
                <a:latin typeface="Calibri"/>
              </a:rPr>
              <a:t>Base 3 % · Mín 2.4 % · Máx 3.9 %</a:t>
            </a:r>
          </a:p>
        </p:txBody>
      </p:sp>
      <p:sp>
        <p:nvSpPr>
          <p:cNvPr id="104" name="TextBox 103"/>
          <p:cNvSpPr txBox="1"/>
          <p:nvPr/>
        </p:nvSpPr>
        <p:spPr>
          <a:xfrm>
            <a:off x="8138160" y="394106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+0.19 M / −0.28 M</a:t>
            </a:r>
            <a:r>
              <a:rPr sz="1000" b="0" i="0">
                <a:solidFill>
                  <a:srgbClr val="64748B"/>
                </a:solidFill>
                <a:latin typeface="Calibri"/>
              </a:rPr>
              <a:t>   Rango: </a:t>
            </a:r>
            <a:r>
              <a:rPr sz="1000" b="1" i="0">
                <a:solidFill>
                  <a:srgbClr val="334155"/>
                </a:solidFill>
                <a:latin typeface="Calibri"/>
              </a:rPr>
              <a:t>L 0.47 M</a:t>
            </a:r>
          </a:p>
        </p:txBody>
      </p:sp>
      <p:sp>
        <p:nvSpPr>
          <p:cNvPr id="105" name="Rectangle 104"/>
          <p:cNvSpPr/>
          <p:nvPr/>
        </p:nvSpPr>
        <p:spPr>
          <a:xfrm>
            <a:off x="320040" y="4361688"/>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20040" y="4361688"/>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7" name="Rectangle 106"/>
          <p:cNvSpPr/>
          <p:nvPr/>
        </p:nvSpPr>
        <p:spPr>
          <a:xfrm>
            <a:off x="1554480" y="436168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645920" y="4361688"/>
            <a:ext cx="3657600" cy="365760"/>
          </a:xfrm>
          <a:prstGeom prst="rect">
            <a:avLst/>
          </a:prstGeom>
          <a:noFill/>
        </p:spPr>
        <p:txBody>
          <a:bodyPr wrap="square" anchor="ctr">
            <a:spAutoFit/>
          </a:bodyPr>
          <a:lstStyle/>
          <a:p>
            <a:pPr algn="l"/>
            <a:r>
              <a:rPr sz="1100" b="1" i="0">
                <a:solidFill>
                  <a:srgbClr val="1B3A5C"/>
                </a:solidFill>
                <a:latin typeface="Calibri"/>
              </a:rPr>
              <a:t>Clientes activos, Año 1</a:t>
            </a:r>
          </a:p>
        </p:txBody>
      </p:sp>
      <p:sp>
        <p:nvSpPr>
          <p:cNvPr id="109" name="TextBox 108"/>
          <p:cNvSpPr txBox="1"/>
          <p:nvPr/>
        </p:nvSpPr>
        <p:spPr>
          <a:xfrm>
            <a:off x="4846320" y="4361688"/>
            <a:ext cx="3291840" cy="365760"/>
          </a:xfrm>
          <a:prstGeom prst="rect">
            <a:avLst/>
          </a:prstGeom>
          <a:noFill/>
        </p:spPr>
        <p:txBody>
          <a:bodyPr wrap="square" anchor="ctr">
            <a:spAutoFit/>
          </a:bodyPr>
          <a:lstStyle/>
          <a:p>
            <a:pPr algn="l"/>
            <a:r>
              <a:rPr sz="1000" b="0" i="0">
                <a:solidFill>
                  <a:srgbClr val="334155"/>
                </a:solidFill>
                <a:latin typeface="Calibri"/>
              </a:rPr>
              <a:t>Base 60 · Mín 45 · Máx 75</a:t>
            </a:r>
          </a:p>
        </p:txBody>
      </p:sp>
      <p:sp>
        <p:nvSpPr>
          <p:cNvPr id="110" name="TextBox 109"/>
          <p:cNvSpPr txBox="1"/>
          <p:nvPr/>
        </p:nvSpPr>
        <p:spPr>
          <a:xfrm>
            <a:off x="8138160" y="436168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−0.22 M / +0.22 M</a:t>
            </a:r>
            <a:r>
              <a:rPr sz="1000" b="0" i="0">
                <a:solidFill>
                  <a:srgbClr val="64748B"/>
                </a:solidFill>
                <a:latin typeface="Calibri"/>
              </a:rPr>
              <a:t>   Rango: </a:t>
            </a:r>
            <a:r>
              <a:rPr sz="1000" b="1" i="0">
                <a:solidFill>
                  <a:srgbClr val="334155"/>
                </a:solidFill>
                <a:latin typeface="Calibri"/>
              </a:rPr>
              <a:t>L 0.44 M</a:t>
            </a:r>
          </a:p>
        </p:txBody>
      </p:sp>
      <p:sp>
        <p:nvSpPr>
          <p:cNvPr id="111" name="Rectangle 110"/>
          <p:cNvSpPr/>
          <p:nvPr/>
        </p:nvSpPr>
        <p:spPr>
          <a:xfrm>
            <a:off x="320040" y="4782312"/>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4782312"/>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3" name="Rectangle 112"/>
          <p:cNvSpPr/>
          <p:nvPr/>
        </p:nvSpPr>
        <p:spPr>
          <a:xfrm>
            <a:off x="1554480" y="478231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645920" y="4782312"/>
            <a:ext cx="3657600" cy="365760"/>
          </a:xfrm>
          <a:prstGeom prst="rect">
            <a:avLst/>
          </a:prstGeom>
          <a:noFill/>
        </p:spPr>
        <p:txBody>
          <a:bodyPr wrap="square" anchor="ctr">
            <a:spAutoFit/>
          </a:bodyPr>
          <a:lstStyle/>
          <a:p>
            <a:pPr algn="l"/>
            <a:r>
              <a:rPr sz="1100" b="1" i="0">
                <a:solidFill>
                  <a:srgbClr val="1B3A5C"/>
                </a:solidFill>
                <a:latin typeface="Calibri"/>
              </a:rPr>
              <a:t>Costo de empaque</a:t>
            </a:r>
          </a:p>
        </p:txBody>
      </p:sp>
      <p:sp>
        <p:nvSpPr>
          <p:cNvPr id="115" name="TextBox 114"/>
          <p:cNvSpPr txBox="1"/>
          <p:nvPr/>
        </p:nvSpPr>
        <p:spPr>
          <a:xfrm>
            <a:off x="4846320" y="4782312"/>
            <a:ext cx="3291840" cy="365760"/>
          </a:xfrm>
          <a:prstGeom prst="rect">
            <a:avLst/>
          </a:prstGeom>
          <a:noFill/>
        </p:spPr>
        <p:txBody>
          <a:bodyPr wrap="square" anchor="ctr">
            <a:spAutoFit/>
          </a:bodyPr>
          <a:lstStyle/>
          <a:p>
            <a:pPr algn="l"/>
            <a:r>
              <a:rPr sz="1000" b="0" i="0">
                <a:solidFill>
                  <a:srgbClr val="334155"/>
                </a:solidFill>
                <a:latin typeface="Calibri"/>
              </a:rPr>
              <a:t>Base L 0.8667 · Mín L 0.78 · Máx L 0.9533</a:t>
            </a:r>
          </a:p>
        </p:txBody>
      </p:sp>
      <p:sp>
        <p:nvSpPr>
          <p:cNvPr id="116" name="TextBox 115"/>
          <p:cNvSpPr txBox="1"/>
          <p:nvPr/>
        </p:nvSpPr>
        <p:spPr>
          <a:xfrm>
            <a:off x="8138160" y="478231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+0.20 M / −0.20 M</a:t>
            </a:r>
            <a:r>
              <a:rPr sz="1000" b="0" i="0">
                <a:solidFill>
                  <a:srgbClr val="64748B"/>
                </a:solidFill>
                <a:latin typeface="Calibri"/>
              </a:rPr>
              <a:t>   Rango: </a:t>
            </a:r>
            <a:r>
              <a:rPr sz="1000" b="1" i="0">
                <a:solidFill>
                  <a:srgbClr val="334155"/>
                </a:solidFill>
                <a:latin typeface="Calibri"/>
              </a:rPr>
              <a:t>L 0.39 M</a:t>
            </a:r>
          </a:p>
        </p:txBody>
      </p:sp>
      <p:sp>
        <p:nvSpPr>
          <p:cNvPr id="117" name="Rectangle 116"/>
          <p:cNvSpPr/>
          <p:nvPr/>
        </p:nvSpPr>
        <p:spPr>
          <a:xfrm>
            <a:off x="320040" y="5202936"/>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320040" y="5202936"/>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9" name="Rectangle 118"/>
          <p:cNvSpPr/>
          <p:nvPr/>
        </p:nvSpPr>
        <p:spPr>
          <a:xfrm>
            <a:off x="1554480" y="520293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645920" y="5202936"/>
            <a:ext cx="3657600" cy="365760"/>
          </a:xfrm>
          <a:prstGeom prst="rect">
            <a:avLst/>
          </a:prstGeom>
          <a:noFill/>
        </p:spPr>
        <p:txBody>
          <a:bodyPr wrap="square" anchor="ctr">
            <a:spAutoFit/>
          </a:bodyPr>
          <a:lstStyle/>
          <a:p>
            <a:pPr algn="l"/>
            <a:r>
              <a:rPr sz="1100" b="1" i="0">
                <a:solidFill>
                  <a:srgbClr val="1B3A5C"/>
                </a:solidFill>
                <a:latin typeface="Calibri"/>
              </a:rPr>
              <a:t>Costos fijos operativos</a:t>
            </a:r>
          </a:p>
        </p:txBody>
      </p:sp>
      <p:sp>
        <p:nvSpPr>
          <p:cNvPr id="121" name="TextBox 120"/>
          <p:cNvSpPr txBox="1"/>
          <p:nvPr/>
        </p:nvSpPr>
        <p:spPr>
          <a:xfrm>
            <a:off x="4846320" y="5202936"/>
            <a:ext cx="3291840" cy="365760"/>
          </a:xfrm>
          <a:prstGeom prst="rect">
            <a:avLst/>
          </a:prstGeom>
          <a:noFill/>
        </p:spPr>
        <p:txBody>
          <a:bodyPr wrap="square" anchor="ctr">
            <a:spAutoFit/>
          </a:bodyPr>
          <a:lstStyle/>
          <a:p>
            <a:pPr algn="l"/>
            <a:r>
              <a:rPr sz="1000" b="0" i="0">
                <a:solidFill>
                  <a:srgbClr val="334155"/>
                </a:solidFill>
                <a:latin typeface="Calibri"/>
              </a:rPr>
              <a:t>Base L 28,000 · Mín L 25,200 · Máx L 32,200</a:t>
            </a:r>
          </a:p>
        </p:txBody>
      </p:sp>
      <p:sp>
        <p:nvSpPr>
          <p:cNvPr id="122" name="TextBox 121"/>
          <p:cNvSpPr txBox="1"/>
          <p:nvPr/>
        </p:nvSpPr>
        <p:spPr>
          <a:xfrm>
            <a:off x="8138160" y="520293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−0.23 M</a:t>
            </a:r>
            <a:r>
              <a:rPr sz="1000" b="0" i="0">
                <a:solidFill>
                  <a:srgbClr val="64748B"/>
                </a:solidFill>
                <a:latin typeface="Calibri"/>
              </a:rPr>
              <a:t>   Rango: </a:t>
            </a:r>
            <a:r>
              <a:rPr sz="1000" b="1" i="0">
                <a:solidFill>
                  <a:srgbClr val="334155"/>
                </a:solidFill>
                <a:latin typeface="Calibri"/>
              </a:rPr>
              <a:t>L 0.38 M</a:t>
            </a:r>
          </a:p>
        </p:txBody>
      </p:sp>
      <p:sp>
        <p:nvSpPr>
          <p:cNvPr id="123" name="Rectangle 122"/>
          <p:cNvSpPr/>
          <p:nvPr/>
        </p:nvSpPr>
        <p:spPr>
          <a:xfrm>
            <a:off x="320040" y="5623560"/>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0040" y="5623560"/>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25" name="Rectangle 124"/>
          <p:cNvSpPr/>
          <p:nvPr/>
        </p:nvSpPr>
        <p:spPr>
          <a:xfrm>
            <a:off x="1554480" y="562356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1645920" y="5623560"/>
            <a:ext cx="3657600" cy="365760"/>
          </a:xfrm>
          <a:prstGeom prst="rect">
            <a:avLst/>
          </a:prstGeom>
          <a:noFill/>
        </p:spPr>
        <p:txBody>
          <a:bodyPr wrap="square" anchor="ctr">
            <a:spAutoFit/>
          </a:bodyPr>
          <a:lstStyle/>
          <a:p>
            <a:pPr algn="l"/>
            <a:r>
              <a:rPr sz="1100" b="1" i="0">
                <a:solidFill>
                  <a:srgbClr val="1B3A5C"/>
                </a:solidFill>
                <a:latin typeface="Calibri"/>
              </a:rPr>
              <a:t>Combustible de reparto</a:t>
            </a:r>
          </a:p>
        </p:txBody>
      </p:sp>
      <p:sp>
        <p:nvSpPr>
          <p:cNvPr id="127" name="TextBox 126"/>
          <p:cNvSpPr txBox="1"/>
          <p:nvPr/>
        </p:nvSpPr>
        <p:spPr>
          <a:xfrm>
            <a:off x="4846320" y="5623560"/>
            <a:ext cx="3291840" cy="365760"/>
          </a:xfrm>
          <a:prstGeom prst="rect">
            <a:avLst/>
          </a:prstGeom>
          <a:noFill/>
        </p:spPr>
        <p:txBody>
          <a:bodyPr wrap="square" anchor="ctr">
            <a:spAutoFit/>
          </a:bodyPr>
          <a:lstStyle/>
          <a:p>
            <a:pPr algn="l"/>
            <a:r>
              <a:rPr sz="1000" b="0" i="0">
                <a:solidFill>
                  <a:srgbClr val="334155"/>
                </a:solidFill>
                <a:latin typeface="Calibri"/>
              </a:rPr>
              <a:t>Base L 0.8667 · Mín L 0.80 · Máx L 0.95</a:t>
            </a:r>
          </a:p>
        </p:txBody>
      </p:sp>
      <p:sp>
        <p:nvSpPr>
          <p:cNvPr id="128" name="TextBox 127"/>
          <p:cNvSpPr txBox="1"/>
          <p:nvPr/>
        </p:nvSpPr>
        <p:spPr>
          <a:xfrm>
            <a:off x="8138160" y="562356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−0.19 M</a:t>
            </a:r>
            <a:r>
              <a:rPr sz="1000" b="0" i="0">
                <a:solidFill>
                  <a:srgbClr val="64748B"/>
                </a:solidFill>
                <a:latin typeface="Calibri"/>
              </a:rPr>
              <a:t>   Rango: </a:t>
            </a:r>
            <a:r>
              <a:rPr sz="1000" b="1" i="0">
                <a:solidFill>
                  <a:srgbClr val="334155"/>
                </a:solidFill>
                <a:latin typeface="Calibri"/>
              </a:rPr>
              <a:t>L 0.34 M</a:t>
            </a:r>
          </a:p>
        </p:txBody>
      </p:sp>
      <p:sp>
        <p:nvSpPr>
          <p:cNvPr id="129" name="TextBox 128"/>
          <p:cNvSpPr txBox="1"/>
          <p:nvPr/>
        </p:nvSpPr>
        <p:spPr>
          <a:xfrm>
            <a:off x="320040" y="6089904"/>
            <a:ext cx="11521440" cy="274320"/>
          </a:xfrm>
          <a:prstGeom prst="rect">
            <a:avLst/>
          </a:prstGeom>
          <a:noFill/>
        </p:spPr>
        <p:txBody>
          <a:bodyPr wrap="square" anchor="ctr">
            <a:spAutoFit/>
          </a:bodyPr>
          <a:lstStyle/>
          <a:p>
            <a:pPr algn="l"/>
            <a:r>
              <a:rPr sz="850" b="0" i="1">
                <a:solidFill>
                  <a:srgbClr val="64748B"/>
                </a:solidFill>
                <a:latin typeface="Calibri"/>
              </a:rPr>
              <a:t>No simuladas: tasa del préstamo, ISR y estructura de financiamiento; el tipo de cambio se trata en Monte Carlo.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200" b="1" dirty="0">
                <a:solidFill>
                  <a:srgbClr val="0D2341"/>
                </a:solidFill>
                <a:latin typeface="Calibri" pitchFamily="34" charset="0"/>
                <a:ea typeface="Calibri" pitchFamily="34" charset="-122"/>
                <a:cs typeface="Calibri" pitchFamily="34" charset="-120"/>
              </a:rPr>
              <a:t>Análisis de Riesgos · @RISK Monte Carlo — 11 Eventos</a:t>
            </a:r>
            <a:endParaRPr lang="en-US" sz="22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60704"/>
            <a:ext cx="11430000" cy="256032"/>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Pérdida esperada: L 3,614,648 (15.06 % del VPN medio) · VPN &gt; 0 en el 100 % de 10,000 iteraciones · Severidad y frecuencia según la Tabla 40</a:t>
            </a:r>
            <a:endParaRPr lang="en-US" sz="1100" dirty="0"/>
          </a:p>
        </p:txBody>
      </p:sp>
      <p:sp>
        <p:nvSpPr>
          <p:cNvPr id="6" name="Shape 4"/>
          <p:cNvSpPr/>
          <p:nvPr/>
        </p:nvSpPr>
        <p:spPr>
          <a:xfrm>
            <a:off x="320040" y="1371600"/>
            <a:ext cx="2926080" cy="347472"/>
          </a:xfrm>
          <a:prstGeom prst="rect">
            <a:avLst/>
          </a:prstGeom>
          <a:solidFill>
            <a:srgbClr val="0D2341"/>
          </a:solidFill>
          <a:ln w="12700">
            <a:solidFill>
              <a:srgbClr val="0D2341"/>
            </a:solidFill>
            <a:prstDash val="solid"/>
          </a:ln>
        </p:spPr>
        <p:txBody>
          <a:bodyPr/>
          <a:lstStyle/>
          <a:p>
            <a:endParaRPr lang="es-CO"/>
          </a:p>
        </p:txBody>
      </p:sp>
      <p:sp>
        <p:nvSpPr>
          <p:cNvPr id="7" name="Text 5"/>
          <p:cNvSpPr txBox="1"/>
          <p:nvPr/>
        </p:nvSpPr>
        <p:spPr>
          <a:xfrm>
            <a:off x="356616" y="1417320"/>
            <a:ext cx="287121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Evento de Riesgo</a:t>
            </a:r>
            <a:endParaRPr lang="en-US" sz="1100" dirty="0"/>
          </a:p>
        </p:txBody>
      </p:sp>
      <p:sp>
        <p:nvSpPr>
          <p:cNvPr id="8" name="Shape 6"/>
          <p:cNvSpPr/>
          <p:nvPr/>
        </p:nvSpPr>
        <p:spPr>
          <a:xfrm>
            <a:off x="324612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9" name="Text 7"/>
          <p:cNvSpPr txBox="1"/>
          <p:nvPr/>
        </p:nvSpPr>
        <p:spPr>
          <a:xfrm>
            <a:off x="328269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Sev.</a:t>
            </a:r>
            <a:endParaRPr lang="en-US" sz="1100" dirty="0"/>
          </a:p>
        </p:txBody>
      </p:sp>
      <p:sp>
        <p:nvSpPr>
          <p:cNvPr id="10" name="Shape 8"/>
          <p:cNvSpPr/>
          <p:nvPr/>
        </p:nvSpPr>
        <p:spPr>
          <a:xfrm>
            <a:off x="384048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11" name="Text 9"/>
          <p:cNvSpPr txBox="1"/>
          <p:nvPr/>
        </p:nvSpPr>
        <p:spPr>
          <a:xfrm>
            <a:off x="387705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Frec.</a:t>
            </a:r>
            <a:endParaRPr lang="en-US" sz="1100" dirty="0"/>
          </a:p>
        </p:txBody>
      </p:sp>
      <p:sp>
        <p:nvSpPr>
          <p:cNvPr id="12" name="Shape 10"/>
          <p:cNvSpPr/>
          <p:nvPr/>
        </p:nvSpPr>
        <p:spPr>
          <a:xfrm>
            <a:off x="4434840" y="1371600"/>
            <a:ext cx="1325880" cy="347472"/>
          </a:xfrm>
          <a:prstGeom prst="rect">
            <a:avLst/>
          </a:prstGeom>
          <a:solidFill>
            <a:srgbClr val="0D2341"/>
          </a:solidFill>
          <a:ln w="12700">
            <a:solidFill>
              <a:srgbClr val="0D2341"/>
            </a:solidFill>
            <a:prstDash val="solid"/>
          </a:ln>
        </p:spPr>
        <p:txBody>
          <a:bodyPr/>
          <a:lstStyle/>
          <a:p>
            <a:endParaRPr lang="es-CO"/>
          </a:p>
        </p:txBody>
      </p:sp>
      <p:sp>
        <p:nvSpPr>
          <p:cNvPr id="13" name="Text 11"/>
          <p:cNvSpPr txBox="1"/>
          <p:nvPr/>
        </p:nvSpPr>
        <p:spPr>
          <a:xfrm>
            <a:off x="4471416" y="1417320"/>
            <a:ext cx="127101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Valor Esp. (L)</a:t>
            </a:r>
            <a:endParaRPr lang="en-US" sz="1100" dirty="0"/>
          </a:p>
        </p:txBody>
      </p:sp>
      <p:sp>
        <p:nvSpPr>
          <p:cNvPr id="14" name="Shape 12"/>
          <p:cNvSpPr/>
          <p:nvPr/>
        </p:nvSpPr>
        <p:spPr>
          <a:xfrm>
            <a:off x="5760720" y="1371600"/>
            <a:ext cx="777240" cy="347472"/>
          </a:xfrm>
          <a:prstGeom prst="rect">
            <a:avLst/>
          </a:prstGeom>
          <a:solidFill>
            <a:srgbClr val="0D2341"/>
          </a:solidFill>
          <a:ln w="12700">
            <a:solidFill>
              <a:srgbClr val="0D2341"/>
            </a:solidFill>
            <a:prstDash val="solid"/>
          </a:ln>
        </p:spPr>
        <p:txBody>
          <a:bodyPr/>
          <a:lstStyle/>
          <a:p>
            <a:endParaRPr lang="es-CO"/>
          </a:p>
        </p:txBody>
      </p:sp>
      <p:sp>
        <p:nvSpPr>
          <p:cNvPr id="15" name="Text 13"/>
          <p:cNvSpPr txBox="1"/>
          <p:nvPr/>
        </p:nvSpPr>
        <p:spPr>
          <a:xfrm>
            <a:off x="5797296" y="1417320"/>
            <a:ext cx="72237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Riesgo</a:t>
            </a:r>
            <a:endParaRPr lang="en-US" sz="1100" dirty="0"/>
          </a:p>
        </p:txBody>
      </p:sp>
      <p:sp>
        <p:nvSpPr>
          <p:cNvPr id="16" name="Shape 14"/>
          <p:cNvSpPr/>
          <p:nvPr/>
        </p:nvSpPr>
        <p:spPr>
          <a:xfrm>
            <a:off x="6537960" y="1371600"/>
            <a:ext cx="4251960" cy="347472"/>
          </a:xfrm>
          <a:prstGeom prst="rect">
            <a:avLst/>
          </a:prstGeom>
          <a:solidFill>
            <a:srgbClr val="0D2341"/>
          </a:solidFill>
          <a:ln w="12700">
            <a:solidFill>
              <a:srgbClr val="0D2341"/>
            </a:solidFill>
            <a:prstDash val="solid"/>
          </a:ln>
        </p:spPr>
        <p:txBody>
          <a:bodyPr/>
          <a:lstStyle/>
          <a:p>
            <a:endParaRPr lang="es-CO"/>
          </a:p>
        </p:txBody>
      </p:sp>
      <p:sp>
        <p:nvSpPr>
          <p:cNvPr id="17" name="Text 15"/>
          <p:cNvSpPr txBox="1"/>
          <p:nvPr/>
        </p:nvSpPr>
        <p:spPr>
          <a:xfrm>
            <a:off x="6574536" y="1417320"/>
            <a:ext cx="419709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Estrategia de Mitigación</a:t>
            </a:r>
            <a:endParaRPr lang="en-US" sz="1100" dirty="0"/>
          </a:p>
        </p:txBody>
      </p:sp>
      <p:sp>
        <p:nvSpPr>
          <p:cNvPr id="18" name="Shape 16"/>
          <p:cNvSpPr/>
          <p:nvPr/>
        </p:nvSpPr>
        <p:spPr>
          <a:xfrm>
            <a:off x="320040" y="1719072"/>
            <a:ext cx="2926080" cy="384048"/>
          </a:xfrm>
          <a:prstGeom prst="rect">
            <a:avLst/>
          </a:prstGeom>
          <a:solidFill>
            <a:srgbClr val="FFFFFF"/>
          </a:solidFill>
          <a:ln w="12700">
            <a:solidFill>
              <a:srgbClr val="CBD5E1"/>
            </a:solidFill>
            <a:prstDash val="solid"/>
          </a:ln>
        </p:spPr>
        <p:txBody>
          <a:bodyPr/>
          <a:lstStyle/>
          <a:p>
            <a:endParaRPr lang="es-CO"/>
          </a:p>
        </p:txBody>
      </p:sp>
      <p:sp>
        <p:nvSpPr>
          <p:cNvPr id="19" name="Text 17"/>
          <p:cNvSpPr txBox="1"/>
          <p:nvPr/>
        </p:nvSpPr>
        <p:spPr>
          <a:xfrm>
            <a:off x="356616" y="181051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20" name="Shape 18"/>
          <p:cNvSpPr/>
          <p:nvPr/>
        </p:nvSpPr>
        <p:spPr>
          <a:xfrm>
            <a:off x="324612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1" name="Text 19"/>
          <p:cNvSpPr txBox="1"/>
          <p:nvPr/>
        </p:nvSpPr>
        <p:spPr>
          <a:xfrm>
            <a:off x="3282696" y="181051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22" name="Shape 20"/>
          <p:cNvSpPr/>
          <p:nvPr/>
        </p:nvSpPr>
        <p:spPr>
          <a:xfrm>
            <a:off x="384048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3877056" y="181051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24" name="Shape 22"/>
          <p:cNvSpPr/>
          <p:nvPr/>
        </p:nvSpPr>
        <p:spPr>
          <a:xfrm>
            <a:off x="4434840" y="1719072"/>
            <a:ext cx="1325880" cy="384048"/>
          </a:xfrm>
          <a:prstGeom prst="rect">
            <a:avLst/>
          </a:prstGeom>
          <a:solidFill>
            <a:srgbClr val="FFFFFF"/>
          </a:solidFill>
          <a:ln w="12700">
            <a:solidFill>
              <a:srgbClr val="CBD5E1"/>
            </a:solidFill>
            <a:prstDash val="solid"/>
          </a:ln>
        </p:spPr>
        <p:txBody>
          <a:bodyPr/>
          <a:lstStyle/>
          <a:p>
            <a:endParaRPr lang="es-CO"/>
          </a:p>
        </p:txBody>
      </p:sp>
      <p:sp>
        <p:nvSpPr>
          <p:cNvPr id="25" name="Text 23"/>
          <p:cNvSpPr txBox="1"/>
          <p:nvPr/>
        </p:nvSpPr>
        <p:spPr>
          <a:xfrm>
            <a:off x="4471416" y="181051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1,137,757</a:t>
            </a:r>
            <a:endParaRPr lang="en-US" sz="1100" dirty="0"/>
          </a:p>
        </p:txBody>
      </p:sp>
      <p:sp>
        <p:nvSpPr>
          <p:cNvPr id="26" name="Shape 24"/>
          <p:cNvSpPr/>
          <p:nvPr/>
        </p:nvSpPr>
        <p:spPr>
          <a:xfrm>
            <a:off x="5760720" y="1719072"/>
            <a:ext cx="777240" cy="384048"/>
          </a:xfrm>
          <a:prstGeom prst="rect">
            <a:avLst/>
          </a:prstGeom>
          <a:solidFill>
            <a:srgbClr val="FFFFFF"/>
          </a:solidFill>
          <a:ln w="12700">
            <a:solidFill>
              <a:srgbClr val="CBD5E1"/>
            </a:solidFill>
            <a:prstDash val="solid"/>
          </a:ln>
        </p:spPr>
        <p:txBody>
          <a:bodyPr/>
          <a:lstStyle/>
          <a:p>
            <a:endParaRPr lang="es-CO"/>
          </a:p>
        </p:txBody>
      </p:sp>
      <p:sp>
        <p:nvSpPr>
          <p:cNvPr id="27" name="Text 25"/>
          <p:cNvSpPr txBox="1"/>
          <p:nvPr/>
        </p:nvSpPr>
        <p:spPr>
          <a:xfrm>
            <a:off x="5797296" y="181051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31.48 %</a:t>
            </a:r>
            <a:endParaRPr lang="en-US" sz="1100" dirty="0"/>
          </a:p>
        </p:txBody>
      </p:sp>
      <p:sp>
        <p:nvSpPr>
          <p:cNvPr id="28" name="Shape 26"/>
          <p:cNvSpPr/>
          <p:nvPr/>
        </p:nvSpPr>
        <p:spPr>
          <a:xfrm>
            <a:off x="6537960" y="1719072"/>
            <a:ext cx="4251960" cy="384048"/>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6574536" y="181051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Posicionamiento rápido y contratos con distribuidores</a:t>
            </a:r>
            <a:endParaRPr lang="en-US" sz="1100" dirty="0"/>
          </a:p>
        </p:txBody>
      </p:sp>
      <p:sp>
        <p:nvSpPr>
          <p:cNvPr id="30" name="Shape 28"/>
          <p:cNvSpPr/>
          <p:nvPr/>
        </p:nvSpPr>
        <p:spPr>
          <a:xfrm>
            <a:off x="320040" y="2121408"/>
            <a:ext cx="2926080" cy="384048"/>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356616" y="221284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32" name="Shape 30"/>
          <p:cNvSpPr/>
          <p:nvPr/>
        </p:nvSpPr>
        <p:spPr>
          <a:xfrm>
            <a:off x="324612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3282696" y="2212848"/>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34" name="Shape 32"/>
          <p:cNvSpPr/>
          <p:nvPr/>
        </p:nvSpPr>
        <p:spPr>
          <a:xfrm>
            <a:off x="384048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5" name="Text 33"/>
          <p:cNvSpPr txBox="1"/>
          <p:nvPr/>
        </p:nvSpPr>
        <p:spPr>
          <a:xfrm>
            <a:off x="3877056" y="221284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36" name="Shape 34"/>
          <p:cNvSpPr/>
          <p:nvPr/>
        </p:nvSpPr>
        <p:spPr>
          <a:xfrm>
            <a:off x="4434840" y="2121408"/>
            <a:ext cx="1325880" cy="384048"/>
          </a:xfrm>
          <a:prstGeom prst="rect">
            <a:avLst/>
          </a:prstGeom>
          <a:solidFill>
            <a:srgbClr val="F1F5F9"/>
          </a:solidFill>
          <a:ln w="12700">
            <a:solidFill>
              <a:srgbClr val="CBD5E1"/>
            </a:solidFill>
            <a:prstDash val="solid"/>
          </a:ln>
        </p:spPr>
        <p:txBody>
          <a:bodyPr/>
          <a:lstStyle/>
          <a:p>
            <a:endParaRPr lang="es-CO"/>
          </a:p>
        </p:txBody>
      </p:sp>
      <p:sp>
        <p:nvSpPr>
          <p:cNvPr id="37" name="Text 35"/>
          <p:cNvSpPr txBox="1"/>
          <p:nvPr/>
        </p:nvSpPr>
        <p:spPr>
          <a:xfrm>
            <a:off x="4471416" y="221284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801,253</a:t>
            </a:r>
            <a:endParaRPr lang="en-US" sz="1100" dirty="0"/>
          </a:p>
        </p:txBody>
      </p:sp>
      <p:sp>
        <p:nvSpPr>
          <p:cNvPr id="38" name="Shape 36"/>
          <p:cNvSpPr/>
          <p:nvPr/>
        </p:nvSpPr>
        <p:spPr>
          <a:xfrm>
            <a:off x="5760720" y="2121408"/>
            <a:ext cx="777240" cy="384048"/>
          </a:xfrm>
          <a:prstGeom prst="rect">
            <a:avLst/>
          </a:prstGeom>
          <a:solidFill>
            <a:srgbClr val="F1F5F9"/>
          </a:solidFill>
          <a:ln w="12700">
            <a:solidFill>
              <a:srgbClr val="CBD5E1"/>
            </a:solidFill>
            <a:prstDash val="solid"/>
          </a:ln>
        </p:spPr>
        <p:txBody>
          <a:bodyPr/>
          <a:lstStyle/>
          <a:p>
            <a:endParaRPr lang="es-CO"/>
          </a:p>
        </p:txBody>
      </p:sp>
      <p:sp>
        <p:nvSpPr>
          <p:cNvPr id="39" name="Text 37"/>
          <p:cNvSpPr txBox="1"/>
          <p:nvPr/>
        </p:nvSpPr>
        <p:spPr>
          <a:xfrm>
            <a:off x="5797296" y="221284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22.17 %</a:t>
            </a:r>
            <a:endParaRPr lang="en-US" sz="1100" dirty="0"/>
          </a:p>
        </p:txBody>
      </p:sp>
      <p:sp>
        <p:nvSpPr>
          <p:cNvPr id="40" name="Shape 38"/>
          <p:cNvSpPr/>
          <p:nvPr/>
        </p:nvSpPr>
        <p:spPr>
          <a:xfrm>
            <a:off x="6537960" y="2121408"/>
            <a:ext cx="4251960" cy="384048"/>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574536" y="221284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LP con CREL y ganaderos certificados</a:t>
            </a:r>
            <a:endParaRPr lang="en-US" sz="1100" dirty="0"/>
          </a:p>
        </p:txBody>
      </p:sp>
      <p:sp>
        <p:nvSpPr>
          <p:cNvPr id="42" name="Shape 40"/>
          <p:cNvSpPr/>
          <p:nvPr/>
        </p:nvSpPr>
        <p:spPr>
          <a:xfrm>
            <a:off x="320040" y="2523744"/>
            <a:ext cx="2926080" cy="384048"/>
          </a:xfrm>
          <a:prstGeom prst="rect">
            <a:avLst/>
          </a:prstGeom>
          <a:solidFill>
            <a:srgbClr val="FFFFFF"/>
          </a:solidFill>
          <a:ln w="12700">
            <a:solidFill>
              <a:srgbClr val="CBD5E1"/>
            </a:solidFill>
            <a:prstDash val="solid"/>
          </a:ln>
        </p:spPr>
        <p:txBody>
          <a:bodyPr/>
          <a:lstStyle/>
          <a:p>
            <a:endParaRPr lang="es-CO"/>
          </a:p>
        </p:txBody>
      </p:sp>
      <p:sp>
        <p:nvSpPr>
          <p:cNvPr id="43" name="Text 41"/>
          <p:cNvSpPr txBox="1"/>
          <p:nvPr/>
        </p:nvSpPr>
        <p:spPr>
          <a:xfrm>
            <a:off x="356616" y="261518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44" name="Shape 42"/>
          <p:cNvSpPr/>
          <p:nvPr/>
        </p:nvSpPr>
        <p:spPr>
          <a:xfrm>
            <a:off x="324612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5" name="Text 43"/>
          <p:cNvSpPr txBox="1"/>
          <p:nvPr/>
        </p:nvSpPr>
        <p:spPr>
          <a:xfrm>
            <a:off x="3282696" y="261518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46" name="Shape 44"/>
          <p:cNvSpPr/>
          <p:nvPr/>
        </p:nvSpPr>
        <p:spPr>
          <a:xfrm>
            <a:off x="384048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7" name="Text 45"/>
          <p:cNvSpPr txBox="1"/>
          <p:nvPr/>
        </p:nvSpPr>
        <p:spPr>
          <a:xfrm>
            <a:off x="3877056" y="2615184"/>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48" name="Shape 46"/>
          <p:cNvSpPr/>
          <p:nvPr/>
        </p:nvSpPr>
        <p:spPr>
          <a:xfrm>
            <a:off x="4434840" y="2523744"/>
            <a:ext cx="1325880" cy="384048"/>
          </a:xfrm>
          <a:prstGeom prst="rect">
            <a:avLst/>
          </a:prstGeom>
          <a:solidFill>
            <a:srgbClr val="FFFFFF"/>
          </a:solidFill>
          <a:ln w="12700">
            <a:solidFill>
              <a:srgbClr val="CBD5E1"/>
            </a:solidFill>
            <a:prstDash val="solid"/>
          </a:ln>
        </p:spPr>
        <p:txBody>
          <a:bodyPr/>
          <a:lstStyle/>
          <a:p>
            <a:endParaRPr lang="es-CO"/>
          </a:p>
        </p:txBody>
      </p:sp>
      <p:sp>
        <p:nvSpPr>
          <p:cNvPr id="49" name="Text 47"/>
          <p:cNvSpPr txBox="1"/>
          <p:nvPr/>
        </p:nvSpPr>
        <p:spPr>
          <a:xfrm>
            <a:off x="4471416" y="261518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684,048</a:t>
            </a:r>
            <a:endParaRPr lang="en-US" sz="1100" dirty="0"/>
          </a:p>
        </p:txBody>
      </p:sp>
      <p:sp>
        <p:nvSpPr>
          <p:cNvPr id="50" name="Shape 48"/>
          <p:cNvSpPr/>
          <p:nvPr/>
        </p:nvSpPr>
        <p:spPr>
          <a:xfrm>
            <a:off x="5760720" y="2523744"/>
            <a:ext cx="777240" cy="384048"/>
          </a:xfrm>
          <a:prstGeom prst="rect">
            <a:avLst/>
          </a:prstGeom>
          <a:solidFill>
            <a:srgbClr val="FFFFFF"/>
          </a:solidFill>
          <a:ln w="12700">
            <a:solidFill>
              <a:srgbClr val="CBD5E1"/>
            </a:solidFill>
            <a:prstDash val="solid"/>
          </a:ln>
        </p:spPr>
        <p:txBody>
          <a:bodyPr/>
          <a:lstStyle/>
          <a:p>
            <a:endParaRPr lang="es-CO"/>
          </a:p>
        </p:txBody>
      </p:sp>
      <p:sp>
        <p:nvSpPr>
          <p:cNvPr id="51" name="Text 49"/>
          <p:cNvSpPr txBox="1"/>
          <p:nvPr/>
        </p:nvSpPr>
        <p:spPr>
          <a:xfrm>
            <a:off x="5797296" y="261518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18.92 %</a:t>
            </a:r>
            <a:endParaRPr lang="en-US" sz="1100" dirty="0"/>
          </a:p>
        </p:txBody>
      </p:sp>
      <p:sp>
        <p:nvSpPr>
          <p:cNvPr id="52" name="Shape 50"/>
          <p:cNvSpPr/>
          <p:nvPr/>
        </p:nvSpPr>
        <p:spPr>
          <a:xfrm>
            <a:off x="6537960" y="2523744"/>
            <a:ext cx="4251960" cy="384048"/>
          </a:xfrm>
          <a:prstGeom prst="rect">
            <a:avLst/>
          </a:prstGeom>
          <a:solidFill>
            <a:srgbClr val="FFFFFF"/>
          </a:solidFill>
          <a:ln w="12700">
            <a:solidFill>
              <a:srgbClr val="CBD5E1"/>
            </a:solidFill>
            <a:prstDash val="solid"/>
          </a:ln>
        </p:spPr>
        <p:txBody>
          <a:bodyPr/>
          <a:lstStyle/>
          <a:p>
            <a:endParaRPr lang="es-CO"/>
          </a:p>
        </p:txBody>
      </p:sp>
      <p:sp>
        <p:nvSpPr>
          <p:cNvPr id="53" name="Text 51"/>
          <p:cNvSpPr txBox="1"/>
          <p:nvPr/>
        </p:nvSpPr>
        <p:spPr>
          <a:xfrm>
            <a:off x="6574536" y="261518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de abastecimiento y política de cambios</a:t>
            </a:r>
            <a:endParaRPr lang="en-US" sz="1100" dirty="0"/>
          </a:p>
        </p:txBody>
      </p:sp>
      <p:sp>
        <p:nvSpPr>
          <p:cNvPr id="54" name="Shape 52"/>
          <p:cNvSpPr/>
          <p:nvPr/>
        </p:nvSpPr>
        <p:spPr>
          <a:xfrm>
            <a:off x="320040" y="2926080"/>
            <a:ext cx="2926080" cy="384048"/>
          </a:xfrm>
          <a:prstGeom prst="rect">
            <a:avLst/>
          </a:prstGeom>
          <a:solidFill>
            <a:srgbClr val="F1F5F9"/>
          </a:solidFill>
          <a:ln w="12700">
            <a:solidFill>
              <a:srgbClr val="CBD5E1"/>
            </a:solidFill>
            <a:prstDash val="solid"/>
          </a:ln>
        </p:spPr>
        <p:txBody>
          <a:bodyPr/>
          <a:lstStyle/>
          <a:p>
            <a:endParaRPr lang="es-CO"/>
          </a:p>
        </p:txBody>
      </p:sp>
      <p:sp>
        <p:nvSpPr>
          <p:cNvPr id="55" name="Text 53"/>
          <p:cNvSpPr txBox="1"/>
          <p:nvPr/>
        </p:nvSpPr>
        <p:spPr>
          <a:xfrm>
            <a:off x="356616" y="301752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56" name="Shape 54"/>
          <p:cNvSpPr/>
          <p:nvPr/>
        </p:nvSpPr>
        <p:spPr>
          <a:xfrm>
            <a:off x="324612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7" name="Text 55"/>
          <p:cNvSpPr txBox="1"/>
          <p:nvPr/>
        </p:nvSpPr>
        <p:spPr>
          <a:xfrm>
            <a:off x="328269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58" name="Shape 56"/>
          <p:cNvSpPr/>
          <p:nvPr/>
        </p:nvSpPr>
        <p:spPr>
          <a:xfrm>
            <a:off x="384048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9" name="Text 57"/>
          <p:cNvSpPr txBox="1"/>
          <p:nvPr/>
        </p:nvSpPr>
        <p:spPr>
          <a:xfrm>
            <a:off x="387705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60" name="Shape 58"/>
          <p:cNvSpPr/>
          <p:nvPr/>
        </p:nvSpPr>
        <p:spPr>
          <a:xfrm>
            <a:off x="4434840" y="2926080"/>
            <a:ext cx="1325880" cy="384048"/>
          </a:xfrm>
          <a:prstGeom prst="rect">
            <a:avLst/>
          </a:prstGeom>
          <a:solidFill>
            <a:srgbClr val="F1F5F9"/>
          </a:solidFill>
          <a:ln w="12700">
            <a:solidFill>
              <a:srgbClr val="CBD5E1"/>
            </a:solidFill>
            <a:prstDash val="solid"/>
          </a:ln>
        </p:spPr>
        <p:txBody>
          <a:bodyPr/>
          <a:lstStyle/>
          <a:p>
            <a:endParaRPr lang="es-CO"/>
          </a:p>
        </p:txBody>
      </p:sp>
      <p:sp>
        <p:nvSpPr>
          <p:cNvPr id="61" name="Text 59"/>
          <p:cNvSpPr txBox="1"/>
          <p:nvPr/>
        </p:nvSpPr>
        <p:spPr>
          <a:xfrm>
            <a:off x="4471416" y="301752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187,460</a:t>
            </a:r>
            <a:endParaRPr lang="en-US" sz="1100" dirty="0"/>
          </a:p>
        </p:txBody>
      </p:sp>
      <p:sp>
        <p:nvSpPr>
          <p:cNvPr id="62" name="Shape 60"/>
          <p:cNvSpPr/>
          <p:nvPr/>
        </p:nvSpPr>
        <p:spPr>
          <a:xfrm>
            <a:off x="5760720" y="2926080"/>
            <a:ext cx="777240" cy="384048"/>
          </a:xfrm>
          <a:prstGeom prst="rect">
            <a:avLst/>
          </a:prstGeom>
          <a:solidFill>
            <a:srgbClr val="F1F5F9"/>
          </a:solidFill>
          <a:ln w="12700">
            <a:solidFill>
              <a:srgbClr val="CBD5E1"/>
            </a:solidFill>
            <a:prstDash val="solid"/>
          </a:ln>
        </p:spPr>
        <p:txBody>
          <a:bodyPr/>
          <a:lstStyle/>
          <a:p>
            <a:endParaRPr lang="es-CO"/>
          </a:p>
        </p:txBody>
      </p:sp>
      <p:sp>
        <p:nvSpPr>
          <p:cNvPr id="63" name="Text 61"/>
          <p:cNvSpPr txBox="1"/>
          <p:nvPr/>
        </p:nvSpPr>
        <p:spPr>
          <a:xfrm>
            <a:off x="5797296" y="301752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5.19 %</a:t>
            </a:r>
            <a:endParaRPr lang="en-US" sz="1100" dirty="0"/>
          </a:p>
        </p:txBody>
      </p:sp>
      <p:sp>
        <p:nvSpPr>
          <p:cNvPr id="64" name="Shape 62"/>
          <p:cNvSpPr/>
          <p:nvPr/>
        </p:nvSpPr>
        <p:spPr>
          <a:xfrm>
            <a:off x="6537960" y="2926080"/>
            <a:ext cx="4251960" cy="384048"/>
          </a:xfrm>
          <a:prstGeom prst="rect">
            <a:avLst/>
          </a:prstGeom>
          <a:solidFill>
            <a:srgbClr val="F1F5F9"/>
          </a:solidFill>
          <a:ln w="12700">
            <a:solidFill>
              <a:srgbClr val="CBD5E1"/>
            </a:solidFill>
            <a:prstDash val="solid"/>
          </a:ln>
        </p:spPr>
        <p:txBody>
          <a:bodyPr/>
          <a:lstStyle/>
          <a:p>
            <a:endParaRPr lang="es-CO"/>
          </a:p>
        </p:txBody>
      </p:sp>
      <p:sp>
        <p:nvSpPr>
          <p:cNvPr id="65" name="Text 63"/>
          <p:cNvSpPr txBox="1"/>
          <p:nvPr/>
        </p:nvSpPr>
        <p:spPr>
          <a:xfrm>
            <a:off x="6574536" y="301752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Plan de mantenimiento preventivo y seguro de equipo</a:t>
            </a:r>
            <a:endParaRPr lang="en-US" sz="1100" dirty="0"/>
          </a:p>
        </p:txBody>
      </p:sp>
      <p:sp>
        <p:nvSpPr>
          <p:cNvPr id="66" name="Shape 64"/>
          <p:cNvSpPr/>
          <p:nvPr/>
        </p:nvSpPr>
        <p:spPr>
          <a:xfrm>
            <a:off x="320040" y="3328416"/>
            <a:ext cx="2926080" cy="384048"/>
          </a:xfrm>
          <a:prstGeom prst="rect">
            <a:avLst/>
          </a:prstGeom>
          <a:solidFill>
            <a:srgbClr val="FFFFFF"/>
          </a:solidFill>
          <a:ln w="12700">
            <a:solidFill>
              <a:srgbClr val="CBD5E1"/>
            </a:solidFill>
            <a:prstDash val="solid"/>
          </a:ln>
        </p:spPr>
        <p:txBody>
          <a:bodyPr/>
          <a:lstStyle/>
          <a:p>
            <a:endParaRPr lang="es-CO"/>
          </a:p>
        </p:txBody>
      </p:sp>
      <p:sp>
        <p:nvSpPr>
          <p:cNvPr id="67" name="Text 65"/>
          <p:cNvSpPr txBox="1"/>
          <p:nvPr/>
        </p:nvSpPr>
        <p:spPr>
          <a:xfrm>
            <a:off x="356616" y="341985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68" name="Shape 66"/>
          <p:cNvSpPr/>
          <p:nvPr/>
        </p:nvSpPr>
        <p:spPr>
          <a:xfrm>
            <a:off x="324612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69" name="Text 67"/>
          <p:cNvSpPr txBox="1"/>
          <p:nvPr/>
        </p:nvSpPr>
        <p:spPr>
          <a:xfrm>
            <a:off x="3282696" y="341985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70" name="Shape 68"/>
          <p:cNvSpPr/>
          <p:nvPr/>
        </p:nvSpPr>
        <p:spPr>
          <a:xfrm>
            <a:off x="384048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71" name="Text 69"/>
          <p:cNvSpPr txBox="1"/>
          <p:nvPr/>
        </p:nvSpPr>
        <p:spPr>
          <a:xfrm>
            <a:off x="3877056" y="3419856"/>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72" name="Shape 70"/>
          <p:cNvSpPr/>
          <p:nvPr/>
        </p:nvSpPr>
        <p:spPr>
          <a:xfrm>
            <a:off x="4434840" y="3328416"/>
            <a:ext cx="1325880" cy="384048"/>
          </a:xfrm>
          <a:prstGeom prst="rect">
            <a:avLst/>
          </a:prstGeom>
          <a:solidFill>
            <a:srgbClr val="FFFFFF"/>
          </a:solidFill>
          <a:ln w="12700">
            <a:solidFill>
              <a:srgbClr val="CBD5E1"/>
            </a:solidFill>
            <a:prstDash val="solid"/>
          </a:ln>
        </p:spPr>
        <p:txBody>
          <a:bodyPr/>
          <a:lstStyle/>
          <a:p>
            <a:endParaRPr lang="es-CO"/>
          </a:p>
        </p:txBody>
      </p:sp>
      <p:sp>
        <p:nvSpPr>
          <p:cNvPr id="73" name="Text 71"/>
          <p:cNvSpPr txBox="1"/>
          <p:nvPr/>
        </p:nvSpPr>
        <p:spPr>
          <a:xfrm>
            <a:off x="4471416" y="341985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171,890</a:t>
            </a:r>
            <a:endParaRPr lang="en-US" sz="1100" dirty="0"/>
          </a:p>
        </p:txBody>
      </p:sp>
      <p:sp>
        <p:nvSpPr>
          <p:cNvPr id="74" name="Shape 72"/>
          <p:cNvSpPr/>
          <p:nvPr/>
        </p:nvSpPr>
        <p:spPr>
          <a:xfrm>
            <a:off x="5760720" y="3328416"/>
            <a:ext cx="777240" cy="384048"/>
          </a:xfrm>
          <a:prstGeom prst="rect">
            <a:avLst/>
          </a:prstGeom>
          <a:solidFill>
            <a:srgbClr val="FFFFFF"/>
          </a:solidFill>
          <a:ln w="12700">
            <a:solidFill>
              <a:srgbClr val="CBD5E1"/>
            </a:solidFill>
            <a:prstDash val="solid"/>
          </a:ln>
        </p:spPr>
        <p:txBody>
          <a:bodyPr/>
          <a:lstStyle/>
          <a:p>
            <a:endParaRPr lang="es-CO"/>
          </a:p>
        </p:txBody>
      </p:sp>
      <p:sp>
        <p:nvSpPr>
          <p:cNvPr id="75" name="Text 73"/>
          <p:cNvSpPr txBox="1"/>
          <p:nvPr/>
        </p:nvSpPr>
        <p:spPr>
          <a:xfrm>
            <a:off x="5797296" y="341985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4.76 %</a:t>
            </a:r>
            <a:endParaRPr lang="en-US" sz="1100" dirty="0"/>
          </a:p>
        </p:txBody>
      </p:sp>
      <p:sp>
        <p:nvSpPr>
          <p:cNvPr id="76" name="Shape 74"/>
          <p:cNvSpPr/>
          <p:nvPr/>
        </p:nvSpPr>
        <p:spPr>
          <a:xfrm>
            <a:off x="6537960" y="3328416"/>
            <a:ext cx="4251960" cy="384048"/>
          </a:xfrm>
          <a:prstGeom prst="rect">
            <a:avLst/>
          </a:prstGeom>
          <a:solidFill>
            <a:srgbClr val="FFFFFF"/>
          </a:solidFill>
          <a:ln w="12700">
            <a:solidFill>
              <a:srgbClr val="CBD5E1"/>
            </a:solidFill>
            <a:prstDash val="solid"/>
          </a:ln>
        </p:spPr>
        <p:txBody>
          <a:bodyPr/>
          <a:lstStyle/>
          <a:p>
            <a:endParaRPr lang="es-CO"/>
          </a:p>
        </p:txBody>
      </p:sp>
      <p:sp>
        <p:nvSpPr>
          <p:cNvPr id="77" name="Text 75"/>
          <p:cNvSpPr txBox="1"/>
          <p:nvPr/>
        </p:nvSpPr>
        <p:spPr>
          <a:xfrm>
            <a:off x="6574536" y="341985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Optimización de rutas y revisión periódica de tarifas</a:t>
            </a:r>
            <a:endParaRPr lang="en-US" sz="1100" dirty="0"/>
          </a:p>
        </p:txBody>
      </p:sp>
      <p:sp>
        <p:nvSpPr>
          <p:cNvPr id="78" name="Shape 76"/>
          <p:cNvSpPr/>
          <p:nvPr/>
        </p:nvSpPr>
        <p:spPr>
          <a:xfrm>
            <a:off x="320040" y="3730752"/>
            <a:ext cx="2926080" cy="384048"/>
          </a:xfrm>
          <a:prstGeom prst="rect">
            <a:avLst/>
          </a:prstGeom>
          <a:solidFill>
            <a:srgbClr val="F1F5F9"/>
          </a:solidFill>
          <a:ln w="12700">
            <a:solidFill>
              <a:srgbClr val="CBD5E1"/>
            </a:solidFill>
            <a:prstDash val="solid"/>
          </a:ln>
        </p:spPr>
        <p:txBody>
          <a:bodyPr/>
          <a:lstStyle/>
          <a:p>
            <a:endParaRPr lang="es-CO"/>
          </a:p>
        </p:txBody>
      </p:sp>
      <p:sp>
        <p:nvSpPr>
          <p:cNvPr id="79" name="Text 77"/>
          <p:cNvSpPr txBox="1"/>
          <p:nvPr/>
        </p:nvSpPr>
        <p:spPr>
          <a:xfrm>
            <a:off x="356616" y="382219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Inflación mayor a proyectada</a:t>
            </a:r>
            <a:endParaRPr lang="en-US" sz="1100" dirty="0"/>
          </a:p>
        </p:txBody>
      </p:sp>
      <p:sp>
        <p:nvSpPr>
          <p:cNvPr id="80" name="Shape 78"/>
          <p:cNvSpPr/>
          <p:nvPr/>
        </p:nvSpPr>
        <p:spPr>
          <a:xfrm>
            <a:off x="324612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1" name="Text 79"/>
          <p:cNvSpPr txBox="1"/>
          <p:nvPr/>
        </p:nvSpPr>
        <p:spPr>
          <a:xfrm>
            <a:off x="3282696" y="382219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82" name="Shape 80"/>
          <p:cNvSpPr/>
          <p:nvPr/>
        </p:nvSpPr>
        <p:spPr>
          <a:xfrm>
            <a:off x="384048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3" name="Text 81"/>
          <p:cNvSpPr txBox="1"/>
          <p:nvPr/>
        </p:nvSpPr>
        <p:spPr>
          <a:xfrm>
            <a:off x="3877056" y="382219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84" name="Shape 82"/>
          <p:cNvSpPr/>
          <p:nvPr/>
        </p:nvSpPr>
        <p:spPr>
          <a:xfrm>
            <a:off x="4434840" y="3730752"/>
            <a:ext cx="1325880" cy="384048"/>
          </a:xfrm>
          <a:prstGeom prst="rect">
            <a:avLst/>
          </a:prstGeom>
          <a:solidFill>
            <a:srgbClr val="F1F5F9"/>
          </a:solidFill>
          <a:ln w="12700">
            <a:solidFill>
              <a:srgbClr val="CBD5E1"/>
            </a:solidFill>
            <a:prstDash val="solid"/>
          </a:ln>
        </p:spPr>
        <p:txBody>
          <a:bodyPr/>
          <a:lstStyle/>
          <a:p>
            <a:endParaRPr lang="es-CO"/>
          </a:p>
        </p:txBody>
      </p:sp>
      <p:sp>
        <p:nvSpPr>
          <p:cNvPr id="85" name="Text 83"/>
          <p:cNvSpPr txBox="1"/>
          <p:nvPr/>
        </p:nvSpPr>
        <p:spPr>
          <a:xfrm>
            <a:off x="4471416" y="382219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169,206</a:t>
            </a:r>
            <a:endParaRPr lang="en-US" sz="1100" dirty="0"/>
          </a:p>
        </p:txBody>
      </p:sp>
      <p:sp>
        <p:nvSpPr>
          <p:cNvPr id="86" name="Shape 84"/>
          <p:cNvSpPr/>
          <p:nvPr/>
        </p:nvSpPr>
        <p:spPr>
          <a:xfrm>
            <a:off x="5760720" y="3730752"/>
            <a:ext cx="777240" cy="384048"/>
          </a:xfrm>
          <a:prstGeom prst="rect">
            <a:avLst/>
          </a:prstGeom>
          <a:solidFill>
            <a:srgbClr val="F1F5F9"/>
          </a:solidFill>
          <a:ln w="12700">
            <a:solidFill>
              <a:srgbClr val="CBD5E1"/>
            </a:solidFill>
            <a:prstDash val="solid"/>
          </a:ln>
        </p:spPr>
        <p:txBody>
          <a:bodyPr/>
          <a:lstStyle/>
          <a:p>
            <a:endParaRPr lang="es-CO"/>
          </a:p>
        </p:txBody>
      </p:sp>
      <p:sp>
        <p:nvSpPr>
          <p:cNvPr id="87" name="Text 85"/>
          <p:cNvSpPr txBox="1"/>
          <p:nvPr/>
        </p:nvSpPr>
        <p:spPr>
          <a:xfrm>
            <a:off x="5797296" y="382219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4.68 %</a:t>
            </a:r>
            <a:endParaRPr lang="en-US" sz="1100" dirty="0"/>
          </a:p>
        </p:txBody>
      </p:sp>
      <p:sp>
        <p:nvSpPr>
          <p:cNvPr id="88" name="Shape 86"/>
          <p:cNvSpPr/>
          <p:nvPr/>
        </p:nvSpPr>
        <p:spPr>
          <a:xfrm>
            <a:off x="6537960" y="3730752"/>
            <a:ext cx="4251960" cy="384048"/>
          </a:xfrm>
          <a:prstGeom prst="rect">
            <a:avLst/>
          </a:prstGeom>
          <a:solidFill>
            <a:srgbClr val="F1F5F9"/>
          </a:solidFill>
          <a:ln w="12700">
            <a:solidFill>
              <a:srgbClr val="CBD5E1"/>
            </a:solidFill>
            <a:prstDash val="solid"/>
          </a:ln>
        </p:spPr>
        <p:txBody>
          <a:bodyPr/>
          <a:lstStyle/>
          <a:p>
            <a:endParaRPr lang="es-CO"/>
          </a:p>
        </p:txBody>
      </p:sp>
      <p:sp>
        <p:nvSpPr>
          <p:cNvPr id="89" name="Text 87"/>
          <p:cNvSpPr txBox="1"/>
          <p:nvPr/>
        </p:nvSpPr>
        <p:spPr>
          <a:xfrm>
            <a:off x="6574536" y="382219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Revisión anual de precios alineada a inflación real</a:t>
            </a:r>
            <a:endParaRPr lang="en-US" sz="1100" dirty="0"/>
          </a:p>
        </p:txBody>
      </p:sp>
      <p:sp>
        <p:nvSpPr>
          <p:cNvPr id="90" name="Shape 88"/>
          <p:cNvSpPr/>
          <p:nvPr/>
        </p:nvSpPr>
        <p:spPr>
          <a:xfrm>
            <a:off x="320040" y="4133088"/>
            <a:ext cx="2926080" cy="384048"/>
          </a:xfrm>
          <a:prstGeom prst="rect">
            <a:avLst/>
          </a:prstGeom>
          <a:solidFill>
            <a:srgbClr val="FFFFFF"/>
          </a:solidFill>
          <a:ln w="12700">
            <a:solidFill>
              <a:srgbClr val="CBD5E1"/>
            </a:solidFill>
            <a:prstDash val="solid"/>
          </a:ln>
        </p:spPr>
        <p:txBody>
          <a:bodyPr/>
          <a:lstStyle/>
          <a:p>
            <a:endParaRPr lang="es-CO"/>
          </a:p>
        </p:txBody>
      </p:sp>
      <p:sp>
        <p:nvSpPr>
          <p:cNvPr id="91" name="Text 89"/>
          <p:cNvSpPr txBox="1"/>
          <p:nvPr/>
        </p:nvSpPr>
        <p:spPr>
          <a:xfrm>
            <a:off x="356616" y="422452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Interrupción cadena de frío</a:t>
            </a:r>
            <a:endParaRPr lang="en-US" sz="1100" dirty="0"/>
          </a:p>
        </p:txBody>
      </p:sp>
      <p:sp>
        <p:nvSpPr>
          <p:cNvPr id="92" name="Shape 90"/>
          <p:cNvSpPr/>
          <p:nvPr/>
        </p:nvSpPr>
        <p:spPr>
          <a:xfrm>
            <a:off x="324612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3" name="Text 91"/>
          <p:cNvSpPr txBox="1"/>
          <p:nvPr/>
        </p:nvSpPr>
        <p:spPr>
          <a:xfrm>
            <a:off x="3282696" y="4224528"/>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94" name="Shape 92"/>
          <p:cNvSpPr/>
          <p:nvPr/>
        </p:nvSpPr>
        <p:spPr>
          <a:xfrm>
            <a:off x="384048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5" name="Text 93"/>
          <p:cNvSpPr txBox="1"/>
          <p:nvPr/>
        </p:nvSpPr>
        <p:spPr>
          <a:xfrm>
            <a:off x="3877056" y="422452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96" name="Shape 94"/>
          <p:cNvSpPr/>
          <p:nvPr/>
        </p:nvSpPr>
        <p:spPr>
          <a:xfrm>
            <a:off x="4434840" y="4133088"/>
            <a:ext cx="1325880" cy="384048"/>
          </a:xfrm>
          <a:prstGeom prst="rect">
            <a:avLst/>
          </a:prstGeom>
          <a:solidFill>
            <a:srgbClr val="FFFFFF"/>
          </a:solidFill>
          <a:ln w="12700">
            <a:solidFill>
              <a:srgbClr val="CBD5E1"/>
            </a:solidFill>
            <a:prstDash val="solid"/>
          </a:ln>
        </p:spPr>
        <p:txBody>
          <a:bodyPr/>
          <a:lstStyle/>
          <a:p>
            <a:endParaRPr lang="es-CO"/>
          </a:p>
        </p:txBody>
      </p:sp>
      <p:sp>
        <p:nvSpPr>
          <p:cNvPr id="97" name="Text 95"/>
          <p:cNvSpPr txBox="1"/>
          <p:nvPr/>
        </p:nvSpPr>
        <p:spPr>
          <a:xfrm>
            <a:off x="4471416" y="422452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135,281</a:t>
            </a:r>
            <a:endParaRPr lang="en-US" sz="1100" dirty="0"/>
          </a:p>
        </p:txBody>
      </p:sp>
      <p:sp>
        <p:nvSpPr>
          <p:cNvPr id="98" name="Shape 96"/>
          <p:cNvSpPr/>
          <p:nvPr/>
        </p:nvSpPr>
        <p:spPr>
          <a:xfrm>
            <a:off x="5760720" y="4133088"/>
            <a:ext cx="777240" cy="384048"/>
          </a:xfrm>
          <a:prstGeom prst="rect">
            <a:avLst/>
          </a:prstGeom>
          <a:solidFill>
            <a:srgbClr val="FFFFFF"/>
          </a:solidFill>
          <a:ln w="12700">
            <a:solidFill>
              <a:srgbClr val="CBD5E1"/>
            </a:solidFill>
            <a:prstDash val="solid"/>
          </a:ln>
        </p:spPr>
        <p:txBody>
          <a:bodyPr/>
          <a:lstStyle/>
          <a:p>
            <a:endParaRPr lang="es-CO"/>
          </a:p>
        </p:txBody>
      </p:sp>
      <p:sp>
        <p:nvSpPr>
          <p:cNvPr id="99" name="Text 97"/>
          <p:cNvSpPr txBox="1"/>
          <p:nvPr/>
        </p:nvSpPr>
        <p:spPr>
          <a:xfrm>
            <a:off x="5797296" y="422452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3.74 %</a:t>
            </a:r>
            <a:endParaRPr lang="en-US" sz="1100" dirty="0"/>
          </a:p>
        </p:txBody>
      </p:sp>
      <p:sp>
        <p:nvSpPr>
          <p:cNvPr id="100" name="Shape 98"/>
          <p:cNvSpPr/>
          <p:nvPr/>
        </p:nvSpPr>
        <p:spPr>
          <a:xfrm>
            <a:off x="6537960" y="4133088"/>
            <a:ext cx="4251960" cy="384048"/>
          </a:xfrm>
          <a:prstGeom prst="rect">
            <a:avLst/>
          </a:prstGeom>
          <a:solidFill>
            <a:srgbClr val="FFFFFF"/>
          </a:solidFill>
          <a:ln w="12700">
            <a:solidFill>
              <a:srgbClr val="CBD5E1"/>
            </a:solidFill>
            <a:prstDash val="solid"/>
          </a:ln>
        </p:spPr>
        <p:txBody>
          <a:bodyPr/>
          <a:lstStyle/>
          <a:p>
            <a:endParaRPr lang="es-CO"/>
          </a:p>
        </p:txBody>
      </p:sp>
      <p:sp>
        <p:nvSpPr>
          <p:cNvPr id="101" name="Text 99"/>
          <p:cNvSpPr txBox="1"/>
          <p:nvPr/>
        </p:nvSpPr>
        <p:spPr>
          <a:xfrm>
            <a:off x="6574536" y="422452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Generador de respaldo y protocolos de contingencia</a:t>
            </a:r>
            <a:endParaRPr lang="en-US" sz="1100" dirty="0"/>
          </a:p>
        </p:txBody>
      </p:sp>
      <p:sp>
        <p:nvSpPr>
          <p:cNvPr id="102" name="Shape 100"/>
          <p:cNvSpPr/>
          <p:nvPr/>
        </p:nvSpPr>
        <p:spPr>
          <a:xfrm>
            <a:off x="320040" y="4535424"/>
            <a:ext cx="2926080" cy="384048"/>
          </a:xfrm>
          <a:prstGeom prst="rect">
            <a:avLst/>
          </a:prstGeom>
          <a:solidFill>
            <a:srgbClr val="F1F5F9"/>
          </a:solidFill>
          <a:ln w="12700">
            <a:solidFill>
              <a:srgbClr val="CBD5E1"/>
            </a:solidFill>
            <a:prstDash val="solid"/>
          </a:ln>
        </p:spPr>
        <p:txBody>
          <a:bodyPr/>
          <a:lstStyle/>
          <a:p>
            <a:endParaRPr lang="es-CO"/>
          </a:p>
        </p:txBody>
      </p:sp>
      <p:sp>
        <p:nvSpPr>
          <p:cNvPr id="103" name="Text 101"/>
          <p:cNvSpPr txBox="1"/>
          <p:nvPr/>
        </p:nvSpPr>
        <p:spPr>
          <a:xfrm>
            <a:off x="356616" y="462686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tipo de cambio Lps/USD</a:t>
            </a:r>
            <a:endParaRPr lang="en-US" sz="1100" dirty="0"/>
          </a:p>
        </p:txBody>
      </p:sp>
      <p:sp>
        <p:nvSpPr>
          <p:cNvPr id="104" name="Shape 102"/>
          <p:cNvSpPr/>
          <p:nvPr/>
        </p:nvSpPr>
        <p:spPr>
          <a:xfrm>
            <a:off x="324612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5" name="Text 103"/>
          <p:cNvSpPr txBox="1"/>
          <p:nvPr/>
        </p:nvSpPr>
        <p:spPr>
          <a:xfrm>
            <a:off x="3282696" y="4626864"/>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06" name="Shape 104"/>
          <p:cNvSpPr/>
          <p:nvPr/>
        </p:nvSpPr>
        <p:spPr>
          <a:xfrm>
            <a:off x="384048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7" name="Text 105"/>
          <p:cNvSpPr txBox="1"/>
          <p:nvPr/>
        </p:nvSpPr>
        <p:spPr>
          <a:xfrm>
            <a:off x="3877056" y="462686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08" name="Shape 106"/>
          <p:cNvSpPr/>
          <p:nvPr/>
        </p:nvSpPr>
        <p:spPr>
          <a:xfrm>
            <a:off x="4434840" y="4535424"/>
            <a:ext cx="1325880" cy="384048"/>
          </a:xfrm>
          <a:prstGeom prst="rect">
            <a:avLst/>
          </a:prstGeom>
          <a:solidFill>
            <a:srgbClr val="F1F5F9"/>
          </a:solidFill>
          <a:ln w="12700">
            <a:solidFill>
              <a:srgbClr val="CBD5E1"/>
            </a:solidFill>
            <a:prstDash val="solid"/>
          </a:ln>
        </p:spPr>
        <p:txBody>
          <a:bodyPr/>
          <a:lstStyle/>
          <a:p>
            <a:endParaRPr lang="es-CO"/>
          </a:p>
        </p:txBody>
      </p:sp>
      <p:sp>
        <p:nvSpPr>
          <p:cNvPr id="109" name="Text 107"/>
          <p:cNvSpPr txBox="1"/>
          <p:nvPr/>
        </p:nvSpPr>
        <p:spPr>
          <a:xfrm>
            <a:off x="4471416" y="462686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112,704</a:t>
            </a:r>
            <a:endParaRPr lang="en-US" sz="1100" dirty="0"/>
          </a:p>
        </p:txBody>
      </p:sp>
      <p:sp>
        <p:nvSpPr>
          <p:cNvPr id="110" name="Shape 108"/>
          <p:cNvSpPr/>
          <p:nvPr/>
        </p:nvSpPr>
        <p:spPr>
          <a:xfrm>
            <a:off x="5760720" y="4535424"/>
            <a:ext cx="777240" cy="384048"/>
          </a:xfrm>
          <a:prstGeom prst="rect">
            <a:avLst/>
          </a:prstGeom>
          <a:solidFill>
            <a:srgbClr val="F1F5F9"/>
          </a:solidFill>
          <a:ln w="12700">
            <a:solidFill>
              <a:srgbClr val="CBD5E1"/>
            </a:solidFill>
            <a:prstDash val="solid"/>
          </a:ln>
        </p:spPr>
        <p:txBody>
          <a:bodyPr/>
          <a:lstStyle/>
          <a:p>
            <a:endParaRPr lang="es-CO"/>
          </a:p>
        </p:txBody>
      </p:sp>
      <p:sp>
        <p:nvSpPr>
          <p:cNvPr id="111" name="Text 109"/>
          <p:cNvSpPr txBox="1"/>
          <p:nvPr/>
        </p:nvSpPr>
        <p:spPr>
          <a:xfrm>
            <a:off x="5797296" y="462686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3.12 %</a:t>
            </a:r>
            <a:endParaRPr lang="en-US" sz="1100" dirty="0"/>
          </a:p>
        </p:txBody>
      </p:sp>
      <p:sp>
        <p:nvSpPr>
          <p:cNvPr id="112" name="Shape 110"/>
          <p:cNvSpPr/>
          <p:nvPr/>
        </p:nvSpPr>
        <p:spPr>
          <a:xfrm>
            <a:off x="6537960" y="4535424"/>
            <a:ext cx="4251960" cy="384048"/>
          </a:xfrm>
          <a:prstGeom prst="rect">
            <a:avLst/>
          </a:prstGeom>
          <a:solidFill>
            <a:srgbClr val="F1F5F9"/>
          </a:solidFill>
          <a:ln w="12700">
            <a:solidFill>
              <a:srgbClr val="CBD5E1"/>
            </a:solidFill>
            <a:prstDash val="solid"/>
          </a:ln>
        </p:spPr>
        <p:txBody>
          <a:bodyPr/>
          <a:lstStyle/>
          <a:p>
            <a:endParaRPr lang="es-CO"/>
          </a:p>
        </p:txBody>
      </p:sp>
      <p:sp>
        <p:nvSpPr>
          <p:cNvPr id="113" name="Text 111"/>
          <p:cNvSpPr txBox="1"/>
          <p:nvPr/>
        </p:nvSpPr>
        <p:spPr>
          <a:xfrm>
            <a:off x="6574536" y="462686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Diversificar proveedores nacionales de insumos</a:t>
            </a:r>
            <a:endParaRPr lang="en-US" sz="1100" dirty="0"/>
          </a:p>
        </p:txBody>
      </p:sp>
      <p:sp>
        <p:nvSpPr>
          <p:cNvPr id="114" name="Shape 112"/>
          <p:cNvSpPr/>
          <p:nvPr/>
        </p:nvSpPr>
        <p:spPr>
          <a:xfrm>
            <a:off x="320040" y="4937760"/>
            <a:ext cx="2926080" cy="384048"/>
          </a:xfrm>
          <a:prstGeom prst="rect">
            <a:avLst/>
          </a:prstGeom>
          <a:solidFill>
            <a:srgbClr val="FFFFFF"/>
          </a:solidFill>
          <a:ln w="12700">
            <a:solidFill>
              <a:srgbClr val="CBD5E1"/>
            </a:solidFill>
            <a:prstDash val="solid"/>
          </a:ln>
        </p:spPr>
        <p:txBody>
          <a:bodyPr/>
          <a:lstStyle/>
          <a:p>
            <a:endParaRPr lang="es-CO"/>
          </a:p>
        </p:txBody>
      </p:sp>
      <p:sp>
        <p:nvSpPr>
          <p:cNvPr id="115" name="Text 113"/>
          <p:cNvSpPr txBox="1"/>
          <p:nvPr/>
        </p:nvSpPr>
        <p:spPr>
          <a:xfrm>
            <a:off x="356616" y="502920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Contaminación de lote / retiro</a:t>
            </a:r>
            <a:endParaRPr lang="en-US" sz="1100" dirty="0"/>
          </a:p>
        </p:txBody>
      </p:sp>
      <p:sp>
        <p:nvSpPr>
          <p:cNvPr id="116" name="Shape 114"/>
          <p:cNvSpPr/>
          <p:nvPr/>
        </p:nvSpPr>
        <p:spPr>
          <a:xfrm>
            <a:off x="324612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7" name="Text 115"/>
          <p:cNvSpPr txBox="1"/>
          <p:nvPr/>
        </p:nvSpPr>
        <p:spPr>
          <a:xfrm>
            <a:off x="3282696" y="5029200"/>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18" name="Shape 116"/>
          <p:cNvSpPr/>
          <p:nvPr/>
        </p:nvSpPr>
        <p:spPr>
          <a:xfrm>
            <a:off x="384048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9" name="Text 117"/>
          <p:cNvSpPr txBox="1"/>
          <p:nvPr/>
        </p:nvSpPr>
        <p:spPr>
          <a:xfrm>
            <a:off x="3877056" y="5029200"/>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20" name="Shape 118"/>
          <p:cNvSpPr/>
          <p:nvPr/>
        </p:nvSpPr>
        <p:spPr>
          <a:xfrm>
            <a:off x="4434840" y="4937760"/>
            <a:ext cx="1325880" cy="384048"/>
          </a:xfrm>
          <a:prstGeom prst="rect">
            <a:avLst/>
          </a:prstGeom>
          <a:solidFill>
            <a:srgbClr val="FFFFFF"/>
          </a:solidFill>
          <a:ln w="12700">
            <a:solidFill>
              <a:srgbClr val="CBD5E1"/>
            </a:solidFill>
            <a:prstDash val="solid"/>
          </a:ln>
        </p:spPr>
        <p:txBody>
          <a:bodyPr/>
          <a:lstStyle/>
          <a:p>
            <a:endParaRPr lang="es-CO"/>
          </a:p>
        </p:txBody>
      </p:sp>
      <p:sp>
        <p:nvSpPr>
          <p:cNvPr id="121" name="Text 119"/>
          <p:cNvSpPr txBox="1"/>
          <p:nvPr/>
        </p:nvSpPr>
        <p:spPr>
          <a:xfrm>
            <a:off x="4471416" y="502920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99,188</a:t>
            </a:r>
            <a:endParaRPr lang="en-US" sz="1100" dirty="0"/>
          </a:p>
        </p:txBody>
      </p:sp>
      <p:sp>
        <p:nvSpPr>
          <p:cNvPr id="122" name="Shape 120"/>
          <p:cNvSpPr/>
          <p:nvPr/>
        </p:nvSpPr>
        <p:spPr>
          <a:xfrm>
            <a:off x="5760720" y="4937760"/>
            <a:ext cx="777240" cy="384048"/>
          </a:xfrm>
          <a:prstGeom prst="rect">
            <a:avLst/>
          </a:prstGeom>
          <a:solidFill>
            <a:srgbClr val="FFFFFF"/>
          </a:solidFill>
          <a:ln w="12700">
            <a:solidFill>
              <a:srgbClr val="CBD5E1"/>
            </a:solidFill>
            <a:prstDash val="solid"/>
          </a:ln>
        </p:spPr>
        <p:txBody>
          <a:bodyPr/>
          <a:lstStyle/>
          <a:p>
            <a:endParaRPr lang="es-CO"/>
          </a:p>
        </p:txBody>
      </p:sp>
      <p:sp>
        <p:nvSpPr>
          <p:cNvPr id="123" name="Text 121"/>
          <p:cNvSpPr txBox="1"/>
          <p:nvPr/>
        </p:nvSpPr>
        <p:spPr>
          <a:xfrm>
            <a:off x="5797296" y="502920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2.74 %</a:t>
            </a:r>
            <a:endParaRPr lang="en-US" sz="1100" dirty="0"/>
          </a:p>
        </p:txBody>
      </p:sp>
      <p:sp>
        <p:nvSpPr>
          <p:cNvPr id="124" name="Shape 122"/>
          <p:cNvSpPr/>
          <p:nvPr/>
        </p:nvSpPr>
        <p:spPr>
          <a:xfrm>
            <a:off x="6537960" y="4937760"/>
            <a:ext cx="4251960" cy="384048"/>
          </a:xfrm>
          <a:prstGeom prst="rect">
            <a:avLst/>
          </a:prstGeom>
          <a:solidFill>
            <a:srgbClr val="FFFFFF"/>
          </a:solidFill>
          <a:ln w="12700">
            <a:solidFill>
              <a:srgbClr val="CBD5E1"/>
            </a:solidFill>
            <a:prstDash val="solid"/>
          </a:ln>
        </p:spPr>
        <p:txBody>
          <a:bodyPr/>
          <a:lstStyle/>
          <a:p>
            <a:endParaRPr lang="es-CO"/>
          </a:p>
        </p:txBody>
      </p:sp>
      <p:sp>
        <p:nvSpPr>
          <p:cNvPr id="125" name="Text 123"/>
          <p:cNvSpPr txBox="1"/>
          <p:nvPr/>
        </p:nvSpPr>
        <p:spPr>
          <a:xfrm>
            <a:off x="6574536" y="502920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Trazabilidad completa, análisis microbiológicos diarios</a:t>
            </a:r>
            <a:endParaRPr lang="en-US" sz="1100" dirty="0"/>
          </a:p>
        </p:txBody>
      </p:sp>
      <p:sp>
        <p:nvSpPr>
          <p:cNvPr id="126" name="Shape 124"/>
          <p:cNvSpPr/>
          <p:nvPr/>
        </p:nvSpPr>
        <p:spPr>
          <a:xfrm>
            <a:off x="320040" y="5340096"/>
            <a:ext cx="2926080" cy="384048"/>
          </a:xfrm>
          <a:prstGeom prst="rect">
            <a:avLst/>
          </a:prstGeom>
          <a:solidFill>
            <a:srgbClr val="F1F5F9"/>
          </a:solidFill>
          <a:ln w="12700">
            <a:solidFill>
              <a:srgbClr val="CBD5E1"/>
            </a:solidFill>
            <a:prstDash val="solid"/>
          </a:ln>
        </p:spPr>
        <p:txBody>
          <a:bodyPr/>
          <a:lstStyle/>
          <a:p>
            <a:endParaRPr lang="es-CO"/>
          </a:p>
        </p:txBody>
      </p:sp>
      <p:sp>
        <p:nvSpPr>
          <p:cNvPr id="127" name="Text 125"/>
          <p:cNvSpPr txBox="1"/>
          <p:nvPr/>
        </p:nvSpPr>
        <p:spPr>
          <a:xfrm>
            <a:off x="356616" y="543153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Accidente de transporte</a:t>
            </a:r>
            <a:endParaRPr lang="en-US" sz="1100" dirty="0"/>
          </a:p>
        </p:txBody>
      </p:sp>
      <p:sp>
        <p:nvSpPr>
          <p:cNvPr id="128" name="Shape 126"/>
          <p:cNvSpPr/>
          <p:nvPr/>
        </p:nvSpPr>
        <p:spPr>
          <a:xfrm>
            <a:off x="324612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29" name="Text 127"/>
          <p:cNvSpPr txBox="1"/>
          <p:nvPr/>
        </p:nvSpPr>
        <p:spPr>
          <a:xfrm>
            <a:off x="3282696" y="5431536"/>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30" name="Shape 128"/>
          <p:cNvSpPr/>
          <p:nvPr/>
        </p:nvSpPr>
        <p:spPr>
          <a:xfrm>
            <a:off x="384048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31" name="Text 129"/>
          <p:cNvSpPr txBox="1"/>
          <p:nvPr/>
        </p:nvSpPr>
        <p:spPr>
          <a:xfrm>
            <a:off x="3877056" y="543153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32" name="Shape 130"/>
          <p:cNvSpPr/>
          <p:nvPr/>
        </p:nvSpPr>
        <p:spPr>
          <a:xfrm>
            <a:off x="4434840" y="5340096"/>
            <a:ext cx="1325880" cy="384048"/>
          </a:xfrm>
          <a:prstGeom prst="rect">
            <a:avLst/>
          </a:prstGeom>
          <a:solidFill>
            <a:srgbClr val="F1F5F9"/>
          </a:solidFill>
          <a:ln w="12700">
            <a:solidFill>
              <a:srgbClr val="CBD5E1"/>
            </a:solidFill>
            <a:prstDash val="solid"/>
          </a:ln>
        </p:spPr>
        <p:txBody>
          <a:bodyPr/>
          <a:lstStyle/>
          <a:p>
            <a:endParaRPr lang="es-CO"/>
          </a:p>
        </p:txBody>
      </p:sp>
      <p:sp>
        <p:nvSpPr>
          <p:cNvPr id="133" name="Text 131"/>
          <p:cNvSpPr txBox="1"/>
          <p:nvPr/>
        </p:nvSpPr>
        <p:spPr>
          <a:xfrm>
            <a:off x="4471416" y="543153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58,815</a:t>
            </a:r>
            <a:endParaRPr lang="en-US" sz="1100" dirty="0"/>
          </a:p>
        </p:txBody>
      </p:sp>
      <p:sp>
        <p:nvSpPr>
          <p:cNvPr id="134" name="Shape 132"/>
          <p:cNvSpPr/>
          <p:nvPr/>
        </p:nvSpPr>
        <p:spPr>
          <a:xfrm>
            <a:off x="5760720" y="5340096"/>
            <a:ext cx="777240" cy="384048"/>
          </a:xfrm>
          <a:prstGeom prst="rect">
            <a:avLst/>
          </a:prstGeom>
          <a:solidFill>
            <a:srgbClr val="F1F5F9"/>
          </a:solidFill>
          <a:ln w="12700">
            <a:solidFill>
              <a:srgbClr val="CBD5E1"/>
            </a:solidFill>
            <a:prstDash val="solid"/>
          </a:ln>
        </p:spPr>
        <p:txBody>
          <a:bodyPr/>
          <a:lstStyle/>
          <a:p>
            <a:endParaRPr lang="es-CO"/>
          </a:p>
        </p:txBody>
      </p:sp>
      <p:sp>
        <p:nvSpPr>
          <p:cNvPr id="135" name="Text 133"/>
          <p:cNvSpPr txBox="1"/>
          <p:nvPr/>
        </p:nvSpPr>
        <p:spPr>
          <a:xfrm>
            <a:off x="5797296" y="543153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1.63 %</a:t>
            </a:r>
            <a:endParaRPr lang="en-US" sz="1100" dirty="0"/>
          </a:p>
        </p:txBody>
      </p:sp>
      <p:sp>
        <p:nvSpPr>
          <p:cNvPr id="136" name="Shape 134"/>
          <p:cNvSpPr/>
          <p:nvPr/>
        </p:nvSpPr>
        <p:spPr>
          <a:xfrm>
            <a:off x="6537960" y="5340096"/>
            <a:ext cx="4251960" cy="384048"/>
          </a:xfrm>
          <a:prstGeom prst="rect">
            <a:avLst/>
          </a:prstGeom>
          <a:solidFill>
            <a:srgbClr val="F1F5F9"/>
          </a:solidFill>
          <a:ln w="12700">
            <a:solidFill>
              <a:srgbClr val="CBD5E1"/>
            </a:solidFill>
            <a:prstDash val="solid"/>
          </a:ln>
        </p:spPr>
        <p:txBody>
          <a:bodyPr/>
          <a:lstStyle/>
          <a:p>
            <a:endParaRPr lang="es-CO"/>
          </a:p>
        </p:txBody>
      </p:sp>
      <p:sp>
        <p:nvSpPr>
          <p:cNvPr id="137" name="Text 135"/>
          <p:cNvSpPr txBox="1"/>
          <p:nvPr/>
        </p:nvSpPr>
        <p:spPr>
          <a:xfrm>
            <a:off x="6574536" y="543153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Seguro de carga, capacitación y rutas seguras</a:t>
            </a:r>
            <a:endParaRPr lang="en-US" sz="1100" dirty="0"/>
          </a:p>
        </p:txBody>
      </p:sp>
      <p:sp>
        <p:nvSpPr>
          <p:cNvPr id="138" name="Shape 136"/>
          <p:cNvSpPr/>
          <p:nvPr/>
        </p:nvSpPr>
        <p:spPr>
          <a:xfrm>
            <a:off x="320040" y="5742432"/>
            <a:ext cx="2926080" cy="384048"/>
          </a:xfrm>
          <a:prstGeom prst="rect">
            <a:avLst/>
          </a:prstGeom>
          <a:solidFill>
            <a:srgbClr val="FFFFFF"/>
          </a:solidFill>
          <a:ln w="12700">
            <a:solidFill>
              <a:srgbClr val="CBD5E1"/>
            </a:solidFill>
            <a:prstDash val="solid"/>
          </a:ln>
        </p:spPr>
        <p:txBody>
          <a:bodyPr/>
          <a:lstStyle/>
          <a:p>
            <a:endParaRPr lang="es-CO"/>
          </a:p>
        </p:txBody>
      </p:sp>
      <p:sp>
        <p:nvSpPr>
          <p:cNvPr id="139" name="Text 137"/>
          <p:cNvSpPr txBox="1"/>
          <p:nvPr/>
        </p:nvSpPr>
        <p:spPr>
          <a:xfrm>
            <a:off x="356616" y="583387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Incumplimiento normativa SENASA</a:t>
            </a:r>
            <a:endParaRPr lang="en-US" sz="1100" dirty="0"/>
          </a:p>
        </p:txBody>
      </p:sp>
      <p:sp>
        <p:nvSpPr>
          <p:cNvPr id="140" name="Shape 138"/>
          <p:cNvSpPr/>
          <p:nvPr/>
        </p:nvSpPr>
        <p:spPr>
          <a:xfrm>
            <a:off x="324612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1" name="Text 139"/>
          <p:cNvSpPr txBox="1"/>
          <p:nvPr/>
        </p:nvSpPr>
        <p:spPr>
          <a:xfrm>
            <a:off x="3282696" y="583387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42" name="Shape 140"/>
          <p:cNvSpPr/>
          <p:nvPr/>
        </p:nvSpPr>
        <p:spPr>
          <a:xfrm>
            <a:off x="384048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3" name="Text 141"/>
          <p:cNvSpPr txBox="1"/>
          <p:nvPr/>
        </p:nvSpPr>
        <p:spPr>
          <a:xfrm>
            <a:off x="3877056" y="583387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44" name="Shape 142"/>
          <p:cNvSpPr/>
          <p:nvPr/>
        </p:nvSpPr>
        <p:spPr>
          <a:xfrm>
            <a:off x="4434840" y="5742432"/>
            <a:ext cx="1325880" cy="384048"/>
          </a:xfrm>
          <a:prstGeom prst="rect">
            <a:avLst/>
          </a:prstGeom>
          <a:solidFill>
            <a:srgbClr val="FFFFFF"/>
          </a:solidFill>
          <a:ln w="12700">
            <a:solidFill>
              <a:srgbClr val="CBD5E1"/>
            </a:solidFill>
            <a:prstDash val="solid"/>
          </a:ln>
        </p:spPr>
        <p:txBody>
          <a:bodyPr/>
          <a:lstStyle/>
          <a:p>
            <a:endParaRPr lang="es-CO"/>
          </a:p>
        </p:txBody>
      </p:sp>
      <p:sp>
        <p:nvSpPr>
          <p:cNvPr id="145" name="Text 143"/>
          <p:cNvSpPr txBox="1"/>
          <p:nvPr/>
        </p:nvSpPr>
        <p:spPr>
          <a:xfrm>
            <a:off x="4471416" y="583387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57,046</a:t>
            </a:r>
            <a:endParaRPr lang="en-US" sz="1100" dirty="0"/>
          </a:p>
        </p:txBody>
      </p:sp>
      <p:sp>
        <p:nvSpPr>
          <p:cNvPr id="146" name="Shape 144"/>
          <p:cNvSpPr/>
          <p:nvPr/>
        </p:nvSpPr>
        <p:spPr>
          <a:xfrm>
            <a:off x="5760720" y="5742432"/>
            <a:ext cx="777240" cy="384048"/>
          </a:xfrm>
          <a:prstGeom prst="rect">
            <a:avLst/>
          </a:prstGeom>
          <a:solidFill>
            <a:srgbClr val="FFFFFF"/>
          </a:solidFill>
          <a:ln w="12700">
            <a:solidFill>
              <a:srgbClr val="CBD5E1"/>
            </a:solidFill>
            <a:prstDash val="solid"/>
          </a:ln>
        </p:spPr>
        <p:txBody>
          <a:bodyPr/>
          <a:lstStyle/>
          <a:p>
            <a:endParaRPr lang="es-CO"/>
          </a:p>
        </p:txBody>
      </p:sp>
      <p:sp>
        <p:nvSpPr>
          <p:cNvPr id="147" name="Text 145"/>
          <p:cNvSpPr txBox="1"/>
          <p:nvPr/>
        </p:nvSpPr>
        <p:spPr>
          <a:xfrm>
            <a:off x="5797296" y="583387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1.58 %</a:t>
            </a:r>
            <a:endParaRPr lang="en-US" sz="1100" dirty="0"/>
          </a:p>
        </p:txBody>
      </p:sp>
      <p:sp>
        <p:nvSpPr>
          <p:cNvPr id="148" name="Shape 146"/>
          <p:cNvSpPr/>
          <p:nvPr/>
        </p:nvSpPr>
        <p:spPr>
          <a:xfrm>
            <a:off x="6537960" y="5742432"/>
            <a:ext cx="4251960" cy="384048"/>
          </a:xfrm>
          <a:prstGeom prst="rect">
            <a:avLst/>
          </a:prstGeom>
          <a:solidFill>
            <a:srgbClr val="FFFFFF"/>
          </a:solidFill>
          <a:ln w="12700">
            <a:solidFill>
              <a:srgbClr val="CBD5E1"/>
            </a:solidFill>
            <a:prstDash val="solid"/>
          </a:ln>
        </p:spPr>
        <p:txBody>
          <a:bodyPr/>
          <a:lstStyle/>
          <a:p>
            <a:endParaRPr lang="es-CO"/>
          </a:p>
        </p:txBody>
      </p:sp>
      <p:sp>
        <p:nvSpPr>
          <p:cNvPr id="149" name="Text 147"/>
          <p:cNvSpPr txBox="1"/>
          <p:nvPr/>
        </p:nvSpPr>
        <p:spPr>
          <a:xfrm>
            <a:off x="6574536" y="583387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BPM, POES y HACCP desde el inicio de operaciones</a:t>
            </a:r>
            <a:endParaRPr lang="en-US" sz="1100" dirty="0"/>
          </a:p>
        </p:txBody>
      </p:sp>
      <p:sp>
        <p:nvSpPr>
          <p:cNvPr id="150" name="Shape 148"/>
          <p:cNvSpPr/>
          <p:nvPr/>
        </p:nvSpPr>
        <p:spPr>
          <a:xfrm>
            <a:off x="320040" y="6144768"/>
            <a:ext cx="2926080" cy="384048"/>
          </a:xfrm>
          <a:prstGeom prst="rect">
            <a:avLst/>
          </a:prstGeom>
          <a:solidFill>
            <a:srgbClr val="E6F4F6"/>
          </a:solidFill>
          <a:ln w="12700">
            <a:solidFill>
              <a:srgbClr val="CBD5E1"/>
            </a:solidFill>
            <a:prstDash val="solid"/>
          </a:ln>
        </p:spPr>
        <p:txBody>
          <a:bodyPr/>
          <a:lstStyle/>
          <a:p>
            <a:endParaRPr lang="es-CO"/>
          </a:p>
        </p:txBody>
      </p:sp>
      <p:sp>
        <p:nvSpPr>
          <p:cNvPr id="151" name="Text 149"/>
          <p:cNvSpPr txBox="1"/>
          <p:nvPr/>
        </p:nvSpPr>
        <p:spPr>
          <a:xfrm>
            <a:off x="356616" y="6236208"/>
            <a:ext cx="2871216" cy="237744"/>
          </a:xfrm>
          <a:prstGeom prst="rect">
            <a:avLst/>
          </a:prstGeom>
          <a:noFill/>
          <a:ln/>
        </p:spPr>
        <p:txBody>
          <a:bodyPr wrap="square" rtlCol="0" anchor="ctr"/>
          <a:lstStyle/>
          <a:p>
            <a:pPr marL="0" indent="0" algn="l">
              <a:buNone/>
            </a:pPr>
            <a:r>
              <a:rPr lang="en-US" sz="1100" b="1" dirty="0">
                <a:solidFill>
                  <a:srgbClr val="1A7A8A"/>
                </a:solidFill>
                <a:latin typeface="Calibri" pitchFamily="34" charset="0"/>
                <a:ea typeface="Calibri" pitchFamily="34" charset="-122"/>
                <a:cs typeface="Calibri" pitchFamily="34" charset="-120"/>
              </a:rPr>
              <a:t>TOTAL</a:t>
            </a:r>
            <a:endParaRPr lang="en-US" sz="1100" dirty="0"/>
          </a:p>
        </p:txBody>
      </p:sp>
      <p:sp>
        <p:nvSpPr>
          <p:cNvPr id="152" name="Shape 150"/>
          <p:cNvSpPr/>
          <p:nvPr/>
        </p:nvSpPr>
        <p:spPr>
          <a:xfrm>
            <a:off x="324612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3" name="Text 151"/>
          <p:cNvSpPr txBox="1"/>
          <p:nvPr/>
        </p:nvSpPr>
        <p:spPr>
          <a:xfrm>
            <a:off x="3282696" y="6236208"/>
            <a:ext cx="539496" cy="237744"/>
          </a:xfrm>
          <a:prstGeom prst="rect">
            <a:avLst/>
          </a:prstGeom>
          <a:noFill/>
          <a:ln/>
        </p:spPr>
        <p:txBody>
          <a:bodyPr wrap="square" rtlCol="0" anchor="ctr"/>
          <a:lstStyle/>
          <a:p>
            <a:pPr marL="0" indent="0" algn="ctr">
              <a:buNone/>
            </a:pPr>
            <a:endParaRPr lang="en-US" sz="1100" dirty="0"/>
          </a:p>
        </p:txBody>
      </p:sp>
      <p:sp>
        <p:nvSpPr>
          <p:cNvPr id="154" name="Shape 152"/>
          <p:cNvSpPr/>
          <p:nvPr/>
        </p:nvSpPr>
        <p:spPr>
          <a:xfrm>
            <a:off x="384048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5" name="Text 153"/>
          <p:cNvSpPr txBox="1"/>
          <p:nvPr/>
        </p:nvSpPr>
        <p:spPr>
          <a:xfrm>
            <a:off x="3877056" y="6236208"/>
            <a:ext cx="539496" cy="237744"/>
          </a:xfrm>
          <a:prstGeom prst="rect">
            <a:avLst/>
          </a:prstGeom>
          <a:noFill/>
          <a:ln/>
        </p:spPr>
        <p:txBody>
          <a:bodyPr wrap="square" rtlCol="0" anchor="ctr"/>
          <a:lstStyle/>
          <a:p>
            <a:pPr marL="0" indent="0" algn="ctr">
              <a:buNone/>
            </a:pPr>
            <a:endParaRPr lang="en-US" sz="1100" dirty="0"/>
          </a:p>
        </p:txBody>
      </p:sp>
      <p:sp>
        <p:nvSpPr>
          <p:cNvPr id="156" name="Shape 154"/>
          <p:cNvSpPr/>
          <p:nvPr/>
        </p:nvSpPr>
        <p:spPr>
          <a:xfrm>
            <a:off x="4434840" y="6144768"/>
            <a:ext cx="1325880" cy="384048"/>
          </a:xfrm>
          <a:prstGeom prst="rect">
            <a:avLst/>
          </a:prstGeom>
          <a:solidFill>
            <a:srgbClr val="E6F4F6"/>
          </a:solidFill>
          <a:ln w="12700">
            <a:solidFill>
              <a:srgbClr val="CBD5E1"/>
            </a:solidFill>
            <a:prstDash val="solid"/>
          </a:ln>
        </p:spPr>
        <p:txBody>
          <a:bodyPr/>
          <a:lstStyle/>
          <a:p>
            <a:endParaRPr lang="es-CO"/>
          </a:p>
        </p:txBody>
      </p:sp>
      <p:sp>
        <p:nvSpPr>
          <p:cNvPr id="157" name="Text 155"/>
          <p:cNvSpPr txBox="1"/>
          <p:nvPr/>
        </p:nvSpPr>
        <p:spPr>
          <a:xfrm>
            <a:off x="4471416" y="6236208"/>
            <a:ext cx="1271016" cy="237744"/>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L 3,614,648</a:t>
            </a:r>
            <a:endParaRPr lang="en-US" sz="1100" dirty="0"/>
          </a:p>
        </p:txBody>
      </p:sp>
      <p:sp>
        <p:nvSpPr>
          <p:cNvPr id="158" name="Shape 156"/>
          <p:cNvSpPr/>
          <p:nvPr/>
        </p:nvSpPr>
        <p:spPr>
          <a:xfrm>
            <a:off x="5760720" y="6144768"/>
            <a:ext cx="777240" cy="384048"/>
          </a:xfrm>
          <a:prstGeom prst="rect">
            <a:avLst/>
          </a:prstGeom>
          <a:solidFill>
            <a:srgbClr val="E6F4F6"/>
          </a:solidFill>
          <a:ln w="12700">
            <a:solidFill>
              <a:srgbClr val="CBD5E1"/>
            </a:solidFill>
            <a:prstDash val="solid"/>
          </a:ln>
        </p:spPr>
        <p:txBody>
          <a:bodyPr/>
          <a:lstStyle/>
          <a:p>
            <a:endParaRPr lang="es-CO"/>
          </a:p>
        </p:txBody>
      </p:sp>
      <p:sp>
        <p:nvSpPr>
          <p:cNvPr id="159" name="Text 157"/>
          <p:cNvSpPr txBox="1"/>
          <p:nvPr/>
        </p:nvSpPr>
        <p:spPr>
          <a:xfrm>
            <a:off x="5797296" y="6236208"/>
            <a:ext cx="72237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100 %</a:t>
            </a:r>
            <a:endParaRPr lang="en-US" sz="1100" dirty="0"/>
          </a:p>
        </p:txBody>
      </p:sp>
      <p:sp>
        <p:nvSpPr>
          <p:cNvPr id="160" name="Shape 158"/>
          <p:cNvSpPr/>
          <p:nvPr/>
        </p:nvSpPr>
        <p:spPr>
          <a:xfrm>
            <a:off x="6537960" y="6144768"/>
            <a:ext cx="4251960" cy="384048"/>
          </a:xfrm>
          <a:prstGeom prst="rect">
            <a:avLst/>
          </a:prstGeom>
          <a:solidFill>
            <a:srgbClr val="E6F4F6"/>
          </a:solidFill>
          <a:ln w="12700">
            <a:solidFill>
              <a:srgbClr val="CBD5E1"/>
            </a:solidFill>
            <a:prstDash val="solid"/>
          </a:ln>
        </p:spPr>
        <p:txBody>
          <a:bodyPr/>
          <a:lstStyle/>
          <a:p>
            <a:endParaRPr lang="es-CO"/>
          </a:p>
        </p:txBody>
      </p:sp>
      <p:sp>
        <p:nvSpPr>
          <p:cNvPr id="161" name="Text 159"/>
          <p:cNvSpPr txBox="1"/>
          <p:nvPr/>
        </p:nvSpPr>
        <p:spPr>
          <a:xfrm>
            <a:off x="6574536" y="6236208"/>
            <a:ext cx="4197096" cy="237744"/>
          </a:xfrm>
          <a:prstGeom prst="rect">
            <a:avLst/>
          </a:prstGeom>
          <a:noFill/>
          <a:ln/>
        </p:spPr>
        <p:txBody>
          <a:bodyPr wrap="square" rtlCol="0" anchor="ctr"/>
          <a:lstStyle/>
          <a:p>
            <a:pPr marL="0" indent="0" algn="l">
              <a:buNone/>
            </a:pPr>
            <a:endParaRPr lang="en-US" sz="1100" dirty="0"/>
          </a:p>
        </p:txBody>
      </p:sp>
      <p:sp>
        <p:nvSpPr>
          <p:cNvPr id="162" name="Text 16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Efecto del Riesgo sobre el Valor del Proyecto</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51560"/>
            <a:ext cx="11430000" cy="320040"/>
          </a:xfrm>
          <a:prstGeom prst="rect">
            <a:avLst/>
          </a:prstGeom>
          <a:noFill/>
          <a:ln/>
        </p:spPr>
        <p:txBody>
          <a:bodyPr wrap="square" rtlCol="0" anchor="ctr"/>
          <a:lstStyle/>
          <a:p>
            <a:pPr marL="0" indent="0">
              <a:buNone/>
            </a:pPr>
            <a:r>
              <a:rPr lang="en-US" sz="1150" i="1" dirty="0">
                <a:solidFill>
                  <a:srgbClr val="334155"/>
                </a:solidFill>
                <a:latin typeface="Calibri" pitchFamily="34" charset="0"/>
                <a:ea typeface="Calibri" pitchFamily="34" charset="-122"/>
                <a:cs typeface="Calibri" pitchFamily="34" charset="-120"/>
              </a:rPr>
              <a:t>El margen entre VPN Inversionista y el riesgo cuantificado es amplio: propuesta prefactible incluso bajo escenarios adversos de Monte Carlo.</a:t>
            </a:r>
            <a:endParaRPr lang="en-US" sz="1150" dirty="0"/>
          </a:p>
        </p:txBody>
      </p:sp>
      <p:sp>
        <p:nvSpPr>
          <p:cNvPr id="6" name="Shape 4"/>
          <p:cNvSpPr/>
          <p:nvPr/>
        </p:nvSpPr>
        <p:spPr>
          <a:xfrm>
            <a:off x="320040" y="1463040"/>
            <a:ext cx="3749040" cy="1691640"/>
          </a:xfrm>
          <a:prstGeom prst="rect">
            <a:avLst/>
          </a:prstGeom>
          <a:solidFill>
            <a:srgbClr val="0D2341"/>
          </a:solidFill>
          <a:ln w="12700">
            <a:solidFill>
              <a:srgbClr val="CBD5E1"/>
            </a:solidFill>
            <a:prstDash val="solid"/>
          </a:ln>
        </p:spPr>
        <p:txBody>
          <a:bodyPr/>
          <a:lstStyle/>
          <a:p>
            <a:endParaRPr lang="es-CO"/>
          </a:p>
        </p:txBody>
      </p:sp>
      <p:sp>
        <p:nvSpPr>
          <p:cNvPr id="7" name="Text 5"/>
          <p:cNvSpPr txBox="1"/>
          <p:nvPr/>
        </p:nvSpPr>
        <p:spPr>
          <a:xfrm>
            <a:off x="457200" y="1536192"/>
            <a:ext cx="3474720" cy="320040"/>
          </a:xfrm>
          <a:prstGeom prst="rect">
            <a:avLst/>
          </a:prstGeom>
          <a:noFill/>
          <a:ln/>
        </p:spPr>
        <p:txBody>
          <a:bodyPr wrap="square" rtlCol="0" anchor="ctr"/>
          <a:lstStyle/>
          <a:p>
            <a:pPr marL="0" indent="0" algn="ctr">
              <a:buNone/>
            </a:pPr>
            <a:r>
              <a:rPr lang="en-US" sz="1100" b="1" kern="0" spc="50" dirty="0">
                <a:solidFill>
                  <a:srgbClr val="1A7A8A"/>
                </a:solidFill>
                <a:latin typeface="Calibri" pitchFamily="34" charset="0"/>
                <a:ea typeface="Calibri" pitchFamily="34" charset="-122"/>
                <a:cs typeface="Calibri" pitchFamily="34" charset="-120"/>
              </a:rPr>
              <a:t>VPN Medio (Inversionista)</a:t>
            </a:r>
            <a:endParaRPr lang="en-US" sz="1100" dirty="0"/>
          </a:p>
        </p:txBody>
      </p:sp>
      <p:sp>
        <p:nvSpPr>
          <p:cNvPr id="8" name="Text 6"/>
          <p:cNvSpPr txBox="1"/>
          <p:nvPr/>
        </p:nvSpPr>
        <p:spPr>
          <a:xfrm>
            <a:off x="41148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23,999,077</a:t>
            </a:r>
            <a:endParaRPr lang="en-US" sz="2200" dirty="0"/>
          </a:p>
        </p:txBody>
      </p:sp>
      <p:sp>
        <p:nvSpPr>
          <p:cNvPr id="9" name="Text 7"/>
          <p:cNvSpPr txBox="1"/>
          <p:nvPr/>
        </p:nvSpPr>
        <p:spPr>
          <a:xfrm>
            <a:off x="411480" y="2578608"/>
            <a:ext cx="3566160" cy="365760"/>
          </a:xfrm>
          <a:prstGeom prst="rect">
            <a:avLst/>
          </a:prstGeom>
          <a:noFill/>
          <a:ln/>
        </p:spPr>
        <p:txBody>
          <a:bodyPr wrap="square" rtlCol="0" anchor="ctr"/>
          <a:lstStyle/>
          <a:p>
            <a:pPr marL="0" indent="0" algn="ctr">
              <a:buNone/>
            </a:pPr>
            <a:r>
              <a:rPr lang="en-US" sz="1150" i="1" dirty="0">
                <a:solidFill>
                  <a:srgbClr val="CBD5E1"/>
                </a:solidFill>
                <a:latin typeface="Calibri" pitchFamily="34" charset="0"/>
                <a:ea typeface="Calibri" pitchFamily="34" charset="-122"/>
                <a:cs typeface="Calibri" pitchFamily="34" charset="-120"/>
              </a:rPr>
              <a:t>Media del modelo probabilístico @RISK</a:t>
            </a:r>
            <a:endParaRPr lang="en-US" sz="1150" dirty="0"/>
          </a:p>
        </p:txBody>
      </p:sp>
      <p:sp>
        <p:nvSpPr>
          <p:cNvPr id="10" name="Shape 8"/>
          <p:cNvSpPr/>
          <p:nvPr/>
        </p:nvSpPr>
        <p:spPr>
          <a:xfrm>
            <a:off x="4297680" y="1463040"/>
            <a:ext cx="3749040" cy="1691640"/>
          </a:xfrm>
          <a:prstGeom prst="rect">
            <a:avLst/>
          </a:prstGeom>
          <a:solidFill>
            <a:srgbClr val="FDECEA"/>
          </a:solidFill>
          <a:ln w="12700">
            <a:solidFill>
              <a:srgbClr val="CBD5E1"/>
            </a:solidFill>
            <a:prstDash val="solid"/>
          </a:ln>
        </p:spPr>
        <p:txBody>
          <a:bodyPr/>
          <a:lstStyle/>
          <a:p>
            <a:endParaRPr lang="es-CO"/>
          </a:p>
        </p:txBody>
      </p:sp>
      <p:sp>
        <p:nvSpPr>
          <p:cNvPr id="11" name="Text 9"/>
          <p:cNvSpPr txBox="1"/>
          <p:nvPr/>
        </p:nvSpPr>
        <p:spPr>
          <a:xfrm>
            <a:off x="443484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Valor Esperado de Pérdidas</a:t>
            </a:r>
            <a:endParaRPr lang="en-US" sz="1100" dirty="0"/>
          </a:p>
        </p:txBody>
      </p:sp>
      <p:sp>
        <p:nvSpPr>
          <p:cNvPr id="12" name="Text 10"/>
          <p:cNvSpPr txBox="1"/>
          <p:nvPr/>
        </p:nvSpPr>
        <p:spPr>
          <a:xfrm>
            <a:off x="4389120" y="1883664"/>
            <a:ext cx="3566160" cy="68580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L 3,614,648</a:t>
            </a:r>
            <a:endParaRPr lang="en-US" sz="2200" dirty="0"/>
          </a:p>
        </p:txBody>
      </p:sp>
      <p:sp>
        <p:nvSpPr>
          <p:cNvPr id="13" name="Text 11"/>
          <p:cNvSpPr txBox="1"/>
          <p:nvPr/>
        </p:nvSpPr>
        <p:spPr>
          <a:xfrm>
            <a:off x="438912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15.06 % del VPN inversionista</a:t>
            </a:r>
            <a:endParaRPr lang="en-US" sz="1150" dirty="0"/>
          </a:p>
        </p:txBody>
      </p:sp>
      <p:sp>
        <p:nvSpPr>
          <p:cNvPr id="14" name="Shape 12"/>
          <p:cNvSpPr/>
          <p:nvPr/>
        </p:nvSpPr>
        <p:spPr>
          <a:xfrm>
            <a:off x="8275320" y="1463040"/>
            <a:ext cx="3749040" cy="1691640"/>
          </a:xfrm>
          <a:prstGeom prst="rect">
            <a:avLst/>
          </a:prstGeom>
          <a:solidFill>
            <a:srgbClr val="E6F4F6"/>
          </a:solidFill>
          <a:ln w="12700">
            <a:solidFill>
              <a:srgbClr val="CBD5E1"/>
            </a:solidFill>
            <a:prstDash val="solid"/>
          </a:ln>
        </p:spPr>
        <p:txBody>
          <a:bodyPr/>
          <a:lstStyle/>
          <a:p>
            <a:endParaRPr lang="es-CO"/>
          </a:p>
        </p:txBody>
      </p:sp>
      <p:sp>
        <p:nvSpPr>
          <p:cNvPr id="15" name="Text 13"/>
          <p:cNvSpPr txBox="1"/>
          <p:nvPr/>
        </p:nvSpPr>
        <p:spPr>
          <a:xfrm>
            <a:off x="841248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VPN de Evaluación (neto)</a:t>
            </a:r>
            <a:endParaRPr lang="en-US" sz="1100" dirty="0"/>
          </a:p>
        </p:txBody>
      </p:sp>
      <p:sp>
        <p:nvSpPr>
          <p:cNvPr id="16" name="Text 14"/>
          <p:cNvSpPr txBox="1"/>
          <p:nvPr/>
        </p:nvSpPr>
        <p:spPr>
          <a:xfrm>
            <a:off x="836676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20,384,429</a:t>
            </a:r>
            <a:endParaRPr lang="en-US" sz="2200" dirty="0"/>
          </a:p>
        </p:txBody>
      </p:sp>
      <p:sp>
        <p:nvSpPr>
          <p:cNvPr id="17" name="Text 15"/>
          <p:cNvSpPr txBox="1"/>
          <p:nvPr/>
        </p:nvSpPr>
        <p:spPr>
          <a:xfrm>
            <a:off x="836676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Margen amplio = PREFACTIBLE</a:t>
            </a:r>
            <a:endParaRPr lang="en-US" sz="1150" dirty="0"/>
          </a:p>
        </p:txBody>
      </p:sp>
      <p:sp>
        <p:nvSpPr>
          <p:cNvPr id="18" name="Text 16"/>
          <p:cNvSpPr txBox="1"/>
          <p:nvPr/>
        </p:nvSpPr>
        <p:spPr>
          <a:xfrm>
            <a:off x="320040" y="3291840"/>
            <a:ext cx="5303520" cy="320040"/>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Estadísticos de la Simulación Monte Carlo</a:t>
            </a:r>
            <a:endParaRPr lang="en-US" sz="1300" dirty="0"/>
          </a:p>
        </p:txBody>
      </p:sp>
      <p:sp>
        <p:nvSpPr>
          <p:cNvPr id="19" name="Shape 17"/>
          <p:cNvSpPr/>
          <p:nvPr/>
        </p:nvSpPr>
        <p:spPr>
          <a:xfrm>
            <a:off x="320040" y="3657600"/>
            <a:ext cx="5303520" cy="274320"/>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411480" y="368503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Eventos modelados</a:t>
            </a:r>
            <a:endParaRPr lang="en-US" sz="1150" dirty="0"/>
          </a:p>
        </p:txBody>
      </p:sp>
      <p:sp>
        <p:nvSpPr>
          <p:cNvPr id="21" name="Text 19"/>
          <p:cNvSpPr txBox="1"/>
          <p:nvPr/>
        </p:nvSpPr>
        <p:spPr>
          <a:xfrm>
            <a:off x="3703320" y="368503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11</a:t>
            </a:r>
            <a:endParaRPr lang="en-US" sz="1150" dirty="0"/>
          </a:p>
        </p:txBody>
      </p:sp>
      <p:sp>
        <p:nvSpPr>
          <p:cNvPr id="22" name="Shape 20"/>
          <p:cNvSpPr/>
          <p:nvPr/>
        </p:nvSpPr>
        <p:spPr>
          <a:xfrm>
            <a:off x="320040" y="3950208"/>
            <a:ext cx="5303520" cy="274320"/>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411480" y="397764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Distribución utilizada</a:t>
            </a:r>
            <a:endParaRPr lang="en-US" sz="1150" dirty="0"/>
          </a:p>
        </p:txBody>
      </p:sp>
      <p:sp>
        <p:nvSpPr>
          <p:cNvPr id="24" name="Text 22"/>
          <p:cNvSpPr txBox="1"/>
          <p:nvPr/>
        </p:nvSpPr>
        <p:spPr>
          <a:xfrm>
            <a:off x="3703320" y="397764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Frecuencia-Severidad</a:t>
            </a:r>
            <a:endParaRPr lang="en-US" sz="1150" dirty="0"/>
          </a:p>
        </p:txBody>
      </p:sp>
      <p:sp>
        <p:nvSpPr>
          <p:cNvPr id="25" name="Shape 23"/>
          <p:cNvSpPr/>
          <p:nvPr/>
        </p:nvSpPr>
        <p:spPr>
          <a:xfrm>
            <a:off x="320040" y="4242816"/>
            <a:ext cx="5303520" cy="27432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411480" y="427024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a:t>
            </a:r>
            <a:endParaRPr lang="en-US" sz="1150" dirty="0"/>
          </a:p>
        </p:txBody>
      </p:sp>
      <p:sp>
        <p:nvSpPr>
          <p:cNvPr id="27" name="Text 25"/>
          <p:cNvSpPr txBox="1"/>
          <p:nvPr/>
        </p:nvSpPr>
        <p:spPr>
          <a:xfrm>
            <a:off x="3703320" y="427024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10,000</a:t>
            </a:r>
            <a:endParaRPr lang="en-US" sz="1150" dirty="0"/>
          </a:p>
        </p:txBody>
      </p:sp>
      <p:sp>
        <p:nvSpPr>
          <p:cNvPr id="28" name="Shape 26"/>
          <p:cNvSpPr/>
          <p:nvPr/>
        </p:nvSpPr>
        <p:spPr>
          <a:xfrm>
            <a:off x="320040" y="4535424"/>
            <a:ext cx="5303520" cy="274320"/>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411480" y="456285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Risk (CV)</a:t>
            </a:r>
            <a:endParaRPr lang="en-US" sz="1150" dirty="0"/>
          </a:p>
        </p:txBody>
      </p:sp>
      <p:sp>
        <p:nvSpPr>
          <p:cNvPr id="30" name="Text 28"/>
          <p:cNvSpPr txBox="1"/>
          <p:nvPr/>
        </p:nvSpPr>
        <p:spPr>
          <a:xfrm>
            <a:off x="3703320" y="456285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41.5 %</a:t>
            </a:r>
            <a:endParaRPr lang="en-US" sz="1150" dirty="0"/>
          </a:p>
        </p:txBody>
      </p:sp>
      <p:sp>
        <p:nvSpPr>
          <p:cNvPr id="31" name="Shape 29"/>
          <p:cNvSpPr/>
          <p:nvPr/>
        </p:nvSpPr>
        <p:spPr>
          <a:xfrm>
            <a:off x="320040" y="4828032"/>
            <a:ext cx="5303520" cy="274320"/>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411480" y="4855464"/>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Inversionista (CV)</a:t>
            </a:r>
            <a:endParaRPr lang="en-US" sz="1150" dirty="0"/>
          </a:p>
        </p:txBody>
      </p:sp>
      <p:sp>
        <p:nvSpPr>
          <p:cNvPr id="33" name="Text 31"/>
          <p:cNvSpPr txBox="1"/>
          <p:nvPr/>
        </p:nvSpPr>
        <p:spPr>
          <a:xfrm>
            <a:off x="3703320" y="4855464"/>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2.1 %</a:t>
            </a:r>
            <a:endParaRPr lang="en-US" sz="1150" dirty="0"/>
          </a:p>
        </p:txBody>
      </p:sp>
      <p:sp>
        <p:nvSpPr>
          <p:cNvPr id="34" name="Shape 32"/>
          <p:cNvSpPr/>
          <p:nvPr/>
        </p:nvSpPr>
        <p:spPr>
          <a:xfrm>
            <a:off x="320040" y="5120640"/>
            <a:ext cx="5303520" cy="274320"/>
          </a:xfrm>
          <a:prstGeom prst="rect">
            <a:avLst/>
          </a:prstGeom>
          <a:solidFill>
            <a:srgbClr val="FFFFFF"/>
          </a:solidFill>
          <a:ln w="12700">
            <a:solidFill>
              <a:srgbClr val="CBD5E1"/>
            </a:solidFill>
            <a:prstDash val="solid"/>
          </a:ln>
        </p:spPr>
        <p:txBody>
          <a:bodyPr/>
          <a:lstStyle/>
          <a:p>
            <a:endParaRPr lang="es-CO"/>
          </a:p>
        </p:txBody>
      </p:sp>
      <p:sp>
        <p:nvSpPr>
          <p:cNvPr id="35" name="Text 33"/>
          <p:cNvSpPr txBox="1"/>
          <p:nvPr/>
        </p:nvSpPr>
        <p:spPr>
          <a:xfrm>
            <a:off x="411480" y="514807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95 % del VPN Risk (pérdidas)</a:t>
            </a:r>
            <a:endParaRPr lang="en-US" sz="1150" dirty="0"/>
          </a:p>
        </p:txBody>
      </p:sp>
      <p:sp>
        <p:nvSpPr>
          <p:cNvPr id="36" name="Text 34"/>
          <p:cNvSpPr txBox="1"/>
          <p:nvPr/>
        </p:nvSpPr>
        <p:spPr>
          <a:xfrm>
            <a:off x="3703320" y="514807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6,373,570</a:t>
            </a:r>
            <a:endParaRPr lang="en-US" sz="1150" dirty="0"/>
          </a:p>
        </p:txBody>
      </p:sp>
      <p:sp>
        <p:nvSpPr>
          <p:cNvPr id="37" name="Shape 35"/>
          <p:cNvSpPr/>
          <p:nvPr/>
        </p:nvSpPr>
        <p:spPr>
          <a:xfrm>
            <a:off x="320040" y="5413248"/>
            <a:ext cx="5303520" cy="27432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411480" y="544068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99 % del VPN Risk (pérdidas)</a:t>
            </a:r>
            <a:endParaRPr lang="en-US" sz="1150" dirty="0"/>
          </a:p>
        </p:txBody>
      </p:sp>
      <p:sp>
        <p:nvSpPr>
          <p:cNvPr id="39" name="Text 37"/>
          <p:cNvSpPr txBox="1"/>
          <p:nvPr/>
        </p:nvSpPr>
        <p:spPr>
          <a:xfrm>
            <a:off x="3703320" y="544068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7,924,618</a:t>
            </a:r>
            <a:endParaRPr lang="en-US" sz="1150" dirty="0"/>
          </a:p>
        </p:txBody>
      </p:sp>
      <p:sp>
        <p:nvSpPr>
          <p:cNvPr id="40" name="Shape 38"/>
          <p:cNvSpPr/>
          <p:nvPr/>
        </p:nvSpPr>
        <p:spPr>
          <a:xfrm>
            <a:off x="320040" y="5705856"/>
            <a:ext cx="5303520" cy="274320"/>
          </a:xfrm>
          <a:prstGeom prst="rect">
            <a:avLst/>
          </a:prstGeom>
          <a:solidFill>
            <a:srgbClr val="FFFFFF"/>
          </a:solidFill>
          <a:ln w="12700">
            <a:solidFill>
              <a:srgbClr val="CBD5E1"/>
            </a:solidFill>
            <a:prstDash val="solid"/>
          </a:ln>
        </p:spPr>
        <p:txBody>
          <a:bodyPr/>
          <a:lstStyle/>
          <a:p>
            <a:endParaRPr lang="es-CO"/>
          </a:p>
        </p:txBody>
      </p:sp>
      <p:sp>
        <p:nvSpPr>
          <p:cNvPr id="41" name="Text 39"/>
          <p:cNvSpPr txBox="1"/>
          <p:nvPr/>
        </p:nvSpPr>
        <p:spPr>
          <a:xfrm>
            <a:off x="411480" y="573328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 con VPN Inversionista &gt; 0</a:t>
            </a:r>
            <a:endParaRPr lang="en-US" sz="1150" dirty="0"/>
          </a:p>
        </p:txBody>
      </p:sp>
      <p:sp>
        <p:nvSpPr>
          <p:cNvPr id="42" name="Text 40"/>
          <p:cNvSpPr txBox="1"/>
          <p:nvPr/>
        </p:nvSpPr>
        <p:spPr>
          <a:xfrm>
            <a:off x="3703320" y="573328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100 % (mín. L 22.1 M)</a:t>
            </a:r>
            <a:endParaRPr lang="en-US" sz="1150" dirty="0"/>
          </a:p>
        </p:txBody>
      </p:sp>
      <p:sp>
        <p:nvSpPr>
          <p:cNvPr id="43" name="Shape 41"/>
          <p:cNvSpPr/>
          <p:nvPr/>
        </p:nvSpPr>
        <p:spPr>
          <a:xfrm>
            <a:off x="320040" y="5998464"/>
            <a:ext cx="5303520" cy="274320"/>
          </a:xfrm>
          <a:prstGeom prst="rect">
            <a:avLst/>
          </a:prstGeom>
          <a:solidFill>
            <a:srgbClr val="F1F5F9"/>
          </a:solidFill>
          <a:ln w="12700">
            <a:solidFill>
              <a:srgbClr val="CBD5E1"/>
            </a:solidFill>
            <a:prstDash val="solid"/>
          </a:ln>
        </p:spPr>
        <p:txBody>
          <a:bodyPr/>
          <a:lstStyle/>
          <a:p>
            <a:endParaRPr lang="es-CO"/>
          </a:p>
        </p:txBody>
      </p:sp>
      <p:sp>
        <p:nvSpPr>
          <p:cNvPr id="44" name="Text 42"/>
          <p:cNvSpPr txBox="1"/>
          <p:nvPr/>
        </p:nvSpPr>
        <p:spPr>
          <a:xfrm>
            <a:off x="411480" y="602589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Relación Riesgo-VPN (RRV)</a:t>
            </a:r>
            <a:endParaRPr lang="en-US" sz="1150" dirty="0"/>
          </a:p>
        </p:txBody>
      </p:sp>
      <p:sp>
        <p:nvSpPr>
          <p:cNvPr id="45" name="Text 43"/>
          <p:cNvSpPr txBox="1"/>
          <p:nvPr/>
        </p:nvSpPr>
        <p:spPr>
          <a:xfrm>
            <a:off x="3703320" y="602589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15.06 %</a:t>
            </a:r>
            <a:endParaRPr lang="en-US" sz="1150" dirty="0"/>
          </a:p>
        </p:txBody>
      </p:sp>
      <p:sp>
        <p:nvSpPr>
          <p:cNvPr id="46" name="Text 44"/>
          <p:cNvSpPr txBox="1"/>
          <p:nvPr/>
        </p:nvSpPr>
        <p:spPr>
          <a:xfrm>
            <a:off x="6035040" y="3291840"/>
            <a:ext cx="5852160" cy="320040"/>
          </a:xfrm>
          <a:prstGeom prst="rect">
            <a:avLst/>
          </a:prstGeom>
          <a:noFill/>
          <a:ln/>
        </p:spPr>
        <p:txBody>
          <a:bodyPr wrap="square" rtlCol="0" anchor="ctr"/>
          <a:lstStyle/>
          <a:p>
            <a:pPr marL="0" indent="0">
              <a:buNone/>
            </a:pPr>
            <a:r>
              <a:rPr lang="en-US" sz="1300" b="1" dirty="0" err="1">
                <a:solidFill>
                  <a:srgbClr val="1B3A5C"/>
                </a:solidFill>
                <a:latin typeface="Calibri" pitchFamily="34" charset="0"/>
                <a:ea typeface="Calibri" pitchFamily="34" charset="-122"/>
                <a:cs typeface="Calibri" pitchFamily="34" charset="-120"/>
              </a:rPr>
              <a:t>Riesgos</a:t>
            </a:r>
            <a:r>
              <a:rPr lang="en-US" sz="1300" b="1" dirty="0">
                <a:solidFill>
                  <a:srgbClr val="1B3A5C"/>
                </a:solidFill>
                <a:latin typeface="Calibri" pitchFamily="34" charset="0"/>
                <a:ea typeface="Calibri" pitchFamily="34" charset="-122"/>
                <a:cs typeface="Calibri" pitchFamily="34" charset="-120"/>
              </a:rPr>
              <a:t> por Valor Esperado de Pérdida</a:t>
            </a:r>
            <a:endParaRPr lang="en-US" sz="1300" dirty="0"/>
          </a:p>
        </p:txBody>
      </p:sp>
      <p:sp>
        <p:nvSpPr>
          <p:cNvPr id="47" name="Shape 45"/>
          <p:cNvSpPr/>
          <p:nvPr/>
        </p:nvSpPr>
        <p:spPr>
          <a:xfrm>
            <a:off x="6035040" y="3730752"/>
            <a:ext cx="411480" cy="438912"/>
          </a:xfrm>
          <a:prstGeom prst="rect">
            <a:avLst/>
          </a:prstGeom>
          <a:solidFill>
            <a:srgbClr val="C0392B"/>
          </a:solidFill>
          <a:ln w="12700">
            <a:solidFill>
              <a:srgbClr val="C0392B"/>
            </a:solidFill>
            <a:prstDash val="solid"/>
          </a:ln>
        </p:spPr>
        <p:txBody>
          <a:bodyPr/>
          <a:lstStyle/>
          <a:p>
            <a:endParaRPr lang="es-CO"/>
          </a:p>
        </p:txBody>
      </p:sp>
      <p:sp>
        <p:nvSpPr>
          <p:cNvPr id="48" name="Text 46"/>
          <p:cNvSpPr txBox="1"/>
          <p:nvPr/>
        </p:nvSpPr>
        <p:spPr>
          <a:xfrm>
            <a:off x="6035040" y="3730752"/>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9" name="Shape 47"/>
          <p:cNvSpPr/>
          <p:nvPr/>
        </p:nvSpPr>
        <p:spPr>
          <a:xfrm>
            <a:off x="6510528" y="3730752"/>
            <a:ext cx="5376672" cy="438912"/>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6583680" y="3776472"/>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51" name="Text 49"/>
          <p:cNvSpPr txBox="1"/>
          <p:nvPr/>
        </p:nvSpPr>
        <p:spPr>
          <a:xfrm>
            <a:off x="9875520" y="3794760"/>
            <a:ext cx="1920240" cy="237744"/>
          </a:xfrm>
          <a:prstGeom prst="rect">
            <a:avLst/>
          </a:prstGeom>
          <a:noFill/>
          <a:ln/>
        </p:spPr>
        <p:txBody>
          <a:bodyPr wrap="square" rtlCol="0" anchor="ctr"/>
          <a:lstStyle/>
          <a:p>
            <a:pPr marL="0" indent="0" algn="r">
              <a:buNone/>
            </a:pPr>
            <a:r>
              <a:rPr lang="en-US" sz="1150" b="1" dirty="0">
                <a:solidFill>
                  <a:srgbClr val="C0392B"/>
                </a:solidFill>
                <a:latin typeface="Calibri" pitchFamily="34" charset="0"/>
                <a:ea typeface="Calibri" pitchFamily="34" charset="-122"/>
                <a:cs typeface="Calibri" pitchFamily="34" charset="-120"/>
              </a:rPr>
              <a:t>L 1,137,757  |  31.48 %</a:t>
            </a:r>
            <a:endParaRPr lang="en-US" sz="1150" dirty="0"/>
          </a:p>
        </p:txBody>
      </p:sp>
      <p:sp>
        <p:nvSpPr>
          <p:cNvPr id="52" name="Shape 50"/>
          <p:cNvSpPr/>
          <p:nvPr/>
        </p:nvSpPr>
        <p:spPr>
          <a:xfrm>
            <a:off x="6035040" y="4242816"/>
            <a:ext cx="411480" cy="438912"/>
          </a:xfrm>
          <a:prstGeom prst="rect">
            <a:avLst/>
          </a:prstGeom>
          <a:solidFill>
            <a:srgbClr val="E67E22"/>
          </a:solidFill>
          <a:ln w="12700">
            <a:solidFill>
              <a:srgbClr val="E67E22"/>
            </a:solidFill>
            <a:prstDash val="solid"/>
          </a:ln>
        </p:spPr>
        <p:txBody>
          <a:bodyPr/>
          <a:lstStyle/>
          <a:p>
            <a:endParaRPr lang="es-CO"/>
          </a:p>
        </p:txBody>
      </p:sp>
      <p:sp>
        <p:nvSpPr>
          <p:cNvPr id="53" name="Text 51"/>
          <p:cNvSpPr txBox="1"/>
          <p:nvPr/>
        </p:nvSpPr>
        <p:spPr>
          <a:xfrm>
            <a:off x="6035040" y="4242816"/>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4" name="Shape 52"/>
          <p:cNvSpPr/>
          <p:nvPr/>
        </p:nvSpPr>
        <p:spPr>
          <a:xfrm>
            <a:off x="6510528" y="4242816"/>
            <a:ext cx="5376672" cy="438912"/>
          </a:xfrm>
          <a:prstGeom prst="rect">
            <a:avLst/>
          </a:prstGeom>
          <a:solidFill>
            <a:srgbClr val="FFFFFF"/>
          </a:solidFill>
          <a:ln w="12700">
            <a:solidFill>
              <a:srgbClr val="CBD5E1"/>
            </a:solidFill>
            <a:prstDash val="solid"/>
          </a:ln>
        </p:spPr>
        <p:txBody>
          <a:bodyPr/>
          <a:lstStyle/>
          <a:p>
            <a:endParaRPr lang="es-CO"/>
          </a:p>
        </p:txBody>
      </p:sp>
      <p:sp>
        <p:nvSpPr>
          <p:cNvPr id="55" name="Text 53"/>
          <p:cNvSpPr txBox="1"/>
          <p:nvPr/>
        </p:nvSpPr>
        <p:spPr>
          <a:xfrm>
            <a:off x="6583680" y="4288536"/>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56" name="Text 54"/>
          <p:cNvSpPr txBox="1"/>
          <p:nvPr/>
        </p:nvSpPr>
        <p:spPr>
          <a:xfrm>
            <a:off x="9875520" y="4306824"/>
            <a:ext cx="1920240" cy="237744"/>
          </a:xfrm>
          <a:prstGeom prst="rect">
            <a:avLst/>
          </a:prstGeom>
          <a:noFill/>
          <a:ln/>
        </p:spPr>
        <p:txBody>
          <a:bodyPr wrap="square" rtlCol="0" anchor="ctr"/>
          <a:lstStyle/>
          <a:p>
            <a:pPr marL="0" indent="0" algn="r">
              <a:buNone/>
            </a:pPr>
            <a:r>
              <a:rPr lang="en-US" sz="1150" b="1" dirty="0">
                <a:solidFill>
                  <a:srgbClr val="E67E22"/>
                </a:solidFill>
                <a:latin typeface="Calibri" pitchFamily="34" charset="0"/>
                <a:ea typeface="Calibri" pitchFamily="34" charset="-122"/>
                <a:cs typeface="Calibri" pitchFamily="34" charset="-120"/>
              </a:rPr>
              <a:t>L 801,253  |  22.17 %</a:t>
            </a:r>
            <a:endParaRPr lang="en-US" sz="1150" dirty="0"/>
          </a:p>
        </p:txBody>
      </p:sp>
      <p:sp>
        <p:nvSpPr>
          <p:cNvPr id="57" name="Shape 55"/>
          <p:cNvSpPr/>
          <p:nvPr/>
        </p:nvSpPr>
        <p:spPr>
          <a:xfrm>
            <a:off x="6035040" y="4754880"/>
            <a:ext cx="411480" cy="438912"/>
          </a:xfrm>
          <a:prstGeom prst="rect">
            <a:avLst/>
          </a:prstGeom>
          <a:solidFill>
            <a:srgbClr val="B5862A"/>
          </a:solidFill>
          <a:ln w="12700">
            <a:solidFill>
              <a:srgbClr val="B5862A"/>
            </a:solidFill>
            <a:prstDash val="solid"/>
          </a:ln>
        </p:spPr>
        <p:txBody>
          <a:bodyPr/>
          <a:lstStyle/>
          <a:p>
            <a:endParaRPr lang="es-CO"/>
          </a:p>
        </p:txBody>
      </p:sp>
      <p:sp>
        <p:nvSpPr>
          <p:cNvPr id="58" name="Text 56"/>
          <p:cNvSpPr txBox="1"/>
          <p:nvPr/>
        </p:nvSpPr>
        <p:spPr>
          <a:xfrm>
            <a:off x="6035040" y="4754880"/>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9" name="Shape 57"/>
          <p:cNvSpPr/>
          <p:nvPr/>
        </p:nvSpPr>
        <p:spPr>
          <a:xfrm>
            <a:off x="6510528" y="4754880"/>
            <a:ext cx="5376672" cy="438912"/>
          </a:xfrm>
          <a:prstGeom prst="rect">
            <a:avLst/>
          </a:prstGeom>
          <a:solidFill>
            <a:srgbClr val="F1F5F9"/>
          </a:solidFill>
          <a:ln w="12700">
            <a:solidFill>
              <a:srgbClr val="CBD5E1"/>
            </a:solidFill>
            <a:prstDash val="solid"/>
          </a:ln>
        </p:spPr>
        <p:txBody>
          <a:bodyPr/>
          <a:lstStyle/>
          <a:p>
            <a:endParaRPr lang="es-CO"/>
          </a:p>
        </p:txBody>
      </p:sp>
      <p:sp>
        <p:nvSpPr>
          <p:cNvPr id="60" name="Text 58"/>
          <p:cNvSpPr txBox="1"/>
          <p:nvPr/>
        </p:nvSpPr>
        <p:spPr>
          <a:xfrm>
            <a:off x="6583680" y="4800600"/>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61" name="Text 59"/>
          <p:cNvSpPr txBox="1"/>
          <p:nvPr/>
        </p:nvSpPr>
        <p:spPr>
          <a:xfrm>
            <a:off x="9875520" y="4818888"/>
            <a:ext cx="1920240" cy="237744"/>
          </a:xfrm>
          <a:prstGeom prst="rect">
            <a:avLst/>
          </a:prstGeom>
          <a:noFill/>
          <a:ln/>
        </p:spPr>
        <p:txBody>
          <a:bodyPr wrap="square" rtlCol="0" anchor="ctr"/>
          <a:lstStyle/>
          <a:p>
            <a:pPr marL="0" indent="0" algn="r">
              <a:buNone/>
            </a:pPr>
            <a:r>
              <a:rPr lang="en-US" sz="1150" b="1" dirty="0">
                <a:solidFill>
                  <a:srgbClr val="B5862A"/>
                </a:solidFill>
                <a:latin typeface="Calibri" pitchFamily="34" charset="0"/>
                <a:ea typeface="Calibri" pitchFamily="34" charset="-122"/>
                <a:cs typeface="Calibri" pitchFamily="34" charset="-120"/>
              </a:rPr>
              <a:t>L 684,048  |  18.92 %</a:t>
            </a:r>
            <a:endParaRPr lang="en-US" sz="1150" dirty="0"/>
          </a:p>
        </p:txBody>
      </p:sp>
      <p:sp>
        <p:nvSpPr>
          <p:cNvPr id="62" name="Shape 60"/>
          <p:cNvSpPr/>
          <p:nvPr/>
        </p:nvSpPr>
        <p:spPr>
          <a:xfrm>
            <a:off x="6035040" y="5266944"/>
            <a:ext cx="411480" cy="438912"/>
          </a:xfrm>
          <a:prstGeom prst="rect">
            <a:avLst/>
          </a:prstGeom>
          <a:solidFill>
            <a:srgbClr val="1B3A5C"/>
          </a:solidFill>
          <a:ln w="12700">
            <a:solidFill>
              <a:srgbClr val="1B3A5C"/>
            </a:solidFill>
            <a:prstDash val="solid"/>
          </a:ln>
        </p:spPr>
        <p:txBody>
          <a:bodyPr/>
          <a:lstStyle/>
          <a:p>
            <a:endParaRPr lang="es-CO"/>
          </a:p>
        </p:txBody>
      </p:sp>
      <p:sp>
        <p:nvSpPr>
          <p:cNvPr id="63" name="Text 61"/>
          <p:cNvSpPr txBox="1"/>
          <p:nvPr/>
        </p:nvSpPr>
        <p:spPr>
          <a:xfrm>
            <a:off x="6035040" y="5266944"/>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64" name="Shape 62"/>
          <p:cNvSpPr/>
          <p:nvPr/>
        </p:nvSpPr>
        <p:spPr>
          <a:xfrm>
            <a:off x="6510528" y="5266944"/>
            <a:ext cx="5376672" cy="438912"/>
          </a:xfrm>
          <a:prstGeom prst="rect">
            <a:avLst/>
          </a:prstGeom>
          <a:solidFill>
            <a:srgbClr val="FFFFFF"/>
          </a:solidFill>
          <a:ln w="12700">
            <a:solidFill>
              <a:srgbClr val="CBD5E1"/>
            </a:solidFill>
            <a:prstDash val="solid"/>
          </a:ln>
        </p:spPr>
        <p:txBody>
          <a:bodyPr/>
          <a:lstStyle/>
          <a:p>
            <a:endParaRPr lang="es-CO"/>
          </a:p>
        </p:txBody>
      </p:sp>
      <p:sp>
        <p:nvSpPr>
          <p:cNvPr id="65" name="Text 63"/>
          <p:cNvSpPr txBox="1"/>
          <p:nvPr/>
        </p:nvSpPr>
        <p:spPr>
          <a:xfrm>
            <a:off x="6583680" y="5312664"/>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66" name="Text 64"/>
          <p:cNvSpPr txBox="1"/>
          <p:nvPr/>
        </p:nvSpPr>
        <p:spPr>
          <a:xfrm>
            <a:off x="9875520" y="5330952"/>
            <a:ext cx="1920240" cy="237744"/>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187,460  |  5.19 %</a:t>
            </a:r>
            <a:endParaRPr lang="en-US" sz="1150" dirty="0"/>
          </a:p>
        </p:txBody>
      </p:sp>
      <p:sp>
        <p:nvSpPr>
          <p:cNvPr id="67" name="Shape 65"/>
          <p:cNvSpPr/>
          <p:nvPr/>
        </p:nvSpPr>
        <p:spPr>
          <a:xfrm>
            <a:off x="6035040" y="5779008"/>
            <a:ext cx="411480" cy="438912"/>
          </a:xfrm>
          <a:prstGeom prst="rect">
            <a:avLst/>
          </a:prstGeom>
          <a:solidFill>
            <a:srgbClr val="64748B"/>
          </a:solidFill>
          <a:ln w="12700">
            <a:solidFill>
              <a:srgbClr val="64748B"/>
            </a:solidFill>
            <a:prstDash val="solid"/>
          </a:ln>
        </p:spPr>
        <p:txBody>
          <a:bodyPr/>
          <a:lstStyle/>
          <a:p>
            <a:endParaRPr lang="es-CO"/>
          </a:p>
        </p:txBody>
      </p:sp>
      <p:sp>
        <p:nvSpPr>
          <p:cNvPr id="68" name="Text 66"/>
          <p:cNvSpPr txBox="1"/>
          <p:nvPr/>
        </p:nvSpPr>
        <p:spPr>
          <a:xfrm>
            <a:off x="6035040" y="5779008"/>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69" name="Shape 67"/>
          <p:cNvSpPr/>
          <p:nvPr/>
        </p:nvSpPr>
        <p:spPr>
          <a:xfrm>
            <a:off x="6510528" y="5779008"/>
            <a:ext cx="5376672" cy="438912"/>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583680" y="5824728"/>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71" name="Text 69"/>
          <p:cNvSpPr txBox="1"/>
          <p:nvPr/>
        </p:nvSpPr>
        <p:spPr>
          <a:xfrm>
            <a:off x="9875520" y="5843016"/>
            <a:ext cx="1920240" cy="237744"/>
          </a:xfrm>
          <a:prstGeom prst="rect">
            <a:avLst/>
          </a:prstGeom>
          <a:noFill/>
          <a:ln/>
        </p:spPr>
        <p:txBody>
          <a:bodyPr wrap="square" rtlCol="0" anchor="ctr"/>
          <a:lstStyle/>
          <a:p>
            <a:pPr marL="0" indent="0" algn="r">
              <a:buNone/>
            </a:pPr>
            <a:r>
              <a:rPr lang="en-US" sz="1150" b="1" dirty="0">
                <a:solidFill>
                  <a:srgbClr val="64748B"/>
                </a:solidFill>
                <a:latin typeface="Calibri" pitchFamily="34" charset="0"/>
                <a:ea typeface="Calibri" pitchFamily="34" charset="-122"/>
                <a:cs typeface="Calibri" pitchFamily="34" charset="-120"/>
              </a:rPr>
              <a:t>L 171,890  |  4.76 %</a:t>
            </a:r>
            <a:endParaRPr lang="en-US" sz="1150" dirty="0"/>
          </a:p>
        </p:txBody>
      </p:sp>
      <p:sp>
        <p:nvSpPr>
          <p:cNvPr id="72" name="Text 7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CONCLUSIONES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Conclusiones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6" name="Rectangle 35"/>
          <p:cNvSpPr/>
          <p:nvPr/>
        </p:nvSpPr>
        <p:spPr>
          <a:xfrm>
            <a:off x="320040"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2976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9768" y="125272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39" name="TextBox 38"/>
          <p:cNvSpPr txBox="1"/>
          <p:nvPr/>
        </p:nvSpPr>
        <p:spPr>
          <a:xfrm>
            <a:off x="941832" y="1252728"/>
            <a:ext cx="4937760" cy="411480"/>
          </a:xfrm>
          <a:prstGeom prst="rect">
            <a:avLst/>
          </a:prstGeom>
          <a:noFill/>
        </p:spPr>
        <p:txBody>
          <a:bodyPr wrap="square" anchor="ctr">
            <a:spAutoFit/>
          </a:bodyPr>
          <a:lstStyle/>
          <a:p>
            <a:pPr algn="l"/>
            <a:r>
              <a:rPr sz="1250" b="1" i="0">
                <a:solidFill>
                  <a:srgbClr val="1A7A8A"/>
                </a:solidFill>
                <a:latin typeface="Calibri"/>
              </a:rPr>
              <a:t>Prefactibilidad confirmada</a:t>
            </a:r>
          </a:p>
        </p:txBody>
      </p:sp>
      <p:sp>
        <p:nvSpPr>
          <p:cNvPr id="40" name="TextBox 39"/>
          <p:cNvSpPr txBox="1"/>
          <p:nvPr/>
        </p:nvSpPr>
        <p:spPr>
          <a:xfrm>
            <a:off x="429768" y="1691640"/>
            <a:ext cx="5449824" cy="640080"/>
          </a:xfrm>
          <a:prstGeom prst="rect">
            <a:avLst/>
          </a:prstGeom>
          <a:noFill/>
        </p:spPr>
        <p:txBody>
          <a:bodyPr wrap="square" anchor="t">
            <a:spAutoFit/>
          </a:bodyPr>
          <a:lstStyle/>
          <a:p>
            <a:pPr algn="l"/>
            <a:r>
              <a:rPr sz="1300" b="0" i="0">
                <a:solidFill>
                  <a:srgbClr val="334155"/>
                </a:solidFill>
                <a:latin typeface="Calibri"/>
              </a:rPr>
              <a:t>Prefactible en las siete dimensiones evaluadas.</a:t>
            </a:r>
          </a:p>
        </p:txBody>
      </p:sp>
      <p:sp>
        <p:nvSpPr>
          <p:cNvPr id="41" name="Rectangle 40"/>
          <p:cNvSpPr/>
          <p:nvPr/>
        </p:nvSpPr>
        <p:spPr>
          <a:xfrm>
            <a:off x="6080759"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19048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90488" y="125272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44" name="TextBox 43"/>
          <p:cNvSpPr txBox="1"/>
          <p:nvPr/>
        </p:nvSpPr>
        <p:spPr>
          <a:xfrm>
            <a:off x="6702551" y="1252728"/>
            <a:ext cx="4937760" cy="411480"/>
          </a:xfrm>
          <a:prstGeom prst="rect">
            <a:avLst/>
          </a:prstGeom>
          <a:noFill/>
        </p:spPr>
        <p:txBody>
          <a:bodyPr wrap="square" anchor="ctr">
            <a:spAutoFit/>
          </a:bodyPr>
          <a:lstStyle/>
          <a:p>
            <a:pPr algn="l"/>
            <a:r>
              <a:rPr sz="1250" b="1" i="0">
                <a:solidFill>
                  <a:srgbClr val="1A7A8A"/>
                </a:solidFill>
                <a:latin typeface="Calibri"/>
              </a:rPr>
              <a:t>Oportunidad de nicho clara</a:t>
            </a:r>
          </a:p>
        </p:txBody>
      </p:sp>
      <p:sp>
        <p:nvSpPr>
          <p:cNvPr id="45" name="TextBox 44"/>
          <p:cNvSpPr txBox="1"/>
          <p:nvPr/>
        </p:nvSpPr>
        <p:spPr>
          <a:xfrm>
            <a:off x="6190488" y="1691640"/>
            <a:ext cx="5449824" cy="640080"/>
          </a:xfrm>
          <a:prstGeom prst="rect">
            <a:avLst/>
          </a:prstGeom>
          <a:noFill/>
        </p:spPr>
        <p:txBody>
          <a:bodyPr wrap="square" anchor="t">
            <a:spAutoFit/>
          </a:bodyPr>
          <a:lstStyle/>
          <a:p>
            <a:pPr algn="l"/>
            <a:r>
              <a:rPr sz="1300" b="0" i="0">
                <a:solidFill>
                  <a:srgbClr val="334155"/>
                </a:solidFill>
                <a:latin typeface="Calibri"/>
              </a:rPr>
              <a:t>Rivalidad alta en UHT, pero nadie ofrece leche fresca fluida.</a:t>
            </a:r>
          </a:p>
        </p:txBody>
      </p:sp>
      <p:sp>
        <p:nvSpPr>
          <p:cNvPr id="46" name="Rectangle 45"/>
          <p:cNvSpPr/>
          <p:nvPr/>
        </p:nvSpPr>
        <p:spPr>
          <a:xfrm>
            <a:off x="320040"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2976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29768" y="2587752"/>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49" name="TextBox 48"/>
          <p:cNvSpPr txBox="1"/>
          <p:nvPr/>
        </p:nvSpPr>
        <p:spPr>
          <a:xfrm>
            <a:off x="941832" y="2587752"/>
            <a:ext cx="4937760" cy="411480"/>
          </a:xfrm>
          <a:prstGeom prst="rect">
            <a:avLst/>
          </a:prstGeom>
          <a:noFill/>
        </p:spPr>
        <p:txBody>
          <a:bodyPr wrap="square" anchor="ctr">
            <a:spAutoFit/>
          </a:bodyPr>
          <a:lstStyle/>
          <a:p>
            <a:pPr algn="l"/>
            <a:r>
              <a:rPr sz="1250" b="1" i="0">
                <a:solidFill>
                  <a:srgbClr val="1B3A5C"/>
                </a:solidFill>
                <a:latin typeface="Calibri"/>
              </a:rPr>
              <a:t>Mercado validado</a:t>
            </a:r>
          </a:p>
        </p:txBody>
      </p:sp>
      <p:sp>
        <p:nvSpPr>
          <p:cNvPr id="50" name="TextBox 49"/>
          <p:cNvSpPr txBox="1"/>
          <p:nvPr/>
        </p:nvSpPr>
        <p:spPr>
          <a:xfrm>
            <a:off x="429768" y="3026664"/>
            <a:ext cx="5449824" cy="640080"/>
          </a:xfrm>
          <a:prstGeom prst="rect">
            <a:avLst/>
          </a:prstGeom>
          <a:noFill/>
        </p:spPr>
        <p:txBody>
          <a:bodyPr wrap="square" anchor="t">
            <a:spAutoFit/>
          </a:bodyPr>
          <a:lstStyle/>
          <a:p>
            <a:pPr algn="l"/>
            <a:r>
              <a:rPr sz="1300" b="0" i="0">
                <a:solidFill>
                  <a:srgbClr val="334155"/>
                </a:solidFill>
                <a:latin typeface="Calibri"/>
              </a:rPr>
              <a:t>65 % compraría; 48 % pagaría L 26–30, compatible con L 28.</a:t>
            </a:r>
          </a:p>
        </p:txBody>
      </p:sp>
      <p:sp>
        <p:nvSpPr>
          <p:cNvPr id="51" name="Rectangle 50"/>
          <p:cNvSpPr/>
          <p:nvPr/>
        </p:nvSpPr>
        <p:spPr>
          <a:xfrm>
            <a:off x="6080759"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619048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0488" y="2587752"/>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54" name="TextBox 53"/>
          <p:cNvSpPr txBox="1"/>
          <p:nvPr/>
        </p:nvSpPr>
        <p:spPr>
          <a:xfrm>
            <a:off x="6702551" y="2587752"/>
            <a:ext cx="4937760" cy="411480"/>
          </a:xfrm>
          <a:prstGeom prst="rect">
            <a:avLst/>
          </a:prstGeom>
          <a:noFill/>
        </p:spPr>
        <p:txBody>
          <a:bodyPr wrap="square" anchor="ctr">
            <a:spAutoFit/>
          </a:bodyPr>
          <a:lstStyle/>
          <a:p>
            <a:pPr algn="l"/>
            <a:r>
              <a:rPr sz="1250" b="1" i="0">
                <a:solidFill>
                  <a:srgbClr val="1B3A5C"/>
                </a:solidFill>
                <a:latin typeface="Calibri"/>
              </a:rPr>
              <a:t>Viabilidad técnica</a:t>
            </a:r>
          </a:p>
        </p:txBody>
      </p:sp>
      <p:sp>
        <p:nvSpPr>
          <p:cNvPr id="55" name="TextBox 54"/>
          <p:cNvSpPr txBox="1"/>
          <p:nvPr/>
        </p:nvSpPr>
        <p:spPr>
          <a:xfrm>
            <a:off x="6190488" y="3026664"/>
            <a:ext cx="5449824" cy="640080"/>
          </a:xfrm>
          <a:prstGeom prst="rect">
            <a:avLst/>
          </a:prstGeom>
          <a:noFill/>
        </p:spPr>
        <p:txBody>
          <a:bodyPr wrap="square" anchor="t">
            <a:spAutoFit/>
          </a:bodyPr>
          <a:lstStyle/>
          <a:p>
            <a:pPr algn="l"/>
            <a:r>
              <a:rPr sz="1300" b="0" i="0">
                <a:solidFill>
                  <a:srgbClr val="334155"/>
                </a:solidFill>
                <a:latin typeface="Calibri"/>
              </a:rPr>
              <a:t>Comayagua (2.50 vs. 1.60); de 1,000 a 5,000 L/día.</a:t>
            </a:r>
          </a:p>
        </p:txBody>
      </p:sp>
      <p:sp>
        <p:nvSpPr>
          <p:cNvPr id="56" name="Rectangle 55"/>
          <p:cNvSpPr/>
          <p:nvPr/>
        </p:nvSpPr>
        <p:spPr>
          <a:xfrm>
            <a:off x="320040"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42976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29768" y="3922776"/>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59" name="TextBox 58"/>
          <p:cNvSpPr txBox="1"/>
          <p:nvPr/>
        </p:nvSpPr>
        <p:spPr>
          <a:xfrm>
            <a:off x="941832" y="3922776"/>
            <a:ext cx="4937760" cy="411480"/>
          </a:xfrm>
          <a:prstGeom prst="rect">
            <a:avLst/>
          </a:prstGeom>
          <a:noFill/>
        </p:spPr>
        <p:txBody>
          <a:bodyPr wrap="square" anchor="ctr">
            <a:spAutoFit/>
          </a:bodyPr>
          <a:lstStyle/>
          <a:p>
            <a:pPr algn="l"/>
            <a:r>
              <a:rPr sz="1250" b="1" i="0">
                <a:solidFill>
                  <a:srgbClr val="1A7A8A"/>
                </a:solidFill>
                <a:latin typeface="Calibri"/>
              </a:rPr>
              <a:t>Rentabilidad financiera</a:t>
            </a:r>
          </a:p>
        </p:txBody>
      </p:sp>
      <p:sp>
        <p:nvSpPr>
          <p:cNvPr id="60" name="TextBox 59"/>
          <p:cNvSpPr txBox="1"/>
          <p:nvPr/>
        </p:nvSpPr>
        <p:spPr>
          <a:xfrm>
            <a:off x="429768" y="4361688"/>
            <a:ext cx="5449824" cy="640080"/>
          </a:xfrm>
          <a:prstGeom prst="rect">
            <a:avLst/>
          </a:prstGeom>
          <a:noFill/>
        </p:spPr>
        <p:txBody>
          <a:bodyPr wrap="square" anchor="t">
            <a:spAutoFit/>
          </a:bodyPr>
          <a:lstStyle/>
          <a:p>
            <a:pPr algn="l"/>
            <a:r>
              <a:rPr sz="1300" b="0" i="0">
                <a:solidFill>
                  <a:srgbClr val="334155"/>
                </a:solidFill>
                <a:latin typeface="Calibri"/>
              </a:rPr>
              <a:t>VAN L 15.37 M · TIR 55.95 % · PRI 3.67 años · B/C 1.24.</a:t>
            </a:r>
          </a:p>
        </p:txBody>
      </p:sp>
      <p:sp>
        <p:nvSpPr>
          <p:cNvPr id="61" name="Rectangle 60"/>
          <p:cNvSpPr/>
          <p:nvPr/>
        </p:nvSpPr>
        <p:spPr>
          <a:xfrm>
            <a:off x="6080759"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619048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190488" y="3922776"/>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64" name="TextBox 63"/>
          <p:cNvSpPr txBox="1"/>
          <p:nvPr/>
        </p:nvSpPr>
        <p:spPr>
          <a:xfrm>
            <a:off x="6702551" y="3922776"/>
            <a:ext cx="4937760" cy="411480"/>
          </a:xfrm>
          <a:prstGeom prst="rect">
            <a:avLst/>
          </a:prstGeom>
          <a:noFill/>
        </p:spPr>
        <p:txBody>
          <a:bodyPr wrap="square" anchor="ctr">
            <a:spAutoFit/>
          </a:bodyPr>
          <a:lstStyle/>
          <a:p>
            <a:pPr algn="l"/>
            <a:r>
              <a:rPr sz="1250" b="1" i="0">
                <a:solidFill>
                  <a:srgbClr val="1A7A8A"/>
                </a:solidFill>
                <a:latin typeface="Calibri"/>
              </a:rPr>
              <a:t>Robustez ante escenarios</a:t>
            </a:r>
          </a:p>
        </p:txBody>
      </p:sp>
      <p:sp>
        <p:nvSpPr>
          <p:cNvPr id="65" name="TextBox 64"/>
          <p:cNvSpPr txBox="1"/>
          <p:nvPr/>
        </p:nvSpPr>
        <p:spPr>
          <a:xfrm>
            <a:off x="6190488" y="4361688"/>
            <a:ext cx="5449824" cy="640080"/>
          </a:xfrm>
          <a:prstGeom prst="rect">
            <a:avLst/>
          </a:prstGeom>
          <a:noFill/>
        </p:spPr>
        <p:txBody>
          <a:bodyPr wrap="square" anchor="t">
            <a:spAutoFit/>
          </a:bodyPr>
          <a:lstStyle/>
          <a:p>
            <a:pPr algn="l"/>
            <a:r>
              <a:rPr sz="1300" b="0" i="0">
                <a:solidFill>
                  <a:srgbClr val="334155"/>
                </a:solidFill>
                <a:latin typeface="Calibri"/>
              </a:rPr>
              <a:t>Pesimista: VAN L 2.02 M y TIR 21.21 %.</a:t>
            </a:r>
          </a:p>
        </p:txBody>
      </p:sp>
      <p:sp>
        <p:nvSpPr>
          <p:cNvPr id="66" name="Rectangle 65"/>
          <p:cNvSpPr/>
          <p:nvPr/>
        </p:nvSpPr>
        <p:spPr>
          <a:xfrm>
            <a:off x="320040"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42976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29768" y="5257800"/>
            <a:ext cx="411480" cy="411480"/>
          </a:xfrm>
          <a:prstGeom prst="rect">
            <a:avLst/>
          </a:prstGeom>
          <a:noFill/>
        </p:spPr>
        <p:txBody>
          <a:bodyPr wrap="square" anchor="ctr">
            <a:spAutoFit/>
          </a:bodyPr>
          <a:lstStyle/>
          <a:p>
            <a:pPr algn="ctr"/>
            <a:r>
              <a:rPr sz="1200" b="1" i="0">
                <a:solidFill>
                  <a:srgbClr val="FFFFFF"/>
                </a:solidFill>
                <a:latin typeface="Calibri"/>
              </a:rPr>
              <a:t>7</a:t>
            </a:r>
          </a:p>
        </p:txBody>
      </p:sp>
      <p:sp>
        <p:nvSpPr>
          <p:cNvPr id="69" name="TextBox 68"/>
          <p:cNvSpPr txBox="1"/>
          <p:nvPr/>
        </p:nvSpPr>
        <p:spPr>
          <a:xfrm>
            <a:off x="941832" y="5257800"/>
            <a:ext cx="4937760" cy="411480"/>
          </a:xfrm>
          <a:prstGeom prst="rect">
            <a:avLst/>
          </a:prstGeom>
          <a:noFill/>
        </p:spPr>
        <p:txBody>
          <a:bodyPr wrap="square" anchor="ctr">
            <a:spAutoFit/>
          </a:bodyPr>
          <a:lstStyle/>
          <a:p>
            <a:pPr algn="l"/>
            <a:r>
              <a:rPr sz="1250" b="1" i="0">
                <a:solidFill>
                  <a:srgbClr val="1B3A5C"/>
                </a:solidFill>
                <a:latin typeface="Calibri"/>
              </a:rPr>
              <a:t>Riesgos manejables</a:t>
            </a:r>
          </a:p>
        </p:txBody>
      </p:sp>
      <p:sp>
        <p:nvSpPr>
          <p:cNvPr id="70" name="TextBox 69"/>
          <p:cNvSpPr txBox="1"/>
          <p:nvPr/>
        </p:nvSpPr>
        <p:spPr>
          <a:xfrm>
            <a:off x="429768" y="5696712"/>
            <a:ext cx="5449824" cy="640080"/>
          </a:xfrm>
          <a:prstGeom prst="rect">
            <a:avLst/>
          </a:prstGeom>
          <a:noFill/>
        </p:spPr>
        <p:txBody>
          <a:bodyPr wrap="square" anchor="t">
            <a:spAutoFit/>
          </a:bodyPr>
          <a:lstStyle/>
          <a:p>
            <a:pPr algn="l"/>
            <a:r>
              <a:rPr sz="1300" b="0" i="0">
                <a:solidFill>
                  <a:srgbClr val="334155"/>
                </a:solidFill>
                <a:latin typeface="Calibri"/>
              </a:rPr>
              <a:t>Pérdida esperada L 3.61 M; VaR 95 % L 6.37 M.</a:t>
            </a:r>
          </a:p>
        </p:txBody>
      </p:sp>
      <p:sp>
        <p:nvSpPr>
          <p:cNvPr id="71" name="Rectangle 70"/>
          <p:cNvSpPr/>
          <p:nvPr/>
        </p:nvSpPr>
        <p:spPr>
          <a:xfrm>
            <a:off x="6080759"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619048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190488" y="5257800"/>
            <a:ext cx="411480" cy="411480"/>
          </a:xfrm>
          <a:prstGeom prst="rect">
            <a:avLst/>
          </a:prstGeom>
          <a:noFill/>
        </p:spPr>
        <p:txBody>
          <a:bodyPr wrap="square" anchor="ctr">
            <a:spAutoFit/>
          </a:bodyPr>
          <a:lstStyle/>
          <a:p>
            <a:pPr algn="ctr"/>
            <a:r>
              <a:rPr sz="1200" b="1" i="0">
                <a:solidFill>
                  <a:srgbClr val="FFFFFF"/>
                </a:solidFill>
                <a:latin typeface="Calibri"/>
              </a:rPr>
              <a:t>8</a:t>
            </a:r>
          </a:p>
        </p:txBody>
      </p:sp>
      <p:sp>
        <p:nvSpPr>
          <p:cNvPr id="74" name="TextBox 73"/>
          <p:cNvSpPr txBox="1"/>
          <p:nvPr/>
        </p:nvSpPr>
        <p:spPr>
          <a:xfrm>
            <a:off x="6702551" y="5257800"/>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75" name="TextBox 74"/>
          <p:cNvSpPr txBox="1"/>
          <p:nvPr/>
        </p:nvSpPr>
        <p:spPr>
          <a:xfrm>
            <a:off x="6190488" y="5696712"/>
            <a:ext cx="5449824" cy="640080"/>
          </a:xfrm>
          <a:prstGeom prst="rect">
            <a:avLst/>
          </a:prstGeom>
          <a:noFill/>
        </p:spPr>
        <p:txBody>
          <a:bodyPr wrap="square" anchor="t">
            <a:spAutoFit/>
          </a:bodyPr>
          <a:lstStyle/>
          <a:p>
            <a:pPr algn="l"/>
            <a:r>
              <a:rPr sz="1300" b="0" i="0">
                <a:solidFill>
                  <a:srgbClr val="334155"/>
                </a:solidFill>
                <a:latin typeface="Calibri"/>
              </a:rPr>
              <a:t>6 empleos, L 112.7 M en compras de leche y L 21.0 M en ISR e ICS.</a:t>
            </a:r>
          </a:p>
        </p:txBody>
      </p:sp>
      <p:sp>
        <p:nvSpPr>
          <p:cNvPr id="76" name="TextBox 7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RECOMENDACIONES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Recomendaciones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1148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3210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Avanzar a Factibilidad Integral</a:t>
            </a:r>
            <a:endParaRPr lang="en-US" sz="1150" dirty="0"/>
          </a:p>
        </p:txBody>
      </p:sp>
      <p:sp>
        <p:nvSpPr>
          <p:cNvPr id="9" name="Text 7"/>
          <p:cNvSpPr txBox="1"/>
          <p:nvPr/>
        </p:nvSpPr>
        <p:spPr>
          <a:xfrm>
            <a:off x="42976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Estudio de factibilidad con información primaria, cotizaciones definitivas y demanda confirmada en campo.</a:t>
            </a:r>
            <a:endParaRPr lang="en-US" sz="1100" dirty="0"/>
          </a:p>
        </p:txBody>
      </p:sp>
      <p:sp>
        <p:nvSpPr>
          <p:cNvPr id="10" name="Shape 8"/>
          <p:cNvSpPr/>
          <p:nvPr/>
        </p:nvSpPr>
        <p:spPr>
          <a:xfrm>
            <a:off x="416052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60520" y="1143000"/>
            <a:ext cx="3520440" cy="438912"/>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25196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7258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Asegurar Suministro de Materia Prima</a:t>
            </a:r>
            <a:endParaRPr lang="en-US" sz="1150" dirty="0"/>
          </a:p>
        </p:txBody>
      </p:sp>
      <p:sp>
        <p:nvSpPr>
          <p:cNvPr id="14" name="Text 12"/>
          <p:cNvSpPr txBox="1"/>
          <p:nvPr/>
        </p:nvSpPr>
        <p:spPr>
          <a:xfrm>
            <a:off x="427024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Formalizar acuerdos con CREL y ganaderos de Comayagua: volumen, precio y calidad certificada.</a:t>
            </a:r>
            <a:endParaRPr lang="en-US" sz="1100" dirty="0"/>
          </a:p>
        </p:txBody>
      </p:sp>
      <p:sp>
        <p:nvSpPr>
          <p:cNvPr id="15" name="Shape 13"/>
          <p:cNvSpPr/>
          <p:nvPr/>
        </p:nvSpPr>
        <p:spPr>
          <a:xfrm>
            <a:off x="800100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800100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809244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51306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Iniciar Trámites Regulatorios</a:t>
            </a:r>
            <a:endParaRPr lang="en-US" sz="1150" dirty="0"/>
          </a:p>
        </p:txBody>
      </p:sp>
      <p:sp>
        <p:nvSpPr>
          <p:cNvPr id="19" name="Text 17"/>
          <p:cNvSpPr txBox="1"/>
          <p:nvPr/>
        </p:nvSpPr>
        <p:spPr>
          <a:xfrm>
            <a:off x="811072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Iniciar a tiempo los trámites ante ARSA, SENASA y MiAmbiente para evitar retrasos.</a:t>
            </a:r>
            <a:endParaRPr lang="en-US" sz="1100" dirty="0"/>
          </a:p>
        </p:txBody>
      </p:sp>
      <p:sp>
        <p:nvSpPr>
          <p:cNvPr id="20" name="Shape 18"/>
          <p:cNvSpPr/>
          <p:nvPr/>
        </p:nvSpPr>
        <p:spPr>
          <a:xfrm>
            <a:off x="32004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2004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3210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Estrategia Comercial HoReCa</a:t>
            </a:r>
            <a:endParaRPr lang="en-US" sz="1150" dirty="0"/>
          </a:p>
        </p:txBody>
      </p:sp>
      <p:sp>
        <p:nvSpPr>
          <p:cNvPr id="24" name="Text 22"/>
          <p:cNvSpPr txBox="1"/>
          <p:nvPr/>
        </p:nvSpPr>
        <p:spPr>
          <a:xfrm>
            <a:off x="42976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Enfocarse en cafeterías, restaurantes y hoteles, con demostraciones de espuma para baristas.</a:t>
            </a:r>
            <a:endParaRPr lang="en-US" sz="1100" dirty="0"/>
          </a:p>
        </p:txBody>
      </p:sp>
      <p:sp>
        <p:nvSpPr>
          <p:cNvPr id="25" name="Shape 23"/>
          <p:cNvSpPr/>
          <p:nvPr/>
        </p:nvSpPr>
        <p:spPr>
          <a:xfrm>
            <a:off x="416052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60520" y="3035808"/>
            <a:ext cx="3520440" cy="438912"/>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25196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67258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Implementar Sistemas de Inocuidad</a:t>
            </a:r>
            <a:endParaRPr lang="en-US" sz="1150" dirty="0"/>
          </a:p>
        </p:txBody>
      </p:sp>
      <p:sp>
        <p:nvSpPr>
          <p:cNvPr id="29" name="Text 27"/>
          <p:cNvSpPr txBox="1"/>
          <p:nvPr/>
        </p:nvSpPr>
        <p:spPr>
          <a:xfrm>
            <a:off x="427024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POES y HACCP desde el primer día para asegurar inocuidad y reputación de "Pura".</a:t>
            </a:r>
            <a:endParaRPr lang="en-US" sz="1100" dirty="0"/>
          </a:p>
        </p:txBody>
      </p:sp>
      <p:sp>
        <p:nvSpPr>
          <p:cNvPr id="30" name="Shape 28"/>
          <p:cNvSpPr/>
          <p:nvPr/>
        </p:nvSpPr>
        <p:spPr>
          <a:xfrm>
            <a:off x="800100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800100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09244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51306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Monitoreo y KPIs del Modelo</a:t>
            </a:r>
            <a:endParaRPr lang="en-US" sz="1150" dirty="0"/>
          </a:p>
        </p:txBody>
      </p:sp>
      <p:sp>
        <p:nvSpPr>
          <p:cNvPr id="34" name="Text 32"/>
          <p:cNvSpPr txBox="1"/>
          <p:nvPr/>
        </p:nvSpPr>
        <p:spPr>
          <a:xfrm>
            <a:off x="811072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KPIs de ventas, costos, cadena de frío y satisfacción; actualizar sensibilidad y riesgos.</a:t>
            </a:r>
            <a:endParaRPr lang="en-US" sz="110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D2341"/>
          </a:solidFill>
          <a:ln w="12700">
            <a:solidFill>
              <a:srgbClr val="0D2341"/>
            </a:solidFill>
            <a:prstDash val="solid"/>
          </a:ln>
        </p:spPr>
        <p:txBody>
          <a:bodyPr/>
          <a:lstStyle/>
          <a:p>
            <a:endParaRPr lang="es-CO"/>
          </a:p>
        </p:txBody>
      </p:sp>
      <p:sp>
        <p:nvSpPr>
          <p:cNvPr id="3" name="Shape 1"/>
          <p:cNvSpPr/>
          <p:nvPr/>
        </p:nvSpPr>
        <p:spPr>
          <a:xfrm>
            <a:off x="0" y="3246120"/>
            <a:ext cx="12161520" cy="73152"/>
          </a:xfrm>
          <a:prstGeom prst="rect">
            <a:avLst/>
          </a:prstGeom>
          <a:solidFill>
            <a:srgbClr val="1A7A8A"/>
          </a:solidFill>
          <a:ln w="12700">
            <a:solidFill>
              <a:srgbClr val="1A7A8A"/>
            </a:solidFill>
            <a:prstDash val="solid"/>
          </a:ln>
        </p:spPr>
        <p:txBody>
          <a:bodyPr/>
          <a:lstStyle/>
          <a:p>
            <a:endParaRPr lang="es-CO"/>
          </a:p>
        </p:txBody>
      </p:sp>
      <p:sp>
        <p:nvSpPr>
          <p:cNvPr id="4" name="Text 2"/>
          <p:cNvSpPr txBox="1"/>
          <p:nvPr/>
        </p:nvSpPr>
        <p:spPr>
          <a:xfrm>
            <a:off x="457200" y="822960"/>
            <a:ext cx="11247120" cy="2011680"/>
          </a:xfrm>
          <a:prstGeom prst="rect">
            <a:avLst/>
          </a:prstGeom>
          <a:noFill/>
          <a:ln/>
        </p:spPr>
        <p:txBody>
          <a:bodyPr wrap="square"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GRACIAS</a:t>
            </a:r>
            <a:endParaRPr lang="en-US" sz="9000" dirty="0"/>
          </a:p>
        </p:txBody>
      </p:sp>
      <p:sp>
        <p:nvSpPr>
          <p:cNvPr id="5" name="Text 3"/>
          <p:cNvSpPr txBox="1"/>
          <p:nvPr/>
        </p:nvSpPr>
        <p:spPr>
          <a:xfrm>
            <a:off x="457200" y="2834640"/>
            <a:ext cx="11247120" cy="365760"/>
          </a:xfrm>
          <a:prstGeom prst="rect">
            <a:avLst/>
          </a:prstGeom>
          <a:noFill/>
          <a:ln/>
        </p:spPr>
        <p:txBody>
          <a:bodyPr wrap="square" rtlCol="0" anchor="ctr"/>
          <a:lstStyle/>
          <a:p>
            <a:pPr marL="0" indent="0" algn="ctr">
              <a:buNone/>
            </a:pPr>
            <a:r>
              <a:rPr lang="en-US" sz="1800" dirty="0">
                <a:solidFill>
                  <a:srgbClr val="1A7A8A"/>
                </a:solidFill>
                <a:latin typeface="Calibri" pitchFamily="34" charset="0"/>
                <a:ea typeface="Calibri" pitchFamily="34" charset="-122"/>
                <a:cs typeface="Calibri" pitchFamily="34" charset="-120"/>
              </a:rPr>
              <a:t>Quedamos a disposición para responder sus preguntas</a:t>
            </a:r>
            <a:endParaRPr lang="en-US" sz="1800" dirty="0"/>
          </a:p>
        </p:txBody>
      </p:sp>
      <p:sp>
        <p:nvSpPr>
          <p:cNvPr id="6" name="Text 4"/>
          <p:cNvSpPr txBox="1"/>
          <p:nvPr/>
        </p:nvSpPr>
        <p:spPr>
          <a:xfrm>
            <a:off x="914400" y="3657600"/>
            <a:ext cx="3657600" cy="274320"/>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7" name="Text 5"/>
          <p:cNvSpPr txBox="1"/>
          <p:nvPr/>
        </p:nvSpPr>
        <p:spPr>
          <a:xfrm>
            <a:off x="914400" y="3977640"/>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Jaime Mauricio Caballero Madriz</a:t>
            </a:r>
            <a:endParaRPr lang="en-US" sz="1400" dirty="0"/>
          </a:p>
        </p:txBody>
      </p:sp>
      <p:sp>
        <p:nvSpPr>
          <p:cNvPr id="8" name="Text 6"/>
          <p:cNvSpPr txBox="1"/>
          <p:nvPr/>
        </p:nvSpPr>
        <p:spPr>
          <a:xfrm>
            <a:off x="914400" y="4325112"/>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Fredy Daniel Valladares Suazo</a:t>
            </a:r>
            <a:endParaRPr lang="en-US" sz="1400" dirty="0"/>
          </a:p>
        </p:txBody>
      </p:sp>
      <p:sp>
        <p:nvSpPr>
          <p:cNvPr id="9" name="Text 7"/>
          <p:cNvSpPr txBox="1"/>
          <p:nvPr/>
        </p:nvSpPr>
        <p:spPr>
          <a:xfrm>
            <a:off x="914400" y="4672584"/>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Horacio Ernesto Medal Picado</a:t>
            </a:r>
            <a:endParaRPr lang="en-US" sz="1400" dirty="0"/>
          </a:p>
        </p:txBody>
      </p:sp>
      <p:sp>
        <p:nvSpPr>
          <p:cNvPr id="10" name="Text 8"/>
          <p:cNvSpPr txBox="1"/>
          <p:nvPr/>
        </p:nvSpPr>
        <p:spPr>
          <a:xfrm>
            <a:off x="914400" y="5074920"/>
            <a:ext cx="3657600" cy="256032"/>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1" name="Text 9"/>
          <p:cNvSpPr txBox="1"/>
          <p:nvPr/>
        </p:nvSpPr>
        <p:spPr>
          <a:xfrm>
            <a:off x="914400" y="5358384"/>
            <a:ext cx="45720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PhD. Elkin Gómez</a:t>
            </a:r>
            <a:endParaRPr lang="en-US" sz="1400" dirty="0"/>
          </a:p>
        </p:txBody>
      </p:sp>
      <p:sp>
        <p:nvSpPr>
          <p:cNvPr id="12" name="Text 10"/>
          <p:cNvSpPr txBox="1"/>
          <p:nvPr/>
        </p:nvSpPr>
        <p:spPr>
          <a:xfrm>
            <a:off x="457200" y="6492240"/>
            <a:ext cx="11247120" cy="256032"/>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Maestría en Agronegocios · Universidad EAFIT · Zamorano · Medellín, 2026</a:t>
            </a:r>
            <a:endParaRPr lang="en-US" sz="1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RESUMEN EJECUTIVO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Resumen Ejecutivo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5394960" cy="310896"/>
          </a:xfrm>
          <a:prstGeom prst="rect">
            <a:avLst/>
          </a:prstGeom>
          <a:noFill/>
        </p:spPr>
        <p:txBody>
          <a:bodyPr wrap="square" anchor="ctr">
            <a:spAutoFit/>
          </a:bodyPr>
          <a:lstStyle/>
          <a:p>
            <a:pPr algn="l"/>
            <a:r>
              <a:rPr sz="1250" b="1" i="0">
                <a:solidFill>
                  <a:srgbClr val="1B3A5C"/>
                </a:solidFill>
                <a:latin typeface="Calibri"/>
              </a:rPr>
              <a:t>Problema</a:t>
            </a:r>
          </a:p>
        </p:txBody>
      </p:sp>
      <p:sp>
        <p:nvSpPr>
          <p:cNvPr id="8" name="TextBox 7"/>
          <p:cNvSpPr txBox="1"/>
          <p:nvPr/>
        </p:nvSpPr>
        <p:spPr>
          <a:xfrm>
            <a:off x="484632" y="1609344"/>
            <a:ext cx="5394960" cy="548640"/>
          </a:xfrm>
          <a:prstGeom prst="rect">
            <a:avLst/>
          </a:prstGeom>
          <a:noFill/>
        </p:spPr>
        <p:txBody>
          <a:bodyPr wrap="square" anchor="t">
            <a:spAutoFit/>
          </a:bodyPr>
          <a:lstStyle/>
          <a:p>
            <a:pPr algn="l"/>
            <a:r>
              <a:rPr sz="1200" b="0" i="0">
                <a:solidFill>
                  <a:srgbClr val="334155"/>
                </a:solidFill>
                <a:latin typeface="Calibri"/>
              </a:rPr>
              <a:t>La industria migró a UHT: cafeterías y +2,000 clientes tipo A quedaron sin leche fresca pasteurizada.</a:t>
            </a:r>
          </a:p>
        </p:txBody>
      </p:sp>
      <p:sp>
        <p:nvSpPr>
          <p:cNvPr id="9" name="Rectangle 8"/>
          <p:cNvSpPr/>
          <p:nvPr/>
        </p:nvSpPr>
        <p:spPr>
          <a:xfrm>
            <a:off x="320040" y="235915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249631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4632" y="2468880"/>
            <a:ext cx="5394960" cy="310896"/>
          </a:xfrm>
          <a:prstGeom prst="rect">
            <a:avLst/>
          </a:prstGeom>
          <a:noFill/>
        </p:spPr>
        <p:txBody>
          <a:bodyPr wrap="square" anchor="ctr">
            <a:spAutoFit/>
          </a:bodyPr>
          <a:lstStyle/>
          <a:p>
            <a:pPr algn="l"/>
            <a:r>
              <a:rPr sz="1250" b="1" i="0">
                <a:solidFill>
                  <a:srgbClr val="1B3A5C"/>
                </a:solidFill>
                <a:latin typeface="Calibri"/>
              </a:rPr>
              <a:t>Propuesta</a:t>
            </a:r>
          </a:p>
        </p:txBody>
      </p:sp>
      <p:sp>
        <p:nvSpPr>
          <p:cNvPr id="12" name="TextBox 11"/>
          <p:cNvSpPr txBox="1"/>
          <p:nvPr/>
        </p:nvSpPr>
        <p:spPr>
          <a:xfrm>
            <a:off x="484632" y="2798064"/>
            <a:ext cx="5394960" cy="548640"/>
          </a:xfrm>
          <a:prstGeom prst="rect">
            <a:avLst/>
          </a:prstGeom>
          <a:noFill/>
        </p:spPr>
        <p:txBody>
          <a:bodyPr wrap="square" anchor="t">
            <a:spAutoFit/>
          </a:bodyPr>
          <a:lstStyle/>
          <a:p>
            <a:pPr algn="l"/>
            <a:r>
              <a:rPr sz="1200" b="0" i="0">
                <a:solidFill>
                  <a:srgbClr val="334155"/>
                </a:solidFill>
                <a:latin typeface="Calibri"/>
              </a:rPr>
              <a:t>Marca "Pura": planta HTST en Comayagua, bolsa de 1 L, de 1,000 a 5,000 L/día.</a:t>
            </a:r>
          </a:p>
        </p:txBody>
      </p:sp>
      <p:sp>
        <p:nvSpPr>
          <p:cNvPr id="13" name="Rectangle 12"/>
          <p:cNvSpPr/>
          <p:nvPr/>
        </p:nvSpPr>
        <p:spPr>
          <a:xfrm>
            <a:off x="320040" y="354787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68503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57600"/>
            <a:ext cx="5394960" cy="310896"/>
          </a:xfrm>
          <a:prstGeom prst="rect">
            <a:avLst/>
          </a:prstGeom>
          <a:noFill/>
        </p:spPr>
        <p:txBody>
          <a:bodyPr wrap="square" anchor="ctr">
            <a:spAutoFit/>
          </a:bodyPr>
          <a:lstStyle/>
          <a:p>
            <a:pPr algn="l"/>
            <a:r>
              <a:rPr sz="1250" b="1" i="0">
                <a:solidFill>
                  <a:srgbClr val="1B3A5C"/>
                </a:solidFill>
                <a:latin typeface="Calibri"/>
              </a:rPr>
              <a:t>Mercado</a:t>
            </a:r>
          </a:p>
        </p:txBody>
      </p:sp>
      <p:sp>
        <p:nvSpPr>
          <p:cNvPr id="16" name="TextBox 15"/>
          <p:cNvSpPr txBox="1"/>
          <p:nvPr/>
        </p:nvSpPr>
        <p:spPr>
          <a:xfrm>
            <a:off x="484632" y="3986783"/>
            <a:ext cx="5394960" cy="548640"/>
          </a:xfrm>
          <a:prstGeom prst="rect">
            <a:avLst/>
          </a:prstGeom>
          <a:noFill/>
        </p:spPr>
        <p:txBody>
          <a:bodyPr wrap="square" anchor="t">
            <a:spAutoFit/>
          </a:bodyPr>
          <a:lstStyle/>
          <a:p>
            <a:pPr algn="l"/>
            <a:r>
              <a:rPr sz="1200" b="0" i="0">
                <a:solidFill>
                  <a:srgbClr val="334155"/>
                </a:solidFill>
                <a:latin typeface="Calibri"/>
              </a:rPr>
              <a:t>65 % compraría y 48 % pagaría L 26–30 por litro. Precio L 28; de 60 a 690 clientes.</a:t>
            </a:r>
          </a:p>
        </p:txBody>
      </p:sp>
      <p:sp>
        <p:nvSpPr>
          <p:cNvPr id="17" name="Rectangle 16"/>
          <p:cNvSpPr/>
          <p:nvPr/>
        </p:nvSpPr>
        <p:spPr>
          <a:xfrm>
            <a:off x="320040" y="473659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487375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4846320"/>
            <a:ext cx="5394960" cy="310896"/>
          </a:xfrm>
          <a:prstGeom prst="rect">
            <a:avLst/>
          </a:prstGeom>
          <a:noFill/>
        </p:spPr>
        <p:txBody>
          <a:bodyPr wrap="square" anchor="ctr">
            <a:spAutoFit/>
          </a:bodyPr>
          <a:lstStyle/>
          <a:p>
            <a:pPr algn="l"/>
            <a:r>
              <a:rPr sz="1250" b="1" i="0">
                <a:solidFill>
                  <a:srgbClr val="1B3A5C"/>
                </a:solidFill>
                <a:latin typeface="Calibri"/>
              </a:rPr>
              <a:t>Inversión</a:t>
            </a:r>
          </a:p>
        </p:txBody>
      </p:sp>
      <p:sp>
        <p:nvSpPr>
          <p:cNvPr id="20" name="TextBox 19"/>
          <p:cNvSpPr txBox="1"/>
          <p:nvPr/>
        </p:nvSpPr>
        <p:spPr>
          <a:xfrm>
            <a:off x="484632" y="5175504"/>
            <a:ext cx="5394960" cy="548640"/>
          </a:xfrm>
          <a:prstGeom prst="rect">
            <a:avLst/>
          </a:prstGeom>
          <a:noFill/>
        </p:spPr>
        <p:txBody>
          <a:bodyPr wrap="square" anchor="t">
            <a:spAutoFit/>
          </a:bodyPr>
          <a:lstStyle/>
          <a:p>
            <a:pPr algn="l"/>
            <a:r>
              <a:rPr sz="1200" b="0" i="0">
                <a:solidFill>
                  <a:srgbClr val="334155"/>
                </a:solidFill>
                <a:latin typeface="Calibri"/>
              </a:rPr>
              <a:t>L 1,784,058: 50 % socios y 50 % préstamo al 14 % a 5 años.</a:t>
            </a:r>
          </a:p>
        </p:txBody>
      </p:sp>
      <p:sp>
        <p:nvSpPr>
          <p:cNvPr id="21" name="Rectangle 20"/>
          <p:cNvSpPr/>
          <p:nvPr/>
        </p:nvSpPr>
        <p:spPr>
          <a:xfrm>
            <a:off x="6217920" y="1170432"/>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9359" y="1243584"/>
            <a:ext cx="2542032" cy="484632"/>
          </a:xfrm>
          <a:prstGeom prst="rect">
            <a:avLst/>
          </a:prstGeom>
          <a:noFill/>
        </p:spPr>
        <p:txBody>
          <a:bodyPr wrap="square" anchor="ctr">
            <a:spAutoFit/>
          </a:bodyPr>
          <a:lstStyle/>
          <a:p>
            <a:pPr algn="ctr"/>
            <a:r>
              <a:rPr sz="2000" b="1" i="0">
                <a:solidFill>
                  <a:srgbClr val="1A7A8A"/>
                </a:solidFill>
                <a:latin typeface="Calibri"/>
              </a:rPr>
              <a:t>L 15,370,631</a:t>
            </a:r>
          </a:p>
        </p:txBody>
      </p:sp>
      <p:sp>
        <p:nvSpPr>
          <p:cNvPr id="23" name="TextBox 22"/>
          <p:cNvSpPr txBox="1"/>
          <p:nvPr/>
        </p:nvSpPr>
        <p:spPr>
          <a:xfrm>
            <a:off x="6309359" y="1674449"/>
            <a:ext cx="2542032" cy="271393"/>
          </a:xfrm>
          <a:prstGeom prst="rect">
            <a:avLst/>
          </a:prstGeom>
          <a:noFill/>
        </p:spPr>
        <p:txBody>
          <a:bodyPr wrap="square" anchor="ctr">
            <a:spAutoFit/>
          </a:bodyPr>
          <a:lstStyle/>
          <a:p>
            <a:pPr algn="ctr"/>
            <a:r>
              <a:rPr sz="1000" b="0" i="0">
                <a:solidFill>
                  <a:srgbClr val="334155"/>
                </a:solidFill>
                <a:latin typeface="Calibri"/>
              </a:rPr>
              <a:t>VAN sin financiamiento</a:t>
            </a:r>
          </a:p>
        </p:txBody>
      </p:sp>
      <p:sp>
        <p:nvSpPr>
          <p:cNvPr id="24" name="Rectangle 23"/>
          <p:cNvSpPr/>
          <p:nvPr/>
        </p:nvSpPr>
        <p:spPr>
          <a:xfrm>
            <a:off x="9034272" y="1170432"/>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25711" y="1243584"/>
            <a:ext cx="2542032" cy="484632"/>
          </a:xfrm>
          <a:prstGeom prst="rect">
            <a:avLst/>
          </a:prstGeom>
          <a:noFill/>
        </p:spPr>
        <p:txBody>
          <a:bodyPr wrap="square" anchor="ctr">
            <a:spAutoFit/>
          </a:bodyPr>
          <a:lstStyle/>
          <a:p>
            <a:pPr algn="ctr"/>
            <a:r>
              <a:rPr sz="2000" b="1" i="0">
                <a:solidFill>
                  <a:srgbClr val="1B3A5C"/>
                </a:solidFill>
                <a:latin typeface="Calibri"/>
              </a:rPr>
              <a:t>55.95 %</a:t>
            </a:r>
          </a:p>
        </p:txBody>
      </p:sp>
      <p:sp>
        <p:nvSpPr>
          <p:cNvPr id="26" name="TextBox 25"/>
          <p:cNvSpPr txBox="1"/>
          <p:nvPr/>
        </p:nvSpPr>
        <p:spPr>
          <a:xfrm>
            <a:off x="9125711" y="1674449"/>
            <a:ext cx="2542032" cy="271393"/>
          </a:xfrm>
          <a:prstGeom prst="rect">
            <a:avLst/>
          </a:prstGeom>
          <a:noFill/>
        </p:spPr>
        <p:txBody>
          <a:bodyPr wrap="square" anchor="ctr">
            <a:spAutoFit/>
          </a:bodyPr>
          <a:lstStyle/>
          <a:p>
            <a:pPr algn="ctr"/>
            <a:r>
              <a:rPr sz="1000" b="0" i="0">
                <a:solidFill>
                  <a:srgbClr val="334155"/>
                </a:solidFill>
                <a:latin typeface="Calibri"/>
              </a:rPr>
              <a:t>TIR sin financiamiento</a:t>
            </a:r>
          </a:p>
        </p:txBody>
      </p:sp>
      <p:sp>
        <p:nvSpPr>
          <p:cNvPr id="27" name="Rectangle 26"/>
          <p:cNvSpPr/>
          <p:nvPr/>
        </p:nvSpPr>
        <p:spPr>
          <a:xfrm>
            <a:off x="6217920" y="2249424"/>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09359" y="2322576"/>
            <a:ext cx="2542032" cy="484632"/>
          </a:xfrm>
          <a:prstGeom prst="rect">
            <a:avLst/>
          </a:prstGeom>
          <a:noFill/>
        </p:spPr>
        <p:txBody>
          <a:bodyPr wrap="square" anchor="ctr">
            <a:spAutoFit/>
          </a:bodyPr>
          <a:lstStyle/>
          <a:p>
            <a:pPr algn="ctr"/>
            <a:r>
              <a:rPr sz="2000" b="1" i="0">
                <a:solidFill>
                  <a:srgbClr val="1B3A5C"/>
                </a:solidFill>
                <a:latin typeface="Calibri"/>
              </a:rPr>
              <a:t>3.67 años</a:t>
            </a:r>
          </a:p>
        </p:txBody>
      </p:sp>
      <p:sp>
        <p:nvSpPr>
          <p:cNvPr id="29" name="TextBox 28"/>
          <p:cNvSpPr txBox="1"/>
          <p:nvPr/>
        </p:nvSpPr>
        <p:spPr>
          <a:xfrm>
            <a:off x="6309359" y="2753441"/>
            <a:ext cx="2542032" cy="271393"/>
          </a:xfrm>
          <a:prstGeom prst="rect">
            <a:avLst/>
          </a:prstGeom>
          <a:noFill/>
        </p:spPr>
        <p:txBody>
          <a:bodyPr wrap="square" anchor="ctr">
            <a:spAutoFit/>
          </a:bodyPr>
          <a:lstStyle/>
          <a:p>
            <a:pPr algn="ctr"/>
            <a:r>
              <a:rPr sz="1000" b="0" i="0">
                <a:solidFill>
                  <a:srgbClr val="334155"/>
                </a:solidFill>
                <a:latin typeface="Calibri"/>
              </a:rPr>
              <a:t>Período de recuperación</a:t>
            </a:r>
          </a:p>
        </p:txBody>
      </p:sp>
      <p:sp>
        <p:nvSpPr>
          <p:cNvPr id="30" name="Rectangle 29"/>
          <p:cNvSpPr/>
          <p:nvPr/>
        </p:nvSpPr>
        <p:spPr>
          <a:xfrm>
            <a:off x="9034272" y="2249424"/>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25711" y="2322576"/>
            <a:ext cx="2542032" cy="484632"/>
          </a:xfrm>
          <a:prstGeom prst="rect">
            <a:avLst/>
          </a:prstGeom>
          <a:noFill/>
        </p:spPr>
        <p:txBody>
          <a:bodyPr wrap="square" anchor="ctr">
            <a:spAutoFit/>
          </a:bodyPr>
          <a:lstStyle/>
          <a:p>
            <a:pPr algn="ctr"/>
            <a:r>
              <a:rPr sz="2000" b="1" i="0">
                <a:solidFill>
                  <a:srgbClr val="1A7A8A"/>
                </a:solidFill>
                <a:latin typeface="Calibri"/>
              </a:rPr>
              <a:t>1.24</a:t>
            </a:r>
          </a:p>
        </p:txBody>
      </p:sp>
      <p:sp>
        <p:nvSpPr>
          <p:cNvPr id="32" name="TextBox 31"/>
          <p:cNvSpPr txBox="1"/>
          <p:nvPr/>
        </p:nvSpPr>
        <p:spPr>
          <a:xfrm>
            <a:off x="9125711" y="2753441"/>
            <a:ext cx="2542032" cy="271393"/>
          </a:xfrm>
          <a:prstGeom prst="rect">
            <a:avLst/>
          </a:prstGeom>
          <a:noFill/>
        </p:spPr>
        <p:txBody>
          <a:bodyPr wrap="square" anchor="ctr">
            <a:spAutoFit/>
          </a:bodyPr>
          <a:lstStyle/>
          <a:p>
            <a:pPr algn="ctr"/>
            <a:r>
              <a:rPr sz="1000" b="0" i="0">
                <a:solidFill>
                  <a:srgbClr val="334155"/>
                </a:solidFill>
                <a:latin typeface="Calibri"/>
              </a:rPr>
              <a:t>Relación beneficio/costo</a:t>
            </a:r>
          </a:p>
        </p:txBody>
      </p:sp>
      <p:sp>
        <p:nvSpPr>
          <p:cNvPr id="33" name="Rectangle 32"/>
          <p:cNvSpPr/>
          <p:nvPr/>
        </p:nvSpPr>
        <p:spPr>
          <a:xfrm>
            <a:off x="6217920" y="3328415"/>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09359" y="3401568"/>
            <a:ext cx="2542032" cy="484632"/>
          </a:xfrm>
          <a:prstGeom prst="rect">
            <a:avLst/>
          </a:prstGeom>
          <a:noFill/>
        </p:spPr>
        <p:txBody>
          <a:bodyPr wrap="square" anchor="ctr">
            <a:spAutoFit/>
          </a:bodyPr>
          <a:lstStyle/>
          <a:p>
            <a:pPr algn="ctr"/>
            <a:r>
              <a:rPr sz="2000" b="1" i="0">
                <a:solidFill>
                  <a:srgbClr val="1A7A8A"/>
                </a:solidFill>
                <a:latin typeface="Calibri"/>
              </a:rPr>
              <a:t>L 2,020,142</a:t>
            </a:r>
          </a:p>
        </p:txBody>
      </p:sp>
      <p:sp>
        <p:nvSpPr>
          <p:cNvPr id="35" name="TextBox 34"/>
          <p:cNvSpPr txBox="1"/>
          <p:nvPr/>
        </p:nvSpPr>
        <p:spPr>
          <a:xfrm>
            <a:off x="6309359" y="3832433"/>
            <a:ext cx="2542032" cy="271393"/>
          </a:xfrm>
          <a:prstGeom prst="rect">
            <a:avLst/>
          </a:prstGeom>
          <a:noFill/>
        </p:spPr>
        <p:txBody>
          <a:bodyPr wrap="square" anchor="ctr">
            <a:spAutoFit/>
          </a:bodyPr>
          <a:lstStyle/>
          <a:p>
            <a:pPr algn="ctr"/>
            <a:r>
              <a:rPr sz="1000" b="0" i="0">
                <a:solidFill>
                  <a:srgbClr val="334155"/>
                </a:solidFill>
                <a:latin typeface="Calibri"/>
              </a:rPr>
              <a:t>VAN en escenario pesimista</a:t>
            </a:r>
          </a:p>
        </p:txBody>
      </p:sp>
      <p:sp>
        <p:nvSpPr>
          <p:cNvPr id="36" name="Rectangle 35"/>
          <p:cNvSpPr/>
          <p:nvPr/>
        </p:nvSpPr>
        <p:spPr>
          <a:xfrm>
            <a:off x="9034272" y="3328415"/>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25711" y="3401568"/>
            <a:ext cx="2542032" cy="484632"/>
          </a:xfrm>
          <a:prstGeom prst="rect">
            <a:avLst/>
          </a:prstGeom>
          <a:noFill/>
        </p:spPr>
        <p:txBody>
          <a:bodyPr wrap="square" anchor="ctr">
            <a:spAutoFit/>
          </a:bodyPr>
          <a:lstStyle/>
          <a:p>
            <a:pPr algn="ctr"/>
            <a:r>
              <a:rPr sz="2000" b="1" i="0">
                <a:solidFill>
                  <a:srgbClr val="1B3A5C"/>
                </a:solidFill>
                <a:latin typeface="Calibri"/>
              </a:rPr>
              <a:t>L 3,614,648</a:t>
            </a:r>
          </a:p>
        </p:txBody>
      </p:sp>
      <p:sp>
        <p:nvSpPr>
          <p:cNvPr id="38" name="TextBox 37"/>
          <p:cNvSpPr txBox="1"/>
          <p:nvPr/>
        </p:nvSpPr>
        <p:spPr>
          <a:xfrm>
            <a:off x="9125711" y="3832433"/>
            <a:ext cx="2542032" cy="271393"/>
          </a:xfrm>
          <a:prstGeom prst="rect">
            <a:avLst/>
          </a:prstGeom>
          <a:noFill/>
        </p:spPr>
        <p:txBody>
          <a:bodyPr wrap="square" anchor="ctr">
            <a:spAutoFit/>
          </a:bodyPr>
          <a:lstStyle/>
          <a:p>
            <a:pPr algn="ctr"/>
            <a:r>
              <a:rPr sz="1000" b="0" i="0">
                <a:solidFill>
                  <a:srgbClr val="334155"/>
                </a:solidFill>
                <a:latin typeface="Calibri"/>
              </a:rPr>
              <a:t>Pérdida esperada por riesgos</a:t>
            </a:r>
          </a:p>
        </p:txBody>
      </p:sp>
      <p:sp>
        <p:nvSpPr>
          <p:cNvPr id="39" name="Rectangle 38"/>
          <p:cNvSpPr/>
          <p:nvPr/>
        </p:nvSpPr>
        <p:spPr>
          <a:xfrm>
            <a:off x="6217920" y="4407408"/>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309359" y="4480560"/>
            <a:ext cx="2542032" cy="484632"/>
          </a:xfrm>
          <a:prstGeom prst="rect">
            <a:avLst/>
          </a:prstGeom>
          <a:noFill/>
        </p:spPr>
        <p:txBody>
          <a:bodyPr wrap="square" anchor="ctr">
            <a:spAutoFit/>
          </a:bodyPr>
          <a:lstStyle/>
          <a:p>
            <a:pPr algn="ctr"/>
            <a:r>
              <a:rPr sz="2000" b="1" i="0">
                <a:solidFill>
                  <a:srgbClr val="1B3A5C"/>
                </a:solidFill>
                <a:latin typeface="Calibri"/>
              </a:rPr>
              <a:t>L 6,373,570</a:t>
            </a:r>
          </a:p>
        </p:txBody>
      </p:sp>
      <p:sp>
        <p:nvSpPr>
          <p:cNvPr id="41" name="TextBox 40"/>
          <p:cNvSpPr txBox="1"/>
          <p:nvPr/>
        </p:nvSpPr>
        <p:spPr>
          <a:xfrm>
            <a:off x="6309359" y="4911425"/>
            <a:ext cx="2542032" cy="271393"/>
          </a:xfrm>
          <a:prstGeom prst="rect">
            <a:avLst/>
          </a:prstGeom>
          <a:noFill/>
        </p:spPr>
        <p:txBody>
          <a:bodyPr wrap="square" anchor="ctr">
            <a:spAutoFit/>
          </a:bodyPr>
          <a:lstStyle/>
          <a:p>
            <a:pPr algn="ctr"/>
            <a:r>
              <a:rPr sz="1000" b="0" i="0">
                <a:solidFill>
                  <a:srgbClr val="334155"/>
                </a:solidFill>
                <a:latin typeface="Calibri"/>
              </a:rPr>
              <a:t>VaR 95 % de las pérdidas</a:t>
            </a:r>
          </a:p>
        </p:txBody>
      </p:sp>
      <p:sp>
        <p:nvSpPr>
          <p:cNvPr id="42" name="Rectangle 41"/>
          <p:cNvSpPr/>
          <p:nvPr/>
        </p:nvSpPr>
        <p:spPr>
          <a:xfrm>
            <a:off x="9034272" y="4407408"/>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25711" y="4480560"/>
            <a:ext cx="2542032" cy="484632"/>
          </a:xfrm>
          <a:prstGeom prst="rect">
            <a:avLst/>
          </a:prstGeom>
          <a:noFill/>
        </p:spPr>
        <p:txBody>
          <a:bodyPr wrap="square" anchor="ctr">
            <a:spAutoFit/>
          </a:bodyPr>
          <a:lstStyle/>
          <a:p>
            <a:pPr algn="ctr"/>
            <a:r>
              <a:rPr sz="2000" b="1" i="0">
                <a:solidFill>
                  <a:srgbClr val="1A7A8A"/>
                </a:solidFill>
                <a:latin typeface="Calibri"/>
              </a:rPr>
              <a:t>100 %</a:t>
            </a:r>
          </a:p>
        </p:txBody>
      </p:sp>
      <p:sp>
        <p:nvSpPr>
          <p:cNvPr id="44" name="TextBox 43"/>
          <p:cNvSpPr txBox="1"/>
          <p:nvPr/>
        </p:nvSpPr>
        <p:spPr>
          <a:xfrm>
            <a:off x="9125711" y="4911425"/>
            <a:ext cx="2542032" cy="271393"/>
          </a:xfrm>
          <a:prstGeom prst="rect">
            <a:avLst/>
          </a:prstGeom>
          <a:noFill/>
        </p:spPr>
        <p:txBody>
          <a:bodyPr wrap="square" anchor="ctr">
            <a:spAutoFit/>
          </a:bodyPr>
          <a:lstStyle/>
          <a:p>
            <a:pPr algn="ctr"/>
            <a:r>
              <a:rPr sz="1000" b="0" i="0">
                <a:solidFill>
                  <a:srgbClr val="334155"/>
                </a:solidFill>
                <a:latin typeface="Calibri"/>
              </a:rPr>
              <a:t>Iteraciones con VPN &gt; 0</a:t>
            </a:r>
          </a:p>
        </p:txBody>
      </p:sp>
      <p:sp>
        <p:nvSpPr>
          <p:cNvPr id="45" name="Rectangle 44"/>
          <p:cNvSpPr/>
          <p:nvPr/>
        </p:nvSpPr>
        <p:spPr>
          <a:xfrm>
            <a:off x="320040" y="5961888"/>
            <a:ext cx="114300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57200" y="5961888"/>
            <a:ext cx="11155680" cy="502920"/>
          </a:xfrm>
          <a:prstGeom prst="rect">
            <a:avLst/>
          </a:prstGeom>
          <a:noFill/>
        </p:spPr>
        <p:txBody>
          <a:bodyPr wrap="square" anchor="ctr">
            <a:spAutoFit/>
          </a:bodyPr>
          <a:lstStyle/>
          <a:p>
            <a:pPr algn="l"/>
            <a:r>
              <a:rPr sz="1300" b="1" i="0">
                <a:solidFill>
                  <a:srgbClr val="9ECFD5"/>
                </a:solidFill>
                <a:latin typeface="Calibri"/>
              </a:rPr>
              <a:t>Conclusión: </a:t>
            </a:r>
            <a:r>
              <a:rPr sz="1300" b="0" i="0">
                <a:solidFill>
                  <a:srgbClr val="FFFFFF"/>
                </a:solidFill>
                <a:latin typeface="Calibri"/>
              </a:rPr>
              <a:t>proyecto prefactible en todas las dimensiones; se recomienda avanzar a factibilidad.</a:t>
            </a:r>
          </a:p>
        </p:txBody>
      </p:sp>
      <p:sp>
        <p:nvSpPr>
          <p:cNvPr id="47" name="TextBox 4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PLANTEAMIENTO DEL PROBLEMA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Planteamiento del Problema y Pregunta de Investigación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25880"/>
            <a:ext cx="54864" cy="19659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98448"/>
            <a:ext cx="5349240" cy="310896"/>
          </a:xfrm>
          <a:prstGeom prst="rect">
            <a:avLst/>
          </a:prstGeom>
          <a:noFill/>
        </p:spPr>
        <p:txBody>
          <a:bodyPr wrap="square" anchor="ctr">
            <a:spAutoFit/>
          </a:bodyPr>
          <a:lstStyle/>
          <a:p>
            <a:pPr algn="l"/>
            <a:r>
              <a:rPr sz="1300" b="1" i="0">
                <a:solidFill>
                  <a:srgbClr val="1B3A5C"/>
                </a:solidFill>
                <a:latin typeface="Calibri"/>
              </a:rPr>
              <a:t>Situación actual</a:t>
            </a:r>
          </a:p>
        </p:txBody>
      </p:sp>
      <p:sp>
        <p:nvSpPr>
          <p:cNvPr id="8" name="TextBox 7"/>
          <p:cNvSpPr txBox="1"/>
          <p:nvPr/>
        </p:nvSpPr>
        <p:spPr>
          <a:xfrm>
            <a:off x="484632" y="1627632"/>
            <a:ext cx="5349240" cy="1709928"/>
          </a:xfrm>
          <a:prstGeom prst="rect">
            <a:avLst/>
          </a:prstGeom>
          <a:noFill/>
        </p:spPr>
        <p:txBody>
          <a:bodyPr wrap="square" anchor="t">
            <a:spAutoFit/>
          </a:bodyPr>
          <a:lstStyle/>
          <a:p>
            <a:pPr algn="l"/>
            <a:r>
              <a:rPr sz="1350" b="0" i="0">
                <a:solidFill>
                  <a:srgbClr val="334155"/>
                </a:solidFill>
                <a:latin typeface="Calibri"/>
              </a:rPr>
              <a:t>La industria migró de leche fluida a UHT. Cafeterías de especialidad y +2,000 clientes tipo A usan hoy UHT o leche cruda informal, sin garantía de inocuidad.</a:t>
            </a:r>
          </a:p>
        </p:txBody>
      </p:sp>
      <p:sp>
        <p:nvSpPr>
          <p:cNvPr id="9" name="Rectangle 8"/>
          <p:cNvSpPr/>
          <p:nvPr/>
        </p:nvSpPr>
        <p:spPr>
          <a:xfrm>
            <a:off x="612648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6480" y="1325880"/>
            <a:ext cx="54864" cy="19659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91072" y="1298448"/>
            <a:ext cx="5349240" cy="310896"/>
          </a:xfrm>
          <a:prstGeom prst="rect">
            <a:avLst/>
          </a:prstGeom>
          <a:noFill/>
        </p:spPr>
        <p:txBody>
          <a:bodyPr wrap="square" anchor="ctr">
            <a:spAutoFit/>
          </a:bodyPr>
          <a:lstStyle/>
          <a:p>
            <a:pPr algn="l"/>
            <a:r>
              <a:rPr sz="1300" b="1" i="0">
                <a:solidFill>
                  <a:srgbClr val="1B3A5C"/>
                </a:solidFill>
                <a:latin typeface="Calibri"/>
              </a:rPr>
              <a:t>Contexto productivo</a:t>
            </a:r>
          </a:p>
        </p:txBody>
      </p:sp>
      <p:sp>
        <p:nvSpPr>
          <p:cNvPr id="12" name="TextBox 11"/>
          <p:cNvSpPr txBox="1"/>
          <p:nvPr/>
        </p:nvSpPr>
        <p:spPr>
          <a:xfrm>
            <a:off x="6291072" y="1627632"/>
            <a:ext cx="5349240" cy="1709928"/>
          </a:xfrm>
          <a:prstGeom prst="rect">
            <a:avLst/>
          </a:prstGeom>
          <a:noFill/>
        </p:spPr>
        <p:txBody>
          <a:bodyPr wrap="square" anchor="t">
            <a:spAutoFit/>
          </a:bodyPr>
          <a:lstStyle/>
          <a:p>
            <a:pPr algn="l"/>
            <a:r>
              <a:rPr sz="1350" b="0" i="0">
                <a:solidFill>
                  <a:srgbClr val="334155"/>
                </a:solidFill>
                <a:latin typeface="Calibri"/>
              </a:rPr>
              <a:t>Honduras produce ~600 M L de leche al año (SAG, 2026). Hay materia prima y demanda insatisfecha, pero no una oferta formal de leche fresca para este nicho.</a:t>
            </a:r>
          </a:p>
        </p:txBody>
      </p:sp>
      <p:sp>
        <p:nvSpPr>
          <p:cNvPr id="13" name="Rectangle 12"/>
          <p:cNvSpPr/>
          <p:nvPr/>
        </p:nvSpPr>
        <p:spPr>
          <a:xfrm>
            <a:off x="320040" y="3566160"/>
            <a:ext cx="11430000" cy="105156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703320"/>
            <a:ext cx="54864" cy="777239"/>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75887"/>
            <a:ext cx="11155680" cy="310896"/>
          </a:xfrm>
          <a:prstGeom prst="rect">
            <a:avLst/>
          </a:prstGeom>
          <a:noFill/>
        </p:spPr>
        <p:txBody>
          <a:bodyPr wrap="square" anchor="ctr">
            <a:spAutoFit/>
          </a:bodyPr>
          <a:lstStyle/>
          <a:p>
            <a:pPr algn="l"/>
            <a:r>
              <a:rPr sz="1300" b="1" i="0">
                <a:solidFill>
                  <a:srgbClr val="1B3A5C"/>
                </a:solidFill>
                <a:latin typeface="Calibri"/>
              </a:rPr>
              <a:t>Problema</a:t>
            </a:r>
          </a:p>
        </p:txBody>
      </p:sp>
      <p:sp>
        <p:nvSpPr>
          <p:cNvPr id="16" name="TextBox 15"/>
          <p:cNvSpPr txBox="1"/>
          <p:nvPr/>
        </p:nvSpPr>
        <p:spPr>
          <a:xfrm>
            <a:off x="484632" y="4005072"/>
            <a:ext cx="11155680" cy="521207"/>
          </a:xfrm>
          <a:prstGeom prst="rect">
            <a:avLst/>
          </a:prstGeom>
          <a:noFill/>
        </p:spPr>
        <p:txBody>
          <a:bodyPr wrap="square" anchor="t">
            <a:spAutoFit/>
          </a:bodyPr>
          <a:lstStyle/>
          <a:p>
            <a:pPr algn="l"/>
            <a:r>
              <a:rPr sz="1300" b="0" i="0">
                <a:solidFill>
                  <a:srgbClr val="334155"/>
                </a:solidFill>
                <a:latin typeface="Calibri"/>
              </a:rPr>
              <a:t>Falta evidencia para decidir si conviene invertir en una planta propia para atender ese nicho.</a:t>
            </a:r>
          </a:p>
        </p:txBody>
      </p:sp>
      <p:sp>
        <p:nvSpPr>
          <p:cNvPr id="17" name="Rectangle 16"/>
          <p:cNvSpPr/>
          <p:nvPr/>
        </p:nvSpPr>
        <p:spPr>
          <a:xfrm>
            <a:off x="320040" y="4800600"/>
            <a:ext cx="11430000" cy="13258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4873752"/>
            <a:ext cx="10972800" cy="274320"/>
          </a:xfrm>
          <a:prstGeom prst="rect">
            <a:avLst/>
          </a:prstGeom>
          <a:noFill/>
        </p:spPr>
        <p:txBody>
          <a:bodyPr wrap="square" anchor="ctr">
            <a:spAutoFit/>
          </a:bodyPr>
          <a:lstStyle/>
          <a:p>
            <a:pPr algn="l"/>
            <a:r>
              <a:rPr sz="1000" b="1" i="0">
                <a:solidFill>
                  <a:srgbClr val="9ECFD5"/>
                </a:solidFill>
                <a:latin typeface="Calibri"/>
              </a:rPr>
              <a:t>PREGUNTA DE INVESTIGACIÓN</a:t>
            </a:r>
          </a:p>
        </p:txBody>
      </p:sp>
      <p:sp>
        <p:nvSpPr>
          <p:cNvPr id="19" name="TextBox 18"/>
          <p:cNvSpPr txBox="1"/>
          <p:nvPr/>
        </p:nvSpPr>
        <p:spPr>
          <a:xfrm>
            <a:off x="548640" y="5166360"/>
            <a:ext cx="10972800" cy="868680"/>
          </a:xfrm>
          <a:prstGeom prst="rect">
            <a:avLst/>
          </a:prstGeom>
          <a:noFill/>
        </p:spPr>
        <p:txBody>
          <a:bodyPr wrap="square" anchor="ctr">
            <a:spAutoFit/>
          </a:bodyPr>
          <a:lstStyle/>
          <a:p>
            <a:pPr algn="l"/>
            <a:r>
              <a:rPr sz="1400" b="1" i="0">
                <a:solidFill>
                  <a:srgbClr val="FFFFFF"/>
                </a:solidFill>
                <a:latin typeface="Calibri"/>
              </a:rPr>
              <a:t>¿Es prefactible, en las dimensiones de mercado, técnica, organizacional, legal, ambiental, financiera y de riesgos, producir y distribuir leche fresca pasteurizada bajo la marca "Pura" para el mercado nicho del canal HoReCa y del canal detalle de la región central de Honduras?</a:t>
            </a:r>
          </a:p>
        </p:txBody>
      </p:sp>
      <p:sp>
        <p:nvSpPr>
          <p:cNvPr id="20" name="TextBox 1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DISEÑO METODOLÓGICO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Diseño Metodológico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3429000" cy="310896"/>
          </a:xfrm>
          <a:prstGeom prst="rect">
            <a:avLst/>
          </a:prstGeom>
          <a:noFill/>
        </p:spPr>
        <p:txBody>
          <a:bodyPr wrap="square" anchor="ctr">
            <a:spAutoFit/>
          </a:bodyPr>
          <a:lstStyle/>
          <a:p>
            <a:pPr algn="l"/>
            <a:r>
              <a:rPr sz="1300" b="1" i="0">
                <a:solidFill>
                  <a:srgbClr val="1B3A5C"/>
                </a:solidFill>
                <a:latin typeface="Calibri"/>
              </a:rPr>
              <a:t>Tipo de estudio</a:t>
            </a:r>
          </a:p>
        </p:txBody>
      </p:sp>
      <p:sp>
        <p:nvSpPr>
          <p:cNvPr id="8" name="TextBox 7"/>
          <p:cNvSpPr txBox="1"/>
          <p:nvPr/>
        </p:nvSpPr>
        <p:spPr>
          <a:xfrm>
            <a:off x="484632" y="1609344"/>
            <a:ext cx="3429000" cy="1801367"/>
          </a:xfrm>
          <a:prstGeom prst="rect">
            <a:avLst/>
          </a:prstGeom>
          <a:noFill/>
        </p:spPr>
        <p:txBody>
          <a:bodyPr wrap="square" anchor="t">
            <a:spAutoFit/>
          </a:bodyPr>
          <a:lstStyle/>
          <a:p>
            <a:pPr algn="l"/>
            <a:r>
              <a:rPr sz="1300" b="0" i="0">
                <a:solidFill>
                  <a:srgbClr val="334155"/>
                </a:solidFill>
                <a:latin typeface="Calibri"/>
              </a:rPr>
              <a:t>Prefactibilidad con enfoque mixto, descriptivo y proyectivo, según la metodología ONUDI.</a:t>
            </a:r>
          </a:p>
        </p:txBody>
      </p:sp>
      <p:sp>
        <p:nvSpPr>
          <p:cNvPr id="9" name="Rectangle 8"/>
          <p:cNvSpPr/>
          <p:nvPr/>
        </p:nvSpPr>
        <p:spPr>
          <a:xfrm>
            <a:off x="4187952"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87952" y="1307592"/>
            <a:ext cx="54864" cy="20574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52544" y="1280160"/>
            <a:ext cx="3429000" cy="310896"/>
          </a:xfrm>
          <a:prstGeom prst="rect">
            <a:avLst/>
          </a:prstGeom>
          <a:noFill/>
        </p:spPr>
        <p:txBody>
          <a:bodyPr wrap="square" anchor="ctr">
            <a:spAutoFit/>
          </a:bodyPr>
          <a:lstStyle/>
          <a:p>
            <a:pPr algn="l"/>
            <a:r>
              <a:rPr sz="1300" b="1" i="0">
                <a:solidFill>
                  <a:srgbClr val="1B3A5C"/>
                </a:solidFill>
                <a:latin typeface="Calibri"/>
              </a:rPr>
              <a:t>Fuentes de información</a:t>
            </a:r>
          </a:p>
        </p:txBody>
      </p:sp>
      <p:sp>
        <p:nvSpPr>
          <p:cNvPr id="12" name="TextBox 11"/>
          <p:cNvSpPr txBox="1"/>
          <p:nvPr/>
        </p:nvSpPr>
        <p:spPr>
          <a:xfrm>
            <a:off x="4352544" y="1609344"/>
            <a:ext cx="3429000" cy="1801367"/>
          </a:xfrm>
          <a:prstGeom prst="rect">
            <a:avLst/>
          </a:prstGeom>
          <a:noFill/>
        </p:spPr>
        <p:txBody>
          <a:bodyPr wrap="square" anchor="t">
            <a:spAutoFit/>
          </a:bodyPr>
          <a:lstStyle/>
          <a:p>
            <a:pPr algn="l"/>
            <a:r>
              <a:rPr sz="1300" b="0" i="0">
                <a:solidFill>
                  <a:srgbClr val="334155"/>
                </a:solidFill>
                <a:latin typeface="Calibri"/>
              </a:rPr>
              <a:t>Primarias: encuesta validada por expertos (abr–may 2026) y cotizaciones (Grupo Disatyr). Secundarias: BCH, INE, SAG, SENASA, ARSA y FAOSTAT.</a:t>
            </a:r>
          </a:p>
        </p:txBody>
      </p:sp>
      <p:sp>
        <p:nvSpPr>
          <p:cNvPr id="13" name="Rectangle 12"/>
          <p:cNvSpPr/>
          <p:nvPr/>
        </p:nvSpPr>
        <p:spPr>
          <a:xfrm>
            <a:off x="8055864"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55864"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0456" y="1280160"/>
            <a:ext cx="3429000" cy="310896"/>
          </a:xfrm>
          <a:prstGeom prst="rect">
            <a:avLst/>
          </a:prstGeom>
          <a:noFill/>
        </p:spPr>
        <p:txBody>
          <a:bodyPr wrap="square" anchor="ctr">
            <a:spAutoFit/>
          </a:bodyPr>
          <a:lstStyle/>
          <a:p>
            <a:pPr algn="l"/>
            <a:r>
              <a:rPr sz="1300" b="1" i="0">
                <a:solidFill>
                  <a:srgbClr val="1B3A5C"/>
                </a:solidFill>
                <a:latin typeface="Calibri"/>
              </a:rPr>
              <a:t>Técnicas de análisis</a:t>
            </a:r>
          </a:p>
        </p:txBody>
      </p:sp>
      <p:sp>
        <p:nvSpPr>
          <p:cNvPr id="16" name="TextBox 15"/>
          <p:cNvSpPr txBox="1"/>
          <p:nvPr/>
        </p:nvSpPr>
        <p:spPr>
          <a:xfrm>
            <a:off x="8220456" y="1609344"/>
            <a:ext cx="3429000" cy="1801367"/>
          </a:xfrm>
          <a:prstGeom prst="rect">
            <a:avLst/>
          </a:prstGeom>
          <a:noFill/>
        </p:spPr>
        <p:txBody>
          <a:bodyPr wrap="square" anchor="t">
            <a:spAutoFit/>
          </a:bodyPr>
          <a:lstStyle/>
          <a:p>
            <a:pPr algn="l"/>
            <a:r>
              <a:rPr sz="1300" b="0" i="0">
                <a:solidFill>
                  <a:srgbClr val="334155"/>
                </a:solidFill>
                <a:latin typeface="Calibri"/>
              </a:rPr>
              <a:t>PESTEL y Porter; matriz de localización; flujo descontado a 10 años; sensibilidad, escenarios y Monte Carlo (@RISK).</a:t>
            </a:r>
          </a:p>
        </p:txBody>
      </p:sp>
      <p:sp>
        <p:nvSpPr>
          <p:cNvPr id="17" name="TextBox 16"/>
          <p:cNvSpPr txBox="1"/>
          <p:nvPr/>
        </p:nvSpPr>
        <p:spPr>
          <a:xfrm>
            <a:off x="320040" y="3657600"/>
            <a:ext cx="11430000" cy="310896"/>
          </a:xfrm>
          <a:prstGeom prst="rect">
            <a:avLst/>
          </a:prstGeom>
          <a:noFill/>
        </p:spPr>
        <p:txBody>
          <a:bodyPr wrap="square" anchor="ctr">
            <a:spAutoFit/>
          </a:bodyPr>
          <a:lstStyle/>
          <a:p>
            <a:pPr algn="l"/>
            <a:r>
              <a:rPr sz="1300" b="1" i="0">
                <a:solidFill>
                  <a:srgbClr val="1B3A5C"/>
                </a:solidFill>
                <a:latin typeface="Calibri"/>
              </a:rPr>
              <a:t>Cálculo de la muestra</a:t>
            </a:r>
          </a:p>
        </p:txBody>
      </p:sp>
      <p:sp>
        <p:nvSpPr>
          <p:cNvPr id="18" name="Rectangle 17"/>
          <p:cNvSpPr/>
          <p:nvPr/>
        </p:nvSpPr>
        <p:spPr>
          <a:xfrm>
            <a:off x="320040" y="4023360"/>
            <a:ext cx="30175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4023360"/>
            <a:ext cx="2980944" cy="329184"/>
          </a:xfrm>
          <a:prstGeom prst="rect">
            <a:avLst/>
          </a:prstGeom>
          <a:noFill/>
        </p:spPr>
        <p:txBody>
          <a:bodyPr wrap="square" anchor="ctr" lIns="45720" rIns="45720" tIns="9144" bIns="9144">
            <a:spAutoFit/>
          </a:bodyPr>
          <a:lstStyle/>
          <a:p>
            <a:pPr algn="l"/>
            <a:r>
              <a:rPr sz="1050" b="1" i="0">
                <a:solidFill>
                  <a:srgbClr val="FFFFFF"/>
                </a:solidFill>
                <a:latin typeface="Calibri"/>
              </a:rPr>
              <a:t>Parámetro</a:t>
            </a:r>
          </a:p>
        </p:txBody>
      </p:sp>
      <p:sp>
        <p:nvSpPr>
          <p:cNvPr id="20" name="Rectangle 19"/>
          <p:cNvSpPr/>
          <p:nvPr/>
        </p:nvSpPr>
        <p:spPr>
          <a:xfrm>
            <a:off x="3337560" y="4023360"/>
            <a:ext cx="173736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55848" y="4023360"/>
            <a:ext cx="1700784" cy="329184"/>
          </a:xfrm>
          <a:prstGeom prst="rect">
            <a:avLst/>
          </a:prstGeom>
          <a:noFill/>
        </p:spPr>
        <p:txBody>
          <a:bodyPr wrap="square" anchor="ctr" lIns="45720" rIns="45720" tIns="9144" bIns="9144">
            <a:spAutoFit/>
          </a:bodyPr>
          <a:lstStyle/>
          <a:p>
            <a:pPr algn="ctr"/>
            <a:r>
              <a:rPr sz="1050" b="1" i="0">
                <a:solidFill>
                  <a:srgbClr val="FFFFFF"/>
                </a:solidFill>
                <a:latin typeface="Calibri"/>
              </a:rPr>
              <a:t>Valor</a:t>
            </a:r>
          </a:p>
        </p:txBody>
      </p:sp>
      <p:sp>
        <p:nvSpPr>
          <p:cNvPr id="22" name="Rectangle 21"/>
          <p:cNvSpPr/>
          <p:nvPr/>
        </p:nvSpPr>
        <p:spPr>
          <a:xfrm>
            <a:off x="5074920" y="4023360"/>
            <a:ext cx="66751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93207" y="4023360"/>
            <a:ext cx="6638544" cy="329184"/>
          </a:xfrm>
          <a:prstGeom prst="rect">
            <a:avLst/>
          </a:prstGeom>
          <a:noFill/>
        </p:spPr>
        <p:txBody>
          <a:bodyPr wrap="square" anchor="ctr" lIns="45720" rIns="45720" tIns="9144" bIns="9144">
            <a:spAutoFit/>
          </a:bodyPr>
          <a:lstStyle/>
          <a:p>
            <a:pPr algn="l"/>
            <a:r>
              <a:rPr sz="1050" b="1" i="0">
                <a:solidFill>
                  <a:srgbClr val="FFFFFF"/>
                </a:solidFill>
                <a:latin typeface="Calibri"/>
              </a:rPr>
              <a:t>Nota</a:t>
            </a:r>
          </a:p>
        </p:txBody>
      </p:sp>
      <p:sp>
        <p:nvSpPr>
          <p:cNvPr id="24" name="Rectangle 23"/>
          <p:cNvSpPr/>
          <p:nvPr/>
        </p:nvSpPr>
        <p:spPr>
          <a:xfrm>
            <a:off x="320040" y="435254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8328" y="435254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Población objetivo (N)</a:t>
            </a:r>
          </a:p>
        </p:txBody>
      </p:sp>
      <p:sp>
        <p:nvSpPr>
          <p:cNvPr id="26" name="Rectangle 25"/>
          <p:cNvSpPr/>
          <p:nvPr/>
        </p:nvSpPr>
        <p:spPr>
          <a:xfrm>
            <a:off x="3337560" y="435254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55848" y="435254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500 establecimientos</a:t>
            </a:r>
          </a:p>
        </p:txBody>
      </p:sp>
      <p:sp>
        <p:nvSpPr>
          <p:cNvPr id="28" name="Rectangle 27"/>
          <p:cNvSpPr/>
          <p:nvPr/>
        </p:nvSpPr>
        <p:spPr>
          <a:xfrm>
            <a:off x="5074920" y="435254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93207" y="435254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Base de clientes de la región central</a:t>
            </a:r>
          </a:p>
        </p:txBody>
      </p:sp>
      <p:sp>
        <p:nvSpPr>
          <p:cNvPr id="30" name="Rectangle 29"/>
          <p:cNvSpPr/>
          <p:nvPr/>
        </p:nvSpPr>
        <p:spPr>
          <a:xfrm>
            <a:off x="320040" y="471830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71830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Encuestas obtenidas (n)</a:t>
            </a:r>
          </a:p>
        </p:txBody>
      </p:sp>
      <p:sp>
        <p:nvSpPr>
          <p:cNvPr id="32" name="Rectangle 31"/>
          <p:cNvSpPr/>
          <p:nvPr/>
        </p:nvSpPr>
        <p:spPr>
          <a:xfrm>
            <a:off x="3337560" y="471830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355848" y="471830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63</a:t>
            </a:r>
          </a:p>
        </p:txBody>
      </p:sp>
      <p:sp>
        <p:nvSpPr>
          <p:cNvPr id="34" name="Rectangle 33"/>
          <p:cNvSpPr/>
          <p:nvPr/>
        </p:nvSpPr>
        <p:spPr>
          <a:xfrm>
            <a:off x="5074920" y="471830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093207" y="471830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Selección no probabilística</a:t>
            </a:r>
          </a:p>
        </p:txBody>
      </p:sp>
      <p:sp>
        <p:nvSpPr>
          <p:cNvPr id="36" name="Rectangle 35"/>
          <p:cNvSpPr/>
          <p:nvPr/>
        </p:nvSpPr>
        <p:spPr>
          <a:xfrm>
            <a:off x="320040" y="508406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508406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Error con n = 63 (95 %, p = q = 0.5)</a:t>
            </a:r>
          </a:p>
        </p:txBody>
      </p:sp>
      <p:sp>
        <p:nvSpPr>
          <p:cNvPr id="38" name="Rectangle 37"/>
          <p:cNvSpPr/>
          <p:nvPr/>
        </p:nvSpPr>
        <p:spPr>
          <a:xfrm>
            <a:off x="3337560" y="508406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55848" y="508406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 11.55 %</a:t>
            </a:r>
          </a:p>
        </p:txBody>
      </p:sp>
      <p:sp>
        <p:nvSpPr>
          <p:cNvPr id="40" name="Rectangle 39"/>
          <p:cNvSpPr/>
          <p:nvPr/>
        </p:nvSpPr>
        <p:spPr>
          <a:xfrm>
            <a:off x="5074920" y="508406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93207" y="508406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Referencia teórica, población finita</a:t>
            </a:r>
          </a:p>
        </p:txBody>
      </p:sp>
      <p:sp>
        <p:nvSpPr>
          <p:cNvPr id="42" name="Rectangle 41"/>
          <p:cNvSpPr/>
          <p:nvPr/>
        </p:nvSpPr>
        <p:spPr>
          <a:xfrm>
            <a:off x="320040" y="544982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544982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Muestra para ± 5 % (95 %, p = q = 0.5)</a:t>
            </a:r>
          </a:p>
        </p:txBody>
      </p:sp>
      <p:sp>
        <p:nvSpPr>
          <p:cNvPr id="44" name="Rectangle 43"/>
          <p:cNvSpPr/>
          <p:nvPr/>
        </p:nvSpPr>
        <p:spPr>
          <a:xfrm>
            <a:off x="3337560" y="544982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355848" y="544982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218 encuestas</a:t>
            </a:r>
          </a:p>
        </p:txBody>
      </p:sp>
      <p:sp>
        <p:nvSpPr>
          <p:cNvPr id="46" name="Rectangle 45"/>
          <p:cNvSpPr/>
          <p:nvPr/>
        </p:nvSpPr>
        <p:spPr>
          <a:xfrm>
            <a:off x="5074920" y="544982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093207" y="544982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n = N·z²·p·q / [e²·(N−1) + z²·p·q]</a:t>
            </a:r>
          </a:p>
        </p:txBody>
      </p:sp>
      <p:sp>
        <p:nvSpPr>
          <p:cNvPr id="48" name="TextBox 47"/>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Resultados descriptivos: no se extrapolan a toda la población.</a:t>
            </a:r>
          </a:p>
        </p:txBody>
      </p:sp>
      <p:sp>
        <p:nvSpPr>
          <p:cNvPr id="49" name="TextBox 4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Técnico · Tamaño del Proyecto y Equipos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5760720" cy="310896"/>
          </a:xfrm>
          <a:prstGeom prst="rect">
            <a:avLst/>
          </a:prstGeom>
          <a:noFill/>
        </p:spPr>
        <p:txBody>
          <a:bodyPr wrap="square" anchor="ctr">
            <a:spAutoFit/>
          </a:bodyPr>
          <a:lstStyle/>
          <a:p>
            <a:pPr algn="l"/>
            <a:r>
              <a:rPr sz="1300" b="1" i="0">
                <a:solidFill>
                  <a:srgbClr val="1B3A5C"/>
                </a:solidFill>
                <a:latin typeface="Calibri"/>
              </a:rPr>
              <a:t>Justificación del tamaño: demanda frente a capacidad</a:t>
            </a:r>
          </a:p>
        </p:txBody>
      </p:sp>
      <p:sp>
        <p:nvSpPr>
          <p:cNvPr id="6" name="Rectangle 5"/>
          <p:cNvSpPr/>
          <p:nvPr/>
        </p:nvSpPr>
        <p:spPr>
          <a:xfrm>
            <a:off x="320040" y="1463040"/>
            <a:ext cx="7315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63040"/>
            <a:ext cx="6949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Año</a:t>
            </a:r>
          </a:p>
        </p:txBody>
      </p:sp>
      <p:sp>
        <p:nvSpPr>
          <p:cNvPr id="8" name="Rectangle 7"/>
          <p:cNvSpPr/>
          <p:nvPr/>
        </p:nvSpPr>
        <p:spPr>
          <a:xfrm>
            <a:off x="105156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Clientes</a:t>
            </a:r>
          </a:p>
        </p:txBody>
      </p:sp>
      <p:sp>
        <p:nvSpPr>
          <p:cNvPr id="10" name="Rectangle 9"/>
          <p:cNvSpPr/>
          <p:nvPr/>
        </p:nvSpPr>
        <p:spPr>
          <a:xfrm>
            <a:off x="2057400" y="1463040"/>
            <a:ext cx="13716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75688" y="1463040"/>
            <a:ext cx="1335024" cy="365760"/>
          </a:xfrm>
          <a:prstGeom prst="rect">
            <a:avLst/>
          </a:prstGeom>
          <a:noFill/>
        </p:spPr>
        <p:txBody>
          <a:bodyPr wrap="square" anchor="ctr" lIns="45720" rIns="45720" tIns="9144" bIns="9144">
            <a:spAutoFit/>
          </a:bodyPr>
          <a:lstStyle/>
          <a:p>
            <a:pPr algn="ctr"/>
            <a:r>
              <a:rPr sz="1050" b="1" i="0">
                <a:solidFill>
                  <a:srgbClr val="FFFFFF"/>
                </a:solidFill>
                <a:latin typeface="Calibri"/>
              </a:rPr>
              <a:t>Leche cruda (L/día)</a:t>
            </a:r>
          </a:p>
        </p:txBody>
      </p:sp>
      <p:sp>
        <p:nvSpPr>
          <p:cNvPr id="12" name="Rectangle 11"/>
          <p:cNvSpPr/>
          <p:nvPr/>
        </p:nvSpPr>
        <p:spPr>
          <a:xfrm>
            <a:off x="342900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1,000 L/día</a:t>
            </a:r>
          </a:p>
        </p:txBody>
      </p:sp>
      <p:sp>
        <p:nvSpPr>
          <p:cNvPr id="14" name="Rectangle 13"/>
          <p:cNvSpPr/>
          <p:nvPr/>
        </p:nvSpPr>
        <p:spPr>
          <a:xfrm>
            <a:off x="475488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5,000 L/día</a:t>
            </a:r>
          </a:p>
        </p:txBody>
      </p:sp>
      <p:sp>
        <p:nvSpPr>
          <p:cNvPr id="16" name="Rectangle 15"/>
          <p:cNvSpPr/>
          <p:nvPr/>
        </p:nvSpPr>
        <p:spPr>
          <a:xfrm>
            <a:off x="320040" y="182880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8328" y="182880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a:t>
            </a:r>
          </a:p>
        </p:txBody>
      </p:sp>
      <p:sp>
        <p:nvSpPr>
          <p:cNvPr id="18" name="Rectangle 17"/>
          <p:cNvSpPr/>
          <p:nvPr/>
        </p:nvSpPr>
        <p:spPr>
          <a:xfrm>
            <a:off x="1051560" y="182880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 y="182880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60</a:t>
            </a:r>
          </a:p>
        </p:txBody>
      </p:sp>
      <p:sp>
        <p:nvSpPr>
          <p:cNvPr id="20" name="Rectangle 19"/>
          <p:cNvSpPr/>
          <p:nvPr/>
        </p:nvSpPr>
        <p:spPr>
          <a:xfrm>
            <a:off x="2057400" y="182880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075688" y="182880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a:t>
            </a:r>
          </a:p>
        </p:txBody>
      </p:sp>
      <p:sp>
        <p:nvSpPr>
          <p:cNvPr id="22" name="Rectangle 21"/>
          <p:cNvSpPr/>
          <p:nvPr/>
        </p:nvSpPr>
        <p:spPr>
          <a:xfrm>
            <a:off x="342900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4728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30.5 %</a:t>
            </a:r>
          </a:p>
        </p:txBody>
      </p:sp>
      <p:sp>
        <p:nvSpPr>
          <p:cNvPr id="24" name="Rectangle 23"/>
          <p:cNvSpPr/>
          <p:nvPr/>
        </p:nvSpPr>
        <p:spPr>
          <a:xfrm>
            <a:off x="475488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7316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6.1 %</a:t>
            </a:r>
          </a:p>
        </p:txBody>
      </p:sp>
      <p:sp>
        <p:nvSpPr>
          <p:cNvPr id="26" name="Rectangle 25"/>
          <p:cNvSpPr/>
          <p:nvPr/>
        </p:nvSpPr>
        <p:spPr>
          <a:xfrm>
            <a:off x="320040" y="219456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219456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a:t>
            </a:r>
          </a:p>
        </p:txBody>
      </p:sp>
      <p:sp>
        <p:nvSpPr>
          <p:cNvPr id="28" name="Rectangle 27"/>
          <p:cNvSpPr/>
          <p:nvPr/>
        </p:nvSpPr>
        <p:spPr>
          <a:xfrm>
            <a:off x="1051560" y="219456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69848" y="219456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100</a:t>
            </a:r>
          </a:p>
        </p:txBody>
      </p:sp>
      <p:sp>
        <p:nvSpPr>
          <p:cNvPr id="30" name="Rectangle 29"/>
          <p:cNvSpPr/>
          <p:nvPr/>
        </p:nvSpPr>
        <p:spPr>
          <a:xfrm>
            <a:off x="2057400" y="219456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75688" y="219456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a:t>
            </a:r>
          </a:p>
        </p:txBody>
      </p:sp>
      <p:sp>
        <p:nvSpPr>
          <p:cNvPr id="32" name="Rectangle 31"/>
          <p:cNvSpPr/>
          <p:nvPr/>
        </p:nvSpPr>
        <p:spPr>
          <a:xfrm>
            <a:off x="342900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44728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50.8 %</a:t>
            </a:r>
          </a:p>
        </p:txBody>
      </p:sp>
      <p:sp>
        <p:nvSpPr>
          <p:cNvPr id="34" name="Rectangle 33"/>
          <p:cNvSpPr/>
          <p:nvPr/>
        </p:nvSpPr>
        <p:spPr>
          <a:xfrm>
            <a:off x="475488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7316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10.2 %</a:t>
            </a:r>
          </a:p>
        </p:txBody>
      </p:sp>
      <p:sp>
        <p:nvSpPr>
          <p:cNvPr id="36" name="Rectangle 35"/>
          <p:cNvSpPr/>
          <p:nvPr/>
        </p:nvSpPr>
        <p:spPr>
          <a:xfrm>
            <a:off x="320040" y="256032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256032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3</a:t>
            </a:r>
          </a:p>
        </p:txBody>
      </p:sp>
      <p:sp>
        <p:nvSpPr>
          <p:cNvPr id="38" name="Rectangle 37"/>
          <p:cNvSpPr/>
          <p:nvPr/>
        </p:nvSpPr>
        <p:spPr>
          <a:xfrm>
            <a:off x="1051560" y="256032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69848" y="256032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150</a:t>
            </a:r>
          </a:p>
        </p:txBody>
      </p:sp>
      <p:sp>
        <p:nvSpPr>
          <p:cNvPr id="40" name="Rectangle 39"/>
          <p:cNvSpPr/>
          <p:nvPr/>
        </p:nvSpPr>
        <p:spPr>
          <a:xfrm>
            <a:off x="2057400" y="256032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075688" y="256032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a:t>
            </a:r>
          </a:p>
        </p:txBody>
      </p:sp>
      <p:sp>
        <p:nvSpPr>
          <p:cNvPr id="42" name="Rectangle 41"/>
          <p:cNvSpPr/>
          <p:nvPr/>
        </p:nvSpPr>
        <p:spPr>
          <a:xfrm>
            <a:off x="342900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44728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76.3 %</a:t>
            </a:r>
          </a:p>
        </p:txBody>
      </p:sp>
      <p:sp>
        <p:nvSpPr>
          <p:cNvPr id="44" name="Rectangle 43"/>
          <p:cNvSpPr/>
          <p:nvPr/>
        </p:nvSpPr>
        <p:spPr>
          <a:xfrm>
            <a:off x="475488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77316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15.3 %</a:t>
            </a:r>
          </a:p>
        </p:txBody>
      </p:sp>
      <p:sp>
        <p:nvSpPr>
          <p:cNvPr id="46" name="Rectangle 45"/>
          <p:cNvSpPr/>
          <p:nvPr/>
        </p:nvSpPr>
        <p:spPr>
          <a:xfrm>
            <a:off x="320040" y="292607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8328" y="292607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4</a:t>
            </a:r>
          </a:p>
        </p:txBody>
      </p:sp>
      <p:sp>
        <p:nvSpPr>
          <p:cNvPr id="48" name="Rectangle 47"/>
          <p:cNvSpPr/>
          <p:nvPr/>
        </p:nvSpPr>
        <p:spPr>
          <a:xfrm>
            <a:off x="1051560" y="292607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69848" y="292607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210</a:t>
            </a:r>
          </a:p>
        </p:txBody>
      </p:sp>
      <p:sp>
        <p:nvSpPr>
          <p:cNvPr id="50" name="Rectangle 49"/>
          <p:cNvSpPr/>
          <p:nvPr/>
        </p:nvSpPr>
        <p:spPr>
          <a:xfrm>
            <a:off x="2057400" y="292607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075688" y="292607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a:t>
            </a:r>
          </a:p>
        </p:txBody>
      </p:sp>
      <p:sp>
        <p:nvSpPr>
          <p:cNvPr id="52" name="Rectangle 51"/>
          <p:cNvSpPr/>
          <p:nvPr/>
        </p:nvSpPr>
        <p:spPr>
          <a:xfrm>
            <a:off x="342900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44728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106.8 %</a:t>
            </a:r>
          </a:p>
        </p:txBody>
      </p:sp>
      <p:sp>
        <p:nvSpPr>
          <p:cNvPr id="54" name="Rectangle 53"/>
          <p:cNvSpPr/>
          <p:nvPr/>
        </p:nvSpPr>
        <p:spPr>
          <a:xfrm>
            <a:off x="475488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77316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21.4 %</a:t>
            </a:r>
          </a:p>
        </p:txBody>
      </p:sp>
      <p:sp>
        <p:nvSpPr>
          <p:cNvPr id="56" name="Rectangle 55"/>
          <p:cNvSpPr/>
          <p:nvPr/>
        </p:nvSpPr>
        <p:spPr>
          <a:xfrm>
            <a:off x="320040" y="329183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38328" y="329183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5</a:t>
            </a:r>
          </a:p>
        </p:txBody>
      </p:sp>
      <p:sp>
        <p:nvSpPr>
          <p:cNvPr id="58" name="Rectangle 57"/>
          <p:cNvSpPr/>
          <p:nvPr/>
        </p:nvSpPr>
        <p:spPr>
          <a:xfrm>
            <a:off x="1051560" y="329183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069848" y="329183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280</a:t>
            </a:r>
          </a:p>
        </p:txBody>
      </p:sp>
      <p:sp>
        <p:nvSpPr>
          <p:cNvPr id="60" name="Rectangle 59"/>
          <p:cNvSpPr/>
          <p:nvPr/>
        </p:nvSpPr>
        <p:spPr>
          <a:xfrm>
            <a:off x="2057400" y="329183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075688" y="329183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a:t>
            </a:r>
          </a:p>
        </p:txBody>
      </p:sp>
      <p:sp>
        <p:nvSpPr>
          <p:cNvPr id="62" name="Rectangle 61"/>
          <p:cNvSpPr/>
          <p:nvPr/>
        </p:nvSpPr>
        <p:spPr>
          <a:xfrm>
            <a:off x="342900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142.4 %</a:t>
            </a:r>
          </a:p>
        </p:txBody>
      </p:sp>
      <p:sp>
        <p:nvSpPr>
          <p:cNvPr id="64" name="Rectangle 63"/>
          <p:cNvSpPr/>
          <p:nvPr/>
        </p:nvSpPr>
        <p:spPr>
          <a:xfrm>
            <a:off x="475488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77316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28.5 %</a:t>
            </a:r>
          </a:p>
        </p:txBody>
      </p:sp>
      <p:sp>
        <p:nvSpPr>
          <p:cNvPr id="66" name="Rectangle 65"/>
          <p:cNvSpPr/>
          <p:nvPr/>
        </p:nvSpPr>
        <p:spPr>
          <a:xfrm>
            <a:off x="320040" y="365759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65759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a:t>
            </a:r>
          </a:p>
        </p:txBody>
      </p:sp>
      <p:sp>
        <p:nvSpPr>
          <p:cNvPr id="68" name="Rectangle 67"/>
          <p:cNvSpPr/>
          <p:nvPr/>
        </p:nvSpPr>
        <p:spPr>
          <a:xfrm>
            <a:off x="1051560" y="365759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69848" y="365759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690</a:t>
            </a:r>
          </a:p>
        </p:txBody>
      </p:sp>
      <p:sp>
        <p:nvSpPr>
          <p:cNvPr id="70" name="Rectangle 69"/>
          <p:cNvSpPr/>
          <p:nvPr/>
        </p:nvSpPr>
        <p:spPr>
          <a:xfrm>
            <a:off x="2057400" y="365759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075688" y="365759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a:t>
            </a:r>
          </a:p>
        </p:txBody>
      </p:sp>
      <p:sp>
        <p:nvSpPr>
          <p:cNvPr id="72" name="Rectangle 71"/>
          <p:cNvSpPr/>
          <p:nvPr/>
        </p:nvSpPr>
        <p:spPr>
          <a:xfrm>
            <a:off x="342900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44728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350.8 %</a:t>
            </a:r>
          </a:p>
        </p:txBody>
      </p:sp>
      <p:sp>
        <p:nvSpPr>
          <p:cNvPr id="74" name="Rectangle 73"/>
          <p:cNvSpPr/>
          <p:nvPr/>
        </p:nvSpPr>
        <p:spPr>
          <a:xfrm>
            <a:off x="475488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77316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70.2 %</a:t>
            </a:r>
          </a:p>
        </p:txBody>
      </p:sp>
      <p:sp>
        <p:nvSpPr>
          <p:cNvPr id="76" name="TextBox 75"/>
          <p:cNvSpPr txBox="1"/>
          <p:nvPr/>
        </p:nvSpPr>
        <p:spPr>
          <a:xfrm>
            <a:off x="320040" y="4114800"/>
            <a:ext cx="5760720" cy="1737360"/>
          </a:xfrm>
          <a:prstGeom prst="rect">
            <a:avLst/>
          </a:prstGeom>
          <a:noFill/>
        </p:spPr>
        <p:txBody>
          <a:bodyPr wrap="square" anchor="t">
            <a:spAutoFit/>
          </a:bodyPr>
          <a:lstStyle/>
          <a:p>
            <a:pPr algn="l">
              <a:spcAft>
                <a:spcPts val="600"/>
              </a:spcAft>
            </a:pPr>
            <a:r>
              <a:rPr sz="1200" b="0" i="0">
                <a:solidFill>
                  <a:srgbClr val="334155"/>
                </a:solidFill>
                <a:latin typeface="Calibri"/>
              </a:rPr>
              <a:t>1,000 L/día cubren los años 1 a 3 </a:t>
            </a:r>
            <a:r>
              <a:rPr sz="1200" b="1" i="0">
                <a:solidFill>
                  <a:srgbClr val="334155"/>
                </a:solidFill>
                <a:latin typeface="Calibri"/>
              </a:rPr>
              <a:t>(305 a 763 L/día).</a:t>
            </a:r>
          </a:p>
          <a:p>
            <a:pPr algn="l">
              <a:spcAft>
                <a:spcPts val="600"/>
              </a:spcAft>
            </a:pPr>
            <a:r>
              <a:rPr sz="1200" b="0" i="0">
                <a:solidFill>
                  <a:srgbClr val="334155"/>
                </a:solidFill>
                <a:latin typeface="Calibri"/>
              </a:rPr>
              <a:t>Desde el año 4 se opera con la capacidad de 5,000 L/día prevista en la inversión en tanques; en el año 10 se usa el 70 %.</a:t>
            </a:r>
          </a:p>
          <a:p>
            <a:pPr algn="l">
              <a:spcAft>
                <a:spcPts val="600"/>
              </a:spcAft>
            </a:pPr>
            <a:r>
              <a:rPr sz="1000" b="0" i="1">
                <a:solidFill>
                  <a:srgbClr val="64748B"/>
                </a:solidFill>
                <a:latin typeface="Calibri"/>
              </a:rPr>
              <a:t>Leche cruda = litros vendidos / (1 − 3 % de merma) / 365.</a:t>
            </a:r>
          </a:p>
        </p:txBody>
      </p:sp>
      <p:sp>
        <p:nvSpPr>
          <p:cNvPr id="77" name="TextBox 76"/>
          <p:cNvSpPr txBox="1"/>
          <p:nvPr/>
        </p:nvSpPr>
        <p:spPr>
          <a:xfrm>
            <a:off x="6355080" y="1097280"/>
            <a:ext cx="5394960" cy="310896"/>
          </a:xfrm>
          <a:prstGeom prst="rect">
            <a:avLst/>
          </a:prstGeom>
          <a:noFill/>
        </p:spPr>
        <p:txBody>
          <a:bodyPr wrap="square" anchor="ctr">
            <a:spAutoFit/>
          </a:bodyPr>
          <a:lstStyle/>
          <a:p>
            <a:pPr algn="l"/>
            <a:r>
              <a:rPr sz="1300" b="1" i="0">
                <a:solidFill>
                  <a:srgbClr val="1B3A5C"/>
                </a:solidFill>
                <a:latin typeface="Calibri"/>
              </a:rPr>
              <a:t>Equipos principales y costo (Tablas 11 y 16)</a:t>
            </a:r>
          </a:p>
        </p:txBody>
      </p:sp>
      <p:sp>
        <p:nvSpPr>
          <p:cNvPr id="78" name="Rectangle 77"/>
          <p:cNvSpPr/>
          <p:nvPr/>
        </p:nvSpPr>
        <p:spPr>
          <a:xfrm>
            <a:off x="6355080" y="1463040"/>
            <a:ext cx="3200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6373368" y="1463040"/>
            <a:ext cx="3163824" cy="365760"/>
          </a:xfrm>
          <a:prstGeom prst="rect">
            <a:avLst/>
          </a:prstGeom>
          <a:noFill/>
        </p:spPr>
        <p:txBody>
          <a:bodyPr wrap="square" anchor="ctr" lIns="45720" rIns="45720" tIns="9144" bIns="9144">
            <a:spAutoFit/>
          </a:bodyPr>
          <a:lstStyle/>
          <a:p>
            <a:pPr algn="l"/>
            <a:r>
              <a:rPr sz="1050" b="1" i="0">
                <a:solidFill>
                  <a:srgbClr val="FFFFFF"/>
                </a:solidFill>
                <a:latin typeface="Calibri"/>
              </a:rPr>
              <a:t>Equipo</a:t>
            </a:r>
          </a:p>
        </p:txBody>
      </p:sp>
      <p:sp>
        <p:nvSpPr>
          <p:cNvPr id="80" name="Rectangle 79"/>
          <p:cNvSpPr/>
          <p:nvPr/>
        </p:nvSpPr>
        <p:spPr>
          <a:xfrm>
            <a:off x="9555480" y="1463040"/>
            <a:ext cx="1188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9573767" y="1463040"/>
            <a:ext cx="11521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Costo (L)</a:t>
            </a:r>
          </a:p>
        </p:txBody>
      </p:sp>
      <p:sp>
        <p:nvSpPr>
          <p:cNvPr id="82" name="Rectangle 81"/>
          <p:cNvSpPr/>
          <p:nvPr/>
        </p:nvSpPr>
        <p:spPr>
          <a:xfrm>
            <a:off x="1074420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076248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Vida útil</a:t>
            </a:r>
          </a:p>
        </p:txBody>
      </p:sp>
      <p:sp>
        <p:nvSpPr>
          <p:cNvPr id="84" name="Rectangle 83"/>
          <p:cNvSpPr/>
          <p:nvPr/>
        </p:nvSpPr>
        <p:spPr>
          <a:xfrm>
            <a:off x="6355080" y="1828800"/>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6373368" y="1828800"/>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Tanques (recibo 2,000 L; almacenamiento 5,000 L)</a:t>
            </a:r>
          </a:p>
        </p:txBody>
      </p:sp>
      <p:sp>
        <p:nvSpPr>
          <p:cNvPr id="86" name="Rectangle 85"/>
          <p:cNvSpPr/>
          <p:nvPr/>
        </p:nvSpPr>
        <p:spPr>
          <a:xfrm>
            <a:off x="9555480" y="1828800"/>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9573767" y="1828800"/>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360,000</a:t>
            </a:r>
          </a:p>
        </p:txBody>
      </p:sp>
      <p:sp>
        <p:nvSpPr>
          <p:cNvPr id="88" name="Rectangle 87"/>
          <p:cNvSpPr/>
          <p:nvPr/>
        </p:nvSpPr>
        <p:spPr>
          <a:xfrm>
            <a:off x="10744200" y="1828800"/>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0762488" y="1828800"/>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0" name="Rectangle 89"/>
          <p:cNvSpPr/>
          <p:nvPr/>
        </p:nvSpPr>
        <p:spPr>
          <a:xfrm>
            <a:off x="6355080" y="2212848"/>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373368" y="2212848"/>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Pasteurizador HTST de placas</a:t>
            </a:r>
          </a:p>
        </p:txBody>
      </p:sp>
      <p:sp>
        <p:nvSpPr>
          <p:cNvPr id="92" name="Rectangle 91"/>
          <p:cNvSpPr/>
          <p:nvPr/>
        </p:nvSpPr>
        <p:spPr>
          <a:xfrm>
            <a:off x="9555480" y="2212848"/>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573767" y="2212848"/>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150,000</a:t>
            </a:r>
          </a:p>
        </p:txBody>
      </p:sp>
      <p:sp>
        <p:nvSpPr>
          <p:cNvPr id="94" name="Rectangle 93"/>
          <p:cNvSpPr/>
          <p:nvPr/>
        </p:nvSpPr>
        <p:spPr>
          <a:xfrm>
            <a:off x="10744200" y="2212848"/>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10762488" y="2212848"/>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6" name="Rectangle 95"/>
          <p:cNvSpPr/>
          <p:nvPr/>
        </p:nvSpPr>
        <p:spPr>
          <a:xfrm>
            <a:off x="6355080" y="2596896"/>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373368" y="2596896"/>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Envasadora automática</a:t>
            </a:r>
          </a:p>
        </p:txBody>
      </p:sp>
      <p:sp>
        <p:nvSpPr>
          <p:cNvPr id="98" name="Rectangle 97"/>
          <p:cNvSpPr/>
          <p:nvPr/>
        </p:nvSpPr>
        <p:spPr>
          <a:xfrm>
            <a:off x="9555480" y="2596896"/>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573767" y="2596896"/>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260,000</a:t>
            </a:r>
          </a:p>
        </p:txBody>
      </p:sp>
      <p:sp>
        <p:nvSpPr>
          <p:cNvPr id="100" name="Rectangle 99"/>
          <p:cNvSpPr/>
          <p:nvPr/>
        </p:nvSpPr>
        <p:spPr>
          <a:xfrm>
            <a:off x="10744200" y="2596896"/>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0762488" y="2596896"/>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2" name="Rectangle 101"/>
          <p:cNvSpPr/>
          <p:nvPr/>
        </p:nvSpPr>
        <p:spPr>
          <a:xfrm>
            <a:off x="6355080" y="2980944"/>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6373368" y="2980944"/>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Sistema de enfriamiento</a:t>
            </a:r>
          </a:p>
        </p:txBody>
      </p:sp>
      <p:sp>
        <p:nvSpPr>
          <p:cNvPr id="104" name="Rectangle 103"/>
          <p:cNvSpPr/>
          <p:nvPr/>
        </p:nvSpPr>
        <p:spPr>
          <a:xfrm>
            <a:off x="9555480" y="2980944"/>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573767" y="2980944"/>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125,000</a:t>
            </a:r>
          </a:p>
        </p:txBody>
      </p:sp>
      <p:sp>
        <p:nvSpPr>
          <p:cNvPr id="106" name="Rectangle 105"/>
          <p:cNvSpPr/>
          <p:nvPr/>
        </p:nvSpPr>
        <p:spPr>
          <a:xfrm>
            <a:off x="10744200" y="2980944"/>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762488" y="2980944"/>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8" name="Rectangle 107"/>
          <p:cNvSpPr/>
          <p:nvPr/>
        </p:nvSpPr>
        <p:spPr>
          <a:xfrm>
            <a:off x="6355080" y="3364991"/>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6373368" y="3364991"/>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Camión de distribución refrigerado</a:t>
            </a:r>
          </a:p>
        </p:txBody>
      </p:sp>
      <p:sp>
        <p:nvSpPr>
          <p:cNvPr id="110" name="Rectangle 109"/>
          <p:cNvSpPr/>
          <p:nvPr/>
        </p:nvSpPr>
        <p:spPr>
          <a:xfrm>
            <a:off x="9555480" y="3364991"/>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73767" y="3364991"/>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500,000</a:t>
            </a:r>
          </a:p>
        </p:txBody>
      </p:sp>
      <p:sp>
        <p:nvSpPr>
          <p:cNvPr id="112" name="Rectangle 111"/>
          <p:cNvSpPr/>
          <p:nvPr/>
        </p:nvSpPr>
        <p:spPr>
          <a:xfrm>
            <a:off x="10744200" y="3364991"/>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10762488" y="3364991"/>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5 años</a:t>
            </a:r>
          </a:p>
        </p:txBody>
      </p:sp>
      <p:sp>
        <p:nvSpPr>
          <p:cNvPr id="114" name="Rectangle 113"/>
          <p:cNvSpPr/>
          <p:nvPr/>
        </p:nvSpPr>
        <p:spPr>
          <a:xfrm>
            <a:off x="6355080" y="3749039"/>
            <a:ext cx="320040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373368" y="3749039"/>
            <a:ext cx="3163824" cy="384048"/>
          </a:xfrm>
          <a:prstGeom prst="rect">
            <a:avLst/>
          </a:prstGeom>
          <a:noFill/>
        </p:spPr>
        <p:txBody>
          <a:bodyPr wrap="square" anchor="ctr" lIns="45720" rIns="45720" tIns="9144" bIns="9144">
            <a:spAutoFit/>
          </a:bodyPr>
          <a:lstStyle/>
          <a:p>
            <a:pPr algn="l"/>
            <a:r>
              <a:rPr sz="1100" b="1" i="0">
                <a:solidFill>
                  <a:srgbClr val="0D2341"/>
                </a:solidFill>
                <a:latin typeface="Calibri"/>
              </a:rPr>
              <a:t>TOTAL ACTIVOS FIJOS</a:t>
            </a:r>
          </a:p>
        </p:txBody>
      </p:sp>
      <p:sp>
        <p:nvSpPr>
          <p:cNvPr id="116" name="Rectangle 115"/>
          <p:cNvSpPr/>
          <p:nvPr/>
        </p:nvSpPr>
        <p:spPr>
          <a:xfrm>
            <a:off x="9555480" y="3749039"/>
            <a:ext cx="11887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9573767" y="3749039"/>
            <a:ext cx="1152144" cy="384048"/>
          </a:xfrm>
          <a:prstGeom prst="rect">
            <a:avLst/>
          </a:prstGeom>
          <a:noFill/>
        </p:spPr>
        <p:txBody>
          <a:bodyPr wrap="square" anchor="ctr" lIns="45720" rIns="45720" tIns="9144" bIns="9144">
            <a:spAutoFit/>
          </a:bodyPr>
          <a:lstStyle/>
          <a:p>
            <a:pPr algn="r"/>
            <a:r>
              <a:rPr sz="1100" b="1" i="0">
                <a:solidFill>
                  <a:srgbClr val="0D2341"/>
                </a:solidFill>
                <a:latin typeface="Calibri"/>
              </a:rPr>
              <a:t>1,395,000</a:t>
            </a:r>
          </a:p>
        </p:txBody>
      </p:sp>
      <p:sp>
        <p:nvSpPr>
          <p:cNvPr id="118" name="Rectangle 117"/>
          <p:cNvSpPr/>
          <p:nvPr/>
        </p:nvSpPr>
        <p:spPr>
          <a:xfrm>
            <a:off x="10744200" y="3749039"/>
            <a:ext cx="1005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10762488" y="3749039"/>
            <a:ext cx="969264" cy="384048"/>
          </a:xfrm>
          <a:prstGeom prst="rect">
            <a:avLst/>
          </a:prstGeom>
          <a:noFill/>
        </p:spPr>
        <p:txBody>
          <a:bodyPr wrap="square" anchor="ctr" lIns="45720" rIns="45720" tIns="9144" bIns="9144">
            <a:spAutoFit/>
          </a:bodyPr>
          <a:lstStyle/>
          <a:p>
            <a:pPr algn="ctr"/>
            <a:r>
              <a:rPr sz="1100" b="1" i="0">
                <a:solidFill>
                  <a:srgbClr val="0D2341"/>
                </a:solidFill>
                <a:latin typeface="Calibri"/>
              </a:rPr>
              <a:t/>
            </a:r>
          </a:p>
        </p:txBody>
      </p:sp>
      <p:sp>
        <p:nvSpPr>
          <p:cNvPr id="120" name="TextBox 119"/>
          <p:cNvSpPr txBox="1"/>
          <p:nvPr/>
        </p:nvSpPr>
        <p:spPr>
          <a:xfrm>
            <a:off x="6355080" y="4297680"/>
            <a:ext cx="5394960" cy="1188720"/>
          </a:xfrm>
          <a:prstGeom prst="rect">
            <a:avLst/>
          </a:prstGeom>
          <a:noFill/>
        </p:spPr>
        <p:txBody>
          <a:bodyPr wrap="square" anchor="t">
            <a:spAutoFit/>
          </a:bodyPr>
          <a:lstStyle/>
          <a:p>
            <a:pPr algn="l"/>
            <a:r>
              <a:rPr sz="1100" b="0" i="0">
                <a:solidFill>
                  <a:srgbClr val="334155"/>
                </a:solidFill>
                <a:latin typeface="Calibri"/>
              </a:rPr>
              <a:t>Proveedor: Grupo Disatyr. Depreciación lineal: maquinaria 10 % y camión 20 % anual.</a:t>
            </a:r>
          </a:p>
        </p:txBody>
      </p:sp>
      <p:sp>
        <p:nvSpPr>
          <p:cNvPr id="121" name="TextBox 120"/>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de Materias Primas · Leche Cruda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79" y="1243584"/>
            <a:ext cx="2560320" cy="548640"/>
          </a:xfrm>
          <a:prstGeom prst="rect">
            <a:avLst/>
          </a:prstGeom>
          <a:noFill/>
        </p:spPr>
        <p:txBody>
          <a:bodyPr wrap="square" anchor="ctr">
            <a:spAutoFit/>
          </a:bodyPr>
          <a:lstStyle/>
          <a:p>
            <a:pPr algn="ctr"/>
            <a:r>
              <a:rPr sz="2200" b="1" i="0">
                <a:solidFill>
                  <a:srgbClr val="1A7A8A"/>
                </a:solidFill>
                <a:latin typeface="Calibri"/>
              </a:rPr>
              <a:t>111,340 L</a:t>
            </a:r>
          </a:p>
        </p:txBody>
      </p:sp>
      <p:sp>
        <p:nvSpPr>
          <p:cNvPr id="7" name="TextBox 6"/>
          <p:cNvSpPr txBox="1"/>
          <p:nvPr/>
        </p:nvSpPr>
        <p:spPr>
          <a:xfrm>
            <a:off x="411479"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a:t>
            </a:r>
          </a:p>
        </p:txBody>
      </p:sp>
      <p:sp>
        <p:nvSpPr>
          <p:cNvPr id="8" name="Rectangle 7"/>
          <p:cNvSpPr/>
          <p:nvPr/>
        </p:nvSpPr>
        <p:spPr>
          <a:xfrm>
            <a:off x="3200400" y="1170432"/>
            <a:ext cx="274320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1840" y="1243584"/>
            <a:ext cx="2560320" cy="548640"/>
          </a:xfrm>
          <a:prstGeom prst="rect">
            <a:avLst/>
          </a:prstGeom>
          <a:noFill/>
        </p:spPr>
        <p:txBody>
          <a:bodyPr wrap="square" anchor="ctr">
            <a:spAutoFit/>
          </a:bodyPr>
          <a:lstStyle/>
          <a:p>
            <a:pPr algn="ctr"/>
            <a:r>
              <a:rPr sz="2200" b="1" i="0">
                <a:solidFill>
                  <a:srgbClr val="1B3A5C"/>
                </a:solidFill>
                <a:latin typeface="Calibri"/>
              </a:rPr>
              <a:t>1.28 M L</a:t>
            </a:r>
          </a:p>
        </p:txBody>
      </p:sp>
      <p:sp>
        <p:nvSpPr>
          <p:cNvPr id="10" name="TextBox 9"/>
          <p:cNvSpPr txBox="1"/>
          <p:nvPr/>
        </p:nvSpPr>
        <p:spPr>
          <a:xfrm>
            <a:off x="3291840"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10</a:t>
            </a:r>
          </a:p>
        </p:txBody>
      </p:sp>
      <p:sp>
        <p:nvSpPr>
          <p:cNvPr id="11" name="Rectangle 10"/>
          <p:cNvSpPr/>
          <p:nvPr/>
        </p:nvSpPr>
        <p:spPr>
          <a:xfrm>
            <a:off x="608076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72200" y="1243584"/>
            <a:ext cx="2560320" cy="548640"/>
          </a:xfrm>
          <a:prstGeom prst="rect">
            <a:avLst/>
          </a:prstGeom>
          <a:noFill/>
        </p:spPr>
        <p:txBody>
          <a:bodyPr wrap="square" anchor="ctr">
            <a:spAutoFit/>
          </a:bodyPr>
          <a:lstStyle/>
          <a:p>
            <a:pPr algn="ctr"/>
            <a:r>
              <a:rPr sz="2200" b="1" i="0">
                <a:solidFill>
                  <a:srgbClr val="1A7A8A"/>
                </a:solidFill>
                <a:latin typeface="Calibri"/>
              </a:rPr>
              <a:t>0.21 %</a:t>
            </a:r>
          </a:p>
        </p:txBody>
      </p:sp>
      <p:sp>
        <p:nvSpPr>
          <p:cNvPr id="13" name="TextBox 12"/>
          <p:cNvSpPr txBox="1"/>
          <p:nvPr/>
        </p:nvSpPr>
        <p:spPr>
          <a:xfrm>
            <a:off x="6172200" y="1741017"/>
            <a:ext cx="2560320" cy="307238"/>
          </a:xfrm>
          <a:prstGeom prst="rect">
            <a:avLst/>
          </a:prstGeom>
          <a:noFill/>
        </p:spPr>
        <p:txBody>
          <a:bodyPr wrap="square" anchor="ctr">
            <a:spAutoFit/>
          </a:bodyPr>
          <a:lstStyle/>
          <a:p>
            <a:pPr algn="ctr"/>
            <a:r>
              <a:rPr sz="1000" b="0" i="0">
                <a:solidFill>
                  <a:srgbClr val="334155"/>
                </a:solidFill>
                <a:latin typeface="Calibri"/>
              </a:rPr>
              <a:t>De la producción nacional (año 10)</a:t>
            </a:r>
          </a:p>
        </p:txBody>
      </p:sp>
      <p:sp>
        <p:nvSpPr>
          <p:cNvPr id="14" name="Rectangle 13"/>
          <p:cNvSpPr/>
          <p:nvPr/>
        </p:nvSpPr>
        <p:spPr>
          <a:xfrm>
            <a:off x="8961120" y="1170432"/>
            <a:ext cx="278892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52560" y="1243584"/>
            <a:ext cx="2606039" cy="548640"/>
          </a:xfrm>
          <a:prstGeom prst="rect">
            <a:avLst/>
          </a:prstGeom>
          <a:noFill/>
        </p:spPr>
        <p:txBody>
          <a:bodyPr wrap="square" anchor="ctr">
            <a:spAutoFit/>
          </a:bodyPr>
          <a:lstStyle/>
          <a:p>
            <a:pPr algn="ctr"/>
            <a:r>
              <a:rPr sz="2200" b="1" i="0">
                <a:solidFill>
                  <a:srgbClr val="1B3A5C"/>
                </a:solidFill>
                <a:latin typeface="Calibri"/>
              </a:rPr>
              <a:t>L 112.7 M</a:t>
            </a:r>
          </a:p>
        </p:txBody>
      </p:sp>
      <p:sp>
        <p:nvSpPr>
          <p:cNvPr id="16" name="TextBox 15"/>
          <p:cNvSpPr txBox="1"/>
          <p:nvPr/>
        </p:nvSpPr>
        <p:spPr>
          <a:xfrm>
            <a:off x="9052560" y="1741017"/>
            <a:ext cx="2606039" cy="307238"/>
          </a:xfrm>
          <a:prstGeom prst="rect">
            <a:avLst/>
          </a:prstGeom>
          <a:noFill/>
        </p:spPr>
        <p:txBody>
          <a:bodyPr wrap="square" anchor="ctr">
            <a:spAutoFit/>
          </a:bodyPr>
          <a:lstStyle/>
          <a:p>
            <a:pPr algn="ctr"/>
            <a:r>
              <a:rPr sz="1000" b="0" i="0">
                <a:solidFill>
                  <a:srgbClr val="334155"/>
                </a:solidFill>
                <a:latin typeface="Calibri"/>
              </a:rPr>
              <a:t>Compras a productores en 10 años</a:t>
            </a:r>
          </a:p>
        </p:txBody>
      </p:sp>
      <p:sp>
        <p:nvSpPr>
          <p:cNvPr id="17" name="Rectangle 16"/>
          <p:cNvSpPr/>
          <p:nvPr/>
        </p:nvSpPr>
        <p:spPr>
          <a:xfrm>
            <a:off x="320040"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2606040"/>
            <a:ext cx="54864" cy="26517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2578608"/>
            <a:ext cx="3429000" cy="310896"/>
          </a:xfrm>
          <a:prstGeom prst="rect">
            <a:avLst/>
          </a:prstGeom>
          <a:noFill/>
        </p:spPr>
        <p:txBody>
          <a:bodyPr wrap="square" anchor="ctr">
            <a:spAutoFit/>
          </a:bodyPr>
          <a:lstStyle/>
          <a:p>
            <a:pPr algn="l"/>
            <a:r>
              <a:rPr sz="1300" b="1" i="0">
                <a:solidFill>
                  <a:srgbClr val="1B3A5C"/>
                </a:solidFill>
                <a:latin typeface="Calibri"/>
              </a:rPr>
              <a:t>Proveedores</a:t>
            </a:r>
          </a:p>
        </p:txBody>
      </p:sp>
      <p:sp>
        <p:nvSpPr>
          <p:cNvPr id="20" name="TextBox 19"/>
          <p:cNvSpPr txBox="1"/>
          <p:nvPr/>
        </p:nvSpPr>
        <p:spPr>
          <a:xfrm>
            <a:off x="484632" y="2907792"/>
            <a:ext cx="3429000" cy="2395728"/>
          </a:xfrm>
          <a:prstGeom prst="rect">
            <a:avLst/>
          </a:prstGeom>
          <a:noFill/>
        </p:spPr>
        <p:txBody>
          <a:bodyPr wrap="square" anchor="t">
            <a:spAutoFit/>
          </a:bodyPr>
          <a:lstStyle/>
          <a:p>
            <a:pPr algn="l"/>
            <a:r>
              <a:rPr sz="1500" b="0" i="0">
                <a:solidFill>
                  <a:srgbClr val="334155"/>
                </a:solidFill>
                <a:latin typeface="Calibri"/>
              </a:rPr>
              <a:t>CREL de la Cámara Hondureña de la Leche y ganaderos certificados de Comayagua, con contratos de precio justo y asistencia técnica.</a:t>
            </a:r>
          </a:p>
        </p:txBody>
      </p:sp>
      <p:sp>
        <p:nvSpPr>
          <p:cNvPr id="21" name="Rectangle 20"/>
          <p:cNvSpPr/>
          <p:nvPr/>
        </p:nvSpPr>
        <p:spPr>
          <a:xfrm>
            <a:off x="4187952"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187952" y="2606040"/>
            <a:ext cx="54864" cy="26517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52544" y="2578608"/>
            <a:ext cx="3429000" cy="310896"/>
          </a:xfrm>
          <a:prstGeom prst="rect">
            <a:avLst/>
          </a:prstGeom>
          <a:noFill/>
        </p:spPr>
        <p:txBody>
          <a:bodyPr wrap="square" anchor="ctr">
            <a:spAutoFit/>
          </a:bodyPr>
          <a:lstStyle/>
          <a:p>
            <a:pPr algn="l"/>
            <a:r>
              <a:rPr sz="1300" b="1" i="0">
                <a:solidFill>
                  <a:srgbClr val="1B3A5C"/>
                </a:solidFill>
                <a:latin typeface="Calibri"/>
              </a:rPr>
              <a:t>Calidad exigida (OHN 18:2018)</a:t>
            </a:r>
          </a:p>
        </p:txBody>
      </p:sp>
      <p:sp>
        <p:nvSpPr>
          <p:cNvPr id="24" name="TextBox 23"/>
          <p:cNvSpPr txBox="1"/>
          <p:nvPr/>
        </p:nvSpPr>
        <p:spPr>
          <a:xfrm>
            <a:off x="4352544" y="2907792"/>
            <a:ext cx="3429000" cy="2395728"/>
          </a:xfrm>
          <a:prstGeom prst="rect">
            <a:avLst/>
          </a:prstGeom>
          <a:noFill/>
        </p:spPr>
        <p:txBody>
          <a:bodyPr wrap="square" anchor="t">
            <a:spAutoFit/>
          </a:bodyPr>
          <a:lstStyle/>
          <a:p>
            <a:pPr algn="l"/>
            <a:r>
              <a:rPr sz="1500" b="0" i="0">
                <a:solidFill>
                  <a:srgbClr val="334155"/>
                </a:solidFill>
                <a:latin typeface="Calibri"/>
              </a:rPr>
              <a:t>Leche grado A: azul de metileno ≥ 5 h; células somáticas ≤ 400,000/ml; grasa ≥ 3.5 %; proteína ≥ 3.2 %; sin antibióticos; transporte a ≤ 4 °C.</a:t>
            </a:r>
          </a:p>
        </p:txBody>
      </p:sp>
      <p:sp>
        <p:nvSpPr>
          <p:cNvPr id="25" name="Rectangle 24"/>
          <p:cNvSpPr/>
          <p:nvPr/>
        </p:nvSpPr>
        <p:spPr>
          <a:xfrm>
            <a:off x="8055864"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5864" y="2606040"/>
            <a:ext cx="54864" cy="2651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0456" y="2578608"/>
            <a:ext cx="3429000" cy="310896"/>
          </a:xfrm>
          <a:prstGeom prst="rect">
            <a:avLst/>
          </a:prstGeom>
          <a:noFill/>
        </p:spPr>
        <p:txBody>
          <a:bodyPr wrap="square" anchor="ctr">
            <a:spAutoFit/>
          </a:bodyPr>
          <a:lstStyle/>
          <a:p>
            <a:pPr algn="l"/>
            <a:r>
              <a:rPr sz="1300" b="1" i="0">
                <a:solidFill>
                  <a:srgbClr val="1B3A5C"/>
                </a:solidFill>
                <a:latin typeface="Calibri"/>
              </a:rPr>
              <a:t>Estacionalidad</a:t>
            </a:r>
          </a:p>
        </p:txBody>
      </p:sp>
      <p:sp>
        <p:nvSpPr>
          <p:cNvPr id="28" name="TextBox 27"/>
          <p:cNvSpPr txBox="1"/>
          <p:nvPr/>
        </p:nvSpPr>
        <p:spPr>
          <a:xfrm>
            <a:off x="8220456" y="2907792"/>
            <a:ext cx="3429000" cy="2395728"/>
          </a:xfrm>
          <a:prstGeom prst="rect">
            <a:avLst/>
          </a:prstGeom>
          <a:noFill/>
        </p:spPr>
        <p:txBody>
          <a:bodyPr wrap="square" anchor="t">
            <a:spAutoFit/>
          </a:bodyPr>
          <a:lstStyle/>
          <a:p>
            <a:pPr algn="l"/>
            <a:r>
              <a:rPr sz="1500" b="0" i="0">
                <a:solidFill>
                  <a:srgbClr val="334155"/>
                </a:solidFill>
                <a:latin typeface="Calibri"/>
              </a:rPr>
              <a:t>La sequía de 2024 redujo la producción 30–40 % (El Heraldo, 2024). Mitigación: varios CREL, contratos a plazo y almacenamiento de 5,000 L; riesgo modelado en @RISK.</a:t>
            </a:r>
          </a:p>
        </p:txBody>
      </p:sp>
      <p:sp>
        <p:nvSpPr>
          <p:cNvPr id="29" name="TextBox 28"/>
          <p:cNvSpPr txBox="1"/>
          <p:nvPr/>
        </p:nvSpPr>
        <p:spPr>
          <a:xfrm>
            <a:off x="320040" y="6272784"/>
            <a:ext cx="11521440" cy="274320"/>
          </a:xfrm>
          <a:prstGeom prst="rect">
            <a:avLst/>
          </a:prstGeom>
          <a:noFill/>
        </p:spPr>
        <p:txBody>
          <a:bodyPr wrap="square" anchor="ctr">
            <a:spAutoFit/>
          </a:bodyPr>
          <a:lstStyle/>
          <a:p>
            <a:pPr algn="l"/>
            <a:r>
              <a:rPr sz="850" b="0" i="1">
                <a:solidFill>
                  <a:srgbClr val="64748B"/>
                </a:solidFill>
                <a:latin typeface="Calibri"/>
              </a:rPr>
              <a:t>Fuentes: modelo financiero (sección 12); SAG (2026); OHN 18 (2018); Tablas 9 y 10 de la tesis.</a:t>
            </a:r>
          </a:p>
        </p:txBody>
      </p:sp>
      <p:sp>
        <p:nvSpPr>
          <p:cNvPr id="30" name="TextBox 2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Distribución de Planta (Layout)</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ayout_planta.png"/>
          <p:cNvPicPr>
            <a:picLocks noChangeAspect="1"/>
          </p:cNvPicPr>
          <p:nvPr/>
        </p:nvPicPr>
        <p:blipFill>
          <a:blip r:embed="rId2"/>
          <a:stretch>
            <a:fillRect/>
          </a:stretch>
        </p:blipFill>
        <p:spPr>
          <a:xfrm>
            <a:off x="941832" y="1188720"/>
            <a:ext cx="10306820" cy="4892040"/>
          </a:xfrm>
          <a:prstGeom prst="rect">
            <a:avLst/>
          </a:prstGeom>
        </p:spPr>
      </p:pic>
      <p:sp>
        <p:nvSpPr>
          <p:cNvPr id="6" name="TextBox 5"/>
          <p:cNvSpPr txBox="1"/>
          <p:nvPr/>
        </p:nvSpPr>
        <p:spPr>
          <a:xfrm>
            <a:off x="320040" y="6217920"/>
            <a:ext cx="11521440" cy="274320"/>
          </a:xfrm>
          <a:prstGeom prst="rect">
            <a:avLst/>
          </a:prstGeom>
          <a:noFill/>
        </p:spPr>
        <p:txBody>
          <a:bodyPr wrap="square" anchor="ctr">
            <a:spAutoFit/>
          </a:bodyPr>
          <a:lstStyle/>
          <a:p>
            <a:pPr algn="l"/>
            <a:r>
              <a:rPr sz="850" b="0" i="1">
                <a:solidFill>
                  <a:srgbClr val="64748B"/>
                </a:solidFill>
                <a:latin typeface="Calibri"/>
              </a:rPr>
              <a:t>Esquema funcional basado en el diagrama de flujo (Figura 23), Alvarenga (2009) y ARSA (2024); no es un plano arquitectónico.</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ADMINISTRATIVO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Plantilla de Personal y Salarios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291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88720"/>
            <a:ext cx="3255264" cy="365760"/>
          </a:xfrm>
          <a:prstGeom prst="rect">
            <a:avLst/>
          </a:prstGeom>
          <a:noFill/>
        </p:spPr>
        <p:txBody>
          <a:bodyPr wrap="square" anchor="ctr" lIns="45720" rIns="45720" tIns="9144" bIns="9144">
            <a:spAutoFit/>
          </a:bodyPr>
          <a:lstStyle/>
          <a:p>
            <a:pPr algn="l"/>
            <a:r>
              <a:rPr sz="1100" b="1" i="0">
                <a:solidFill>
                  <a:srgbClr val="FFFFFF"/>
                </a:solidFill>
                <a:latin typeface="Calibri"/>
              </a:rPr>
              <a:t>Cargo</a:t>
            </a:r>
          </a:p>
        </p:txBody>
      </p:sp>
      <p:sp>
        <p:nvSpPr>
          <p:cNvPr id="7" name="Rectangle 6"/>
          <p:cNvSpPr/>
          <p:nvPr/>
        </p:nvSpPr>
        <p:spPr>
          <a:xfrm>
            <a:off x="3611880" y="1188720"/>
            <a:ext cx="40233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30168" y="1188720"/>
            <a:ext cx="3986784" cy="365760"/>
          </a:xfrm>
          <a:prstGeom prst="rect">
            <a:avLst/>
          </a:prstGeom>
          <a:noFill/>
        </p:spPr>
        <p:txBody>
          <a:bodyPr wrap="square" anchor="ctr" lIns="45720" rIns="45720" tIns="9144" bIns="9144">
            <a:spAutoFit/>
          </a:bodyPr>
          <a:lstStyle/>
          <a:p>
            <a:pPr algn="l"/>
            <a:r>
              <a:rPr sz="1100" b="1" i="0">
                <a:solidFill>
                  <a:srgbClr val="FFFFFF"/>
                </a:solidFill>
                <a:latin typeface="Calibri"/>
              </a:rPr>
              <a:t>Perfil</a:t>
            </a:r>
          </a:p>
        </p:txBody>
      </p:sp>
      <p:sp>
        <p:nvSpPr>
          <p:cNvPr id="9" name="Rectangle 8"/>
          <p:cNvSpPr/>
          <p:nvPr/>
        </p:nvSpPr>
        <p:spPr>
          <a:xfrm>
            <a:off x="7635240" y="1188720"/>
            <a:ext cx="2011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53528" y="1188720"/>
            <a:ext cx="1975104" cy="365760"/>
          </a:xfrm>
          <a:prstGeom prst="rect">
            <a:avLst/>
          </a:prstGeom>
          <a:noFill/>
        </p:spPr>
        <p:txBody>
          <a:bodyPr wrap="square" anchor="ctr" lIns="45720" rIns="45720" tIns="9144" bIns="9144">
            <a:spAutoFit/>
          </a:bodyPr>
          <a:lstStyle/>
          <a:p>
            <a:pPr algn="ctr"/>
            <a:r>
              <a:rPr sz="1100" b="1" i="0">
                <a:solidFill>
                  <a:srgbClr val="FFFFFF"/>
                </a:solidFill>
                <a:latin typeface="Calibri"/>
              </a:rPr>
              <a:t>Salario mensual (L)</a:t>
            </a:r>
          </a:p>
        </p:txBody>
      </p:sp>
      <p:sp>
        <p:nvSpPr>
          <p:cNvPr id="11" name="Rectangle 10"/>
          <p:cNvSpPr/>
          <p:nvPr/>
        </p:nvSpPr>
        <p:spPr>
          <a:xfrm>
            <a:off x="9646920" y="1188720"/>
            <a:ext cx="2103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65208" y="1188720"/>
            <a:ext cx="2066543" cy="365760"/>
          </a:xfrm>
          <a:prstGeom prst="rect">
            <a:avLst/>
          </a:prstGeom>
          <a:noFill/>
        </p:spPr>
        <p:txBody>
          <a:bodyPr wrap="square" anchor="ctr" lIns="45720" rIns="45720" tIns="9144" bIns="9144">
            <a:spAutoFit/>
          </a:bodyPr>
          <a:lstStyle/>
          <a:p>
            <a:pPr algn="ctr"/>
            <a:r>
              <a:rPr sz="1100" b="1" i="0">
                <a:solidFill>
                  <a:srgbClr val="FFFFFF"/>
                </a:solidFill>
                <a:latin typeface="Calibri"/>
              </a:rPr>
              <a:t>Base cotizable IHSS (L)</a:t>
            </a:r>
          </a:p>
        </p:txBody>
      </p:sp>
      <p:sp>
        <p:nvSpPr>
          <p:cNvPr id="13" name="Rectangle 12"/>
          <p:cNvSpPr/>
          <p:nvPr/>
        </p:nvSpPr>
        <p:spPr>
          <a:xfrm>
            <a:off x="320040" y="155448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 y="155448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Gerente de operaciones</a:t>
            </a:r>
          </a:p>
        </p:txBody>
      </p:sp>
      <p:sp>
        <p:nvSpPr>
          <p:cNvPr id="15" name="Rectangle 14"/>
          <p:cNvSpPr/>
          <p:nvPr/>
        </p:nvSpPr>
        <p:spPr>
          <a:xfrm>
            <a:off x="3611880" y="155448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30168" y="155448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Ingeniero industrial o administrador de empresas</a:t>
            </a:r>
          </a:p>
        </p:txBody>
      </p:sp>
      <p:sp>
        <p:nvSpPr>
          <p:cNvPr id="17" name="Rectangle 16"/>
          <p:cNvSpPr/>
          <p:nvPr/>
        </p:nvSpPr>
        <p:spPr>
          <a:xfrm>
            <a:off x="7635240" y="155448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53528" y="155448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25,000</a:t>
            </a:r>
          </a:p>
        </p:txBody>
      </p:sp>
      <p:sp>
        <p:nvSpPr>
          <p:cNvPr id="19" name="Rectangle 18"/>
          <p:cNvSpPr/>
          <p:nvPr/>
        </p:nvSpPr>
        <p:spPr>
          <a:xfrm>
            <a:off x="9646920" y="155448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65208" y="155448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1" name="Rectangle 20"/>
          <p:cNvSpPr/>
          <p:nvPr/>
        </p:nvSpPr>
        <p:spPr>
          <a:xfrm>
            <a:off x="320040" y="1938528"/>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8328" y="1938528"/>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Asistente de televenta y facturación</a:t>
            </a:r>
          </a:p>
        </p:txBody>
      </p:sp>
      <p:sp>
        <p:nvSpPr>
          <p:cNvPr id="23" name="Rectangle 22"/>
          <p:cNvSpPr/>
          <p:nvPr/>
        </p:nvSpPr>
        <p:spPr>
          <a:xfrm>
            <a:off x="3611880" y="1938528"/>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30168" y="1938528"/>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Pasante universitario de Administración o afín</a:t>
            </a:r>
          </a:p>
        </p:txBody>
      </p:sp>
      <p:sp>
        <p:nvSpPr>
          <p:cNvPr id="25" name="Rectangle 24"/>
          <p:cNvSpPr/>
          <p:nvPr/>
        </p:nvSpPr>
        <p:spPr>
          <a:xfrm>
            <a:off x="7635240" y="1938528"/>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53528" y="1938528"/>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17,000</a:t>
            </a:r>
          </a:p>
        </p:txBody>
      </p:sp>
      <p:sp>
        <p:nvSpPr>
          <p:cNvPr id="27" name="Rectangle 26"/>
          <p:cNvSpPr/>
          <p:nvPr/>
        </p:nvSpPr>
        <p:spPr>
          <a:xfrm>
            <a:off x="9646920" y="1938528"/>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65208" y="1938528"/>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9" name="Rectangle 28"/>
          <p:cNvSpPr/>
          <p:nvPr/>
        </p:nvSpPr>
        <p:spPr>
          <a:xfrm>
            <a:off x="320040" y="2322576"/>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2322576"/>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recibo y despacho</a:t>
            </a:r>
          </a:p>
        </p:txBody>
      </p:sp>
      <p:sp>
        <p:nvSpPr>
          <p:cNvPr id="31" name="Rectangle 30"/>
          <p:cNvSpPr/>
          <p:nvPr/>
        </p:nvSpPr>
        <p:spPr>
          <a:xfrm>
            <a:off x="3611880" y="2322576"/>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30168" y="2322576"/>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33" name="Rectangle 32"/>
          <p:cNvSpPr/>
          <p:nvPr/>
        </p:nvSpPr>
        <p:spPr>
          <a:xfrm>
            <a:off x="7635240" y="2322576"/>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53528" y="2322576"/>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35" name="Rectangle 34"/>
          <p:cNvSpPr/>
          <p:nvPr/>
        </p:nvSpPr>
        <p:spPr>
          <a:xfrm>
            <a:off x="9646920" y="2322576"/>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65208" y="2322576"/>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37" name="Rectangle 36"/>
          <p:cNvSpPr/>
          <p:nvPr/>
        </p:nvSpPr>
        <p:spPr>
          <a:xfrm>
            <a:off x="320040" y="2706624"/>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38328" y="2706624"/>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pasteurización y empaque</a:t>
            </a:r>
          </a:p>
        </p:txBody>
      </p:sp>
      <p:sp>
        <p:nvSpPr>
          <p:cNvPr id="39" name="Rectangle 38"/>
          <p:cNvSpPr/>
          <p:nvPr/>
        </p:nvSpPr>
        <p:spPr>
          <a:xfrm>
            <a:off x="3611880" y="2706624"/>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630168" y="2706624"/>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41" name="Rectangle 40"/>
          <p:cNvSpPr/>
          <p:nvPr/>
        </p:nvSpPr>
        <p:spPr>
          <a:xfrm>
            <a:off x="7635240" y="2706624"/>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653528" y="2706624"/>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43" name="Rectangle 42"/>
          <p:cNvSpPr/>
          <p:nvPr/>
        </p:nvSpPr>
        <p:spPr>
          <a:xfrm>
            <a:off x="9646920" y="2706624"/>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665208" y="2706624"/>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45" name="Rectangle 44"/>
          <p:cNvSpPr/>
          <p:nvPr/>
        </p:nvSpPr>
        <p:spPr>
          <a:xfrm>
            <a:off x="320040" y="3090672"/>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38328" y="3090672"/>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mantenimiento y aseo</a:t>
            </a:r>
          </a:p>
        </p:txBody>
      </p:sp>
      <p:sp>
        <p:nvSpPr>
          <p:cNvPr id="47" name="Rectangle 46"/>
          <p:cNvSpPr/>
          <p:nvPr/>
        </p:nvSpPr>
        <p:spPr>
          <a:xfrm>
            <a:off x="3611880" y="3090672"/>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30168" y="3090672"/>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Mecánico industrial</a:t>
            </a:r>
          </a:p>
        </p:txBody>
      </p:sp>
      <p:sp>
        <p:nvSpPr>
          <p:cNvPr id="49" name="Rectangle 48"/>
          <p:cNvSpPr/>
          <p:nvPr/>
        </p:nvSpPr>
        <p:spPr>
          <a:xfrm>
            <a:off x="7635240" y="3090672"/>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53528" y="3090672"/>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1" name="Rectangle 50"/>
          <p:cNvSpPr/>
          <p:nvPr/>
        </p:nvSpPr>
        <p:spPr>
          <a:xfrm>
            <a:off x="9646920" y="3090672"/>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665208" y="3090672"/>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53" name="Rectangle 52"/>
          <p:cNvSpPr/>
          <p:nvPr/>
        </p:nvSpPr>
        <p:spPr>
          <a:xfrm>
            <a:off x="320040" y="347472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347472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Entregador</a:t>
            </a:r>
          </a:p>
        </p:txBody>
      </p:sp>
      <p:sp>
        <p:nvSpPr>
          <p:cNvPr id="55" name="Rectangle 54"/>
          <p:cNvSpPr/>
          <p:nvPr/>
        </p:nvSpPr>
        <p:spPr>
          <a:xfrm>
            <a:off x="3611880" y="347472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630168" y="347472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 licencia pesada</a:t>
            </a:r>
          </a:p>
        </p:txBody>
      </p:sp>
      <p:sp>
        <p:nvSpPr>
          <p:cNvPr id="57" name="Rectangle 56"/>
          <p:cNvSpPr/>
          <p:nvPr/>
        </p:nvSpPr>
        <p:spPr>
          <a:xfrm>
            <a:off x="7635240" y="347472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653528" y="347472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9" name="Rectangle 58"/>
          <p:cNvSpPr/>
          <p:nvPr/>
        </p:nvSpPr>
        <p:spPr>
          <a:xfrm>
            <a:off x="9646920" y="347472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665208" y="347472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61" name="Rectangle 60"/>
          <p:cNvSpPr/>
          <p:nvPr/>
        </p:nvSpPr>
        <p:spPr>
          <a:xfrm>
            <a:off x="320040" y="3858768"/>
            <a:ext cx="3291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38328" y="3858768"/>
            <a:ext cx="3255264" cy="384048"/>
          </a:xfrm>
          <a:prstGeom prst="rect">
            <a:avLst/>
          </a:prstGeom>
          <a:noFill/>
        </p:spPr>
        <p:txBody>
          <a:bodyPr wrap="square" anchor="ctr" lIns="45720" rIns="45720" tIns="9144" bIns="9144">
            <a:spAutoFit/>
          </a:bodyPr>
          <a:lstStyle/>
          <a:p>
            <a:pPr algn="l"/>
            <a:r>
              <a:rPr sz="1100" b="1" i="0">
                <a:solidFill>
                  <a:srgbClr val="0D2341"/>
                </a:solidFill>
                <a:latin typeface="Calibri"/>
              </a:rPr>
              <a:t>PLANILLA MENSUAL</a:t>
            </a:r>
          </a:p>
        </p:txBody>
      </p:sp>
      <p:sp>
        <p:nvSpPr>
          <p:cNvPr id="63" name="Rectangle 62"/>
          <p:cNvSpPr/>
          <p:nvPr/>
        </p:nvSpPr>
        <p:spPr>
          <a:xfrm>
            <a:off x="3611880" y="3858768"/>
            <a:ext cx="402336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630168" y="3858768"/>
            <a:ext cx="3986784" cy="384048"/>
          </a:xfrm>
          <a:prstGeom prst="rect">
            <a:avLst/>
          </a:prstGeom>
          <a:noFill/>
        </p:spPr>
        <p:txBody>
          <a:bodyPr wrap="square" anchor="ctr" lIns="45720" rIns="45720" tIns="9144" bIns="9144">
            <a:spAutoFit/>
          </a:bodyPr>
          <a:lstStyle/>
          <a:p>
            <a:pPr algn="l"/>
            <a:r>
              <a:rPr sz="1100" b="1" i="0">
                <a:solidFill>
                  <a:srgbClr val="0D2341"/>
                </a:solidFill>
                <a:latin typeface="Calibri"/>
              </a:rPr>
              <a:t>6 colaboradores</a:t>
            </a:r>
          </a:p>
        </p:txBody>
      </p:sp>
      <p:sp>
        <p:nvSpPr>
          <p:cNvPr id="65" name="Rectangle 64"/>
          <p:cNvSpPr/>
          <p:nvPr/>
        </p:nvSpPr>
        <p:spPr>
          <a:xfrm>
            <a:off x="7635240" y="3858768"/>
            <a:ext cx="201168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653528" y="3858768"/>
            <a:ext cx="1975104" cy="384048"/>
          </a:xfrm>
          <a:prstGeom prst="rect">
            <a:avLst/>
          </a:prstGeom>
          <a:noFill/>
        </p:spPr>
        <p:txBody>
          <a:bodyPr wrap="square" anchor="ctr" lIns="45720" rIns="45720" tIns="9144" bIns="9144">
            <a:spAutoFit/>
          </a:bodyPr>
          <a:lstStyle/>
          <a:p>
            <a:pPr algn="r"/>
            <a:r>
              <a:rPr sz="1100" b="1" i="0">
                <a:solidFill>
                  <a:srgbClr val="0D2341"/>
                </a:solidFill>
                <a:latin typeface="Calibri"/>
              </a:rPr>
              <a:t>92,600</a:t>
            </a:r>
          </a:p>
        </p:txBody>
      </p:sp>
      <p:sp>
        <p:nvSpPr>
          <p:cNvPr id="67" name="Rectangle 66"/>
          <p:cNvSpPr/>
          <p:nvPr/>
        </p:nvSpPr>
        <p:spPr>
          <a:xfrm>
            <a:off x="9646920" y="3858768"/>
            <a:ext cx="21031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65208" y="3858768"/>
            <a:ext cx="2066543" cy="384048"/>
          </a:xfrm>
          <a:prstGeom prst="rect">
            <a:avLst/>
          </a:prstGeom>
          <a:noFill/>
        </p:spPr>
        <p:txBody>
          <a:bodyPr wrap="square" anchor="ctr" lIns="45720" rIns="45720" tIns="9144" bIns="9144">
            <a:spAutoFit/>
          </a:bodyPr>
          <a:lstStyle/>
          <a:p>
            <a:pPr algn="r"/>
            <a:r>
              <a:rPr sz="1100" b="1" i="0">
                <a:solidFill>
                  <a:srgbClr val="0D2341"/>
                </a:solidFill>
                <a:latin typeface="Calibri"/>
              </a:rPr>
              <a:t>66,656</a:t>
            </a:r>
          </a:p>
        </p:txBody>
      </p:sp>
      <p:sp>
        <p:nvSpPr>
          <p:cNvPr id="69" name="Rectangle 68"/>
          <p:cNvSpPr/>
          <p:nvPr/>
        </p:nvSpPr>
        <p:spPr>
          <a:xfrm>
            <a:off x="320040"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411479" y="4599432"/>
            <a:ext cx="2560320" cy="617220"/>
          </a:xfrm>
          <a:prstGeom prst="rect">
            <a:avLst/>
          </a:prstGeom>
          <a:noFill/>
        </p:spPr>
        <p:txBody>
          <a:bodyPr wrap="square" anchor="ctr">
            <a:spAutoFit/>
          </a:bodyPr>
          <a:lstStyle/>
          <a:p>
            <a:pPr algn="ctr"/>
            <a:r>
              <a:rPr sz="2200" b="1" i="0">
                <a:solidFill>
                  <a:srgbClr val="1A7A8A"/>
                </a:solidFill>
                <a:latin typeface="Calibri"/>
              </a:rPr>
              <a:t>L 5,725</a:t>
            </a:r>
          </a:p>
        </p:txBody>
      </p:sp>
      <p:sp>
        <p:nvSpPr>
          <p:cNvPr id="71" name="TextBox 70"/>
          <p:cNvSpPr txBox="1"/>
          <p:nvPr/>
        </p:nvSpPr>
        <p:spPr>
          <a:xfrm>
            <a:off x="411479" y="5168188"/>
            <a:ext cx="2560320" cy="345643"/>
          </a:xfrm>
          <a:prstGeom prst="rect">
            <a:avLst/>
          </a:prstGeom>
          <a:noFill/>
        </p:spPr>
        <p:txBody>
          <a:bodyPr wrap="square" anchor="ctr">
            <a:spAutoFit/>
          </a:bodyPr>
          <a:lstStyle/>
          <a:p>
            <a:pPr algn="ctr"/>
            <a:r>
              <a:rPr sz="1000" b="0" i="0">
                <a:solidFill>
                  <a:srgbClr val="334155"/>
                </a:solidFill>
                <a:latin typeface="Calibri"/>
              </a:rPr>
              <a:t>Cargas patronales mensuales</a:t>
            </a:r>
          </a:p>
          <a:p>
            <a:pPr algn="ctr"/>
            <a:r>
              <a:rPr sz="1000" b="0" i="0">
                <a:solidFill>
                  <a:srgbClr val="334155"/>
                </a:solidFill>
                <a:latin typeface="Calibri"/>
              </a:rPr>
              <a:t>(IHSS 7.2 % con techo + INFOP 1 %)</a:t>
            </a:r>
          </a:p>
        </p:txBody>
      </p:sp>
      <p:sp>
        <p:nvSpPr>
          <p:cNvPr id="72" name="Rectangle 71"/>
          <p:cNvSpPr/>
          <p:nvPr/>
        </p:nvSpPr>
        <p:spPr>
          <a:xfrm>
            <a:off x="3200400"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291840" y="4599432"/>
            <a:ext cx="2560320" cy="617220"/>
          </a:xfrm>
          <a:prstGeom prst="rect">
            <a:avLst/>
          </a:prstGeom>
          <a:noFill/>
        </p:spPr>
        <p:txBody>
          <a:bodyPr wrap="square" anchor="ctr">
            <a:spAutoFit/>
          </a:bodyPr>
          <a:lstStyle/>
          <a:p>
            <a:pPr algn="ctr"/>
            <a:r>
              <a:rPr sz="2200" b="1" i="0">
                <a:solidFill>
                  <a:srgbClr val="1B3A5C"/>
                </a:solidFill>
                <a:latin typeface="Calibri"/>
              </a:rPr>
              <a:t>14 salarios</a:t>
            </a:r>
          </a:p>
        </p:txBody>
      </p:sp>
      <p:sp>
        <p:nvSpPr>
          <p:cNvPr id="74" name="TextBox 73"/>
          <p:cNvSpPr txBox="1"/>
          <p:nvPr/>
        </p:nvSpPr>
        <p:spPr>
          <a:xfrm>
            <a:off x="3291840" y="5168188"/>
            <a:ext cx="2560320" cy="345643"/>
          </a:xfrm>
          <a:prstGeom prst="rect">
            <a:avLst/>
          </a:prstGeom>
          <a:noFill/>
        </p:spPr>
        <p:txBody>
          <a:bodyPr wrap="square" anchor="ctr">
            <a:spAutoFit/>
          </a:bodyPr>
          <a:lstStyle/>
          <a:p>
            <a:pPr algn="ctr"/>
            <a:r>
              <a:rPr sz="1000" b="0" i="0">
                <a:solidFill>
                  <a:srgbClr val="334155"/>
                </a:solidFill>
                <a:latin typeface="Calibri"/>
              </a:rPr>
              <a:t>Por año: 12 + aguinaldo</a:t>
            </a:r>
          </a:p>
          <a:p>
            <a:pPr algn="ctr"/>
            <a:r>
              <a:rPr sz="1000" b="0" i="0">
                <a:solidFill>
                  <a:srgbClr val="334155"/>
                </a:solidFill>
                <a:latin typeface="Calibri"/>
              </a:rPr>
              <a:t>+ decimocuarto mes</a:t>
            </a:r>
          </a:p>
        </p:txBody>
      </p:sp>
      <p:sp>
        <p:nvSpPr>
          <p:cNvPr id="75" name="Rectangle 74"/>
          <p:cNvSpPr/>
          <p:nvPr/>
        </p:nvSpPr>
        <p:spPr>
          <a:xfrm>
            <a:off x="6080759"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172199" y="4599432"/>
            <a:ext cx="2560320" cy="617220"/>
          </a:xfrm>
          <a:prstGeom prst="rect">
            <a:avLst/>
          </a:prstGeom>
          <a:noFill/>
        </p:spPr>
        <p:txBody>
          <a:bodyPr wrap="square" anchor="ctr">
            <a:spAutoFit/>
          </a:bodyPr>
          <a:lstStyle/>
          <a:p>
            <a:pPr algn="ctr"/>
            <a:r>
              <a:rPr sz="2200" b="1" i="0">
                <a:solidFill>
                  <a:srgbClr val="1A7A8A"/>
                </a:solidFill>
                <a:latin typeface="Calibri"/>
              </a:rPr>
              <a:t>L 1,426,533</a:t>
            </a:r>
          </a:p>
        </p:txBody>
      </p:sp>
      <p:sp>
        <p:nvSpPr>
          <p:cNvPr id="77" name="TextBox 76"/>
          <p:cNvSpPr txBox="1"/>
          <p:nvPr/>
        </p:nvSpPr>
        <p:spPr>
          <a:xfrm>
            <a:off x="6172199" y="5168188"/>
            <a:ext cx="2560320" cy="345643"/>
          </a:xfrm>
          <a:prstGeom prst="rect">
            <a:avLst/>
          </a:prstGeom>
          <a:noFill/>
        </p:spPr>
        <p:txBody>
          <a:bodyPr wrap="square" anchor="ctr">
            <a:spAutoFit/>
          </a:bodyPr>
          <a:lstStyle/>
          <a:p>
            <a:pPr algn="ctr"/>
            <a:r>
              <a:rPr sz="1000" b="0" i="0">
                <a:solidFill>
                  <a:srgbClr val="334155"/>
                </a:solidFill>
                <a:latin typeface="Calibri"/>
              </a:rPr>
              <a:t>Costo anual de personal, año 1</a:t>
            </a:r>
          </a:p>
        </p:txBody>
      </p:sp>
      <p:sp>
        <p:nvSpPr>
          <p:cNvPr id="78" name="Rectangle 77"/>
          <p:cNvSpPr/>
          <p:nvPr/>
        </p:nvSpPr>
        <p:spPr>
          <a:xfrm>
            <a:off x="8961119"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052559" y="4599432"/>
            <a:ext cx="2560320" cy="617220"/>
          </a:xfrm>
          <a:prstGeom prst="rect">
            <a:avLst/>
          </a:prstGeom>
          <a:noFill/>
        </p:spPr>
        <p:txBody>
          <a:bodyPr wrap="square" anchor="ctr">
            <a:spAutoFit/>
          </a:bodyPr>
          <a:lstStyle/>
          <a:p>
            <a:pPr algn="ctr"/>
            <a:r>
              <a:rPr sz="2200" b="1" i="0">
                <a:solidFill>
                  <a:srgbClr val="1B3A5C"/>
                </a:solidFill>
                <a:latin typeface="Calibri"/>
              </a:rPr>
              <a:t>L 2,119,963</a:t>
            </a:r>
          </a:p>
        </p:txBody>
      </p:sp>
      <p:sp>
        <p:nvSpPr>
          <p:cNvPr id="80" name="TextBox 79"/>
          <p:cNvSpPr txBox="1"/>
          <p:nvPr/>
        </p:nvSpPr>
        <p:spPr>
          <a:xfrm>
            <a:off x="9052559" y="5168188"/>
            <a:ext cx="2560320" cy="345643"/>
          </a:xfrm>
          <a:prstGeom prst="rect">
            <a:avLst/>
          </a:prstGeom>
          <a:noFill/>
        </p:spPr>
        <p:txBody>
          <a:bodyPr wrap="square" anchor="ctr">
            <a:spAutoFit/>
          </a:bodyPr>
          <a:lstStyle/>
          <a:p>
            <a:pPr algn="ctr"/>
            <a:r>
              <a:rPr sz="1000" b="0" i="0">
                <a:solidFill>
                  <a:srgbClr val="334155"/>
                </a:solidFill>
                <a:latin typeface="Calibri"/>
              </a:rPr>
              <a:t>Costo anual, año 10</a:t>
            </a:r>
          </a:p>
          <a:p>
            <a:pPr algn="ctr"/>
            <a:r>
              <a:rPr sz="1000" b="0" i="0">
                <a:solidFill>
                  <a:srgbClr val="334155"/>
                </a:solidFill>
                <a:latin typeface="Calibri"/>
              </a:rPr>
              <a:t>(ajuste por inflación 4.5 %)</a:t>
            </a:r>
          </a:p>
        </p:txBody>
      </p:sp>
      <p:sp>
        <p:nvSpPr>
          <p:cNvPr id="81" name="TextBox 80"/>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Fuente: Tablas 19 y 20 de la tesis. Techo de cotización IHSS: L 11,109.36 mensuales.</a:t>
            </a:r>
          </a:p>
        </p:txBody>
      </p:sp>
      <p:sp>
        <p:nvSpPr>
          <p:cNvPr id="82" name="TextBox 81"/>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Préstamo y Estado de Resultados Proyectado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4937760" cy="310896"/>
          </a:xfrm>
          <a:prstGeom prst="rect">
            <a:avLst/>
          </a:prstGeom>
          <a:noFill/>
        </p:spPr>
        <p:txBody>
          <a:bodyPr wrap="square" anchor="ctr">
            <a:spAutoFit/>
          </a:bodyPr>
          <a:lstStyle/>
          <a:p>
            <a:pPr algn="l"/>
            <a:r>
              <a:rPr sz="1300" b="1" i="0">
                <a:solidFill>
                  <a:srgbClr val="1B3A5C"/>
                </a:solidFill>
                <a:latin typeface="Calibri"/>
              </a:rPr>
              <a:t>Tabla de amortización del préstamo (Tabla 24)</a:t>
            </a:r>
          </a:p>
        </p:txBody>
      </p:sp>
      <p:sp>
        <p:nvSpPr>
          <p:cNvPr id="6" name="Rectangle 5"/>
          <p:cNvSpPr/>
          <p:nvPr/>
        </p:nvSpPr>
        <p:spPr>
          <a:xfrm>
            <a:off x="320040" y="1444752"/>
            <a:ext cx="4572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44752"/>
            <a:ext cx="4206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a:t>
            </a:r>
          </a:p>
        </p:txBody>
      </p:sp>
      <p:sp>
        <p:nvSpPr>
          <p:cNvPr id="8" name="Rectangle 7"/>
          <p:cNvSpPr/>
          <p:nvPr/>
        </p:nvSpPr>
        <p:spPr>
          <a:xfrm>
            <a:off x="77724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inicial</a:t>
            </a:r>
          </a:p>
        </p:txBody>
      </p:sp>
      <p:sp>
        <p:nvSpPr>
          <p:cNvPr id="10" name="Rectangle 9"/>
          <p:cNvSpPr/>
          <p:nvPr/>
        </p:nvSpPr>
        <p:spPr>
          <a:xfrm>
            <a:off x="169164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0992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Intereses</a:t>
            </a:r>
          </a:p>
        </p:txBody>
      </p:sp>
      <p:sp>
        <p:nvSpPr>
          <p:cNvPr id="12" name="Rectangle 11"/>
          <p:cNvSpPr/>
          <p:nvPr/>
        </p:nvSpPr>
        <p:spPr>
          <a:xfrm>
            <a:off x="256032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57860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Abono</a:t>
            </a:r>
          </a:p>
        </p:txBody>
      </p:sp>
      <p:sp>
        <p:nvSpPr>
          <p:cNvPr id="14" name="Rectangle 13"/>
          <p:cNvSpPr/>
          <p:nvPr/>
        </p:nvSpPr>
        <p:spPr>
          <a:xfrm>
            <a:off x="342900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4728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Cuota</a:t>
            </a:r>
          </a:p>
        </p:txBody>
      </p:sp>
      <p:sp>
        <p:nvSpPr>
          <p:cNvPr id="16" name="Rectangle 15"/>
          <p:cNvSpPr/>
          <p:nvPr/>
        </p:nvSpPr>
        <p:spPr>
          <a:xfrm>
            <a:off x="429768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1596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final</a:t>
            </a:r>
          </a:p>
        </p:txBody>
      </p:sp>
      <p:sp>
        <p:nvSpPr>
          <p:cNvPr id="18" name="Rectangle 17"/>
          <p:cNvSpPr/>
          <p:nvPr/>
        </p:nvSpPr>
        <p:spPr>
          <a:xfrm>
            <a:off x="320040" y="1810512"/>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1810512"/>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1</a:t>
            </a:r>
          </a:p>
        </p:txBody>
      </p:sp>
      <p:sp>
        <p:nvSpPr>
          <p:cNvPr id="20" name="Rectangle 19"/>
          <p:cNvSpPr/>
          <p:nvPr/>
        </p:nvSpPr>
        <p:spPr>
          <a:xfrm>
            <a:off x="77724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552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892,029</a:t>
            </a:r>
          </a:p>
        </p:txBody>
      </p:sp>
      <p:sp>
        <p:nvSpPr>
          <p:cNvPr id="22" name="Rectangle 21"/>
          <p:cNvSpPr/>
          <p:nvPr/>
        </p:nvSpPr>
        <p:spPr>
          <a:xfrm>
            <a:off x="169164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0992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124,884</a:t>
            </a:r>
          </a:p>
        </p:txBody>
      </p:sp>
      <p:sp>
        <p:nvSpPr>
          <p:cNvPr id="24" name="Rectangle 23"/>
          <p:cNvSpPr/>
          <p:nvPr/>
        </p:nvSpPr>
        <p:spPr>
          <a:xfrm>
            <a:off x="256032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57860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134,949</a:t>
            </a:r>
          </a:p>
        </p:txBody>
      </p:sp>
      <p:sp>
        <p:nvSpPr>
          <p:cNvPr id="26" name="Rectangle 25"/>
          <p:cNvSpPr/>
          <p:nvPr/>
        </p:nvSpPr>
        <p:spPr>
          <a:xfrm>
            <a:off x="342900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44728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28" name="Rectangle 27"/>
          <p:cNvSpPr/>
          <p:nvPr/>
        </p:nvSpPr>
        <p:spPr>
          <a:xfrm>
            <a:off x="429768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1596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0" name="Rectangle 29"/>
          <p:cNvSpPr/>
          <p:nvPr/>
        </p:nvSpPr>
        <p:spPr>
          <a:xfrm>
            <a:off x="320040" y="2212848"/>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2212848"/>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2</a:t>
            </a:r>
          </a:p>
        </p:txBody>
      </p:sp>
      <p:sp>
        <p:nvSpPr>
          <p:cNvPr id="32" name="Rectangle 31"/>
          <p:cNvSpPr/>
          <p:nvPr/>
        </p:nvSpPr>
        <p:spPr>
          <a:xfrm>
            <a:off x="77724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552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4" name="Rectangle 33"/>
          <p:cNvSpPr/>
          <p:nvPr/>
        </p:nvSpPr>
        <p:spPr>
          <a:xfrm>
            <a:off x="169164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70992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105,991</a:t>
            </a:r>
          </a:p>
        </p:txBody>
      </p:sp>
      <p:sp>
        <p:nvSpPr>
          <p:cNvPr id="36" name="Rectangle 35"/>
          <p:cNvSpPr/>
          <p:nvPr/>
        </p:nvSpPr>
        <p:spPr>
          <a:xfrm>
            <a:off x="256032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57860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153,842</a:t>
            </a:r>
          </a:p>
        </p:txBody>
      </p:sp>
      <p:sp>
        <p:nvSpPr>
          <p:cNvPr id="38" name="Rectangle 37"/>
          <p:cNvSpPr/>
          <p:nvPr/>
        </p:nvSpPr>
        <p:spPr>
          <a:xfrm>
            <a:off x="342900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44728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40" name="Rectangle 39"/>
          <p:cNvSpPr/>
          <p:nvPr/>
        </p:nvSpPr>
        <p:spPr>
          <a:xfrm>
            <a:off x="429768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1596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2" name="Rectangle 41"/>
          <p:cNvSpPr/>
          <p:nvPr/>
        </p:nvSpPr>
        <p:spPr>
          <a:xfrm>
            <a:off x="320040" y="2615184"/>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2615184"/>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3</a:t>
            </a:r>
          </a:p>
        </p:txBody>
      </p:sp>
      <p:sp>
        <p:nvSpPr>
          <p:cNvPr id="44" name="Rectangle 43"/>
          <p:cNvSpPr/>
          <p:nvPr/>
        </p:nvSpPr>
        <p:spPr>
          <a:xfrm>
            <a:off x="77724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9552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6" name="Rectangle 45"/>
          <p:cNvSpPr/>
          <p:nvPr/>
        </p:nvSpPr>
        <p:spPr>
          <a:xfrm>
            <a:off x="169164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70992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84,453</a:t>
            </a:r>
          </a:p>
        </p:txBody>
      </p:sp>
      <p:sp>
        <p:nvSpPr>
          <p:cNvPr id="48" name="Rectangle 47"/>
          <p:cNvSpPr/>
          <p:nvPr/>
        </p:nvSpPr>
        <p:spPr>
          <a:xfrm>
            <a:off x="256032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257860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175,380</a:t>
            </a:r>
          </a:p>
        </p:txBody>
      </p:sp>
      <p:sp>
        <p:nvSpPr>
          <p:cNvPr id="50" name="Rectangle 49"/>
          <p:cNvSpPr/>
          <p:nvPr/>
        </p:nvSpPr>
        <p:spPr>
          <a:xfrm>
            <a:off x="342900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44728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52" name="Rectangle 51"/>
          <p:cNvSpPr/>
          <p:nvPr/>
        </p:nvSpPr>
        <p:spPr>
          <a:xfrm>
            <a:off x="429768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431596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4" name="Rectangle 53"/>
          <p:cNvSpPr/>
          <p:nvPr/>
        </p:nvSpPr>
        <p:spPr>
          <a:xfrm>
            <a:off x="320040" y="3017520"/>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38328" y="3017520"/>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4</a:t>
            </a:r>
          </a:p>
        </p:txBody>
      </p:sp>
      <p:sp>
        <p:nvSpPr>
          <p:cNvPr id="56" name="Rectangle 55"/>
          <p:cNvSpPr/>
          <p:nvPr/>
        </p:nvSpPr>
        <p:spPr>
          <a:xfrm>
            <a:off x="77724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9552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8" name="Rectangle 57"/>
          <p:cNvSpPr/>
          <p:nvPr/>
        </p:nvSpPr>
        <p:spPr>
          <a:xfrm>
            <a:off x="169164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70992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59,900</a:t>
            </a:r>
          </a:p>
        </p:txBody>
      </p:sp>
      <p:sp>
        <p:nvSpPr>
          <p:cNvPr id="60" name="Rectangle 59"/>
          <p:cNvSpPr/>
          <p:nvPr/>
        </p:nvSpPr>
        <p:spPr>
          <a:xfrm>
            <a:off x="256032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57860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199,933</a:t>
            </a:r>
          </a:p>
        </p:txBody>
      </p:sp>
      <p:sp>
        <p:nvSpPr>
          <p:cNvPr id="62" name="Rectangle 61"/>
          <p:cNvSpPr/>
          <p:nvPr/>
        </p:nvSpPr>
        <p:spPr>
          <a:xfrm>
            <a:off x="342900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64" name="Rectangle 63"/>
          <p:cNvSpPr/>
          <p:nvPr/>
        </p:nvSpPr>
        <p:spPr>
          <a:xfrm>
            <a:off x="429768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31596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66" name="Rectangle 65"/>
          <p:cNvSpPr/>
          <p:nvPr/>
        </p:nvSpPr>
        <p:spPr>
          <a:xfrm>
            <a:off x="320040" y="3419856"/>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419856"/>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5</a:t>
            </a:r>
          </a:p>
        </p:txBody>
      </p:sp>
      <p:sp>
        <p:nvSpPr>
          <p:cNvPr id="68" name="Rectangle 67"/>
          <p:cNvSpPr/>
          <p:nvPr/>
        </p:nvSpPr>
        <p:spPr>
          <a:xfrm>
            <a:off x="77724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552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0" name="Rectangle 69"/>
          <p:cNvSpPr/>
          <p:nvPr/>
        </p:nvSpPr>
        <p:spPr>
          <a:xfrm>
            <a:off x="169164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70992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31,909</a:t>
            </a:r>
          </a:p>
        </p:txBody>
      </p:sp>
      <p:sp>
        <p:nvSpPr>
          <p:cNvPr id="72" name="Rectangle 71"/>
          <p:cNvSpPr/>
          <p:nvPr/>
        </p:nvSpPr>
        <p:spPr>
          <a:xfrm>
            <a:off x="256032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257860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4" name="Rectangle 73"/>
          <p:cNvSpPr/>
          <p:nvPr/>
        </p:nvSpPr>
        <p:spPr>
          <a:xfrm>
            <a:off x="342900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44728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76" name="Rectangle 75"/>
          <p:cNvSpPr/>
          <p:nvPr/>
        </p:nvSpPr>
        <p:spPr>
          <a:xfrm>
            <a:off x="429768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431596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0</a:t>
            </a:r>
          </a:p>
        </p:txBody>
      </p:sp>
      <p:sp>
        <p:nvSpPr>
          <p:cNvPr id="78" name="TextBox 77"/>
          <p:cNvSpPr txBox="1"/>
          <p:nvPr/>
        </p:nvSpPr>
        <p:spPr>
          <a:xfrm>
            <a:off x="320040" y="4114800"/>
            <a:ext cx="4892040" cy="822960"/>
          </a:xfrm>
          <a:prstGeom prst="rect">
            <a:avLst/>
          </a:prstGeom>
          <a:noFill/>
        </p:spPr>
        <p:txBody>
          <a:bodyPr wrap="square" anchor="t">
            <a:spAutoFit/>
          </a:bodyPr>
          <a:lstStyle/>
          <a:p>
            <a:pPr algn="l"/>
            <a:r>
              <a:rPr sz="1150" b="0" i="0">
                <a:solidFill>
                  <a:srgbClr val="334155"/>
                </a:solidFill>
                <a:latin typeface="Calibri"/>
              </a:rPr>
              <a:t>L 892,029 al 14 %, 5 años, cuota L 259,833.</a:t>
            </a:r>
          </a:p>
        </p:txBody>
      </p:sp>
      <p:sp>
        <p:nvSpPr>
          <p:cNvPr id="79" name="Rectangle 78"/>
          <p:cNvSpPr/>
          <p:nvPr/>
        </p:nvSpPr>
        <p:spPr>
          <a:xfrm>
            <a:off x="320040" y="4892040"/>
            <a:ext cx="4892040" cy="1143000"/>
          </a:xfrm>
          <a:prstGeom prst="rect">
            <a:avLst/>
          </a:prstGeom>
          <a:solidFill>
            <a:srgbClr val="FBE4E1"/>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457200" y="4919472"/>
            <a:ext cx="4663440" cy="1097280"/>
          </a:xfrm>
          <a:prstGeom prst="rect">
            <a:avLst/>
          </a:prstGeom>
          <a:noFill/>
        </p:spPr>
        <p:txBody>
          <a:bodyPr wrap="square" anchor="t">
            <a:spAutoFit/>
          </a:bodyPr>
          <a:lstStyle/>
          <a:p>
            <a:pPr algn="l"/>
            <a:r>
              <a:rPr sz="1200" b="1" i="0">
                <a:solidFill>
                  <a:srgbClr val="C0392B"/>
                </a:solidFill>
                <a:latin typeface="Calibri"/>
              </a:rPr>
              <a:t>Necesidad de caja: </a:t>
            </a:r>
            <a:r>
              <a:rPr sz="1200" b="0" i="0">
                <a:solidFill>
                  <a:srgbClr val="334155"/>
                </a:solidFill>
                <a:latin typeface="Calibri"/>
              </a:rPr>
              <a:t>flujos negativos en los años 1 y 2; los socios aportan L 1,217,819 adicionales.</a:t>
            </a:r>
          </a:p>
        </p:txBody>
      </p:sp>
      <p:sp>
        <p:nvSpPr>
          <p:cNvPr id="81" name="TextBox 80"/>
          <p:cNvSpPr txBox="1"/>
          <p:nvPr/>
        </p:nvSpPr>
        <p:spPr>
          <a:xfrm>
            <a:off x="5486400" y="1097280"/>
            <a:ext cx="6309360" cy="310896"/>
          </a:xfrm>
          <a:prstGeom prst="rect">
            <a:avLst/>
          </a:prstGeom>
          <a:noFill/>
        </p:spPr>
        <p:txBody>
          <a:bodyPr wrap="square" anchor="ctr">
            <a:spAutoFit/>
          </a:bodyPr>
          <a:lstStyle/>
          <a:p>
            <a:pPr algn="l"/>
            <a:r>
              <a:rPr sz="1300" b="1" i="0">
                <a:solidFill>
                  <a:srgbClr val="1B3A5C"/>
                </a:solidFill>
                <a:latin typeface="Calibri"/>
              </a:rPr>
              <a:t>Estado de resultados, con financiamiento (L)</a:t>
            </a:r>
          </a:p>
        </p:txBody>
      </p:sp>
      <p:sp>
        <p:nvSpPr>
          <p:cNvPr id="82" name="Rectangle 81"/>
          <p:cNvSpPr/>
          <p:nvPr/>
        </p:nvSpPr>
        <p:spPr>
          <a:xfrm>
            <a:off x="5486400" y="1444752"/>
            <a:ext cx="2331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504688" y="1444752"/>
            <a:ext cx="2295144" cy="365760"/>
          </a:xfrm>
          <a:prstGeom prst="rect">
            <a:avLst/>
          </a:prstGeom>
          <a:noFill/>
        </p:spPr>
        <p:txBody>
          <a:bodyPr wrap="square" anchor="ctr" lIns="45720" rIns="45720" tIns="9144" bIns="9144">
            <a:spAutoFit/>
          </a:bodyPr>
          <a:lstStyle/>
          <a:p>
            <a:pPr algn="l"/>
            <a:r>
              <a:rPr sz="1000" b="1" i="0">
                <a:solidFill>
                  <a:srgbClr val="FFFFFF"/>
                </a:solidFill>
                <a:latin typeface="Calibri"/>
              </a:rPr>
              <a:t>Concepto</a:t>
            </a:r>
          </a:p>
        </p:txBody>
      </p:sp>
      <p:sp>
        <p:nvSpPr>
          <p:cNvPr id="84" name="Rectangle 83"/>
          <p:cNvSpPr/>
          <p:nvPr/>
        </p:nvSpPr>
        <p:spPr>
          <a:xfrm>
            <a:off x="7818120"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7836408"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a:t>
            </a:r>
          </a:p>
        </p:txBody>
      </p:sp>
      <p:sp>
        <p:nvSpPr>
          <p:cNvPr id="86" name="Rectangle 85"/>
          <p:cNvSpPr/>
          <p:nvPr/>
        </p:nvSpPr>
        <p:spPr>
          <a:xfrm>
            <a:off x="8613648"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8631936"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2</a:t>
            </a:r>
          </a:p>
        </p:txBody>
      </p:sp>
      <p:sp>
        <p:nvSpPr>
          <p:cNvPr id="88" name="Rectangle 87"/>
          <p:cNvSpPr/>
          <p:nvPr/>
        </p:nvSpPr>
        <p:spPr>
          <a:xfrm>
            <a:off x="9409176"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9427463"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3</a:t>
            </a:r>
          </a:p>
        </p:txBody>
      </p:sp>
      <p:sp>
        <p:nvSpPr>
          <p:cNvPr id="90" name="Rectangle 89"/>
          <p:cNvSpPr/>
          <p:nvPr/>
        </p:nvSpPr>
        <p:spPr>
          <a:xfrm>
            <a:off x="10204703"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10222991"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5</a:t>
            </a:r>
          </a:p>
        </p:txBody>
      </p:sp>
      <p:sp>
        <p:nvSpPr>
          <p:cNvPr id="92" name="Rectangle 91"/>
          <p:cNvSpPr/>
          <p:nvPr/>
        </p:nvSpPr>
        <p:spPr>
          <a:xfrm>
            <a:off x="11000231"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11018519"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10</a:t>
            </a:r>
          </a:p>
        </p:txBody>
      </p:sp>
      <p:sp>
        <p:nvSpPr>
          <p:cNvPr id="94" name="Rectangle 93"/>
          <p:cNvSpPr/>
          <p:nvPr/>
        </p:nvSpPr>
        <p:spPr>
          <a:xfrm>
            <a:off x="5486400" y="18105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504688" y="18105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Ingresos por ventas</a:t>
            </a:r>
          </a:p>
        </p:txBody>
      </p:sp>
      <p:sp>
        <p:nvSpPr>
          <p:cNvPr id="96" name="Rectangle 95"/>
          <p:cNvSpPr/>
          <p:nvPr/>
        </p:nvSpPr>
        <p:spPr>
          <a:xfrm>
            <a:off x="7818120"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7836408"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3,024,000</a:t>
            </a:r>
          </a:p>
        </p:txBody>
      </p:sp>
      <p:sp>
        <p:nvSpPr>
          <p:cNvPr id="98" name="Rectangle 97"/>
          <p:cNvSpPr/>
          <p:nvPr/>
        </p:nvSpPr>
        <p:spPr>
          <a:xfrm>
            <a:off x="8613648"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8631936"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5,266,800</a:t>
            </a:r>
          </a:p>
        </p:txBody>
      </p:sp>
      <p:sp>
        <p:nvSpPr>
          <p:cNvPr id="100" name="Rectangle 99"/>
          <p:cNvSpPr/>
          <p:nvPr/>
        </p:nvSpPr>
        <p:spPr>
          <a:xfrm>
            <a:off x="9409176"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427463"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8,255,709</a:t>
            </a:r>
          </a:p>
        </p:txBody>
      </p:sp>
      <p:sp>
        <p:nvSpPr>
          <p:cNvPr id="102" name="Rectangle 101"/>
          <p:cNvSpPr/>
          <p:nvPr/>
        </p:nvSpPr>
        <p:spPr>
          <a:xfrm>
            <a:off x="10204703"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10222991"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16,828,822</a:t>
            </a:r>
          </a:p>
        </p:txBody>
      </p:sp>
      <p:sp>
        <p:nvSpPr>
          <p:cNvPr id="104" name="Rectangle 103"/>
          <p:cNvSpPr/>
          <p:nvPr/>
        </p:nvSpPr>
        <p:spPr>
          <a:xfrm>
            <a:off x="11000231"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11018519"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51,680,445</a:t>
            </a:r>
          </a:p>
        </p:txBody>
      </p:sp>
      <p:sp>
        <p:nvSpPr>
          <p:cNvPr id="106" name="Rectangle 105"/>
          <p:cNvSpPr/>
          <p:nvPr/>
        </p:nvSpPr>
        <p:spPr>
          <a:xfrm>
            <a:off x="5486400" y="21762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504688" y="21762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variables</a:t>
            </a:r>
          </a:p>
        </p:txBody>
      </p:sp>
      <p:sp>
        <p:nvSpPr>
          <p:cNvPr id="108" name="Rectangle 107"/>
          <p:cNvSpPr/>
          <p:nvPr/>
        </p:nvSpPr>
        <p:spPr>
          <a:xfrm>
            <a:off x="7818120"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7836408"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1,708,181</a:t>
            </a:r>
          </a:p>
        </p:txBody>
      </p:sp>
      <p:sp>
        <p:nvSpPr>
          <p:cNvPr id="110" name="Rectangle 109"/>
          <p:cNvSpPr/>
          <p:nvPr/>
        </p:nvSpPr>
        <p:spPr>
          <a:xfrm>
            <a:off x="8613648"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8631936"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2,975,081</a:t>
            </a:r>
          </a:p>
        </p:txBody>
      </p:sp>
      <p:sp>
        <p:nvSpPr>
          <p:cNvPr id="112" name="Rectangle 111"/>
          <p:cNvSpPr/>
          <p:nvPr/>
        </p:nvSpPr>
        <p:spPr>
          <a:xfrm>
            <a:off x="9409176"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427463"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4,663,440</a:t>
            </a:r>
          </a:p>
        </p:txBody>
      </p:sp>
      <p:sp>
        <p:nvSpPr>
          <p:cNvPr id="114" name="Rectangle 113"/>
          <p:cNvSpPr/>
          <p:nvPr/>
        </p:nvSpPr>
        <p:spPr>
          <a:xfrm>
            <a:off x="10204703"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10222991"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9,506,174</a:t>
            </a:r>
          </a:p>
        </p:txBody>
      </p:sp>
      <p:sp>
        <p:nvSpPr>
          <p:cNvPr id="116" name="Rectangle 115"/>
          <p:cNvSpPr/>
          <p:nvPr/>
        </p:nvSpPr>
        <p:spPr>
          <a:xfrm>
            <a:off x="11000231"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11018519"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29,192,969</a:t>
            </a:r>
          </a:p>
        </p:txBody>
      </p:sp>
      <p:sp>
        <p:nvSpPr>
          <p:cNvPr id="118" name="Rectangle 117"/>
          <p:cNvSpPr/>
          <p:nvPr/>
        </p:nvSpPr>
        <p:spPr>
          <a:xfrm>
            <a:off x="5486400" y="25420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504688" y="25420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Margen de contribución</a:t>
            </a:r>
          </a:p>
        </p:txBody>
      </p:sp>
      <p:sp>
        <p:nvSpPr>
          <p:cNvPr id="120" name="Rectangle 119"/>
          <p:cNvSpPr/>
          <p:nvPr/>
        </p:nvSpPr>
        <p:spPr>
          <a:xfrm>
            <a:off x="7818120"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836408"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1,315,819</a:t>
            </a:r>
          </a:p>
        </p:txBody>
      </p:sp>
      <p:sp>
        <p:nvSpPr>
          <p:cNvPr id="122" name="Rectangle 121"/>
          <p:cNvSpPr/>
          <p:nvPr/>
        </p:nvSpPr>
        <p:spPr>
          <a:xfrm>
            <a:off x="8613648"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8631936"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2,291,719</a:t>
            </a:r>
          </a:p>
        </p:txBody>
      </p:sp>
      <p:sp>
        <p:nvSpPr>
          <p:cNvPr id="124" name="Rectangle 123"/>
          <p:cNvSpPr/>
          <p:nvPr/>
        </p:nvSpPr>
        <p:spPr>
          <a:xfrm>
            <a:off x="9409176"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9427463"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3,592,269</a:t>
            </a:r>
          </a:p>
        </p:txBody>
      </p:sp>
      <p:sp>
        <p:nvSpPr>
          <p:cNvPr id="126" name="Rectangle 125"/>
          <p:cNvSpPr/>
          <p:nvPr/>
        </p:nvSpPr>
        <p:spPr>
          <a:xfrm>
            <a:off x="10204703"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10222991"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7,322,649</a:t>
            </a:r>
          </a:p>
        </p:txBody>
      </p:sp>
      <p:sp>
        <p:nvSpPr>
          <p:cNvPr id="128" name="Rectangle 127"/>
          <p:cNvSpPr/>
          <p:nvPr/>
        </p:nvSpPr>
        <p:spPr>
          <a:xfrm>
            <a:off x="11000231"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11018519"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22,487,476</a:t>
            </a:r>
          </a:p>
        </p:txBody>
      </p:sp>
      <p:sp>
        <p:nvSpPr>
          <p:cNvPr id="130" name="Rectangle 129"/>
          <p:cNvSpPr/>
          <p:nvPr/>
        </p:nvSpPr>
        <p:spPr>
          <a:xfrm>
            <a:off x="5486400" y="290779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5504688" y="290779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fijos</a:t>
            </a:r>
          </a:p>
        </p:txBody>
      </p:sp>
      <p:sp>
        <p:nvSpPr>
          <p:cNvPr id="132" name="Rectangle 131"/>
          <p:cNvSpPr/>
          <p:nvPr/>
        </p:nvSpPr>
        <p:spPr>
          <a:xfrm>
            <a:off x="7818120"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836408"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2,048,517</a:t>
            </a:r>
          </a:p>
        </p:txBody>
      </p:sp>
      <p:sp>
        <p:nvSpPr>
          <p:cNvPr id="134" name="Rectangle 133"/>
          <p:cNvSpPr/>
          <p:nvPr/>
        </p:nvSpPr>
        <p:spPr>
          <a:xfrm>
            <a:off x="8613648"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8631936"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2,140,700</a:t>
            </a:r>
          </a:p>
        </p:txBody>
      </p:sp>
      <p:sp>
        <p:nvSpPr>
          <p:cNvPr id="136" name="Rectangle 135"/>
          <p:cNvSpPr/>
          <p:nvPr/>
        </p:nvSpPr>
        <p:spPr>
          <a:xfrm>
            <a:off x="9409176"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9427463"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2,237,031</a:t>
            </a:r>
          </a:p>
        </p:txBody>
      </p:sp>
      <p:sp>
        <p:nvSpPr>
          <p:cNvPr id="138" name="Rectangle 137"/>
          <p:cNvSpPr/>
          <p:nvPr/>
        </p:nvSpPr>
        <p:spPr>
          <a:xfrm>
            <a:off x="10204703"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10222991"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2,442,894</a:t>
            </a:r>
          </a:p>
        </p:txBody>
      </p:sp>
      <p:sp>
        <p:nvSpPr>
          <p:cNvPr id="140" name="Rectangle 139"/>
          <p:cNvSpPr/>
          <p:nvPr/>
        </p:nvSpPr>
        <p:spPr>
          <a:xfrm>
            <a:off x="11000231"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11018519"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3,044,290</a:t>
            </a:r>
          </a:p>
        </p:txBody>
      </p:sp>
      <p:sp>
        <p:nvSpPr>
          <p:cNvPr id="142" name="Rectangle 141"/>
          <p:cNvSpPr/>
          <p:nvPr/>
        </p:nvSpPr>
        <p:spPr>
          <a:xfrm>
            <a:off x="5486400" y="327355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5504688" y="3273551"/>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EBITDA</a:t>
            </a:r>
          </a:p>
        </p:txBody>
      </p:sp>
      <p:sp>
        <p:nvSpPr>
          <p:cNvPr id="144" name="Rectangle 143"/>
          <p:cNvSpPr/>
          <p:nvPr/>
        </p:nvSpPr>
        <p:spPr>
          <a:xfrm>
            <a:off x="7818120"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7836408"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−732,697</a:t>
            </a:r>
          </a:p>
        </p:txBody>
      </p:sp>
      <p:sp>
        <p:nvSpPr>
          <p:cNvPr id="146" name="Rectangle 145"/>
          <p:cNvSpPr/>
          <p:nvPr/>
        </p:nvSpPr>
        <p:spPr>
          <a:xfrm>
            <a:off x="8613648"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631936"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151,019</a:t>
            </a:r>
          </a:p>
        </p:txBody>
      </p:sp>
      <p:sp>
        <p:nvSpPr>
          <p:cNvPr id="148" name="Rectangle 147"/>
          <p:cNvSpPr/>
          <p:nvPr/>
        </p:nvSpPr>
        <p:spPr>
          <a:xfrm>
            <a:off x="9409176"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9427463"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1,355,238</a:t>
            </a:r>
          </a:p>
        </p:txBody>
      </p:sp>
      <p:sp>
        <p:nvSpPr>
          <p:cNvPr id="150" name="Rectangle 149"/>
          <p:cNvSpPr/>
          <p:nvPr/>
        </p:nvSpPr>
        <p:spPr>
          <a:xfrm>
            <a:off x="10204703"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10222991"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4,879,754</a:t>
            </a:r>
          </a:p>
        </p:txBody>
      </p:sp>
      <p:sp>
        <p:nvSpPr>
          <p:cNvPr id="152" name="Rectangle 151"/>
          <p:cNvSpPr/>
          <p:nvPr/>
        </p:nvSpPr>
        <p:spPr>
          <a:xfrm>
            <a:off x="11000231"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11018519"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19,443,185</a:t>
            </a:r>
          </a:p>
        </p:txBody>
      </p:sp>
      <p:sp>
        <p:nvSpPr>
          <p:cNvPr id="154" name="Rectangle 153"/>
          <p:cNvSpPr/>
          <p:nvPr/>
        </p:nvSpPr>
        <p:spPr>
          <a:xfrm>
            <a:off x="5486400" y="363931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5504688" y="363931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Depreciación y amortización</a:t>
            </a:r>
          </a:p>
        </p:txBody>
      </p:sp>
      <p:sp>
        <p:nvSpPr>
          <p:cNvPr id="156" name="Rectangle 155"/>
          <p:cNvSpPr/>
          <p:nvPr/>
        </p:nvSpPr>
        <p:spPr>
          <a:xfrm>
            <a:off x="7818120"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7836408"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58" name="Rectangle 157"/>
          <p:cNvSpPr/>
          <p:nvPr/>
        </p:nvSpPr>
        <p:spPr>
          <a:xfrm>
            <a:off x="8613648"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8631936"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0" name="Rectangle 159"/>
          <p:cNvSpPr/>
          <p:nvPr/>
        </p:nvSpPr>
        <p:spPr>
          <a:xfrm>
            <a:off x="9409176"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9427463"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2" name="Rectangle 161"/>
          <p:cNvSpPr/>
          <p:nvPr/>
        </p:nvSpPr>
        <p:spPr>
          <a:xfrm>
            <a:off x="10204703"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10222991"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4" name="Rectangle 163"/>
          <p:cNvSpPr/>
          <p:nvPr/>
        </p:nvSpPr>
        <p:spPr>
          <a:xfrm>
            <a:off x="11000231"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11018519"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89,500</a:t>
            </a:r>
          </a:p>
        </p:txBody>
      </p:sp>
      <p:sp>
        <p:nvSpPr>
          <p:cNvPr id="166" name="Rectangle 165"/>
          <p:cNvSpPr/>
          <p:nvPr/>
        </p:nvSpPr>
        <p:spPr>
          <a:xfrm>
            <a:off x="5486400" y="40050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5504688" y="40050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Intereses e ICS</a:t>
            </a:r>
          </a:p>
        </p:txBody>
      </p:sp>
      <p:sp>
        <p:nvSpPr>
          <p:cNvPr id="168" name="Rectangle 167"/>
          <p:cNvSpPr/>
          <p:nvPr/>
        </p:nvSpPr>
        <p:spPr>
          <a:xfrm>
            <a:off x="7818120"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7836408"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126,044</a:t>
            </a:r>
          </a:p>
        </p:txBody>
      </p:sp>
      <p:sp>
        <p:nvSpPr>
          <p:cNvPr id="170" name="Rectangle 169"/>
          <p:cNvSpPr/>
          <p:nvPr/>
        </p:nvSpPr>
        <p:spPr>
          <a:xfrm>
            <a:off x="8613648"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8631936"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108,048</a:t>
            </a:r>
          </a:p>
        </p:txBody>
      </p:sp>
      <p:sp>
        <p:nvSpPr>
          <p:cNvPr id="172" name="Rectangle 171"/>
          <p:cNvSpPr/>
          <p:nvPr/>
        </p:nvSpPr>
        <p:spPr>
          <a:xfrm>
            <a:off x="9409176"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9427463"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87,706</a:t>
            </a:r>
          </a:p>
        </p:txBody>
      </p:sp>
      <p:sp>
        <p:nvSpPr>
          <p:cNvPr id="174" name="Rectangle 173"/>
          <p:cNvSpPr/>
          <p:nvPr/>
        </p:nvSpPr>
        <p:spPr>
          <a:xfrm>
            <a:off x="10204703"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10222991"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37,908</a:t>
            </a:r>
          </a:p>
        </p:txBody>
      </p:sp>
      <p:sp>
        <p:nvSpPr>
          <p:cNvPr id="176" name="Rectangle 175"/>
          <p:cNvSpPr/>
          <p:nvPr/>
        </p:nvSpPr>
        <p:spPr>
          <a:xfrm>
            <a:off x="11000231"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11018519"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12,202</a:t>
            </a:r>
          </a:p>
        </p:txBody>
      </p:sp>
      <p:sp>
        <p:nvSpPr>
          <p:cNvPr id="178" name="Rectangle 177"/>
          <p:cNvSpPr/>
          <p:nvPr/>
        </p:nvSpPr>
        <p:spPr>
          <a:xfrm>
            <a:off x="5486400" y="43708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TextBox 178"/>
          <p:cNvSpPr txBox="1"/>
          <p:nvPr/>
        </p:nvSpPr>
        <p:spPr>
          <a:xfrm>
            <a:off x="5504688" y="43708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antes de impuestos</a:t>
            </a:r>
          </a:p>
        </p:txBody>
      </p:sp>
      <p:sp>
        <p:nvSpPr>
          <p:cNvPr id="180" name="Rectangle 179"/>
          <p:cNvSpPr/>
          <p:nvPr/>
        </p:nvSpPr>
        <p:spPr>
          <a:xfrm>
            <a:off x="7818120"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7836408"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182" name="Rectangle 181"/>
          <p:cNvSpPr/>
          <p:nvPr/>
        </p:nvSpPr>
        <p:spPr>
          <a:xfrm>
            <a:off x="8613648"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Box 182"/>
          <p:cNvSpPr txBox="1"/>
          <p:nvPr/>
        </p:nvSpPr>
        <p:spPr>
          <a:xfrm>
            <a:off x="8631936"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184" name="Rectangle 183"/>
          <p:cNvSpPr/>
          <p:nvPr/>
        </p:nvSpPr>
        <p:spPr>
          <a:xfrm>
            <a:off x="9409176"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9427463"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186" name="Rectangle 185"/>
          <p:cNvSpPr/>
          <p:nvPr/>
        </p:nvSpPr>
        <p:spPr>
          <a:xfrm>
            <a:off x="10204703"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TextBox 186"/>
          <p:cNvSpPr txBox="1"/>
          <p:nvPr/>
        </p:nvSpPr>
        <p:spPr>
          <a:xfrm>
            <a:off x="10222991"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4,637,146</a:t>
            </a:r>
          </a:p>
        </p:txBody>
      </p:sp>
      <p:sp>
        <p:nvSpPr>
          <p:cNvPr id="188" name="Rectangle 187"/>
          <p:cNvSpPr/>
          <p:nvPr/>
        </p:nvSpPr>
        <p:spPr>
          <a:xfrm>
            <a:off x="11000231"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11018519"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19,341,483</a:t>
            </a:r>
          </a:p>
        </p:txBody>
      </p:sp>
      <p:sp>
        <p:nvSpPr>
          <p:cNvPr id="190" name="Rectangle 189"/>
          <p:cNvSpPr/>
          <p:nvPr/>
        </p:nvSpPr>
        <p:spPr>
          <a:xfrm>
            <a:off x="5486400" y="473659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TextBox 190"/>
          <p:cNvSpPr txBox="1"/>
          <p:nvPr/>
        </p:nvSpPr>
        <p:spPr>
          <a:xfrm>
            <a:off x="5504688" y="473659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Impuesto sobre la renta</a:t>
            </a:r>
          </a:p>
        </p:txBody>
      </p:sp>
      <p:sp>
        <p:nvSpPr>
          <p:cNvPr id="192" name="Rectangle 191"/>
          <p:cNvSpPr/>
          <p:nvPr/>
        </p:nvSpPr>
        <p:spPr>
          <a:xfrm>
            <a:off x="7818120"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Box 192"/>
          <p:cNvSpPr txBox="1"/>
          <p:nvPr/>
        </p:nvSpPr>
        <p:spPr>
          <a:xfrm>
            <a:off x="7836408"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4" name="Rectangle 193"/>
          <p:cNvSpPr/>
          <p:nvPr/>
        </p:nvSpPr>
        <p:spPr>
          <a:xfrm>
            <a:off x="8613648"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8631936"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6" name="Rectangle 195"/>
          <p:cNvSpPr/>
          <p:nvPr/>
        </p:nvSpPr>
        <p:spPr>
          <a:xfrm>
            <a:off x="9409176"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Box 196"/>
          <p:cNvSpPr txBox="1"/>
          <p:nvPr/>
        </p:nvSpPr>
        <p:spPr>
          <a:xfrm>
            <a:off x="9427463"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8" name="Rectangle 197"/>
          <p:cNvSpPr/>
          <p:nvPr/>
        </p:nvSpPr>
        <p:spPr>
          <a:xfrm>
            <a:off x="10204703"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10222991"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1,341,144</a:t>
            </a:r>
          </a:p>
        </p:txBody>
      </p:sp>
      <p:sp>
        <p:nvSpPr>
          <p:cNvPr id="200" name="Rectangle 199"/>
          <p:cNvSpPr/>
          <p:nvPr/>
        </p:nvSpPr>
        <p:spPr>
          <a:xfrm>
            <a:off x="11000231"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Box 200"/>
          <p:cNvSpPr txBox="1"/>
          <p:nvPr/>
        </p:nvSpPr>
        <p:spPr>
          <a:xfrm>
            <a:off x="11018519"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5,752,445</a:t>
            </a:r>
          </a:p>
        </p:txBody>
      </p:sp>
      <p:sp>
        <p:nvSpPr>
          <p:cNvPr id="202" name="Rectangle 201"/>
          <p:cNvSpPr/>
          <p:nvPr/>
        </p:nvSpPr>
        <p:spPr>
          <a:xfrm>
            <a:off x="5486400" y="5102352"/>
            <a:ext cx="23317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TextBox 202"/>
          <p:cNvSpPr txBox="1"/>
          <p:nvPr/>
        </p:nvSpPr>
        <p:spPr>
          <a:xfrm>
            <a:off x="5504688" y="510235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NETA</a:t>
            </a:r>
          </a:p>
        </p:txBody>
      </p:sp>
      <p:sp>
        <p:nvSpPr>
          <p:cNvPr id="204" name="Rectangle 203"/>
          <p:cNvSpPr/>
          <p:nvPr/>
        </p:nvSpPr>
        <p:spPr>
          <a:xfrm>
            <a:off x="7818120"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Box 204"/>
          <p:cNvSpPr txBox="1"/>
          <p:nvPr/>
        </p:nvSpPr>
        <p:spPr>
          <a:xfrm>
            <a:off x="7836408"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206" name="Rectangle 205"/>
          <p:cNvSpPr/>
          <p:nvPr/>
        </p:nvSpPr>
        <p:spPr>
          <a:xfrm>
            <a:off x="8613648"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Box 206"/>
          <p:cNvSpPr txBox="1"/>
          <p:nvPr/>
        </p:nvSpPr>
        <p:spPr>
          <a:xfrm>
            <a:off x="8631936"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208" name="Rectangle 207"/>
          <p:cNvSpPr/>
          <p:nvPr/>
        </p:nvSpPr>
        <p:spPr>
          <a:xfrm>
            <a:off x="9409176"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TextBox 208"/>
          <p:cNvSpPr txBox="1"/>
          <p:nvPr/>
        </p:nvSpPr>
        <p:spPr>
          <a:xfrm>
            <a:off x="9427463"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210" name="Rectangle 209"/>
          <p:cNvSpPr/>
          <p:nvPr/>
        </p:nvSpPr>
        <p:spPr>
          <a:xfrm>
            <a:off x="10204703"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Box 210"/>
          <p:cNvSpPr txBox="1"/>
          <p:nvPr/>
        </p:nvSpPr>
        <p:spPr>
          <a:xfrm>
            <a:off x="10222991"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3,296,003</a:t>
            </a:r>
          </a:p>
        </p:txBody>
      </p:sp>
      <p:sp>
        <p:nvSpPr>
          <p:cNvPr id="212" name="Rectangle 211"/>
          <p:cNvSpPr/>
          <p:nvPr/>
        </p:nvSpPr>
        <p:spPr>
          <a:xfrm>
            <a:off x="11000231"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Box 212"/>
          <p:cNvSpPr txBox="1"/>
          <p:nvPr/>
        </p:nvSpPr>
        <p:spPr>
          <a:xfrm>
            <a:off x="11018519"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13,589,038</a:t>
            </a:r>
          </a:p>
        </p:txBody>
      </p:sp>
      <p:sp>
        <p:nvSpPr>
          <p:cNvPr id="214" name="Rectangle 213"/>
          <p:cNvSpPr/>
          <p:nvPr/>
        </p:nvSpPr>
        <p:spPr>
          <a:xfrm>
            <a:off x="5486400" y="54681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Box 214"/>
          <p:cNvSpPr txBox="1"/>
          <p:nvPr/>
        </p:nvSpPr>
        <p:spPr>
          <a:xfrm>
            <a:off x="5504688" y="54681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Margen neto</a:t>
            </a:r>
          </a:p>
        </p:txBody>
      </p:sp>
      <p:sp>
        <p:nvSpPr>
          <p:cNvPr id="216" name="Rectangle 215"/>
          <p:cNvSpPr/>
          <p:nvPr/>
        </p:nvSpPr>
        <p:spPr>
          <a:xfrm>
            <a:off x="7818120"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Box 216"/>
          <p:cNvSpPr txBox="1"/>
          <p:nvPr/>
        </p:nvSpPr>
        <p:spPr>
          <a:xfrm>
            <a:off x="7836408"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−35.2 %</a:t>
            </a:r>
          </a:p>
        </p:txBody>
      </p:sp>
      <p:sp>
        <p:nvSpPr>
          <p:cNvPr id="218" name="Rectangle 217"/>
          <p:cNvSpPr/>
          <p:nvPr/>
        </p:nvSpPr>
        <p:spPr>
          <a:xfrm>
            <a:off x="8613648"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Box 218"/>
          <p:cNvSpPr txBox="1"/>
          <p:nvPr/>
        </p:nvSpPr>
        <p:spPr>
          <a:xfrm>
            <a:off x="8631936"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−3.1 %</a:t>
            </a:r>
          </a:p>
        </p:txBody>
      </p:sp>
      <p:sp>
        <p:nvSpPr>
          <p:cNvPr id="220" name="Rectangle 219"/>
          <p:cNvSpPr/>
          <p:nvPr/>
        </p:nvSpPr>
        <p:spPr>
          <a:xfrm>
            <a:off x="9409176"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9427463"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12.9 %</a:t>
            </a:r>
          </a:p>
        </p:txBody>
      </p:sp>
      <p:sp>
        <p:nvSpPr>
          <p:cNvPr id="222" name="Rectangle 221"/>
          <p:cNvSpPr/>
          <p:nvPr/>
        </p:nvSpPr>
        <p:spPr>
          <a:xfrm>
            <a:off x="10204703"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TextBox 222"/>
          <p:cNvSpPr txBox="1"/>
          <p:nvPr/>
        </p:nvSpPr>
        <p:spPr>
          <a:xfrm>
            <a:off x="10222991"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19.6 %</a:t>
            </a:r>
          </a:p>
        </p:txBody>
      </p:sp>
      <p:sp>
        <p:nvSpPr>
          <p:cNvPr id="224" name="Rectangle 223"/>
          <p:cNvSpPr/>
          <p:nvPr/>
        </p:nvSpPr>
        <p:spPr>
          <a:xfrm>
            <a:off x="11000231"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TextBox 224"/>
          <p:cNvSpPr txBox="1"/>
          <p:nvPr/>
        </p:nvSpPr>
        <p:spPr>
          <a:xfrm>
            <a:off x="11018519"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26.3 %</a:t>
            </a:r>
          </a:p>
        </p:txBody>
      </p:sp>
      <p:sp>
        <p:nvSpPr>
          <p:cNvPr id="226" name="TextBox 225"/>
          <p:cNvSpPr txBox="1"/>
          <p:nvPr/>
        </p:nvSpPr>
        <p:spPr>
          <a:xfrm>
            <a:off x="320040" y="6144768"/>
            <a:ext cx="11521440" cy="274320"/>
          </a:xfrm>
          <a:prstGeom prst="rect">
            <a:avLst/>
          </a:prstGeom>
          <a:noFill/>
        </p:spPr>
        <p:txBody>
          <a:bodyPr wrap="square" anchor="ctr">
            <a:spAutoFit/>
          </a:bodyPr>
          <a:lstStyle/>
          <a:p>
            <a:pPr algn="l"/>
            <a:r>
              <a:rPr sz="850" b="0" i="1">
                <a:solidFill>
                  <a:srgbClr val="64748B"/>
                </a:solidFill>
                <a:latin typeface="Calibri"/>
              </a:rPr>
              <a:t>Estado de resultados y balance completos en el Anexo C. Utilidad antes de impuestos idéntica a la Tabla 27.</a:t>
            </a:r>
          </a:p>
        </p:txBody>
      </p:sp>
      <p:sp>
        <p:nvSpPr>
          <p:cNvPr id="227" name="TextBox 22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Punto de Equilibrio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143000"/>
          <a:ext cx="6949440" cy="4480560"/>
        </p:xfrm>
        <a:graphic>
          <a:graphicData uri="http://schemas.openxmlformats.org/drawingml/2006/chart">
            <c:chart xmlns:c="http://schemas.openxmlformats.org/drawingml/2006/chart" r:id="rId2"/>
          </a:graphicData>
        </a:graphic>
      </p:graphicFrame>
      <p:sp>
        <p:nvSpPr>
          <p:cNvPr id="6" name="Rectangle 5"/>
          <p:cNvSpPr/>
          <p:nvPr/>
        </p:nvSpPr>
        <p:spPr>
          <a:xfrm>
            <a:off x="7498079" y="114300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19" y="1216152"/>
            <a:ext cx="4069080" cy="457200"/>
          </a:xfrm>
          <a:prstGeom prst="rect">
            <a:avLst/>
          </a:prstGeom>
          <a:noFill/>
        </p:spPr>
        <p:txBody>
          <a:bodyPr wrap="square" anchor="ctr">
            <a:spAutoFit/>
          </a:bodyPr>
          <a:lstStyle/>
          <a:p>
            <a:pPr algn="ctr"/>
            <a:r>
              <a:rPr sz="2000" b="1" i="0">
                <a:solidFill>
                  <a:srgbClr val="1A7A8A"/>
                </a:solidFill>
                <a:latin typeface="Calibri"/>
              </a:rPr>
              <a:t>L 12.18 por litro</a:t>
            </a:r>
          </a:p>
        </p:txBody>
      </p:sp>
      <p:sp>
        <p:nvSpPr>
          <p:cNvPr id="8" name="TextBox 7"/>
          <p:cNvSpPr txBox="1"/>
          <p:nvPr/>
        </p:nvSpPr>
        <p:spPr>
          <a:xfrm>
            <a:off x="7589519" y="1618488"/>
            <a:ext cx="4069080" cy="256032"/>
          </a:xfrm>
          <a:prstGeom prst="rect">
            <a:avLst/>
          </a:prstGeom>
          <a:noFill/>
        </p:spPr>
        <p:txBody>
          <a:bodyPr wrap="square" anchor="ctr">
            <a:spAutoFit/>
          </a:bodyPr>
          <a:lstStyle/>
          <a:p>
            <a:pPr algn="ctr"/>
            <a:r>
              <a:rPr sz="1000" b="0" i="0">
                <a:solidFill>
                  <a:srgbClr val="334155"/>
                </a:solidFill>
                <a:latin typeface="Calibri"/>
              </a:rPr>
              <a:t>Margen de contribución unitario, año 1 (L 28.00 − L 15.82)</a:t>
            </a:r>
          </a:p>
        </p:txBody>
      </p:sp>
      <p:sp>
        <p:nvSpPr>
          <p:cNvPr id="9" name="Rectangle 8"/>
          <p:cNvSpPr/>
          <p:nvPr/>
        </p:nvSpPr>
        <p:spPr>
          <a:xfrm>
            <a:off x="7498079" y="214884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19" y="2221992"/>
            <a:ext cx="4069080" cy="457200"/>
          </a:xfrm>
          <a:prstGeom prst="rect">
            <a:avLst/>
          </a:prstGeom>
          <a:noFill/>
        </p:spPr>
        <p:txBody>
          <a:bodyPr wrap="square" anchor="ctr">
            <a:spAutoFit/>
          </a:bodyPr>
          <a:lstStyle/>
          <a:p>
            <a:pPr algn="ctr"/>
            <a:r>
              <a:rPr sz="2000" b="1" i="0">
                <a:solidFill>
                  <a:srgbClr val="1B3A5C"/>
                </a:solidFill>
                <a:latin typeface="Calibri"/>
              </a:rPr>
              <a:t>184,940 L</a:t>
            </a:r>
          </a:p>
        </p:txBody>
      </p:sp>
      <p:sp>
        <p:nvSpPr>
          <p:cNvPr id="11" name="TextBox 10"/>
          <p:cNvSpPr txBox="1"/>
          <p:nvPr/>
        </p:nvSpPr>
        <p:spPr>
          <a:xfrm>
            <a:off x="7589519" y="2624328"/>
            <a:ext cx="4069080" cy="256032"/>
          </a:xfrm>
          <a:prstGeom prst="rect">
            <a:avLst/>
          </a:prstGeom>
          <a:noFill/>
        </p:spPr>
        <p:txBody>
          <a:bodyPr wrap="square" anchor="ctr">
            <a:spAutoFit/>
          </a:bodyPr>
          <a:lstStyle/>
          <a:p>
            <a:pPr algn="ctr"/>
            <a:r>
              <a:rPr sz="1000" b="0" i="0">
                <a:solidFill>
                  <a:srgbClr val="334155"/>
                </a:solidFill>
                <a:latin typeface="Calibri"/>
              </a:rPr>
              <a:t>Punto de equilibrio contable, año 1 (≈ 103 clientes)</a:t>
            </a:r>
          </a:p>
        </p:txBody>
      </p:sp>
      <p:sp>
        <p:nvSpPr>
          <p:cNvPr id="12" name="Rectangle 11"/>
          <p:cNvSpPr/>
          <p:nvPr/>
        </p:nvSpPr>
        <p:spPr>
          <a:xfrm>
            <a:off x="7498079" y="315468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9519" y="3227832"/>
            <a:ext cx="4069080" cy="457200"/>
          </a:xfrm>
          <a:prstGeom prst="rect">
            <a:avLst/>
          </a:prstGeom>
          <a:noFill/>
        </p:spPr>
        <p:txBody>
          <a:bodyPr wrap="square" anchor="ctr">
            <a:spAutoFit/>
          </a:bodyPr>
          <a:lstStyle/>
          <a:p>
            <a:pPr algn="ctr"/>
            <a:r>
              <a:rPr sz="2000" b="1" i="0">
                <a:solidFill>
                  <a:srgbClr val="1A7A8A"/>
                </a:solidFill>
                <a:latin typeface="Calibri"/>
              </a:rPr>
              <a:t>32 %</a:t>
            </a:r>
          </a:p>
        </p:txBody>
      </p:sp>
      <p:sp>
        <p:nvSpPr>
          <p:cNvPr id="14" name="TextBox 13"/>
          <p:cNvSpPr txBox="1"/>
          <p:nvPr/>
        </p:nvSpPr>
        <p:spPr>
          <a:xfrm>
            <a:off x="7589519" y="363016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3 (volumen 270,000 L)</a:t>
            </a:r>
          </a:p>
        </p:txBody>
      </p:sp>
      <p:sp>
        <p:nvSpPr>
          <p:cNvPr id="15" name="Rectangle 14"/>
          <p:cNvSpPr/>
          <p:nvPr/>
        </p:nvSpPr>
        <p:spPr>
          <a:xfrm>
            <a:off x="7498079" y="416052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589519" y="4233672"/>
            <a:ext cx="4069080" cy="457200"/>
          </a:xfrm>
          <a:prstGeom prst="rect">
            <a:avLst/>
          </a:prstGeom>
          <a:noFill/>
        </p:spPr>
        <p:txBody>
          <a:bodyPr wrap="square" anchor="ctr">
            <a:spAutoFit/>
          </a:bodyPr>
          <a:lstStyle/>
          <a:p>
            <a:pPr algn="ctr"/>
            <a:r>
              <a:rPr sz="2000" b="1" i="0">
                <a:solidFill>
                  <a:srgbClr val="1B3A5C"/>
                </a:solidFill>
                <a:latin typeface="Calibri"/>
              </a:rPr>
              <a:t>86 %</a:t>
            </a:r>
          </a:p>
        </p:txBody>
      </p:sp>
      <p:sp>
        <p:nvSpPr>
          <p:cNvPr id="17" name="TextBox 16"/>
          <p:cNvSpPr txBox="1"/>
          <p:nvPr/>
        </p:nvSpPr>
        <p:spPr>
          <a:xfrm>
            <a:off x="7589519" y="463600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10</a:t>
            </a:r>
          </a:p>
        </p:txBody>
      </p:sp>
      <p:sp>
        <p:nvSpPr>
          <p:cNvPr id="18" name="TextBox 17"/>
          <p:cNvSpPr txBox="1"/>
          <p:nvPr/>
        </p:nvSpPr>
        <p:spPr>
          <a:xfrm>
            <a:off x="320040" y="5715000"/>
            <a:ext cx="11430000" cy="548640"/>
          </a:xfrm>
          <a:prstGeom prst="rect">
            <a:avLst/>
          </a:prstGeom>
          <a:noFill/>
        </p:spPr>
        <p:txBody>
          <a:bodyPr wrap="square" anchor="t">
            <a:spAutoFit/>
          </a:bodyPr>
          <a:lstStyle/>
          <a:p>
            <a:pPr algn="l"/>
            <a:r>
              <a:rPr sz="1200" b="1" i="0">
                <a:solidFill>
                  <a:srgbClr val="334155"/>
                </a:solidFill>
                <a:latin typeface="Calibri"/>
              </a:rPr>
              <a:t>PE = (costos fijos + depreciación) / margen unitario. </a:t>
            </a:r>
            <a:r>
              <a:rPr sz="1200" b="0" i="0">
                <a:solidFill>
                  <a:srgbClr val="334155"/>
                </a:solidFill>
                <a:latin typeface="Calibri"/>
              </a:rPr>
              <a:t>Bajo el equilibrio en los años 1 y 2; superado desde el año 3.</a:t>
            </a:r>
          </a:p>
        </p:txBody>
      </p:sp>
      <p:sp>
        <p:nvSpPr>
          <p:cNvPr id="19" name="TextBox 1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SENSIBILIDAD</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Gráfico de Tornado y Escenarios sobre el VAN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097280"/>
          <a:ext cx="6675120" cy="5074920"/>
        </p:xfrm>
        <a:graphic>
          <a:graphicData uri="http://schemas.openxmlformats.org/drawingml/2006/chart">
            <c:chart xmlns:c="http://schemas.openxmlformats.org/drawingml/2006/chart" r:id="rId2"/>
          </a:graphicData>
        </a:graphic>
      </p:graphicFrame>
      <p:sp>
        <p:nvSpPr>
          <p:cNvPr id="6" name="TextBox 5"/>
          <p:cNvSpPr txBox="1"/>
          <p:nvPr/>
        </p:nvSpPr>
        <p:spPr>
          <a:xfrm>
            <a:off x="7223760" y="1097280"/>
            <a:ext cx="4526280" cy="310896"/>
          </a:xfrm>
          <a:prstGeom prst="rect">
            <a:avLst/>
          </a:prstGeom>
          <a:noFill/>
        </p:spPr>
        <p:txBody>
          <a:bodyPr wrap="square" anchor="ctr">
            <a:spAutoFit/>
          </a:bodyPr>
          <a:lstStyle/>
          <a:p>
            <a:pPr algn="l"/>
            <a:r>
              <a:rPr sz="1300" b="1" i="0">
                <a:solidFill>
                  <a:srgbClr val="1B3A5C"/>
                </a:solidFill>
                <a:latin typeface="Calibri"/>
              </a:rPr>
              <a:t>Escenarios (Tabla 39 de la tesis)</a:t>
            </a:r>
          </a:p>
        </p:txBody>
      </p:sp>
      <p:sp>
        <p:nvSpPr>
          <p:cNvPr id="7" name="Rectangle 6"/>
          <p:cNvSpPr/>
          <p:nvPr/>
        </p:nvSpPr>
        <p:spPr>
          <a:xfrm>
            <a:off x="7223760" y="1463040"/>
            <a:ext cx="16459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242048" y="1463040"/>
            <a:ext cx="1609344" cy="365760"/>
          </a:xfrm>
          <a:prstGeom prst="rect">
            <a:avLst/>
          </a:prstGeom>
          <a:noFill/>
        </p:spPr>
        <p:txBody>
          <a:bodyPr wrap="square" anchor="ctr" lIns="45720" rIns="45720" tIns="9144" bIns="9144">
            <a:spAutoFit/>
          </a:bodyPr>
          <a:lstStyle/>
          <a:p>
            <a:pPr algn="l"/>
            <a:r>
              <a:rPr sz="1050" b="1" i="0">
                <a:solidFill>
                  <a:srgbClr val="FFFFFF"/>
                </a:solidFill>
                <a:latin typeface="Calibri"/>
              </a:rPr>
              <a:t>Indicador</a:t>
            </a:r>
          </a:p>
        </p:txBody>
      </p:sp>
      <p:sp>
        <p:nvSpPr>
          <p:cNvPr id="9" name="Rectangle 8"/>
          <p:cNvSpPr/>
          <p:nvPr/>
        </p:nvSpPr>
        <p:spPr>
          <a:xfrm>
            <a:off x="886968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88796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Pesimista</a:t>
            </a:r>
          </a:p>
        </p:txBody>
      </p:sp>
      <p:sp>
        <p:nvSpPr>
          <p:cNvPr id="11" name="Rectangle 10"/>
          <p:cNvSpPr/>
          <p:nvPr/>
        </p:nvSpPr>
        <p:spPr>
          <a:xfrm>
            <a:off x="982980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4808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Base</a:t>
            </a:r>
          </a:p>
        </p:txBody>
      </p:sp>
      <p:sp>
        <p:nvSpPr>
          <p:cNvPr id="13" name="Rectangle 12"/>
          <p:cNvSpPr/>
          <p:nvPr/>
        </p:nvSpPr>
        <p:spPr>
          <a:xfrm>
            <a:off x="1078992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80820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Optimista</a:t>
            </a:r>
          </a:p>
        </p:txBody>
      </p:sp>
      <p:sp>
        <p:nvSpPr>
          <p:cNvPr id="15" name="Rectangle 14"/>
          <p:cNvSpPr/>
          <p:nvPr/>
        </p:nvSpPr>
        <p:spPr>
          <a:xfrm>
            <a:off x="7223760" y="182880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42048" y="182880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sin fin. (L M)</a:t>
            </a:r>
          </a:p>
        </p:txBody>
      </p:sp>
      <p:sp>
        <p:nvSpPr>
          <p:cNvPr id="17" name="Rectangle 16"/>
          <p:cNvSpPr/>
          <p:nvPr/>
        </p:nvSpPr>
        <p:spPr>
          <a:xfrm>
            <a:off x="886968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88796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2.02</a:t>
            </a:r>
          </a:p>
        </p:txBody>
      </p:sp>
      <p:sp>
        <p:nvSpPr>
          <p:cNvPr id="19" name="Rectangle 18"/>
          <p:cNvSpPr/>
          <p:nvPr/>
        </p:nvSpPr>
        <p:spPr>
          <a:xfrm>
            <a:off x="982980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4808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15.37</a:t>
            </a:r>
          </a:p>
        </p:txBody>
      </p:sp>
      <p:sp>
        <p:nvSpPr>
          <p:cNvPr id="21" name="Rectangle 20"/>
          <p:cNvSpPr/>
          <p:nvPr/>
        </p:nvSpPr>
        <p:spPr>
          <a:xfrm>
            <a:off x="1078992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0820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31.17</a:t>
            </a:r>
          </a:p>
        </p:txBody>
      </p:sp>
      <p:sp>
        <p:nvSpPr>
          <p:cNvPr id="23" name="Rectangle 22"/>
          <p:cNvSpPr/>
          <p:nvPr/>
        </p:nvSpPr>
        <p:spPr>
          <a:xfrm>
            <a:off x="7223760" y="219456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42048" y="219456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con fin. (L M)</a:t>
            </a:r>
          </a:p>
        </p:txBody>
      </p:sp>
      <p:sp>
        <p:nvSpPr>
          <p:cNvPr id="25" name="Rectangle 24"/>
          <p:cNvSpPr/>
          <p:nvPr/>
        </p:nvSpPr>
        <p:spPr>
          <a:xfrm>
            <a:off x="886968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2.07</a:t>
            </a:r>
          </a:p>
        </p:txBody>
      </p:sp>
      <p:sp>
        <p:nvSpPr>
          <p:cNvPr id="27" name="Rectangle 26"/>
          <p:cNvSpPr/>
          <p:nvPr/>
        </p:nvSpPr>
        <p:spPr>
          <a:xfrm>
            <a:off x="982980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4808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15.46</a:t>
            </a:r>
          </a:p>
        </p:txBody>
      </p:sp>
      <p:sp>
        <p:nvSpPr>
          <p:cNvPr id="29" name="Rectangle 28"/>
          <p:cNvSpPr/>
          <p:nvPr/>
        </p:nvSpPr>
        <p:spPr>
          <a:xfrm>
            <a:off x="1078992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80820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31.28</a:t>
            </a:r>
          </a:p>
        </p:txBody>
      </p:sp>
      <p:sp>
        <p:nvSpPr>
          <p:cNvPr id="31" name="Rectangle 30"/>
          <p:cNvSpPr/>
          <p:nvPr/>
        </p:nvSpPr>
        <p:spPr>
          <a:xfrm>
            <a:off x="7223760" y="2560320"/>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242048" y="256032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sin fin.</a:t>
            </a:r>
          </a:p>
        </p:txBody>
      </p:sp>
      <p:sp>
        <p:nvSpPr>
          <p:cNvPr id="33" name="Rectangle 32"/>
          <p:cNvSpPr/>
          <p:nvPr/>
        </p:nvSpPr>
        <p:spPr>
          <a:xfrm>
            <a:off x="886968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88796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21.21 %</a:t>
            </a:r>
          </a:p>
        </p:txBody>
      </p:sp>
      <p:sp>
        <p:nvSpPr>
          <p:cNvPr id="35" name="Rectangle 34"/>
          <p:cNvSpPr/>
          <p:nvPr/>
        </p:nvSpPr>
        <p:spPr>
          <a:xfrm>
            <a:off x="982980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4808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55.95 %</a:t>
            </a:r>
          </a:p>
        </p:txBody>
      </p:sp>
      <p:sp>
        <p:nvSpPr>
          <p:cNvPr id="37" name="Rectangle 36"/>
          <p:cNvSpPr/>
          <p:nvPr/>
        </p:nvSpPr>
        <p:spPr>
          <a:xfrm>
            <a:off x="1078992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0820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93.91 %</a:t>
            </a:r>
          </a:p>
        </p:txBody>
      </p:sp>
      <p:sp>
        <p:nvSpPr>
          <p:cNvPr id="39" name="Rectangle 38"/>
          <p:cNvSpPr/>
          <p:nvPr/>
        </p:nvSpPr>
        <p:spPr>
          <a:xfrm>
            <a:off x="7223760" y="292607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292607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con fin.</a:t>
            </a:r>
          </a:p>
        </p:txBody>
      </p:sp>
      <p:sp>
        <p:nvSpPr>
          <p:cNvPr id="41" name="Rectangle 40"/>
          <p:cNvSpPr/>
          <p:nvPr/>
        </p:nvSpPr>
        <p:spPr>
          <a:xfrm>
            <a:off x="886968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88796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21.91 %</a:t>
            </a:r>
          </a:p>
        </p:txBody>
      </p:sp>
      <p:sp>
        <p:nvSpPr>
          <p:cNvPr id="43" name="Rectangle 42"/>
          <p:cNvSpPr/>
          <p:nvPr/>
        </p:nvSpPr>
        <p:spPr>
          <a:xfrm>
            <a:off x="982980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4808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63.62 %</a:t>
            </a:r>
          </a:p>
        </p:txBody>
      </p:sp>
      <p:sp>
        <p:nvSpPr>
          <p:cNvPr id="45" name="Rectangle 44"/>
          <p:cNvSpPr/>
          <p:nvPr/>
        </p:nvSpPr>
        <p:spPr>
          <a:xfrm>
            <a:off x="1078992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080820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122.46 %</a:t>
            </a:r>
          </a:p>
        </p:txBody>
      </p:sp>
      <p:sp>
        <p:nvSpPr>
          <p:cNvPr id="47" name="Rectangle 46"/>
          <p:cNvSpPr/>
          <p:nvPr/>
        </p:nvSpPr>
        <p:spPr>
          <a:xfrm>
            <a:off x="7223760" y="329183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242048" y="329183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PRI sin fin. (años)</a:t>
            </a:r>
          </a:p>
        </p:txBody>
      </p:sp>
      <p:sp>
        <p:nvSpPr>
          <p:cNvPr id="49" name="Rectangle 48"/>
          <p:cNvSpPr/>
          <p:nvPr/>
        </p:nvSpPr>
        <p:spPr>
          <a:xfrm>
            <a:off x="886968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8796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7.03</a:t>
            </a:r>
          </a:p>
        </p:txBody>
      </p:sp>
      <p:sp>
        <p:nvSpPr>
          <p:cNvPr id="51" name="Rectangle 50"/>
          <p:cNvSpPr/>
          <p:nvPr/>
        </p:nvSpPr>
        <p:spPr>
          <a:xfrm>
            <a:off x="982980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84808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3.67</a:t>
            </a:r>
          </a:p>
        </p:txBody>
      </p:sp>
      <p:sp>
        <p:nvSpPr>
          <p:cNvPr id="53" name="Rectangle 52"/>
          <p:cNvSpPr/>
          <p:nvPr/>
        </p:nvSpPr>
        <p:spPr>
          <a:xfrm>
            <a:off x="1078992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0820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a:t>
            </a:r>
          </a:p>
        </p:txBody>
      </p:sp>
      <p:sp>
        <p:nvSpPr>
          <p:cNvPr id="55" name="Rectangle 54"/>
          <p:cNvSpPr/>
          <p:nvPr/>
        </p:nvSpPr>
        <p:spPr>
          <a:xfrm>
            <a:off x="7223760" y="365759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242048" y="365759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B/C sin fin.</a:t>
            </a:r>
          </a:p>
        </p:txBody>
      </p:sp>
      <p:sp>
        <p:nvSpPr>
          <p:cNvPr id="57" name="Rectangle 56"/>
          <p:cNvSpPr/>
          <p:nvPr/>
        </p:nvSpPr>
        <p:spPr>
          <a:xfrm>
            <a:off x="886968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88796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1.05</a:t>
            </a:r>
          </a:p>
        </p:txBody>
      </p:sp>
      <p:sp>
        <p:nvSpPr>
          <p:cNvPr id="59" name="Rectangle 58"/>
          <p:cNvSpPr/>
          <p:nvPr/>
        </p:nvSpPr>
        <p:spPr>
          <a:xfrm>
            <a:off x="982980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4808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1.24</a:t>
            </a:r>
          </a:p>
        </p:txBody>
      </p:sp>
      <p:sp>
        <p:nvSpPr>
          <p:cNvPr id="61" name="Rectangle 60"/>
          <p:cNvSpPr/>
          <p:nvPr/>
        </p:nvSpPr>
        <p:spPr>
          <a:xfrm>
            <a:off x="1078992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80820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1.41</a:t>
            </a:r>
          </a:p>
        </p:txBody>
      </p:sp>
      <p:sp>
        <p:nvSpPr>
          <p:cNvPr id="63" name="TextBox 62"/>
          <p:cNvSpPr txBox="1"/>
          <p:nvPr/>
        </p:nvSpPr>
        <p:spPr>
          <a:xfrm>
            <a:off x="7223760" y="4114800"/>
            <a:ext cx="4526280" cy="2103120"/>
          </a:xfrm>
          <a:prstGeom prst="rect">
            <a:avLst/>
          </a:prstGeom>
          <a:noFill/>
        </p:spPr>
        <p:txBody>
          <a:bodyPr wrap="square" anchor="t">
            <a:spAutoFit/>
          </a:bodyPr>
          <a:lstStyle/>
          <a:p>
            <a:pPr algn="l">
              <a:spcAft>
                <a:spcPts val="600"/>
              </a:spcAft>
            </a:pPr>
            <a:r>
              <a:rPr sz="1200" b="1" i="0">
                <a:solidFill>
                  <a:srgbClr val="334155"/>
                </a:solidFill>
                <a:latin typeface="Calibri"/>
              </a:rPr>
              <a:t>Pesimista: </a:t>
            </a:r>
            <a:r>
              <a:rPr sz="1200" b="0" i="0">
                <a:solidFill>
                  <a:srgbClr val="334155"/>
                </a:solidFill>
                <a:latin typeface="Calibri"/>
              </a:rPr>
              <a:t>las 11 variables en su extremo desfavorable.</a:t>
            </a:r>
          </a:p>
          <a:p>
            <a:pPr algn="l">
              <a:spcAft>
                <a:spcPts val="600"/>
              </a:spcAft>
            </a:pPr>
            <a:r>
              <a:rPr sz="1200" b="1" i="0">
                <a:solidFill>
                  <a:srgbClr val="334155"/>
                </a:solidFill>
                <a:latin typeface="Calibri"/>
              </a:rPr>
              <a:t>Optimista: </a:t>
            </a:r>
            <a:r>
              <a:rPr sz="1200" b="0" i="0">
                <a:solidFill>
                  <a:srgbClr val="334155"/>
                </a:solidFill>
                <a:latin typeface="Calibri"/>
              </a:rPr>
              <a:t>todas en su extremo favorable.</a:t>
            </a:r>
          </a:p>
          <a:p>
            <a:pPr algn="l">
              <a:spcAft>
                <a:spcPts val="600"/>
              </a:spcAft>
            </a:pPr>
            <a:r>
              <a:rPr sz="1200" b="1" i="0">
                <a:solidFill>
                  <a:srgbClr val="1A7A8A"/>
                </a:solidFill>
                <a:latin typeface="Calibri"/>
              </a:rPr>
              <a:t>Aun en el pesimista, VAN &gt; 0 y TIR 21.21 % &gt; 15 %.</a:t>
            </a:r>
          </a:p>
        </p:txBody>
      </p:sp>
      <p:sp>
        <p:nvSpPr>
          <p:cNvPr id="64" name="TextBox 63"/>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RIESGOS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VAN Determinístico vs. VPN Medio de @RISK: qué mide cada uno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57200" y="1243584"/>
            <a:ext cx="3337560" cy="320040"/>
          </a:xfrm>
          <a:prstGeom prst="rect">
            <a:avLst/>
          </a:prstGeom>
          <a:noFill/>
        </p:spPr>
        <p:txBody>
          <a:bodyPr wrap="square" anchor="ctr">
            <a:spAutoFit/>
          </a:bodyPr>
          <a:lstStyle/>
          <a:p>
            <a:pPr algn="ctr"/>
            <a:r>
              <a:rPr sz="1200" b="1" i="0">
                <a:solidFill>
                  <a:srgbClr val="1A7A8A"/>
                </a:solidFill>
                <a:latin typeface="Calibri"/>
              </a:rPr>
              <a:t>VAN determinístico</a:t>
            </a:r>
          </a:p>
        </p:txBody>
      </p:sp>
      <p:sp>
        <p:nvSpPr>
          <p:cNvPr id="7" name="TextBox 6"/>
          <p:cNvSpPr txBox="1"/>
          <p:nvPr/>
        </p:nvSpPr>
        <p:spPr>
          <a:xfrm>
            <a:off x="457200" y="1572768"/>
            <a:ext cx="3337560" cy="548640"/>
          </a:xfrm>
          <a:prstGeom prst="rect">
            <a:avLst/>
          </a:prstGeom>
          <a:noFill/>
        </p:spPr>
        <p:txBody>
          <a:bodyPr wrap="square" anchor="ctr">
            <a:spAutoFit/>
          </a:bodyPr>
          <a:lstStyle/>
          <a:p>
            <a:pPr algn="ctr"/>
            <a:r>
              <a:rPr sz="2400" b="1" i="0">
                <a:solidFill>
                  <a:srgbClr val="1A7A8A"/>
                </a:solidFill>
                <a:latin typeface="Calibri"/>
              </a:rPr>
              <a:t>L 15,459,686</a:t>
            </a:r>
          </a:p>
        </p:txBody>
      </p:sp>
      <p:sp>
        <p:nvSpPr>
          <p:cNvPr id="8" name="TextBox 7"/>
          <p:cNvSpPr txBox="1"/>
          <p:nvPr/>
        </p:nvSpPr>
        <p:spPr>
          <a:xfrm>
            <a:off x="457200" y="2148840"/>
            <a:ext cx="3337560" cy="1234440"/>
          </a:xfrm>
          <a:prstGeom prst="rect">
            <a:avLst/>
          </a:prstGeom>
          <a:noFill/>
        </p:spPr>
        <p:txBody>
          <a:bodyPr wrap="square" anchor="t">
            <a:spAutoFit/>
          </a:bodyPr>
          <a:lstStyle/>
          <a:p>
            <a:pPr algn="ctr"/>
            <a:r>
              <a:rPr sz="1250" b="0" i="0">
                <a:solidFill>
                  <a:srgbClr val="334155"/>
                </a:solidFill>
                <a:latin typeface="Calibri"/>
              </a:rPr>
              <a:t>Supuestos puntuales; costos indexados a la inflación. Valor de decisión (Tabla 31).</a:t>
            </a:r>
          </a:p>
        </p:txBody>
      </p:sp>
      <p:sp>
        <p:nvSpPr>
          <p:cNvPr id="9" name="Rectangle 8"/>
          <p:cNvSpPr/>
          <p:nvPr/>
        </p:nvSpPr>
        <p:spPr>
          <a:xfrm>
            <a:off x="4160520" y="1188720"/>
            <a:ext cx="3611880" cy="2240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0" y="1243584"/>
            <a:ext cx="3337560" cy="320040"/>
          </a:xfrm>
          <a:prstGeom prst="rect">
            <a:avLst/>
          </a:prstGeom>
          <a:noFill/>
        </p:spPr>
        <p:txBody>
          <a:bodyPr wrap="square" anchor="ctr">
            <a:spAutoFit/>
          </a:bodyPr>
          <a:lstStyle/>
          <a:p>
            <a:pPr algn="ctr"/>
            <a:r>
              <a:rPr sz="1200" b="1" i="0">
                <a:solidFill>
                  <a:srgbClr val="1B3A5C"/>
                </a:solidFill>
                <a:latin typeface="Calibri"/>
              </a:rPr>
              <a:t>VPN medio @RISK</a:t>
            </a:r>
          </a:p>
        </p:txBody>
      </p:sp>
      <p:sp>
        <p:nvSpPr>
          <p:cNvPr id="11" name="TextBox 10"/>
          <p:cNvSpPr txBox="1"/>
          <p:nvPr/>
        </p:nvSpPr>
        <p:spPr>
          <a:xfrm>
            <a:off x="4297680" y="1572768"/>
            <a:ext cx="3337560" cy="548640"/>
          </a:xfrm>
          <a:prstGeom prst="rect">
            <a:avLst/>
          </a:prstGeom>
          <a:noFill/>
        </p:spPr>
        <p:txBody>
          <a:bodyPr wrap="square" anchor="ctr">
            <a:spAutoFit/>
          </a:bodyPr>
          <a:lstStyle/>
          <a:p>
            <a:pPr algn="ctr"/>
            <a:r>
              <a:rPr sz="2400" b="1" i="0">
                <a:solidFill>
                  <a:srgbClr val="1B3A5C"/>
                </a:solidFill>
                <a:latin typeface="Calibri"/>
              </a:rPr>
              <a:t>L 23,999,077</a:t>
            </a:r>
          </a:p>
        </p:txBody>
      </p:sp>
      <p:sp>
        <p:nvSpPr>
          <p:cNvPr id="12" name="TextBox 11"/>
          <p:cNvSpPr txBox="1"/>
          <p:nvPr/>
        </p:nvSpPr>
        <p:spPr>
          <a:xfrm>
            <a:off x="4297680" y="2148840"/>
            <a:ext cx="3337560" cy="1234440"/>
          </a:xfrm>
          <a:prstGeom prst="rect">
            <a:avLst/>
          </a:prstGeom>
          <a:noFill/>
        </p:spPr>
        <p:txBody>
          <a:bodyPr wrap="square" anchor="t">
            <a:spAutoFit/>
          </a:bodyPr>
          <a:lstStyle/>
          <a:p>
            <a:pPr algn="ctr"/>
            <a:r>
              <a:rPr sz="1250" b="0" i="0">
                <a:solidFill>
                  <a:srgbClr val="334155"/>
                </a:solidFill>
                <a:latin typeface="Calibri"/>
              </a:rPr>
              <a:t>Promedio de 10,000 iteraciones. Mide la dispersión.</a:t>
            </a:r>
          </a:p>
        </p:txBody>
      </p:sp>
      <p:sp>
        <p:nvSpPr>
          <p:cNvPr id="13" name="Rectangle 12"/>
          <p:cNvSpPr/>
          <p:nvPr/>
        </p:nvSpPr>
        <p:spPr>
          <a:xfrm>
            <a:off x="800100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38160" y="1243584"/>
            <a:ext cx="3337560" cy="320040"/>
          </a:xfrm>
          <a:prstGeom prst="rect">
            <a:avLst/>
          </a:prstGeom>
          <a:noFill/>
        </p:spPr>
        <p:txBody>
          <a:bodyPr wrap="square" anchor="ctr">
            <a:spAutoFit/>
          </a:bodyPr>
          <a:lstStyle/>
          <a:p>
            <a:pPr algn="ctr"/>
            <a:r>
              <a:rPr sz="1200" b="1" i="0">
                <a:solidFill>
                  <a:srgbClr val="1A7A8A"/>
                </a:solidFill>
                <a:latin typeface="Calibri"/>
              </a:rPr>
              <a:t>VPN de evaluación</a:t>
            </a:r>
          </a:p>
        </p:txBody>
      </p:sp>
      <p:sp>
        <p:nvSpPr>
          <p:cNvPr id="15" name="TextBox 14"/>
          <p:cNvSpPr txBox="1"/>
          <p:nvPr/>
        </p:nvSpPr>
        <p:spPr>
          <a:xfrm>
            <a:off x="8138160" y="1572768"/>
            <a:ext cx="3337560" cy="548640"/>
          </a:xfrm>
          <a:prstGeom prst="rect">
            <a:avLst/>
          </a:prstGeom>
          <a:noFill/>
        </p:spPr>
        <p:txBody>
          <a:bodyPr wrap="square" anchor="ctr">
            <a:spAutoFit/>
          </a:bodyPr>
          <a:lstStyle/>
          <a:p>
            <a:pPr algn="ctr"/>
            <a:r>
              <a:rPr sz="2400" b="1" i="0">
                <a:solidFill>
                  <a:srgbClr val="1A7A8A"/>
                </a:solidFill>
                <a:latin typeface="Calibri"/>
              </a:rPr>
              <a:t>L 20,384,429</a:t>
            </a:r>
          </a:p>
        </p:txBody>
      </p:sp>
      <p:sp>
        <p:nvSpPr>
          <p:cNvPr id="16" name="TextBox 15"/>
          <p:cNvSpPr txBox="1"/>
          <p:nvPr/>
        </p:nvSpPr>
        <p:spPr>
          <a:xfrm>
            <a:off x="8138160" y="2148840"/>
            <a:ext cx="3337560" cy="1234440"/>
          </a:xfrm>
          <a:prstGeom prst="rect">
            <a:avLst/>
          </a:prstGeom>
          <a:noFill/>
        </p:spPr>
        <p:txBody>
          <a:bodyPr wrap="square" anchor="t">
            <a:spAutoFit/>
          </a:bodyPr>
          <a:lstStyle/>
          <a:p>
            <a:pPr algn="ctr"/>
            <a:r>
              <a:rPr sz="1250" b="0" i="0">
                <a:solidFill>
                  <a:srgbClr val="334155"/>
                </a:solidFill>
                <a:latin typeface="Calibri"/>
              </a:rPr>
              <a:t>VPN medio − pérdida esperada (L 3.61 M). Ajustado por riesgo.</a:t>
            </a:r>
          </a:p>
        </p:txBody>
      </p:sp>
      <p:sp>
        <p:nvSpPr>
          <p:cNvPr id="17" name="TextBox 16"/>
          <p:cNvSpPr txBox="1"/>
          <p:nvPr/>
        </p:nvSpPr>
        <p:spPr>
          <a:xfrm>
            <a:off x="320040" y="3611880"/>
            <a:ext cx="11430000" cy="310896"/>
          </a:xfrm>
          <a:prstGeom prst="rect">
            <a:avLst/>
          </a:prstGeom>
          <a:noFill/>
        </p:spPr>
        <p:txBody>
          <a:bodyPr wrap="square" anchor="ctr">
            <a:spAutoFit/>
          </a:bodyPr>
          <a:lstStyle/>
          <a:p>
            <a:pPr algn="l"/>
            <a:r>
              <a:rPr sz="1300" b="1" i="0">
                <a:solidFill>
                  <a:srgbClr val="1B3A5C"/>
                </a:solidFill>
                <a:latin typeface="Calibri"/>
              </a:rPr>
              <a:t>¿Por qué difieren? Conciliación</a:t>
            </a:r>
          </a:p>
        </p:txBody>
      </p:sp>
      <p:sp>
        <p:nvSpPr>
          <p:cNvPr id="18" name="Rectangle 17"/>
          <p:cNvSpPr/>
          <p:nvPr/>
        </p:nvSpPr>
        <p:spPr>
          <a:xfrm>
            <a:off x="320040" y="3959352"/>
            <a:ext cx="941832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3959352"/>
            <a:ext cx="9381744" cy="310896"/>
          </a:xfrm>
          <a:prstGeom prst="rect">
            <a:avLst/>
          </a:prstGeom>
          <a:noFill/>
        </p:spPr>
        <p:txBody>
          <a:bodyPr wrap="square" anchor="ctr" lIns="45720" rIns="45720" tIns="9144" bIns="9144">
            <a:spAutoFit/>
          </a:bodyPr>
          <a:lstStyle/>
          <a:p>
            <a:pPr algn="l"/>
            <a:r>
              <a:rPr sz="1050" b="1" i="0">
                <a:solidFill>
                  <a:srgbClr val="FFFFFF"/>
                </a:solidFill>
                <a:latin typeface="Calibri"/>
              </a:rPr>
              <a:t>Concepto</a:t>
            </a:r>
          </a:p>
        </p:txBody>
      </p:sp>
      <p:sp>
        <p:nvSpPr>
          <p:cNvPr id="20" name="Rectangle 19"/>
          <p:cNvSpPr/>
          <p:nvPr/>
        </p:nvSpPr>
        <p:spPr>
          <a:xfrm>
            <a:off x="9738360" y="3959352"/>
            <a:ext cx="2011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56648" y="3959352"/>
            <a:ext cx="19751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Valor (L)</a:t>
            </a:r>
          </a:p>
        </p:txBody>
      </p:sp>
      <p:sp>
        <p:nvSpPr>
          <p:cNvPr id="22" name="Rectangle 21"/>
          <p:cNvSpPr/>
          <p:nvPr/>
        </p:nvSpPr>
        <p:spPr>
          <a:xfrm>
            <a:off x="320040" y="4270248"/>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38328" y="4270248"/>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VAN determinístico con financiamiento</a:t>
            </a:r>
          </a:p>
        </p:txBody>
      </p:sp>
      <p:sp>
        <p:nvSpPr>
          <p:cNvPr id="24" name="Rectangle 23"/>
          <p:cNvSpPr/>
          <p:nvPr/>
        </p:nvSpPr>
        <p:spPr>
          <a:xfrm>
            <a:off x="9738360" y="4270248"/>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56648" y="4270248"/>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15,459,686</a:t>
            </a:r>
          </a:p>
        </p:txBody>
      </p:sp>
      <p:sp>
        <p:nvSpPr>
          <p:cNvPr id="26" name="Rectangle 25"/>
          <p:cNvSpPr/>
          <p:nvPr/>
        </p:nvSpPr>
        <p:spPr>
          <a:xfrm>
            <a:off x="320040" y="4599432"/>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4599432"/>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Costos sin indexar a la inflación (lógica de @RISK)</a:t>
            </a:r>
          </a:p>
        </p:txBody>
      </p:sp>
      <p:sp>
        <p:nvSpPr>
          <p:cNvPr id="28" name="Rectangle 27"/>
          <p:cNvSpPr/>
          <p:nvPr/>
        </p:nvSpPr>
        <p:spPr>
          <a:xfrm>
            <a:off x="9738360" y="4599432"/>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56648" y="4599432"/>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+8,655,398</a:t>
            </a:r>
          </a:p>
        </p:txBody>
      </p:sp>
      <p:sp>
        <p:nvSpPr>
          <p:cNvPr id="30" name="Rectangle 29"/>
          <p:cNvSpPr/>
          <p:nvPr/>
        </p:nvSpPr>
        <p:spPr>
          <a:xfrm>
            <a:off x="320040" y="4928616"/>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928616"/>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Mismo modelo con esa lógica y valores base</a:t>
            </a:r>
          </a:p>
        </p:txBody>
      </p:sp>
      <p:sp>
        <p:nvSpPr>
          <p:cNvPr id="32" name="Rectangle 31"/>
          <p:cNvSpPr/>
          <p:nvPr/>
        </p:nvSpPr>
        <p:spPr>
          <a:xfrm>
            <a:off x="9738360" y="4928616"/>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6648" y="4928616"/>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24,115,084</a:t>
            </a:r>
          </a:p>
        </p:txBody>
      </p:sp>
      <p:sp>
        <p:nvSpPr>
          <p:cNvPr id="34" name="Rectangle 33"/>
          <p:cNvSpPr/>
          <p:nvPr/>
        </p:nvSpPr>
        <p:spPr>
          <a:xfrm>
            <a:off x="320040" y="5257800"/>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38328" y="5257800"/>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Distribuciones PERT/Normal y no linealidad</a:t>
            </a:r>
          </a:p>
        </p:txBody>
      </p:sp>
      <p:sp>
        <p:nvSpPr>
          <p:cNvPr id="36" name="Rectangle 35"/>
          <p:cNvSpPr/>
          <p:nvPr/>
        </p:nvSpPr>
        <p:spPr>
          <a:xfrm>
            <a:off x="9738360" y="5257800"/>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56648" y="5257800"/>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−116,007</a:t>
            </a:r>
          </a:p>
        </p:txBody>
      </p:sp>
      <p:sp>
        <p:nvSpPr>
          <p:cNvPr id="38" name="Rectangle 37"/>
          <p:cNvSpPr/>
          <p:nvPr/>
        </p:nvSpPr>
        <p:spPr>
          <a:xfrm>
            <a:off x="320040" y="5586984"/>
            <a:ext cx="941832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8328" y="5586984"/>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VPN medio @RISK</a:t>
            </a:r>
          </a:p>
        </p:txBody>
      </p:sp>
      <p:sp>
        <p:nvSpPr>
          <p:cNvPr id="40" name="Rectangle 39"/>
          <p:cNvSpPr/>
          <p:nvPr/>
        </p:nvSpPr>
        <p:spPr>
          <a:xfrm>
            <a:off x="9738360" y="5586984"/>
            <a:ext cx="201168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756648" y="5586984"/>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23,999,077</a:t>
            </a:r>
          </a:p>
        </p:txBody>
      </p:sp>
      <p:sp>
        <p:nvSpPr>
          <p:cNvPr id="42" name="TextBox 41"/>
          <p:cNvSpPr txBox="1"/>
          <p:nvPr/>
        </p:nvSpPr>
        <p:spPr>
          <a:xfrm>
            <a:off x="320040" y="5989320"/>
            <a:ext cx="11430000" cy="457200"/>
          </a:xfrm>
          <a:prstGeom prst="rect">
            <a:avLst/>
          </a:prstGeom>
          <a:noFill/>
        </p:spPr>
        <p:txBody>
          <a:bodyPr wrap="square" anchor="ctr">
            <a:spAutoFit/>
          </a:bodyPr>
          <a:lstStyle/>
          <a:p>
            <a:pPr algn="l"/>
            <a:r>
              <a:rPr sz="1200" b="1" i="0">
                <a:solidFill>
                  <a:srgbClr val="334155"/>
                </a:solidFill>
                <a:latin typeface="Calibri"/>
              </a:rPr>
              <a:t>Lectura conservadora: </a:t>
            </a:r>
            <a:r>
              <a:rPr sz="1200" b="0" i="0">
                <a:solidFill>
                  <a:srgbClr val="334155"/>
                </a:solidFill>
                <a:latin typeface="Calibri"/>
              </a:rPr>
              <a:t>pérdida esperada = 15.06 % del VPN medio y 23.38 % del VAN; margen amplio.</a:t>
            </a:r>
          </a:p>
        </p:txBody>
      </p:sp>
      <p:sp>
        <p:nvSpPr>
          <p:cNvPr id="43" name="TextBox 42"/>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LIMITACIONES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Limitaciones del Estudio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2976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29768" y="129844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8" name="TextBox 7"/>
          <p:cNvSpPr txBox="1"/>
          <p:nvPr/>
        </p:nvSpPr>
        <p:spPr>
          <a:xfrm>
            <a:off x="941832" y="1298448"/>
            <a:ext cx="4937760" cy="411480"/>
          </a:xfrm>
          <a:prstGeom prst="rect">
            <a:avLst/>
          </a:prstGeom>
          <a:noFill/>
        </p:spPr>
        <p:txBody>
          <a:bodyPr wrap="square" anchor="ctr">
            <a:spAutoFit/>
          </a:bodyPr>
          <a:lstStyle/>
          <a:p>
            <a:pPr algn="l"/>
            <a:r>
              <a:rPr sz="1250" b="1" i="0">
                <a:solidFill>
                  <a:srgbClr val="1B3A5C"/>
                </a:solidFill>
                <a:latin typeface="Calibri"/>
              </a:rPr>
              <a:t>Muestra no probabilística</a:t>
            </a:r>
          </a:p>
        </p:txBody>
      </p:sp>
      <p:sp>
        <p:nvSpPr>
          <p:cNvPr id="9" name="TextBox 8"/>
          <p:cNvSpPr txBox="1"/>
          <p:nvPr/>
        </p:nvSpPr>
        <p:spPr>
          <a:xfrm>
            <a:off x="429768" y="1737360"/>
            <a:ext cx="5449824" cy="996695"/>
          </a:xfrm>
          <a:prstGeom prst="rect">
            <a:avLst/>
          </a:prstGeom>
          <a:noFill/>
        </p:spPr>
        <p:txBody>
          <a:bodyPr wrap="square" anchor="t">
            <a:spAutoFit/>
          </a:bodyPr>
          <a:lstStyle/>
          <a:p>
            <a:pPr algn="l"/>
            <a:r>
              <a:rPr sz="1400" b="0" i="0">
                <a:solidFill>
                  <a:srgbClr val="334155"/>
                </a:solidFill>
                <a:latin typeface="Calibri"/>
              </a:rPr>
              <a:t>63 encuestas de 500 (± 11.55 %); para ± 5 % se requerían 218.</a:t>
            </a:r>
          </a:p>
        </p:txBody>
      </p:sp>
      <p:sp>
        <p:nvSpPr>
          <p:cNvPr id="10" name="Rectangle 9"/>
          <p:cNvSpPr/>
          <p:nvPr/>
        </p:nvSpPr>
        <p:spPr>
          <a:xfrm>
            <a:off x="6080759"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19048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0488" y="129844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13" name="TextBox 12"/>
          <p:cNvSpPr txBox="1"/>
          <p:nvPr/>
        </p:nvSpPr>
        <p:spPr>
          <a:xfrm>
            <a:off x="6702551" y="1298448"/>
            <a:ext cx="4937760" cy="411480"/>
          </a:xfrm>
          <a:prstGeom prst="rect">
            <a:avLst/>
          </a:prstGeom>
          <a:noFill/>
        </p:spPr>
        <p:txBody>
          <a:bodyPr wrap="square" anchor="ctr">
            <a:spAutoFit/>
          </a:bodyPr>
          <a:lstStyle/>
          <a:p>
            <a:pPr algn="l"/>
            <a:r>
              <a:rPr sz="1250" b="1" i="0">
                <a:solidFill>
                  <a:srgbClr val="1B3A5C"/>
                </a:solidFill>
                <a:latin typeface="Calibri"/>
              </a:rPr>
              <a:t>Entrevistas no documentadas</a:t>
            </a:r>
          </a:p>
        </p:txBody>
      </p:sp>
      <p:sp>
        <p:nvSpPr>
          <p:cNvPr id="14" name="TextBox 13"/>
          <p:cNvSpPr txBox="1"/>
          <p:nvPr/>
        </p:nvSpPr>
        <p:spPr>
          <a:xfrm>
            <a:off x="6190488" y="1737360"/>
            <a:ext cx="5449824" cy="996695"/>
          </a:xfrm>
          <a:prstGeom prst="rect">
            <a:avLst/>
          </a:prstGeom>
          <a:noFill/>
        </p:spPr>
        <p:txBody>
          <a:bodyPr wrap="square" anchor="t">
            <a:spAutoFit/>
          </a:bodyPr>
          <a:lstStyle/>
          <a:p>
            <a:pPr algn="l"/>
            <a:r>
              <a:rPr sz="1400" b="0" i="0">
                <a:solidFill>
                  <a:srgbClr val="334155"/>
                </a:solidFill>
                <a:latin typeface="Calibri"/>
              </a:rPr>
              <a:t>Sin registro de las entrevistas; no se usan como evidencia.</a:t>
            </a:r>
          </a:p>
        </p:txBody>
      </p:sp>
      <p:sp>
        <p:nvSpPr>
          <p:cNvPr id="15" name="Rectangle 14"/>
          <p:cNvSpPr/>
          <p:nvPr/>
        </p:nvSpPr>
        <p:spPr>
          <a:xfrm>
            <a:off x="320040"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2976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3035808"/>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18" name="TextBox 17"/>
          <p:cNvSpPr txBox="1"/>
          <p:nvPr/>
        </p:nvSpPr>
        <p:spPr>
          <a:xfrm>
            <a:off x="941832" y="3035808"/>
            <a:ext cx="4937760" cy="411480"/>
          </a:xfrm>
          <a:prstGeom prst="rect">
            <a:avLst/>
          </a:prstGeom>
          <a:noFill/>
        </p:spPr>
        <p:txBody>
          <a:bodyPr wrap="square" anchor="ctr">
            <a:spAutoFit/>
          </a:bodyPr>
          <a:lstStyle/>
          <a:p>
            <a:pPr algn="l"/>
            <a:r>
              <a:rPr sz="1250" b="1" i="0">
                <a:solidFill>
                  <a:srgbClr val="1B3A5C"/>
                </a:solidFill>
                <a:latin typeface="Calibri"/>
              </a:rPr>
              <a:t>Información de prefactibilidad</a:t>
            </a:r>
          </a:p>
        </p:txBody>
      </p:sp>
      <p:sp>
        <p:nvSpPr>
          <p:cNvPr id="19" name="TextBox 18"/>
          <p:cNvSpPr txBox="1"/>
          <p:nvPr/>
        </p:nvSpPr>
        <p:spPr>
          <a:xfrm>
            <a:off x="429768" y="3474720"/>
            <a:ext cx="5449824" cy="996695"/>
          </a:xfrm>
          <a:prstGeom prst="rect">
            <a:avLst/>
          </a:prstGeom>
          <a:noFill/>
        </p:spPr>
        <p:txBody>
          <a:bodyPr wrap="square" anchor="t">
            <a:spAutoFit/>
          </a:bodyPr>
          <a:lstStyle/>
          <a:p>
            <a:pPr algn="l"/>
            <a:r>
              <a:rPr sz="1400" b="0" i="0">
                <a:solidFill>
                  <a:srgbClr val="334155"/>
                </a:solidFill>
                <a:latin typeface="Calibri"/>
              </a:rPr>
              <a:t>Fuentes secundarias y cotizaciones referenciales.</a:t>
            </a:r>
          </a:p>
        </p:txBody>
      </p:sp>
      <p:sp>
        <p:nvSpPr>
          <p:cNvPr id="20" name="Rectangle 19"/>
          <p:cNvSpPr/>
          <p:nvPr/>
        </p:nvSpPr>
        <p:spPr>
          <a:xfrm>
            <a:off x="6080759"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19048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0488" y="3035808"/>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23" name="TextBox 22"/>
          <p:cNvSpPr txBox="1"/>
          <p:nvPr/>
        </p:nvSpPr>
        <p:spPr>
          <a:xfrm>
            <a:off x="6702551" y="3035808"/>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24" name="TextBox 23"/>
          <p:cNvSpPr txBox="1"/>
          <p:nvPr/>
        </p:nvSpPr>
        <p:spPr>
          <a:xfrm>
            <a:off x="6190488" y="3474720"/>
            <a:ext cx="5449824" cy="996695"/>
          </a:xfrm>
          <a:prstGeom prst="rect">
            <a:avLst/>
          </a:prstGeom>
          <a:noFill/>
        </p:spPr>
        <p:txBody>
          <a:bodyPr wrap="square" anchor="t">
            <a:spAutoFit/>
          </a:bodyPr>
          <a:lstStyle/>
          <a:p>
            <a:pPr algn="l"/>
            <a:r>
              <a:rPr sz="1400" b="0" i="0">
                <a:solidFill>
                  <a:srgbClr val="334155"/>
                </a:solidFill>
                <a:latin typeface="Calibri"/>
              </a:rPr>
              <a:t>Sin cuantificar empleos indirectos, valor agregado ni divisas.</a:t>
            </a:r>
          </a:p>
        </p:txBody>
      </p:sp>
      <p:sp>
        <p:nvSpPr>
          <p:cNvPr id="25" name="Rectangle 24"/>
          <p:cNvSpPr/>
          <p:nvPr/>
        </p:nvSpPr>
        <p:spPr>
          <a:xfrm>
            <a:off x="320040"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2976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9768" y="4773168"/>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28" name="TextBox 27"/>
          <p:cNvSpPr txBox="1"/>
          <p:nvPr/>
        </p:nvSpPr>
        <p:spPr>
          <a:xfrm>
            <a:off x="941832" y="4773168"/>
            <a:ext cx="4937760" cy="411480"/>
          </a:xfrm>
          <a:prstGeom prst="rect">
            <a:avLst/>
          </a:prstGeom>
          <a:noFill/>
        </p:spPr>
        <p:txBody>
          <a:bodyPr wrap="square" anchor="ctr">
            <a:spAutoFit/>
          </a:bodyPr>
          <a:lstStyle/>
          <a:p>
            <a:pPr algn="l"/>
            <a:r>
              <a:rPr sz="1250" b="1" i="0">
                <a:solidFill>
                  <a:srgbClr val="B5862A"/>
                </a:solidFill>
                <a:latin typeface="Calibri"/>
              </a:rPr>
              <a:t>Modelo de riesgos</a:t>
            </a:r>
          </a:p>
        </p:txBody>
      </p:sp>
      <p:sp>
        <p:nvSpPr>
          <p:cNvPr id="29" name="TextBox 28"/>
          <p:cNvSpPr txBox="1"/>
          <p:nvPr/>
        </p:nvSpPr>
        <p:spPr>
          <a:xfrm>
            <a:off x="429768" y="5212079"/>
            <a:ext cx="5449824" cy="996695"/>
          </a:xfrm>
          <a:prstGeom prst="rect">
            <a:avLst/>
          </a:prstGeom>
          <a:noFill/>
        </p:spPr>
        <p:txBody>
          <a:bodyPr wrap="square" anchor="t">
            <a:spAutoFit/>
          </a:bodyPr>
          <a:lstStyle/>
          <a:p>
            <a:pPr algn="l"/>
            <a:r>
              <a:rPr sz="1400" b="0" i="0">
                <a:solidFill>
                  <a:srgbClr val="334155"/>
                </a:solidFill>
                <a:latin typeface="Calibri"/>
              </a:rPr>
              <a:t>Parámetros por juicio experto; eventos independientes.</a:t>
            </a:r>
          </a:p>
        </p:txBody>
      </p:sp>
      <p:sp>
        <p:nvSpPr>
          <p:cNvPr id="30" name="Rectangle 29"/>
          <p:cNvSpPr/>
          <p:nvPr/>
        </p:nvSpPr>
        <p:spPr>
          <a:xfrm>
            <a:off x="6080759"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19048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90488" y="4773168"/>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33" name="TextBox 32"/>
          <p:cNvSpPr txBox="1"/>
          <p:nvPr/>
        </p:nvSpPr>
        <p:spPr>
          <a:xfrm>
            <a:off x="6702551" y="4773168"/>
            <a:ext cx="4937760" cy="411480"/>
          </a:xfrm>
          <a:prstGeom prst="rect">
            <a:avLst/>
          </a:prstGeom>
          <a:noFill/>
        </p:spPr>
        <p:txBody>
          <a:bodyPr wrap="square" anchor="ctr">
            <a:spAutoFit/>
          </a:bodyPr>
          <a:lstStyle/>
          <a:p>
            <a:pPr algn="l"/>
            <a:r>
              <a:rPr sz="1250" b="1" i="0">
                <a:solidFill>
                  <a:srgbClr val="B5862A"/>
                </a:solidFill>
                <a:latin typeface="Calibri"/>
              </a:rPr>
              <a:t>Financiamiento de arranque</a:t>
            </a:r>
          </a:p>
        </p:txBody>
      </p:sp>
      <p:sp>
        <p:nvSpPr>
          <p:cNvPr id="34" name="TextBox 33"/>
          <p:cNvSpPr txBox="1"/>
          <p:nvPr/>
        </p:nvSpPr>
        <p:spPr>
          <a:xfrm>
            <a:off x="6190488" y="5212079"/>
            <a:ext cx="5449824" cy="996695"/>
          </a:xfrm>
          <a:prstGeom prst="rect">
            <a:avLst/>
          </a:prstGeom>
          <a:noFill/>
        </p:spPr>
        <p:txBody>
          <a:bodyPr wrap="square" anchor="t">
            <a:spAutoFit/>
          </a:bodyPr>
          <a:lstStyle/>
          <a:p>
            <a:pPr algn="l"/>
            <a:r>
              <a:rPr sz="1400" b="0" i="0">
                <a:solidFill>
                  <a:srgbClr val="334155"/>
                </a:solidFill>
                <a:latin typeface="Calibri"/>
              </a:rPr>
              <a:t>Déficit de los años 1 y 2 (L 1.22 M) cubierto por los socios.</a:t>
            </a:r>
          </a:p>
        </p:txBody>
      </p:sp>
      <p:sp>
        <p:nvSpPr>
          <p:cNvPr id="35" name="TextBox 3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ESTUDIOS COMPLEMENTARIOS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Estudios Legal, Organizacional y Ambiental</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234440"/>
            <a:ext cx="3611880" cy="50292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02920" y="1234440"/>
            <a:ext cx="3291840" cy="502920"/>
          </a:xfrm>
          <a:prstGeom prst="rect">
            <a:avLst/>
          </a:prstGeom>
          <a:noFill/>
        </p:spPr>
        <p:txBody>
          <a:bodyPr wrap="square" anchor="ctr">
            <a:spAutoFit/>
          </a:bodyPr>
          <a:lstStyle/>
          <a:p>
            <a:pPr algn="l"/>
            <a:r>
              <a:rPr sz="1500" b="1" i="0">
                <a:solidFill>
                  <a:srgbClr val="FFFFFF"/>
                </a:solidFill>
                <a:latin typeface="Calibri"/>
              </a:rPr>
              <a:t>Legal</a:t>
            </a:r>
          </a:p>
        </p:txBody>
      </p:sp>
      <p:sp>
        <p:nvSpPr>
          <p:cNvPr id="7" name="Rectangle 6"/>
          <p:cNvSpPr/>
          <p:nvPr/>
        </p:nvSpPr>
        <p:spPr>
          <a:xfrm>
            <a:off x="320040" y="1737360"/>
            <a:ext cx="3611880" cy="39319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1874519"/>
            <a:ext cx="3291840" cy="3657600"/>
          </a:xfrm>
          <a:prstGeom prst="rect">
            <a:avLst/>
          </a:prstGeom>
          <a:noFill/>
        </p:spPr>
        <p:txBody>
          <a:bodyPr wrap="square" anchor="t">
            <a:spAutoFit/>
          </a:bodyPr>
          <a:lstStyle/>
          <a:p>
            <a:pPr algn="l">
              <a:spcAft>
                <a:spcPts val="1400"/>
              </a:spcAft>
            </a:pPr>
            <a:r>
              <a:rPr sz="1400" b="1" i="0">
                <a:solidFill>
                  <a:srgbClr val="1A7A8A"/>
                </a:solidFill>
                <a:latin typeface="Calibri"/>
              </a:rPr>
              <a:t>•  </a:t>
            </a:r>
            <a:r>
              <a:rPr sz="1400" b="0" i="0">
                <a:solidFill>
                  <a:srgbClr val="334155"/>
                </a:solidFill>
                <a:latin typeface="Calibri"/>
              </a:rPr>
              <a:t>ARSA: licencia sanitaria y registro sanitario del producto</a:t>
            </a:r>
          </a:p>
          <a:p>
            <a:pPr algn="l">
              <a:spcAft>
                <a:spcPts val="1400"/>
              </a:spcAft>
            </a:pPr>
            <a:r>
              <a:rPr sz="1400" b="1" i="0">
                <a:solidFill>
                  <a:srgbClr val="1A7A8A"/>
                </a:solidFill>
                <a:latin typeface="Calibri"/>
              </a:rPr>
              <a:t>•  </a:t>
            </a:r>
            <a:r>
              <a:rPr sz="1400" b="0" i="0">
                <a:solidFill>
                  <a:srgbClr val="334155"/>
                </a:solidFill>
                <a:latin typeface="Calibri"/>
              </a:rPr>
              <a:t>SENASA: permiso de funcionamiento e inspección (BPM y POES)</a:t>
            </a:r>
          </a:p>
          <a:p>
            <a:pPr algn="l">
              <a:spcAft>
                <a:spcPts val="1400"/>
              </a:spcAft>
            </a:pPr>
            <a:r>
              <a:rPr sz="1400" b="1" i="0">
                <a:solidFill>
                  <a:srgbClr val="1A7A8A"/>
                </a:solidFill>
                <a:latin typeface="Calibri"/>
              </a:rPr>
              <a:t>•  </a:t>
            </a:r>
            <a:r>
              <a:rPr sz="1400" b="0" i="0">
                <a:solidFill>
                  <a:srgbClr val="334155"/>
                </a:solidFill>
                <a:latin typeface="Calibri"/>
              </a:rPr>
              <a:t>SAG: reglamento de inspección de la leche y RTCA</a:t>
            </a:r>
          </a:p>
          <a:p>
            <a:pPr algn="l">
              <a:spcAft>
                <a:spcPts val="1400"/>
              </a:spcAft>
            </a:pPr>
            <a:r>
              <a:rPr sz="1400" b="1" i="0">
                <a:solidFill>
                  <a:srgbClr val="1A7A8A"/>
                </a:solidFill>
                <a:latin typeface="Calibri"/>
              </a:rPr>
              <a:t>•  </a:t>
            </a:r>
            <a:r>
              <a:rPr sz="1400" b="0" i="0">
                <a:solidFill>
                  <a:srgbClr val="334155"/>
                </a:solidFill>
                <a:latin typeface="Calibri"/>
              </a:rPr>
              <a:t>MiAmbiente: EIA y licencia ambiental</a:t>
            </a:r>
          </a:p>
        </p:txBody>
      </p:sp>
      <p:sp>
        <p:nvSpPr>
          <p:cNvPr id="9" name="Rectangle 8"/>
          <p:cNvSpPr/>
          <p:nvPr/>
        </p:nvSpPr>
        <p:spPr>
          <a:xfrm>
            <a:off x="4160520" y="1234440"/>
            <a:ext cx="361188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343400" y="1234440"/>
            <a:ext cx="3291840" cy="502920"/>
          </a:xfrm>
          <a:prstGeom prst="rect">
            <a:avLst/>
          </a:prstGeom>
          <a:noFill/>
        </p:spPr>
        <p:txBody>
          <a:bodyPr wrap="square" anchor="ctr">
            <a:spAutoFit/>
          </a:bodyPr>
          <a:lstStyle/>
          <a:p>
            <a:pPr algn="l"/>
            <a:r>
              <a:rPr sz="1500" b="1" i="0">
                <a:solidFill>
                  <a:srgbClr val="FFFFFF"/>
                </a:solidFill>
                <a:latin typeface="Calibri"/>
              </a:rPr>
              <a:t>Organizacional</a:t>
            </a:r>
          </a:p>
        </p:txBody>
      </p:sp>
      <p:sp>
        <p:nvSpPr>
          <p:cNvPr id="11" name="Rectangle 10"/>
          <p:cNvSpPr/>
          <p:nvPr/>
        </p:nvSpPr>
        <p:spPr>
          <a:xfrm>
            <a:off x="4160520" y="1737360"/>
            <a:ext cx="3611880" cy="39319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43400" y="1874519"/>
            <a:ext cx="3291840" cy="3657600"/>
          </a:xfrm>
          <a:prstGeom prst="rect">
            <a:avLst/>
          </a:prstGeom>
          <a:noFill/>
        </p:spPr>
        <p:txBody>
          <a:bodyPr wrap="square" anchor="t">
            <a:spAutoFit/>
          </a:bodyPr>
          <a:lstStyle/>
          <a:p>
            <a:pPr algn="l">
              <a:spcAft>
                <a:spcPts val="1400"/>
              </a:spcAft>
            </a:pPr>
            <a:r>
              <a:rPr sz="1400" b="1" i="0">
                <a:solidFill>
                  <a:srgbClr val="1B3A5C"/>
                </a:solidFill>
                <a:latin typeface="Calibri"/>
              </a:rPr>
              <a:t>•  </a:t>
            </a:r>
            <a:r>
              <a:rPr sz="1400" b="0" i="0">
                <a:solidFill>
                  <a:srgbClr val="334155"/>
                </a:solidFill>
                <a:latin typeface="Calibri"/>
              </a:rPr>
              <a:t>Gerente de operaciones y 5 cargos operativos</a:t>
            </a:r>
          </a:p>
          <a:p>
            <a:pPr algn="l">
              <a:spcAft>
                <a:spcPts val="1400"/>
              </a:spcAft>
            </a:pPr>
            <a:r>
              <a:rPr sz="1400" b="1" i="0">
                <a:solidFill>
                  <a:srgbClr val="1B3A5C"/>
                </a:solidFill>
                <a:latin typeface="Calibri"/>
              </a:rPr>
              <a:t>•  </a:t>
            </a:r>
            <a:r>
              <a:rPr sz="1400" b="0" i="0">
                <a:solidFill>
                  <a:srgbClr val="334155"/>
                </a:solidFill>
                <a:latin typeface="Calibri"/>
              </a:rPr>
              <a:t>6 colaboradores; planilla L 92,600/mes</a:t>
            </a:r>
          </a:p>
          <a:p>
            <a:pPr algn="l">
              <a:spcAft>
                <a:spcPts val="1400"/>
              </a:spcAft>
            </a:pPr>
            <a:r>
              <a:rPr sz="1400" b="1" i="0">
                <a:solidFill>
                  <a:srgbClr val="1B3A5C"/>
                </a:solidFill>
                <a:latin typeface="Calibri"/>
              </a:rPr>
              <a:t>•  </a:t>
            </a:r>
            <a:r>
              <a:rPr sz="1400" b="0" i="0">
                <a:solidFill>
                  <a:srgbClr val="334155"/>
                </a:solidFill>
                <a:latin typeface="Calibri"/>
              </a:rPr>
              <a:t>14 salarios al año más cargas IHSS e INFOP</a:t>
            </a:r>
          </a:p>
          <a:p>
            <a:pPr algn="l">
              <a:spcAft>
                <a:spcPts val="1400"/>
              </a:spcAft>
            </a:pPr>
            <a:r>
              <a:rPr sz="1400" b="1" i="0">
                <a:solidFill>
                  <a:srgbClr val="1B3A5C"/>
                </a:solidFill>
                <a:latin typeface="Calibri"/>
              </a:rPr>
              <a:t>•  </a:t>
            </a:r>
            <a:r>
              <a:rPr sz="1400" b="0" i="0">
                <a:solidFill>
                  <a:srgbClr val="334155"/>
                </a:solidFill>
                <a:latin typeface="Calibri"/>
              </a:rPr>
              <a:t>Costo de personal: L 1.43 M en el año 1</a:t>
            </a:r>
          </a:p>
        </p:txBody>
      </p:sp>
      <p:sp>
        <p:nvSpPr>
          <p:cNvPr id="13" name="Rectangle 12"/>
          <p:cNvSpPr/>
          <p:nvPr/>
        </p:nvSpPr>
        <p:spPr>
          <a:xfrm>
            <a:off x="8001000" y="1234440"/>
            <a:ext cx="3611880" cy="50292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83879" y="1234440"/>
            <a:ext cx="3291840" cy="502920"/>
          </a:xfrm>
          <a:prstGeom prst="rect">
            <a:avLst/>
          </a:prstGeom>
          <a:noFill/>
        </p:spPr>
        <p:txBody>
          <a:bodyPr wrap="square" anchor="ctr">
            <a:spAutoFit/>
          </a:bodyPr>
          <a:lstStyle/>
          <a:p>
            <a:pPr algn="l"/>
            <a:r>
              <a:rPr sz="1500" b="1" i="0">
                <a:solidFill>
                  <a:srgbClr val="FFFFFF"/>
                </a:solidFill>
                <a:latin typeface="Calibri"/>
              </a:rPr>
              <a:t>Ambiental</a:t>
            </a:r>
          </a:p>
        </p:txBody>
      </p:sp>
      <p:sp>
        <p:nvSpPr>
          <p:cNvPr id="15" name="Rectangle 14"/>
          <p:cNvSpPr/>
          <p:nvPr/>
        </p:nvSpPr>
        <p:spPr>
          <a:xfrm>
            <a:off x="8001000" y="1737360"/>
            <a:ext cx="3611880" cy="39319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83879" y="1874519"/>
            <a:ext cx="3291840" cy="3657600"/>
          </a:xfrm>
          <a:prstGeom prst="rect">
            <a:avLst/>
          </a:prstGeom>
          <a:noFill/>
        </p:spPr>
        <p:txBody>
          <a:bodyPr wrap="square" anchor="t">
            <a:spAutoFit/>
          </a:bodyPr>
          <a:lstStyle/>
          <a:p>
            <a:pPr algn="l">
              <a:spcAft>
                <a:spcPts val="1400"/>
              </a:spcAft>
            </a:pPr>
            <a:r>
              <a:rPr sz="1400" b="1" i="0">
                <a:solidFill>
                  <a:srgbClr val="1A7A8A"/>
                </a:solidFill>
                <a:latin typeface="Calibri"/>
              </a:rPr>
              <a:t>•  </a:t>
            </a:r>
            <a:r>
              <a:rPr sz="1400" b="0" i="0">
                <a:solidFill>
                  <a:srgbClr val="334155"/>
                </a:solidFill>
                <a:latin typeface="Calibri"/>
              </a:rPr>
              <a:t>Efluentes: trampa de grasas y tratamiento biológico</a:t>
            </a:r>
          </a:p>
          <a:p>
            <a:pPr algn="l">
              <a:spcAft>
                <a:spcPts val="1400"/>
              </a:spcAft>
            </a:pPr>
            <a:r>
              <a:rPr sz="1400" b="1" i="0">
                <a:solidFill>
                  <a:srgbClr val="1A7A8A"/>
                </a:solidFill>
                <a:latin typeface="Calibri"/>
              </a:rPr>
              <a:t>•  </a:t>
            </a:r>
            <a:r>
              <a:rPr sz="1400" b="0" i="0">
                <a:solidFill>
                  <a:srgbClr val="334155"/>
                </a:solidFill>
                <a:latin typeface="Calibri"/>
              </a:rPr>
              <a:t>Residuos: segregación, reciclaje y gestor autorizado</a:t>
            </a:r>
          </a:p>
          <a:p>
            <a:pPr algn="l">
              <a:spcAft>
                <a:spcPts val="1400"/>
              </a:spcAft>
            </a:pPr>
            <a:r>
              <a:rPr sz="1400" b="1" i="0">
                <a:solidFill>
                  <a:srgbClr val="1A7A8A"/>
                </a:solidFill>
                <a:latin typeface="Calibri"/>
              </a:rPr>
              <a:t>•  </a:t>
            </a:r>
            <a:r>
              <a:rPr sz="1400" b="0" i="0">
                <a:solidFill>
                  <a:srgbClr val="334155"/>
                </a:solidFill>
                <a:latin typeface="Calibri"/>
              </a:rPr>
              <a:t>Cadena de frío: equipos eficientes y respaldo eléctrico</a:t>
            </a:r>
          </a:p>
          <a:p>
            <a:pPr algn="l">
              <a:spcAft>
                <a:spcPts val="1400"/>
              </a:spcAft>
            </a:pPr>
            <a:r>
              <a:rPr sz="1400" b="1" i="0">
                <a:solidFill>
                  <a:srgbClr val="1A7A8A"/>
                </a:solidFill>
                <a:latin typeface="Calibri"/>
              </a:rPr>
              <a:t>•  </a:t>
            </a:r>
            <a:r>
              <a:rPr sz="1400" b="0" i="0">
                <a:solidFill>
                  <a:srgbClr val="334155"/>
                </a:solidFill>
                <a:latin typeface="Calibri"/>
              </a:rPr>
              <a:t>Monitoreo mensual de DBO, DQO y pH</a:t>
            </a:r>
          </a:p>
        </p:txBody>
      </p:sp>
      <p:sp>
        <p:nvSpPr>
          <p:cNvPr id="17" name="TextBox 16"/>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Detalle en el respaldo: legal (diap. 29), organigrama (30), plantilla y salarios (31) y ambiental (32).</a:t>
            </a:r>
          </a:p>
        </p:txBody>
      </p:sp>
      <p:sp>
        <p:nvSpPr>
          <p:cNvPr id="18" name="TextBox 1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640080"/>
            <a:ext cx="10698480" cy="365760"/>
          </a:xfrm>
          <a:prstGeom prst="rect">
            <a:avLst/>
          </a:prstGeom>
          <a:noFill/>
        </p:spPr>
        <p:txBody>
          <a:bodyPr wrap="square" anchor="ctr">
            <a:spAutoFit/>
          </a:bodyPr>
          <a:lstStyle/>
          <a:p>
            <a:pPr algn="l"/>
            <a:r>
              <a:rPr sz="1200" b="1" i="0">
                <a:solidFill>
                  <a:srgbClr val="9ECFD5"/>
                </a:solidFill>
                <a:latin typeface="Calibri"/>
              </a:rPr>
              <a:t>DIAPOSITIVAS DE RESPALDO</a:t>
            </a:r>
          </a:p>
        </p:txBody>
      </p:sp>
      <p:sp>
        <p:nvSpPr>
          <p:cNvPr id="4" name="TextBox 3"/>
          <p:cNvSpPr txBox="1"/>
          <p:nvPr/>
        </p:nvSpPr>
        <p:spPr>
          <a:xfrm>
            <a:off x="731520" y="1005840"/>
            <a:ext cx="10698480" cy="731520"/>
          </a:xfrm>
          <a:prstGeom prst="rect">
            <a:avLst/>
          </a:prstGeom>
          <a:noFill/>
        </p:spPr>
        <p:txBody>
          <a:bodyPr wrap="square" anchor="ctr">
            <a:spAutoFit/>
          </a:bodyPr>
          <a:lstStyle/>
          <a:p>
            <a:pPr algn="l"/>
            <a:r>
              <a:rPr sz="3000" b="1" i="0">
                <a:solidFill>
                  <a:srgbClr val="FFFFFF"/>
                </a:solidFill>
                <a:latin typeface="Calibri"/>
              </a:rPr>
              <a:t>Anexos para preguntas del jurado</a:t>
            </a:r>
          </a:p>
        </p:txBody>
      </p:sp>
      <p:sp>
        <p:nvSpPr>
          <p:cNvPr id="5" name="Rectangle 4"/>
          <p:cNvSpPr/>
          <p:nvPr/>
        </p:nvSpPr>
        <p:spPr>
          <a:xfrm>
            <a:off x="731520" y="1783080"/>
            <a:ext cx="10698480" cy="27432"/>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057400"/>
            <a:ext cx="502920" cy="411480"/>
          </a:xfrm>
          <a:prstGeom prst="rect">
            <a:avLst/>
          </a:prstGeom>
          <a:noFill/>
        </p:spPr>
        <p:txBody>
          <a:bodyPr wrap="square" anchor="ctr">
            <a:spAutoFit/>
          </a:bodyPr>
          <a:lstStyle/>
          <a:p>
            <a:pPr algn="l"/>
            <a:r>
              <a:rPr sz="1400" b="1" i="0">
                <a:solidFill>
                  <a:srgbClr val="9ECFD5"/>
                </a:solidFill>
                <a:latin typeface="Calibri"/>
              </a:rPr>
              <a:t>22</a:t>
            </a:r>
          </a:p>
        </p:txBody>
      </p:sp>
      <p:sp>
        <p:nvSpPr>
          <p:cNvPr id="7" name="TextBox 6"/>
          <p:cNvSpPr txBox="1"/>
          <p:nvPr/>
        </p:nvSpPr>
        <p:spPr>
          <a:xfrm>
            <a:off x="1280160" y="2057400"/>
            <a:ext cx="3017520" cy="411480"/>
          </a:xfrm>
          <a:prstGeom prst="rect">
            <a:avLst/>
          </a:prstGeom>
          <a:noFill/>
        </p:spPr>
        <p:txBody>
          <a:bodyPr wrap="square" anchor="ctr">
            <a:spAutoFit/>
          </a:bodyPr>
          <a:lstStyle/>
          <a:p>
            <a:pPr algn="l"/>
            <a:r>
              <a:rPr sz="1300" b="0" i="0">
                <a:solidFill>
                  <a:srgbClr val="FFFFFF"/>
                </a:solidFill>
                <a:latin typeface="Calibri"/>
              </a:rPr>
              <a:t>Indicadores macroeconómicos</a:t>
            </a:r>
          </a:p>
        </p:txBody>
      </p:sp>
      <p:sp>
        <p:nvSpPr>
          <p:cNvPr id="8" name="TextBox 7"/>
          <p:cNvSpPr txBox="1"/>
          <p:nvPr/>
        </p:nvSpPr>
        <p:spPr>
          <a:xfrm>
            <a:off x="731520" y="2560320"/>
            <a:ext cx="502920" cy="411480"/>
          </a:xfrm>
          <a:prstGeom prst="rect">
            <a:avLst/>
          </a:prstGeom>
          <a:noFill/>
        </p:spPr>
        <p:txBody>
          <a:bodyPr wrap="square" anchor="ctr">
            <a:spAutoFit/>
          </a:bodyPr>
          <a:lstStyle/>
          <a:p>
            <a:pPr algn="l"/>
            <a:r>
              <a:rPr sz="1400" b="1" i="0">
                <a:solidFill>
                  <a:srgbClr val="9ECFD5"/>
                </a:solidFill>
                <a:latin typeface="Calibri"/>
              </a:rPr>
              <a:t>23</a:t>
            </a:r>
          </a:p>
        </p:txBody>
      </p:sp>
      <p:sp>
        <p:nvSpPr>
          <p:cNvPr id="9" name="TextBox 8"/>
          <p:cNvSpPr txBox="1"/>
          <p:nvPr/>
        </p:nvSpPr>
        <p:spPr>
          <a:xfrm>
            <a:off x="1280160" y="2560320"/>
            <a:ext cx="3017520" cy="411480"/>
          </a:xfrm>
          <a:prstGeom prst="rect">
            <a:avLst/>
          </a:prstGeom>
          <a:noFill/>
        </p:spPr>
        <p:txBody>
          <a:bodyPr wrap="square" anchor="ctr">
            <a:spAutoFit/>
          </a:bodyPr>
          <a:lstStyle/>
          <a:p>
            <a:pPr algn="l"/>
            <a:r>
              <a:rPr sz="1300" b="0" i="0">
                <a:solidFill>
                  <a:srgbClr val="FFFFFF"/>
                </a:solidFill>
                <a:latin typeface="Calibri"/>
              </a:rPr>
              <a:t>¿Por qué "Pura"?</a:t>
            </a:r>
          </a:p>
        </p:txBody>
      </p:sp>
      <p:sp>
        <p:nvSpPr>
          <p:cNvPr id="10" name="TextBox 9"/>
          <p:cNvSpPr txBox="1"/>
          <p:nvPr/>
        </p:nvSpPr>
        <p:spPr>
          <a:xfrm>
            <a:off x="731520" y="3063240"/>
            <a:ext cx="502920" cy="411480"/>
          </a:xfrm>
          <a:prstGeom prst="rect">
            <a:avLst/>
          </a:prstGeom>
          <a:noFill/>
        </p:spPr>
        <p:txBody>
          <a:bodyPr wrap="square" anchor="ctr">
            <a:spAutoFit/>
          </a:bodyPr>
          <a:lstStyle/>
          <a:p>
            <a:pPr algn="l"/>
            <a:r>
              <a:rPr sz="1400" b="1" i="0">
                <a:solidFill>
                  <a:srgbClr val="9ECFD5"/>
                </a:solidFill>
                <a:latin typeface="Calibri"/>
              </a:rPr>
              <a:t>24</a:t>
            </a:r>
          </a:p>
        </p:txBody>
      </p:sp>
      <p:sp>
        <p:nvSpPr>
          <p:cNvPr id="11" name="TextBox 10"/>
          <p:cNvSpPr txBox="1"/>
          <p:nvPr/>
        </p:nvSpPr>
        <p:spPr>
          <a:xfrm>
            <a:off x="1280160" y="3063240"/>
            <a:ext cx="3017520" cy="411480"/>
          </a:xfrm>
          <a:prstGeom prst="rect">
            <a:avLst/>
          </a:prstGeom>
          <a:noFill/>
        </p:spPr>
        <p:txBody>
          <a:bodyPr wrap="square" anchor="ctr">
            <a:spAutoFit/>
          </a:bodyPr>
          <a:lstStyle/>
          <a:p>
            <a:pPr algn="l"/>
            <a:r>
              <a:rPr sz="1300" b="0" i="0">
                <a:solidFill>
                  <a:srgbClr val="FFFFFF"/>
                </a:solidFill>
                <a:latin typeface="Calibri"/>
              </a:rPr>
              <a:t>Metodología ONUDI</a:t>
            </a:r>
          </a:p>
        </p:txBody>
      </p:sp>
      <p:sp>
        <p:nvSpPr>
          <p:cNvPr id="12" name="TextBox 11"/>
          <p:cNvSpPr txBox="1"/>
          <p:nvPr/>
        </p:nvSpPr>
        <p:spPr>
          <a:xfrm>
            <a:off x="731520" y="3566160"/>
            <a:ext cx="502920" cy="411480"/>
          </a:xfrm>
          <a:prstGeom prst="rect">
            <a:avLst/>
          </a:prstGeom>
          <a:noFill/>
        </p:spPr>
        <p:txBody>
          <a:bodyPr wrap="square" anchor="ctr">
            <a:spAutoFit/>
          </a:bodyPr>
          <a:lstStyle/>
          <a:p>
            <a:pPr algn="l"/>
            <a:r>
              <a:rPr sz="1400" b="1" i="0">
                <a:solidFill>
                  <a:srgbClr val="9ECFD5"/>
                </a:solidFill>
                <a:latin typeface="Calibri"/>
              </a:rPr>
              <a:t>25</a:t>
            </a:r>
          </a:p>
        </p:txBody>
      </p:sp>
      <p:sp>
        <p:nvSpPr>
          <p:cNvPr id="13" name="TextBox 12"/>
          <p:cNvSpPr txBox="1"/>
          <p:nvPr/>
        </p:nvSpPr>
        <p:spPr>
          <a:xfrm>
            <a:off x="1280160" y="3566160"/>
            <a:ext cx="3017520" cy="411480"/>
          </a:xfrm>
          <a:prstGeom prst="rect">
            <a:avLst/>
          </a:prstGeom>
          <a:noFill/>
        </p:spPr>
        <p:txBody>
          <a:bodyPr wrap="square" anchor="ctr">
            <a:spAutoFit/>
          </a:bodyPr>
          <a:lstStyle/>
          <a:p>
            <a:pPr algn="l"/>
            <a:r>
              <a:rPr sz="1300" b="0" i="0">
                <a:solidFill>
                  <a:srgbClr val="FFFFFF"/>
                </a:solidFill>
                <a:latin typeface="Calibri"/>
              </a:rPr>
              <a:t>PESTEL</a:t>
            </a:r>
          </a:p>
        </p:txBody>
      </p:sp>
      <p:sp>
        <p:nvSpPr>
          <p:cNvPr id="14" name="TextBox 13"/>
          <p:cNvSpPr txBox="1"/>
          <p:nvPr/>
        </p:nvSpPr>
        <p:spPr>
          <a:xfrm>
            <a:off x="731520" y="4069080"/>
            <a:ext cx="502920" cy="411480"/>
          </a:xfrm>
          <a:prstGeom prst="rect">
            <a:avLst/>
          </a:prstGeom>
          <a:noFill/>
        </p:spPr>
        <p:txBody>
          <a:bodyPr wrap="square" anchor="ctr">
            <a:spAutoFit/>
          </a:bodyPr>
          <a:lstStyle/>
          <a:p>
            <a:pPr algn="l"/>
            <a:r>
              <a:rPr sz="1400" b="1" i="0">
                <a:solidFill>
                  <a:srgbClr val="9ECFD5"/>
                </a:solidFill>
                <a:latin typeface="Calibri"/>
              </a:rPr>
              <a:t>26</a:t>
            </a:r>
          </a:p>
        </p:txBody>
      </p:sp>
      <p:sp>
        <p:nvSpPr>
          <p:cNvPr id="15" name="TextBox 14"/>
          <p:cNvSpPr txBox="1"/>
          <p:nvPr/>
        </p:nvSpPr>
        <p:spPr>
          <a:xfrm>
            <a:off x="1280160" y="4069080"/>
            <a:ext cx="3017520" cy="411480"/>
          </a:xfrm>
          <a:prstGeom prst="rect">
            <a:avLst/>
          </a:prstGeom>
          <a:noFill/>
        </p:spPr>
        <p:txBody>
          <a:bodyPr wrap="square" anchor="ctr">
            <a:spAutoFit/>
          </a:bodyPr>
          <a:lstStyle/>
          <a:p>
            <a:pPr algn="l"/>
            <a:r>
              <a:rPr sz="1300" b="0" i="0">
                <a:solidFill>
                  <a:srgbClr val="FFFFFF"/>
                </a:solidFill>
                <a:latin typeface="Calibri"/>
              </a:rPr>
              <a:t>Proceso productivo HTST</a:t>
            </a:r>
          </a:p>
        </p:txBody>
      </p:sp>
      <p:sp>
        <p:nvSpPr>
          <p:cNvPr id="16" name="TextBox 15"/>
          <p:cNvSpPr txBox="1"/>
          <p:nvPr/>
        </p:nvSpPr>
        <p:spPr>
          <a:xfrm>
            <a:off x="731520" y="4572000"/>
            <a:ext cx="502920" cy="411480"/>
          </a:xfrm>
          <a:prstGeom prst="rect">
            <a:avLst/>
          </a:prstGeom>
          <a:noFill/>
        </p:spPr>
        <p:txBody>
          <a:bodyPr wrap="square" anchor="ctr">
            <a:spAutoFit/>
          </a:bodyPr>
          <a:lstStyle/>
          <a:p>
            <a:pPr algn="l"/>
            <a:r>
              <a:rPr sz="1400" b="1" i="0">
                <a:solidFill>
                  <a:srgbClr val="9ECFD5"/>
                </a:solidFill>
                <a:latin typeface="Calibri"/>
              </a:rPr>
              <a:t>27</a:t>
            </a:r>
          </a:p>
        </p:txBody>
      </p:sp>
      <p:sp>
        <p:nvSpPr>
          <p:cNvPr id="17" name="TextBox 16"/>
          <p:cNvSpPr txBox="1"/>
          <p:nvPr/>
        </p:nvSpPr>
        <p:spPr>
          <a:xfrm>
            <a:off x="1280160" y="4572000"/>
            <a:ext cx="3017520" cy="411480"/>
          </a:xfrm>
          <a:prstGeom prst="rect">
            <a:avLst/>
          </a:prstGeom>
          <a:noFill/>
        </p:spPr>
        <p:txBody>
          <a:bodyPr wrap="square" anchor="ctr">
            <a:spAutoFit/>
          </a:bodyPr>
          <a:lstStyle/>
          <a:p>
            <a:pPr algn="l"/>
            <a:r>
              <a:rPr sz="1300" b="0" i="0">
                <a:solidFill>
                  <a:srgbClr val="FFFFFF"/>
                </a:solidFill>
                <a:latin typeface="Calibri"/>
              </a:rPr>
              <a:t>Materias primas</a:t>
            </a:r>
          </a:p>
        </p:txBody>
      </p:sp>
      <p:sp>
        <p:nvSpPr>
          <p:cNvPr id="18" name="TextBox 17"/>
          <p:cNvSpPr txBox="1"/>
          <p:nvPr/>
        </p:nvSpPr>
        <p:spPr>
          <a:xfrm>
            <a:off x="731520" y="5074920"/>
            <a:ext cx="502920" cy="411480"/>
          </a:xfrm>
          <a:prstGeom prst="rect">
            <a:avLst/>
          </a:prstGeom>
          <a:noFill/>
        </p:spPr>
        <p:txBody>
          <a:bodyPr wrap="square" anchor="ctr">
            <a:spAutoFit/>
          </a:bodyPr>
          <a:lstStyle/>
          <a:p>
            <a:pPr algn="l"/>
            <a:r>
              <a:rPr sz="1400" b="1" i="0">
                <a:solidFill>
                  <a:srgbClr val="9ECFD5"/>
                </a:solidFill>
                <a:latin typeface="Calibri"/>
              </a:rPr>
              <a:t>28</a:t>
            </a:r>
          </a:p>
        </p:txBody>
      </p:sp>
      <p:sp>
        <p:nvSpPr>
          <p:cNvPr id="19" name="TextBox 18"/>
          <p:cNvSpPr txBox="1"/>
          <p:nvPr/>
        </p:nvSpPr>
        <p:spPr>
          <a:xfrm>
            <a:off x="1280160" y="5074920"/>
            <a:ext cx="3017520" cy="411480"/>
          </a:xfrm>
          <a:prstGeom prst="rect">
            <a:avLst/>
          </a:prstGeom>
          <a:noFill/>
        </p:spPr>
        <p:txBody>
          <a:bodyPr wrap="square" anchor="ctr">
            <a:spAutoFit/>
          </a:bodyPr>
          <a:lstStyle/>
          <a:p>
            <a:pPr algn="l"/>
            <a:r>
              <a:rPr sz="1300" b="0" i="0">
                <a:solidFill>
                  <a:srgbClr val="FFFFFF"/>
                </a:solidFill>
                <a:latin typeface="Calibri"/>
              </a:rPr>
              <a:t>Distribución de planta</a:t>
            </a:r>
          </a:p>
        </p:txBody>
      </p:sp>
      <p:sp>
        <p:nvSpPr>
          <p:cNvPr id="20" name="TextBox 19"/>
          <p:cNvSpPr txBox="1"/>
          <p:nvPr/>
        </p:nvSpPr>
        <p:spPr>
          <a:xfrm>
            <a:off x="731520" y="5577840"/>
            <a:ext cx="502920" cy="411480"/>
          </a:xfrm>
          <a:prstGeom prst="rect">
            <a:avLst/>
          </a:prstGeom>
          <a:noFill/>
        </p:spPr>
        <p:txBody>
          <a:bodyPr wrap="square" anchor="ctr">
            <a:spAutoFit/>
          </a:bodyPr>
          <a:lstStyle/>
          <a:p>
            <a:pPr algn="l"/>
            <a:r>
              <a:rPr sz="1400" b="1" i="0">
                <a:solidFill>
                  <a:srgbClr val="9ECFD5"/>
                </a:solidFill>
                <a:latin typeface="Calibri"/>
              </a:rPr>
              <a:t>29</a:t>
            </a:r>
          </a:p>
        </p:txBody>
      </p:sp>
      <p:sp>
        <p:nvSpPr>
          <p:cNvPr id="21" name="TextBox 20"/>
          <p:cNvSpPr txBox="1"/>
          <p:nvPr/>
        </p:nvSpPr>
        <p:spPr>
          <a:xfrm>
            <a:off x="1280160" y="5577840"/>
            <a:ext cx="3017520" cy="411480"/>
          </a:xfrm>
          <a:prstGeom prst="rect">
            <a:avLst/>
          </a:prstGeom>
          <a:noFill/>
        </p:spPr>
        <p:txBody>
          <a:bodyPr wrap="square" anchor="ctr">
            <a:spAutoFit/>
          </a:bodyPr>
          <a:lstStyle/>
          <a:p>
            <a:pPr algn="l"/>
            <a:r>
              <a:rPr sz="1300" b="0" i="0">
                <a:solidFill>
                  <a:srgbClr val="FFFFFF"/>
                </a:solidFill>
                <a:latin typeface="Calibri"/>
              </a:rPr>
              <a:t>Estudio legal</a:t>
            </a:r>
          </a:p>
        </p:txBody>
      </p:sp>
      <p:sp>
        <p:nvSpPr>
          <p:cNvPr id="22" name="TextBox 21"/>
          <p:cNvSpPr txBox="1"/>
          <p:nvPr/>
        </p:nvSpPr>
        <p:spPr>
          <a:xfrm>
            <a:off x="4389120" y="2057400"/>
            <a:ext cx="502920" cy="411480"/>
          </a:xfrm>
          <a:prstGeom prst="rect">
            <a:avLst/>
          </a:prstGeom>
          <a:noFill/>
        </p:spPr>
        <p:txBody>
          <a:bodyPr wrap="square" anchor="ctr">
            <a:spAutoFit/>
          </a:bodyPr>
          <a:lstStyle/>
          <a:p>
            <a:pPr algn="l"/>
            <a:r>
              <a:rPr sz="1400" b="1" i="0">
                <a:solidFill>
                  <a:srgbClr val="9ECFD5"/>
                </a:solidFill>
                <a:latin typeface="Calibri"/>
              </a:rPr>
              <a:t>30</a:t>
            </a:r>
          </a:p>
        </p:txBody>
      </p:sp>
      <p:sp>
        <p:nvSpPr>
          <p:cNvPr id="23" name="TextBox 22"/>
          <p:cNvSpPr txBox="1"/>
          <p:nvPr/>
        </p:nvSpPr>
        <p:spPr>
          <a:xfrm>
            <a:off x="4937759" y="2057400"/>
            <a:ext cx="3017520" cy="411480"/>
          </a:xfrm>
          <a:prstGeom prst="rect">
            <a:avLst/>
          </a:prstGeom>
          <a:noFill/>
        </p:spPr>
        <p:txBody>
          <a:bodyPr wrap="square" anchor="ctr">
            <a:spAutoFit/>
          </a:bodyPr>
          <a:lstStyle/>
          <a:p>
            <a:pPr algn="l"/>
            <a:r>
              <a:rPr sz="1300" b="0" i="0">
                <a:solidFill>
                  <a:srgbClr val="FFFFFF"/>
                </a:solidFill>
                <a:latin typeface="Calibri"/>
              </a:rPr>
              <a:t>Estructura organizacional</a:t>
            </a:r>
          </a:p>
        </p:txBody>
      </p:sp>
      <p:sp>
        <p:nvSpPr>
          <p:cNvPr id="24" name="TextBox 23"/>
          <p:cNvSpPr txBox="1"/>
          <p:nvPr/>
        </p:nvSpPr>
        <p:spPr>
          <a:xfrm>
            <a:off x="4389120" y="2560320"/>
            <a:ext cx="502920" cy="411480"/>
          </a:xfrm>
          <a:prstGeom prst="rect">
            <a:avLst/>
          </a:prstGeom>
          <a:noFill/>
        </p:spPr>
        <p:txBody>
          <a:bodyPr wrap="square" anchor="ctr">
            <a:spAutoFit/>
          </a:bodyPr>
          <a:lstStyle/>
          <a:p>
            <a:pPr algn="l"/>
            <a:r>
              <a:rPr sz="1400" b="1" i="0">
                <a:solidFill>
                  <a:srgbClr val="9ECFD5"/>
                </a:solidFill>
                <a:latin typeface="Calibri"/>
              </a:rPr>
              <a:t>31</a:t>
            </a:r>
          </a:p>
        </p:txBody>
      </p:sp>
      <p:sp>
        <p:nvSpPr>
          <p:cNvPr id="25" name="TextBox 24"/>
          <p:cNvSpPr txBox="1"/>
          <p:nvPr/>
        </p:nvSpPr>
        <p:spPr>
          <a:xfrm>
            <a:off x="4937759" y="2560320"/>
            <a:ext cx="3017520" cy="411480"/>
          </a:xfrm>
          <a:prstGeom prst="rect">
            <a:avLst/>
          </a:prstGeom>
          <a:noFill/>
        </p:spPr>
        <p:txBody>
          <a:bodyPr wrap="square" anchor="ctr">
            <a:spAutoFit/>
          </a:bodyPr>
          <a:lstStyle/>
          <a:p>
            <a:pPr algn="l"/>
            <a:r>
              <a:rPr sz="1300" b="0" i="0">
                <a:solidFill>
                  <a:srgbClr val="FFFFFF"/>
                </a:solidFill>
                <a:latin typeface="Calibri"/>
              </a:rPr>
              <a:t>Plantilla y salarios</a:t>
            </a:r>
          </a:p>
        </p:txBody>
      </p:sp>
      <p:sp>
        <p:nvSpPr>
          <p:cNvPr id="26" name="TextBox 25"/>
          <p:cNvSpPr txBox="1"/>
          <p:nvPr/>
        </p:nvSpPr>
        <p:spPr>
          <a:xfrm>
            <a:off x="4389120" y="3063240"/>
            <a:ext cx="502920" cy="411480"/>
          </a:xfrm>
          <a:prstGeom prst="rect">
            <a:avLst/>
          </a:prstGeom>
          <a:noFill/>
        </p:spPr>
        <p:txBody>
          <a:bodyPr wrap="square" anchor="ctr">
            <a:spAutoFit/>
          </a:bodyPr>
          <a:lstStyle/>
          <a:p>
            <a:pPr algn="l"/>
            <a:r>
              <a:rPr sz="1400" b="1" i="0">
                <a:solidFill>
                  <a:srgbClr val="9ECFD5"/>
                </a:solidFill>
                <a:latin typeface="Calibri"/>
              </a:rPr>
              <a:t>32</a:t>
            </a:r>
          </a:p>
        </p:txBody>
      </p:sp>
      <p:sp>
        <p:nvSpPr>
          <p:cNvPr id="27" name="TextBox 26"/>
          <p:cNvSpPr txBox="1"/>
          <p:nvPr/>
        </p:nvSpPr>
        <p:spPr>
          <a:xfrm>
            <a:off x="4937759" y="3063240"/>
            <a:ext cx="3017520" cy="411480"/>
          </a:xfrm>
          <a:prstGeom prst="rect">
            <a:avLst/>
          </a:prstGeom>
          <a:noFill/>
        </p:spPr>
        <p:txBody>
          <a:bodyPr wrap="square" anchor="ctr">
            <a:spAutoFit/>
          </a:bodyPr>
          <a:lstStyle/>
          <a:p>
            <a:pPr algn="l"/>
            <a:r>
              <a:rPr sz="1300" b="0" i="0">
                <a:solidFill>
                  <a:srgbClr val="FFFFFF"/>
                </a:solidFill>
                <a:latin typeface="Calibri"/>
              </a:rPr>
              <a:t>Estudio ambiental</a:t>
            </a:r>
          </a:p>
        </p:txBody>
      </p:sp>
      <p:sp>
        <p:nvSpPr>
          <p:cNvPr id="28" name="TextBox 27"/>
          <p:cNvSpPr txBox="1"/>
          <p:nvPr/>
        </p:nvSpPr>
        <p:spPr>
          <a:xfrm>
            <a:off x="4389120" y="3566160"/>
            <a:ext cx="502920" cy="411480"/>
          </a:xfrm>
          <a:prstGeom prst="rect">
            <a:avLst/>
          </a:prstGeom>
          <a:noFill/>
        </p:spPr>
        <p:txBody>
          <a:bodyPr wrap="square" anchor="ctr">
            <a:spAutoFit/>
          </a:bodyPr>
          <a:lstStyle/>
          <a:p>
            <a:pPr algn="l"/>
            <a:r>
              <a:rPr sz="1400" b="1" i="0">
                <a:solidFill>
                  <a:srgbClr val="9ECFD5"/>
                </a:solidFill>
                <a:latin typeface="Calibri"/>
              </a:rPr>
              <a:t>33</a:t>
            </a:r>
          </a:p>
        </p:txBody>
      </p:sp>
      <p:sp>
        <p:nvSpPr>
          <p:cNvPr id="29" name="TextBox 28"/>
          <p:cNvSpPr txBox="1"/>
          <p:nvPr/>
        </p:nvSpPr>
        <p:spPr>
          <a:xfrm>
            <a:off x="4937759" y="3566160"/>
            <a:ext cx="3017520" cy="411480"/>
          </a:xfrm>
          <a:prstGeom prst="rect">
            <a:avLst/>
          </a:prstGeom>
          <a:noFill/>
        </p:spPr>
        <p:txBody>
          <a:bodyPr wrap="square" anchor="ctr">
            <a:spAutoFit/>
          </a:bodyPr>
          <a:lstStyle/>
          <a:p>
            <a:pPr algn="l"/>
            <a:r>
              <a:rPr sz="1300" b="0" i="0">
                <a:solidFill>
                  <a:srgbClr val="FFFFFF"/>
                </a:solidFill>
                <a:latin typeface="Calibri"/>
              </a:rPr>
              <a:t>Préstamo y estado de resultados</a:t>
            </a:r>
          </a:p>
        </p:txBody>
      </p:sp>
      <p:sp>
        <p:nvSpPr>
          <p:cNvPr id="30" name="TextBox 29"/>
          <p:cNvSpPr txBox="1"/>
          <p:nvPr/>
        </p:nvSpPr>
        <p:spPr>
          <a:xfrm>
            <a:off x="4389120" y="4069080"/>
            <a:ext cx="502920" cy="411480"/>
          </a:xfrm>
          <a:prstGeom prst="rect">
            <a:avLst/>
          </a:prstGeom>
          <a:noFill/>
        </p:spPr>
        <p:txBody>
          <a:bodyPr wrap="square" anchor="ctr">
            <a:spAutoFit/>
          </a:bodyPr>
          <a:lstStyle/>
          <a:p>
            <a:pPr algn="l"/>
            <a:r>
              <a:rPr sz="1400" b="1" i="0">
                <a:solidFill>
                  <a:srgbClr val="9ECFD5"/>
                </a:solidFill>
                <a:latin typeface="Calibri"/>
              </a:rPr>
              <a:t>34</a:t>
            </a:r>
          </a:p>
        </p:txBody>
      </p:sp>
      <p:sp>
        <p:nvSpPr>
          <p:cNvPr id="31" name="TextBox 30"/>
          <p:cNvSpPr txBox="1"/>
          <p:nvPr/>
        </p:nvSpPr>
        <p:spPr>
          <a:xfrm>
            <a:off x="4937759" y="4069080"/>
            <a:ext cx="3017520" cy="411480"/>
          </a:xfrm>
          <a:prstGeom prst="rect">
            <a:avLst/>
          </a:prstGeom>
          <a:noFill/>
        </p:spPr>
        <p:txBody>
          <a:bodyPr wrap="square" anchor="ctr">
            <a:spAutoFit/>
          </a:bodyPr>
          <a:lstStyle/>
          <a:p>
            <a:pPr algn="l"/>
            <a:r>
              <a:rPr sz="1300" b="0" i="0">
                <a:solidFill>
                  <a:srgbClr val="FFFFFF"/>
                </a:solidFill>
                <a:latin typeface="Calibri"/>
              </a:rPr>
              <a:t>Punto de equilibrio</a:t>
            </a:r>
          </a:p>
        </p:txBody>
      </p:sp>
      <p:sp>
        <p:nvSpPr>
          <p:cNvPr id="32" name="TextBox 31"/>
          <p:cNvSpPr txBox="1"/>
          <p:nvPr/>
        </p:nvSpPr>
        <p:spPr>
          <a:xfrm>
            <a:off x="4389120" y="4572000"/>
            <a:ext cx="502920" cy="411480"/>
          </a:xfrm>
          <a:prstGeom prst="rect">
            <a:avLst/>
          </a:prstGeom>
          <a:noFill/>
        </p:spPr>
        <p:txBody>
          <a:bodyPr wrap="square" anchor="ctr">
            <a:spAutoFit/>
          </a:bodyPr>
          <a:lstStyle/>
          <a:p>
            <a:pPr algn="l"/>
            <a:r>
              <a:rPr sz="1400" b="1" i="0">
                <a:solidFill>
                  <a:srgbClr val="9ECFD5"/>
                </a:solidFill>
                <a:latin typeface="Calibri"/>
              </a:rPr>
              <a:t>35</a:t>
            </a:r>
          </a:p>
        </p:txBody>
      </p:sp>
      <p:sp>
        <p:nvSpPr>
          <p:cNvPr id="33" name="TextBox 32"/>
          <p:cNvSpPr txBox="1"/>
          <p:nvPr/>
        </p:nvSpPr>
        <p:spPr>
          <a:xfrm>
            <a:off x="4937759" y="4572000"/>
            <a:ext cx="3017520" cy="411480"/>
          </a:xfrm>
          <a:prstGeom prst="rect">
            <a:avLst/>
          </a:prstGeom>
          <a:noFill/>
        </p:spPr>
        <p:txBody>
          <a:bodyPr wrap="square" anchor="ctr">
            <a:spAutoFit/>
          </a:bodyPr>
          <a:lstStyle/>
          <a:p>
            <a:pPr algn="l"/>
            <a:r>
              <a:rPr sz="1300" b="0" i="0">
                <a:solidFill>
                  <a:srgbClr val="FFFFFF"/>
                </a:solidFill>
                <a:latin typeface="Calibri"/>
              </a:rPr>
              <a:t>Sensibilidad por variable</a:t>
            </a:r>
          </a:p>
        </p:txBody>
      </p:sp>
      <p:sp>
        <p:nvSpPr>
          <p:cNvPr id="34" name="TextBox 33"/>
          <p:cNvSpPr txBox="1"/>
          <p:nvPr/>
        </p:nvSpPr>
        <p:spPr>
          <a:xfrm>
            <a:off x="4389120" y="5074920"/>
            <a:ext cx="502920" cy="411480"/>
          </a:xfrm>
          <a:prstGeom prst="rect">
            <a:avLst/>
          </a:prstGeom>
          <a:noFill/>
        </p:spPr>
        <p:txBody>
          <a:bodyPr wrap="square" anchor="ctr">
            <a:spAutoFit/>
          </a:bodyPr>
          <a:lstStyle/>
          <a:p>
            <a:pPr algn="l"/>
            <a:r>
              <a:rPr sz="1400" b="1" i="0">
                <a:solidFill>
                  <a:srgbClr val="9ECFD5"/>
                </a:solidFill>
                <a:latin typeface="Calibri"/>
              </a:rPr>
              <a:t>36</a:t>
            </a:r>
          </a:p>
        </p:txBody>
      </p:sp>
      <p:sp>
        <p:nvSpPr>
          <p:cNvPr id="35" name="TextBox 34"/>
          <p:cNvSpPr txBox="1"/>
          <p:nvPr/>
        </p:nvSpPr>
        <p:spPr>
          <a:xfrm>
            <a:off x="4937759" y="5074920"/>
            <a:ext cx="3017520" cy="411480"/>
          </a:xfrm>
          <a:prstGeom prst="rect">
            <a:avLst/>
          </a:prstGeom>
          <a:noFill/>
        </p:spPr>
        <p:txBody>
          <a:bodyPr wrap="square" anchor="ctr">
            <a:spAutoFit/>
          </a:bodyPr>
          <a:lstStyle/>
          <a:p>
            <a:pPr algn="l"/>
            <a:r>
              <a:rPr sz="1300" b="0" i="0">
                <a:solidFill>
                  <a:srgbClr val="FFFFFF"/>
                </a:solidFill>
                <a:latin typeface="Calibri"/>
              </a:rPr>
              <a:t>Riesgos: 11 eventos</a:t>
            </a:r>
          </a:p>
        </p:txBody>
      </p:sp>
      <p:sp>
        <p:nvSpPr>
          <p:cNvPr id="36" name="TextBox 35"/>
          <p:cNvSpPr txBox="1"/>
          <p:nvPr/>
        </p:nvSpPr>
        <p:spPr>
          <a:xfrm>
            <a:off x="4389120" y="5577840"/>
            <a:ext cx="502920" cy="411480"/>
          </a:xfrm>
          <a:prstGeom prst="rect">
            <a:avLst/>
          </a:prstGeom>
          <a:noFill/>
        </p:spPr>
        <p:txBody>
          <a:bodyPr wrap="square" anchor="ctr">
            <a:spAutoFit/>
          </a:bodyPr>
          <a:lstStyle/>
          <a:p>
            <a:pPr algn="l"/>
            <a:r>
              <a:rPr sz="1400" b="1" i="0">
                <a:solidFill>
                  <a:srgbClr val="9ECFD5"/>
                </a:solidFill>
                <a:latin typeface="Calibri"/>
              </a:rPr>
              <a:t>37</a:t>
            </a:r>
          </a:p>
        </p:txBody>
      </p:sp>
      <p:sp>
        <p:nvSpPr>
          <p:cNvPr id="37" name="TextBox 36"/>
          <p:cNvSpPr txBox="1"/>
          <p:nvPr/>
        </p:nvSpPr>
        <p:spPr>
          <a:xfrm>
            <a:off x="4937759" y="5577840"/>
            <a:ext cx="3017520" cy="411480"/>
          </a:xfrm>
          <a:prstGeom prst="rect">
            <a:avLst/>
          </a:prstGeom>
          <a:noFill/>
        </p:spPr>
        <p:txBody>
          <a:bodyPr wrap="square" anchor="ctr">
            <a:spAutoFit/>
          </a:bodyPr>
          <a:lstStyle/>
          <a:p>
            <a:pPr algn="l"/>
            <a:r>
              <a:rPr sz="1300" b="0" i="0">
                <a:solidFill>
                  <a:srgbClr val="FFFFFF"/>
                </a:solidFill>
                <a:latin typeface="Calibri"/>
              </a:rPr>
              <a:t>VAN vs. VPN medio @RISK</a:t>
            </a:r>
          </a:p>
        </p:txBody>
      </p:sp>
      <p:sp>
        <p:nvSpPr>
          <p:cNvPr id="38" name="TextBox 37"/>
          <p:cNvSpPr txBox="1"/>
          <p:nvPr/>
        </p:nvSpPr>
        <p:spPr>
          <a:xfrm>
            <a:off x="8046720" y="2057400"/>
            <a:ext cx="502920" cy="411480"/>
          </a:xfrm>
          <a:prstGeom prst="rect">
            <a:avLst/>
          </a:prstGeom>
          <a:noFill/>
        </p:spPr>
        <p:txBody>
          <a:bodyPr wrap="square" anchor="ctr">
            <a:spAutoFit/>
          </a:bodyPr>
          <a:lstStyle/>
          <a:p>
            <a:pPr algn="l"/>
            <a:r>
              <a:rPr sz="1400" b="1" i="0">
                <a:solidFill>
                  <a:srgbClr val="9ECFD5"/>
                </a:solidFill>
                <a:latin typeface="Calibri"/>
              </a:rPr>
              <a:t>38</a:t>
            </a:r>
          </a:p>
        </p:txBody>
      </p:sp>
      <p:sp>
        <p:nvSpPr>
          <p:cNvPr id="39" name="TextBox 38"/>
          <p:cNvSpPr txBox="1"/>
          <p:nvPr/>
        </p:nvSpPr>
        <p:spPr>
          <a:xfrm>
            <a:off x="8595360" y="2057400"/>
            <a:ext cx="3017520" cy="411480"/>
          </a:xfrm>
          <a:prstGeom prst="rect">
            <a:avLst/>
          </a:prstGeom>
          <a:noFill/>
        </p:spPr>
        <p:txBody>
          <a:bodyPr wrap="square" anchor="ctr">
            <a:spAutoFit/>
          </a:bodyPr>
          <a:lstStyle/>
          <a:p>
            <a:pPr algn="l"/>
            <a:r>
              <a:rPr sz="1300" b="0" i="0">
                <a:solidFill>
                  <a:srgbClr val="FFFFFF"/>
                </a:solidFill>
                <a:latin typeface="Calibri"/>
              </a:rPr>
              <a:t>Bibliografía</a:t>
            </a:r>
          </a:p>
        </p:txBody>
      </p:sp>
      <p:sp>
        <p:nvSpPr>
          <p:cNvPr id="40" name="TextBox 39"/>
          <p:cNvSpPr txBox="1"/>
          <p:nvPr/>
        </p:nvSpPr>
        <p:spPr>
          <a:xfrm>
            <a:off x="8046720" y="2560320"/>
            <a:ext cx="502920" cy="411480"/>
          </a:xfrm>
          <a:prstGeom prst="rect">
            <a:avLst/>
          </a:prstGeom>
          <a:noFill/>
        </p:spPr>
        <p:txBody>
          <a:bodyPr wrap="square" anchor="ctr">
            <a:spAutoFit/>
          </a:bodyPr>
          <a:lstStyle/>
          <a:p>
            <a:pPr algn="l"/>
            <a:r>
              <a:rPr sz="1400" b="1" i="0">
                <a:solidFill>
                  <a:srgbClr val="9ECFD5"/>
                </a:solidFill>
                <a:latin typeface="Calibri"/>
              </a:rPr>
              <a:t>39</a:t>
            </a:r>
          </a:p>
        </p:txBody>
      </p:sp>
      <p:sp>
        <p:nvSpPr>
          <p:cNvPr id="41" name="TextBox 40"/>
          <p:cNvSpPr txBox="1"/>
          <p:nvPr/>
        </p:nvSpPr>
        <p:spPr>
          <a:xfrm>
            <a:off x="8595360" y="2560320"/>
            <a:ext cx="3017520" cy="411480"/>
          </a:xfrm>
          <a:prstGeom prst="rect">
            <a:avLst/>
          </a:prstGeom>
          <a:noFill/>
        </p:spPr>
        <p:txBody>
          <a:bodyPr wrap="square" anchor="ctr">
            <a:spAutoFit/>
          </a:bodyPr>
          <a:lstStyle/>
          <a:p>
            <a:pPr algn="l"/>
            <a:r>
              <a:rPr sz="1300" b="0" i="0">
                <a:solidFill>
                  <a:srgbClr val="FFFFFF"/>
                </a:solidFill>
                <a:latin typeface="Calibri"/>
              </a:rPr>
              <a:t>Anexo A · Encuesta</a:t>
            </a:r>
          </a:p>
        </p:txBody>
      </p:sp>
      <p:sp>
        <p:nvSpPr>
          <p:cNvPr id="42" name="TextBox 41"/>
          <p:cNvSpPr txBox="1"/>
          <p:nvPr/>
        </p:nvSpPr>
        <p:spPr>
          <a:xfrm>
            <a:off x="8046720" y="3063240"/>
            <a:ext cx="502920" cy="411480"/>
          </a:xfrm>
          <a:prstGeom prst="rect">
            <a:avLst/>
          </a:prstGeom>
          <a:noFill/>
        </p:spPr>
        <p:txBody>
          <a:bodyPr wrap="square" anchor="ctr">
            <a:spAutoFit/>
          </a:bodyPr>
          <a:lstStyle/>
          <a:p>
            <a:pPr algn="l"/>
            <a:r>
              <a:rPr sz="1400" b="1" i="0">
                <a:solidFill>
                  <a:srgbClr val="9ECFD5"/>
                </a:solidFill>
                <a:latin typeface="Calibri"/>
              </a:rPr>
              <a:t>40</a:t>
            </a:r>
          </a:p>
        </p:txBody>
      </p:sp>
      <p:sp>
        <p:nvSpPr>
          <p:cNvPr id="43" name="TextBox 42"/>
          <p:cNvSpPr txBox="1"/>
          <p:nvPr/>
        </p:nvSpPr>
        <p:spPr>
          <a:xfrm>
            <a:off x="8595360" y="3063240"/>
            <a:ext cx="3017520" cy="411480"/>
          </a:xfrm>
          <a:prstGeom prst="rect">
            <a:avLst/>
          </a:prstGeom>
          <a:noFill/>
        </p:spPr>
        <p:txBody>
          <a:bodyPr wrap="square" anchor="ctr">
            <a:spAutoFit/>
          </a:bodyPr>
          <a:lstStyle/>
          <a:p>
            <a:pPr algn="l"/>
            <a:r>
              <a:rPr sz="1300" b="0" i="0">
                <a:solidFill>
                  <a:srgbClr val="FFFFFF"/>
                </a:solidFill>
                <a:latin typeface="Calibri"/>
              </a:rPr>
              <a:t>Anexo B · Flujo sin financiamiento</a:t>
            </a:r>
          </a:p>
        </p:txBody>
      </p:sp>
      <p:sp>
        <p:nvSpPr>
          <p:cNvPr id="44" name="TextBox 43"/>
          <p:cNvSpPr txBox="1"/>
          <p:nvPr/>
        </p:nvSpPr>
        <p:spPr>
          <a:xfrm>
            <a:off x="8046720" y="3566160"/>
            <a:ext cx="502920" cy="411480"/>
          </a:xfrm>
          <a:prstGeom prst="rect">
            <a:avLst/>
          </a:prstGeom>
          <a:noFill/>
        </p:spPr>
        <p:txBody>
          <a:bodyPr wrap="square" anchor="ctr">
            <a:spAutoFit/>
          </a:bodyPr>
          <a:lstStyle/>
          <a:p>
            <a:pPr algn="l"/>
            <a:r>
              <a:rPr sz="1400" b="1" i="0">
                <a:solidFill>
                  <a:srgbClr val="9ECFD5"/>
                </a:solidFill>
                <a:latin typeface="Calibri"/>
              </a:rPr>
              <a:t>41</a:t>
            </a:r>
          </a:p>
        </p:txBody>
      </p:sp>
      <p:sp>
        <p:nvSpPr>
          <p:cNvPr id="45" name="TextBox 44"/>
          <p:cNvSpPr txBox="1"/>
          <p:nvPr/>
        </p:nvSpPr>
        <p:spPr>
          <a:xfrm>
            <a:off x="8595360" y="3566160"/>
            <a:ext cx="3017520" cy="411480"/>
          </a:xfrm>
          <a:prstGeom prst="rect">
            <a:avLst/>
          </a:prstGeom>
          <a:noFill/>
        </p:spPr>
        <p:txBody>
          <a:bodyPr wrap="square" anchor="ctr">
            <a:spAutoFit/>
          </a:bodyPr>
          <a:lstStyle/>
          <a:p>
            <a:pPr algn="l"/>
            <a:r>
              <a:rPr sz="1300" b="0" i="0">
                <a:solidFill>
                  <a:srgbClr val="FFFFFF"/>
                </a:solidFill>
                <a:latin typeface="Calibri"/>
              </a:rPr>
              <a:t>Anexo B · Flujo con financiamiento</a:t>
            </a:r>
          </a:p>
        </p:txBody>
      </p:sp>
      <p:sp>
        <p:nvSpPr>
          <p:cNvPr id="46" name="TextBox 45"/>
          <p:cNvSpPr txBox="1"/>
          <p:nvPr/>
        </p:nvSpPr>
        <p:spPr>
          <a:xfrm>
            <a:off x="8046720" y="4069080"/>
            <a:ext cx="502920" cy="411480"/>
          </a:xfrm>
          <a:prstGeom prst="rect">
            <a:avLst/>
          </a:prstGeom>
          <a:noFill/>
        </p:spPr>
        <p:txBody>
          <a:bodyPr wrap="square" anchor="ctr">
            <a:spAutoFit/>
          </a:bodyPr>
          <a:lstStyle/>
          <a:p>
            <a:pPr algn="l"/>
            <a:r>
              <a:rPr sz="1400" b="1" i="0">
                <a:solidFill>
                  <a:srgbClr val="9ECFD5"/>
                </a:solidFill>
                <a:latin typeface="Calibri"/>
              </a:rPr>
              <a:t>42</a:t>
            </a:r>
          </a:p>
        </p:txBody>
      </p:sp>
      <p:sp>
        <p:nvSpPr>
          <p:cNvPr id="47" name="TextBox 46"/>
          <p:cNvSpPr txBox="1"/>
          <p:nvPr/>
        </p:nvSpPr>
        <p:spPr>
          <a:xfrm>
            <a:off x="8595360" y="4069080"/>
            <a:ext cx="3017520" cy="411480"/>
          </a:xfrm>
          <a:prstGeom prst="rect">
            <a:avLst/>
          </a:prstGeom>
          <a:noFill/>
        </p:spPr>
        <p:txBody>
          <a:bodyPr wrap="square" anchor="ctr">
            <a:spAutoFit/>
          </a:bodyPr>
          <a:lstStyle/>
          <a:p>
            <a:pPr algn="l"/>
            <a:r>
              <a:rPr sz="1300" b="0" i="0">
                <a:solidFill>
                  <a:srgbClr val="FFFFFF"/>
                </a:solidFill>
                <a:latin typeface="Calibri"/>
              </a:rPr>
              <a:t>Anexo C · Estado de resultados</a:t>
            </a:r>
          </a:p>
        </p:txBody>
      </p:sp>
      <p:sp>
        <p:nvSpPr>
          <p:cNvPr id="48" name="TextBox 47"/>
          <p:cNvSpPr txBox="1"/>
          <p:nvPr/>
        </p:nvSpPr>
        <p:spPr>
          <a:xfrm>
            <a:off x="8046720" y="4572000"/>
            <a:ext cx="502920" cy="411480"/>
          </a:xfrm>
          <a:prstGeom prst="rect">
            <a:avLst/>
          </a:prstGeom>
          <a:noFill/>
        </p:spPr>
        <p:txBody>
          <a:bodyPr wrap="square" anchor="ctr">
            <a:spAutoFit/>
          </a:bodyPr>
          <a:lstStyle/>
          <a:p>
            <a:pPr algn="l"/>
            <a:r>
              <a:rPr sz="1400" b="1" i="0">
                <a:solidFill>
                  <a:srgbClr val="9ECFD5"/>
                </a:solidFill>
                <a:latin typeface="Calibri"/>
              </a:rPr>
              <a:t>43</a:t>
            </a:r>
          </a:p>
        </p:txBody>
      </p:sp>
      <p:sp>
        <p:nvSpPr>
          <p:cNvPr id="49" name="TextBox 48"/>
          <p:cNvSpPr txBox="1"/>
          <p:nvPr/>
        </p:nvSpPr>
        <p:spPr>
          <a:xfrm>
            <a:off x="8595360" y="4572000"/>
            <a:ext cx="3017520" cy="411480"/>
          </a:xfrm>
          <a:prstGeom prst="rect">
            <a:avLst/>
          </a:prstGeom>
          <a:noFill/>
        </p:spPr>
        <p:txBody>
          <a:bodyPr wrap="square" anchor="ctr">
            <a:spAutoFit/>
          </a:bodyPr>
          <a:lstStyle/>
          <a:p>
            <a:pPr algn="l"/>
            <a:r>
              <a:rPr sz="1300" b="0" i="0">
                <a:solidFill>
                  <a:srgbClr val="FFFFFF"/>
                </a:solidFill>
                <a:latin typeface="Calibri"/>
              </a:rPr>
              <a:t>Anexo C · Balance general</a:t>
            </a:r>
          </a:p>
        </p:txBody>
      </p:sp>
      <p:sp>
        <p:nvSpPr>
          <p:cNvPr id="50" name="TextBox 49"/>
          <p:cNvSpPr txBox="1"/>
          <p:nvPr/>
        </p:nvSpPr>
        <p:spPr>
          <a:xfrm>
            <a:off x="731520" y="6172200"/>
            <a:ext cx="10698480" cy="365760"/>
          </a:xfrm>
          <a:prstGeom prst="rect">
            <a:avLst/>
          </a:prstGeom>
          <a:noFill/>
        </p:spPr>
        <p:txBody>
          <a:bodyPr wrap="square" anchor="ctr">
            <a:spAutoFit/>
          </a:bodyPr>
          <a:lstStyle/>
          <a:p>
            <a:pPr algn="l"/>
            <a:r>
              <a:rPr sz="1100" b="0" i="1">
                <a:solidFill>
                  <a:srgbClr val="9ECFD5"/>
                </a:solidFill>
                <a:latin typeface="Calibri"/>
              </a:rPr>
              <a:t>En PowerPoint, durante la presentación: escribir el número de la diapositiva y pulsar Enter.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REFERENCIAS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Bibliografía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143000"/>
            <a:ext cx="5669280" cy="5303520"/>
          </a:xfrm>
          <a:prstGeom prst="rect">
            <a:avLst/>
          </a:prstGeom>
          <a:noFill/>
        </p:spPr>
        <p:txBody>
          <a:bodyPr wrap="square" anchor="t">
            <a:spAutoFit/>
          </a:bodyPr>
          <a:lstStyle/>
          <a:p>
            <a:pPr algn="l">
              <a:spcAft>
                <a:spcPts val="700"/>
              </a:spcAft>
            </a:pPr>
            <a:r>
              <a:rPr sz="1050" b="0" i="0">
                <a:solidFill>
                  <a:srgbClr val="334155"/>
                </a:solidFill>
                <a:latin typeface="Calibri"/>
              </a:rPr>
              <a:t>Agencia de Regulación Sanitaria. (2024). Reglamento para el control sanitario de alimentos y bebidas (Acuerdo 0632-ARSA-2023). ARSA.</a:t>
            </a:r>
          </a:p>
          <a:p>
            <a:pPr algn="l">
              <a:spcAft>
                <a:spcPts val="700"/>
              </a:spcAft>
            </a:pPr>
            <a:r>
              <a:rPr sz="1050" b="0" i="0">
                <a:solidFill>
                  <a:srgbClr val="334155"/>
                </a:solidFill>
                <a:latin typeface="Calibri"/>
              </a:rPr>
              <a:t>Ardón Alvarenga, N. L. (2009). Estudio de prefactibilidad para establecer una planta procesadora de leche en Jocón, Yoro, Honduras.</a:t>
            </a:r>
          </a:p>
          <a:p>
            <a:pPr algn="l">
              <a:spcAft>
                <a:spcPts val="700"/>
              </a:spcAft>
            </a:pPr>
            <a:r>
              <a:rPr sz="1050" b="0" i="0">
                <a:solidFill>
                  <a:srgbClr val="334155"/>
                </a:solidFill>
                <a:latin typeface="Calibri"/>
              </a:rPr>
              <a:t>Banco Central de Honduras. (2024). Encuesta Nacional de Ingresos y Gastos de los Hogares (ENIGH) 2023-2024. BCH.</a:t>
            </a:r>
          </a:p>
          <a:p>
            <a:pPr algn="l">
              <a:spcAft>
                <a:spcPts val="700"/>
              </a:spcAft>
            </a:pPr>
            <a:r>
              <a:rPr sz="1050" b="0" i="0">
                <a:solidFill>
                  <a:srgbClr val="334155"/>
                </a:solidFill>
                <a:latin typeface="Calibri"/>
              </a:rPr>
              <a:t>Banco Central de Honduras. (2026). Índice de precios al consumidor, diciembre 2025. BCH.</a:t>
            </a:r>
          </a:p>
          <a:p>
            <a:pPr algn="l">
              <a:spcAft>
                <a:spcPts val="700"/>
              </a:spcAft>
            </a:pPr>
            <a:r>
              <a:rPr sz="1050" b="0" i="0">
                <a:solidFill>
                  <a:srgbClr val="334155"/>
                </a:solidFill>
                <a:latin typeface="Calibri"/>
              </a:rPr>
              <a:t>Banco Mundial. (2026). Honduras: panorama general. https://www.bancomundial.org/ext/es/country/honduras</a:t>
            </a:r>
          </a:p>
          <a:p>
            <a:pPr algn="l">
              <a:spcAft>
                <a:spcPts val="700"/>
              </a:spcAft>
            </a:pPr>
            <a:r>
              <a:rPr sz="1050" b="0" i="0">
                <a:solidFill>
                  <a:srgbClr val="334155"/>
                </a:solidFill>
                <a:latin typeface="Calibri"/>
              </a:rPr>
              <a:t>CNP+L Honduras. (2017). Sector lácteos. Centro Nacional de Producción más Limpia de Honduras.</a:t>
            </a:r>
          </a:p>
          <a:p>
            <a:pPr algn="l">
              <a:spcAft>
                <a:spcPts val="700"/>
              </a:spcAft>
            </a:pPr>
            <a:r>
              <a:rPr sz="1050" b="0" i="0">
                <a:solidFill>
                  <a:srgbClr val="334155"/>
                </a:solidFill>
                <a:latin typeface="Calibri"/>
              </a:rPr>
              <a:t>El Heraldo. (2024). Honduras está perdiendo entre 30 % a 40 % en la producción de la leche este 2024.</a:t>
            </a:r>
          </a:p>
          <a:p>
            <a:pPr algn="l">
              <a:spcAft>
                <a:spcPts val="700"/>
              </a:spcAft>
            </a:pPr>
            <a:r>
              <a:rPr sz="1050" b="0" i="0">
                <a:solidFill>
                  <a:srgbClr val="334155"/>
                </a:solidFill>
                <a:latin typeface="Calibri"/>
              </a:rPr>
              <a:t>Franco, M. A., Montoya, L. M. y Gómez, E. (2012). Aplicación de la metodología ONUDI para proyectos de crecimiento orgánico en Grupo EMI.</a:t>
            </a:r>
          </a:p>
          <a:p>
            <a:pPr algn="l">
              <a:spcAft>
                <a:spcPts val="700"/>
              </a:spcAft>
            </a:pPr>
            <a:r>
              <a:rPr sz="1050" b="0" i="0">
                <a:solidFill>
                  <a:srgbClr val="334155"/>
                </a:solidFill>
                <a:latin typeface="Calibri"/>
              </a:rPr>
              <a:t>Holmann, F. (2001). Milk market of small scale artisan cheese factories in selected livestock watersheds of Honduras and Nicaragua.</a:t>
            </a:r>
          </a:p>
          <a:p>
            <a:pPr algn="l">
              <a:spcAft>
                <a:spcPts val="700"/>
              </a:spcAft>
            </a:pPr>
            <a:r>
              <a:rPr sz="1050" b="0" i="0">
                <a:solidFill>
                  <a:srgbClr val="334155"/>
                </a:solidFill>
                <a:latin typeface="Calibri"/>
              </a:rPr>
              <a:t>La Tribuna. (2026, 6 de enero). Ingreso de remesas en 2025 ascendió a $12,211 millones [datos del Banco Central de Honduras].</a:t>
            </a:r>
          </a:p>
        </p:txBody>
      </p:sp>
      <p:sp>
        <p:nvSpPr>
          <p:cNvPr id="6" name="TextBox 5"/>
          <p:cNvSpPr txBox="1"/>
          <p:nvPr/>
        </p:nvSpPr>
        <p:spPr>
          <a:xfrm>
            <a:off x="6126480" y="1143000"/>
            <a:ext cx="5623560" cy="5303520"/>
          </a:xfrm>
          <a:prstGeom prst="rect">
            <a:avLst/>
          </a:prstGeom>
          <a:noFill/>
        </p:spPr>
        <p:txBody>
          <a:bodyPr wrap="square" anchor="t">
            <a:spAutoFit/>
          </a:bodyPr>
          <a:lstStyle/>
          <a:p>
            <a:pPr algn="l">
              <a:spcAft>
                <a:spcPts val="700"/>
              </a:spcAft>
            </a:pPr>
            <a:r>
              <a:rPr sz="1050" b="0" i="0">
                <a:solidFill>
                  <a:srgbClr val="334155"/>
                </a:solidFill>
                <a:latin typeface="Calibri"/>
              </a:rPr>
              <a:t>Instituto Nacional de Estadística. (2025a). Estadísticas de género en Honduras, julio 2025. INE.</a:t>
            </a:r>
          </a:p>
          <a:p>
            <a:pPr algn="l">
              <a:spcAft>
                <a:spcPts val="700"/>
              </a:spcAft>
            </a:pPr>
            <a:r>
              <a:rPr sz="1050" b="0" i="0">
                <a:solidFill>
                  <a:srgbClr val="334155"/>
                </a:solidFill>
                <a:latin typeface="Calibri"/>
              </a:rPr>
              <a:t>Instituto Nacional de Estadística. (2025b). Encuesta Permanente de Hogares de Propósitos Múltiples, EPHPM 2025. INE.</a:t>
            </a:r>
          </a:p>
          <a:p>
            <a:pPr algn="l">
              <a:spcAft>
                <a:spcPts val="700"/>
              </a:spcAft>
            </a:pPr>
            <a:r>
              <a:rPr sz="1050" b="0" i="0">
                <a:solidFill>
                  <a:srgbClr val="334155"/>
                </a:solidFill>
                <a:latin typeface="Calibri"/>
              </a:rPr>
              <a:t>Instituto Nacional de Estadística. (2025c). Informalidad laboral 2024. INE.</a:t>
            </a:r>
          </a:p>
          <a:p>
            <a:pPr algn="l">
              <a:spcAft>
                <a:spcPts val="700"/>
              </a:spcAft>
            </a:pPr>
            <a:r>
              <a:rPr sz="1050" b="0" i="0">
                <a:solidFill>
                  <a:srgbClr val="334155"/>
                </a:solidFill>
                <a:latin typeface="Calibri"/>
              </a:rPr>
              <a:t>Navarro Monterroza, C. A. y Pérez Extremor, J. L. (2014). Guía de implementación de sistema integrado de gestión ISO 9001:2008 – ISO 22000:2005.</a:t>
            </a:r>
          </a:p>
          <a:p>
            <a:pPr algn="l">
              <a:spcAft>
                <a:spcPts val="700"/>
              </a:spcAft>
            </a:pPr>
            <a:r>
              <a:rPr sz="1050" b="0" i="0">
                <a:solidFill>
                  <a:srgbClr val="334155"/>
                </a:solidFill>
                <a:latin typeface="Calibri"/>
              </a:rPr>
              <a:t>OHN 18. (2018). Leche cruda de vaca. Requisitos. Organismo Hondureño de Normalización.</a:t>
            </a:r>
          </a:p>
          <a:p>
            <a:pPr algn="l">
              <a:spcAft>
                <a:spcPts val="700"/>
              </a:spcAft>
            </a:pPr>
            <a:r>
              <a:rPr sz="1050" b="0" i="0">
                <a:solidFill>
                  <a:srgbClr val="334155"/>
                </a:solidFill>
                <a:latin typeface="Calibri"/>
              </a:rPr>
              <a:t>ONUDI. (2019). Guía de transferencia metodológica. Organización de las Naciones Unidas para el Desarrollo Industrial.</a:t>
            </a:r>
          </a:p>
          <a:p>
            <a:pPr algn="l">
              <a:spcAft>
                <a:spcPts val="700"/>
              </a:spcAft>
            </a:pPr>
            <a:r>
              <a:rPr sz="1050" b="0" i="0">
                <a:solidFill>
                  <a:srgbClr val="334155"/>
                </a:solidFill>
                <a:latin typeface="Calibri"/>
              </a:rPr>
              <a:t>Sapag Chain, N. (2008). Preparación y evaluación de proyectos (5.ª ed.). McGraw-Hill.</a:t>
            </a:r>
          </a:p>
          <a:p>
            <a:pPr algn="l">
              <a:spcAft>
                <a:spcPts val="700"/>
              </a:spcAft>
            </a:pPr>
            <a:r>
              <a:rPr sz="1050" b="0" i="0">
                <a:solidFill>
                  <a:srgbClr val="334155"/>
                </a:solidFill>
                <a:latin typeface="Calibri"/>
              </a:rPr>
              <a:t>Secretaría de Agricultura y Ganadería. (2026, 18 de julio). Gobierno, productores e industria revisan los desafíos del sector lácteo. SAG.</a:t>
            </a:r>
          </a:p>
          <a:p>
            <a:pPr algn="l">
              <a:spcAft>
                <a:spcPts val="700"/>
              </a:spcAft>
            </a:pPr>
            <a:r>
              <a:rPr sz="1050" b="0" i="0">
                <a:solidFill>
                  <a:srgbClr val="334155"/>
                </a:solidFill>
                <a:latin typeface="Calibri"/>
              </a:rPr>
              <a:t>Universidad Nacional Autónoma de Honduras. (2026). Remesas alcanzan cifra récord en Honduras: ya representan el 29.4 % del PIB. UNAH.</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Anexo A · Instrumento de Encuesta Comercial</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 ¿Cuál es su edad?</a:t>
            </a:r>
          </a:p>
          <a:p>
            <a:pPr algn="l">
              <a:spcAft>
                <a:spcPts val="700"/>
              </a:spcAft>
            </a:pPr>
            <a:r>
              <a:rPr sz="1100" b="0" i="0">
                <a:solidFill>
                  <a:srgbClr val="334155"/>
                </a:solidFill>
                <a:latin typeface="Calibri"/>
              </a:rPr>
              <a:t>2. ¿Dónde reside?</a:t>
            </a:r>
          </a:p>
          <a:p>
            <a:pPr algn="l">
              <a:spcAft>
                <a:spcPts val="700"/>
              </a:spcAft>
            </a:pPr>
            <a:r>
              <a:rPr sz="1100" b="0" i="0">
                <a:solidFill>
                  <a:srgbClr val="334155"/>
                </a:solidFill>
                <a:latin typeface="Calibri"/>
              </a:rPr>
              <a:t>3. ¿Qué tipo de establecimiento administra o representa?</a:t>
            </a:r>
          </a:p>
          <a:p>
            <a:pPr algn="l">
              <a:spcAft>
                <a:spcPts val="700"/>
              </a:spcAft>
            </a:pPr>
            <a:r>
              <a:rPr sz="1100" b="0" i="0">
                <a:solidFill>
                  <a:srgbClr val="334155"/>
                </a:solidFill>
                <a:latin typeface="Calibri"/>
              </a:rPr>
              <a:t>4. ¿Cuál es el volumen mensual de productos lácteos que utiliza?</a:t>
            </a:r>
          </a:p>
          <a:p>
            <a:pPr algn="l">
              <a:spcAft>
                <a:spcPts val="700"/>
              </a:spcAft>
            </a:pPr>
            <a:r>
              <a:rPr sz="1100" b="0" i="0">
                <a:solidFill>
                  <a:srgbClr val="334155"/>
                </a:solidFill>
                <a:latin typeface="Calibri"/>
              </a:rPr>
              <a:t>5. ¿Qué tipo de leche utiliza actualmente?</a:t>
            </a:r>
          </a:p>
          <a:p>
            <a:pPr algn="l">
              <a:spcAft>
                <a:spcPts val="700"/>
              </a:spcAft>
            </a:pPr>
            <a:r>
              <a:rPr sz="1100" b="0" i="0">
                <a:solidFill>
                  <a:srgbClr val="334155"/>
                </a:solidFill>
                <a:latin typeface="Calibri"/>
              </a:rPr>
              <a:t>6. ¿Quién es su principal proveedor?</a:t>
            </a:r>
          </a:p>
          <a:p>
            <a:pPr algn="l">
              <a:spcAft>
                <a:spcPts val="700"/>
              </a:spcAft>
            </a:pPr>
            <a:r>
              <a:rPr sz="1100" b="0" i="0">
                <a:solidFill>
                  <a:srgbClr val="334155"/>
                </a:solidFill>
                <a:latin typeface="Calibri"/>
              </a:rPr>
              <a:t>7. ¿Qué dificultades presenta la leche que utiliza?</a:t>
            </a:r>
          </a:p>
          <a:p>
            <a:pPr algn="l">
              <a:spcAft>
                <a:spcPts val="700"/>
              </a:spcAft>
            </a:pPr>
            <a:r>
              <a:rPr sz="1100" b="0" i="0">
                <a:solidFill>
                  <a:srgbClr val="334155"/>
                </a:solidFill>
                <a:latin typeface="Calibri"/>
              </a:rPr>
              <a:t>8. ¿Cómo afectan estos problemas a su negocio?</a:t>
            </a:r>
          </a:p>
          <a:p>
            <a:pPr algn="l">
              <a:spcAft>
                <a:spcPts val="700"/>
              </a:spcAft>
            </a:pPr>
            <a:r>
              <a:rPr sz="1100" b="0" i="0">
                <a:solidFill>
                  <a:srgbClr val="334155"/>
                </a:solidFill>
                <a:latin typeface="Calibri"/>
              </a:rPr>
              <a:t>9. ¿Con qué frecuencia compra productos lácteos?</a:t>
            </a:r>
          </a:p>
          <a:p>
            <a:pPr algn="l">
              <a:spcAft>
                <a:spcPts val="700"/>
              </a:spcAft>
            </a:pPr>
            <a:r>
              <a:rPr sz="1100" b="0" i="0">
                <a:solidFill>
                  <a:srgbClr val="334155"/>
                </a:solidFill>
                <a:latin typeface="Calibri"/>
              </a:rPr>
              <a:t>10. ¿Dónde suele comprar este tipo de productos?</a:t>
            </a:r>
          </a:p>
          <a:p>
            <a:pPr algn="l">
              <a:spcAft>
                <a:spcPts val="700"/>
              </a:spcAft>
            </a:pPr>
            <a:r>
              <a:rPr sz="1100" b="0" i="0">
                <a:solidFill>
                  <a:srgbClr val="334155"/>
                </a:solidFill>
                <a:latin typeface="Calibri"/>
              </a:rPr>
              <a:t>11. ¿Cuál es su presupuesto aproximado para lácteos?</a:t>
            </a:r>
          </a:p>
        </p:txBody>
      </p:sp>
      <p:sp>
        <p:nvSpPr>
          <p:cNvPr id="6" name="TextBox 5"/>
          <p:cNvSpPr txBox="1"/>
          <p:nvPr/>
        </p:nvSpPr>
        <p:spPr>
          <a:xfrm>
            <a:off x="416052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12. ¿Cómo percibe los precios de los lácteos en la actualidad?</a:t>
            </a:r>
          </a:p>
          <a:p>
            <a:pPr algn="l">
              <a:spcAft>
                <a:spcPts val="700"/>
              </a:spcAft>
            </a:pPr>
            <a:r>
              <a:rPr sz="1100" b="0" i="0">
                <a:solidFill>
                  <a:srgbClr val="334155"/>
                </a:solidFill>
                <a:latin typeface="Calibri"/>
              </a:rPr>
              <a:t>13. ¿Cómo percibe la calidad del producto por su presentación?</a:t>
            </a:r>
          </a:p>
          <a:p>
            <a:pPr algn="l">
              <a:spcAft>
                <a:spcPts val="700"/>
              </a:spcAft>
            </a:pPr>
            <a:r>
              <a:rPr sz="1100" b="0" i="0">
                <a:solidFill>
                  <a:srgbClr val="334155"/>
                </a:solidFill>
                <a:latin typeface="Calibri"/>
              </a:rPr>
              <a:t>14. ¿Qué marcas de leche conoce?</a:t>
            </a:r>
          </a:p>
          <a:p>
            <a:pPr algn="l">
              <a:spcAft>
                <a:spcPts val="700"/>
              </a:spcAft>
            </a:pPr>
            <a:r>
              <a:rPr sz="1100" b="0" i="0">
                <a:solidFill>
                  <a:srgbClr val="334155"/>
                </a:solidFill>
                <a:latin typeface="Calibri"/>
              </a:rPr>
              <a:t>15. ¿Qué marca de leche prefiere y por qué?</a:t>
            </a:r>
          </a:p>
          <a:p>
            <a:pPr algn="l">
              <a:spcAft>
                <a:spcPts val="700"/>
              </a:spcAft>
            </a:pPr>
            <a:r>
              <a:rPr sz="1100" b="0" i="0">
                <a:solidFill>
                  <a:srgbClr val="334155"/>
                </a:solidFill>
                <a:latin typeface="Calibri"/>
              </a:rPr>
              <a:t>16. ¿Qué le impide adquirir las marcas actuales?</a:t>
            </a:r>
          </a:p>
          <a:p>
            <a:pPr algn="l">
              <a:spcAft>
                <a:spcPts val="700"/>
              </a:spcAft>
            </a:pPr>
            <a:r>
              <a:rPr sz="1100" b="0" i="0">
                <a:solidFill>
                  <a:srgbClr val="334155"/>
                </a:solidFill>
                <a:latin typeface="Calibri"/>
              </a:rPr>
              <a:t>17. ¿Cómo evalúa las marcas de leche disponibles?</a:t>
            </a:r>
          </a:p>
          <a:p>
            <a:pPr algn="l">
              <a:spcAft>
                <a:spcPts val="700"/>
              </a:spcAft>
            </a:pPr>
            <a:r>
              <a:rPr sz="1100" b="0" i="0">
                <a:solidFill>
                  <a:srgbClr val="334155"/>
                </a:solidFill>
                <a:latin typeface="Calibri"/>
              </a:rPr>
              <a:t>18. ¿Qué porcentaje de su volumen cambiaría a una nueva leche?</a:t>
            </a:r>
          </a:p>
          <a:p>
            <a:pPr algn="l">
              <a:spcAft>
                <a:spcPts val="700"/>
              </a:spcAft>
            </a:pPr>
            <a:r>
              <a:rPr sz="1100" b="0" i="0">
                <a:solidFill>
                  <a:srgbClr val="334155"/>
                </a:solidFill>
                <a:latin typeface="Calibri"/>
              </a:rPr>
              <a:t>19. ¿Qué condiciones son indispensables para cambiar de proveedor?</a:t>
            </a:r>
          </a:p>
          <a:p>
            <a:pPr algn="l">
              <a:spcAft>
                <a:spcPts val="700"/>
              </a:spcAft>
            </a:pPr>
            <a:r>
              <a:rPr sz="1100" b="0" i="0">
                <a:solidFill>
                  <a:srgbClr val="334155"/>
                </a:solidFill>
                <a:latin typeface="Calibri"/>
              </a:rPr>
              <a:t>20. Si esta marca fuera una persona, ¿cómo la describiría?</a:t>
            </a:r>
          </a:p>
          <a:p>
            <a:pPr algn="l">
              <a:spcAft>
                <a:spcPts val="700"/>
              </a:spcAft>
            </a:pPr>
            <a:r>
              <a:rPr sz="1100" b="0" i="0">
                <a:solidFill>
                  <a:srgbClr val="334155"/>
                </a:solidFill>
                <a:latin typeface="Calibri"/>
              </a:rPr>
              <a:t>21. ¿Cómo percibe esta marca de leche?</a:t>
            </a:r>
          </a:p>
          <a:p>
            <a:pPr algn="l">
              <a:spcAft>
                <a:spcPts val="700"/>
              </a:spcAft>
            </a:pPr>
            <a:r>
              <a:rPr sz="1100" b="0" i="0">
                <a:solidFill>
                  <a:srgbClr val="334155"/>
                </a:solidFill>
                <a:latin typeface="Calibri"/>
              </a:rPr>
              <a:t>22. ¿Qué empaque o diseño le parece más atractivo?</a:t>
            </a:r>
          </a:p>
        </p:txBody>
      </p:sp>
      <p:sp>
        <p:nvSpPr>
          <p:cNvPr id="7" name="TextBox 6"/>
          <p:cNvSpPr txBox="1"/>
          <p:nvPr/>
        </p:nvSpPr>
        <p:spPr>
          <a:xfrm>
            <a:off x="800100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23. ¿Cuál es el precio que paga hoy por litro?</a:t>
            </a:r>
          </a:p>
          <a:p>
            <a:pPr algn="l">
              <a:spcAft>
                <a:spcPts val="700"/>
              </a:spcAft>
            </a:pPr>
            <a:r>
              <a:rPr sz="1100" b="0" i="0">
                <a:solidFill>
                  <a:srgbClr val="334155"/>
                </a:solidFill>
                <a:latin typeface="Calibri"/>
              </a:rPr>
              <a:t>24. ¿En qué presentación compra la leche?</a:t>
            </a:r>
          </a:p>
          <a:p>
            <a:pPr algn="l">
              <a:spcAft>
                <a:spcPts val="700"/>
              </a:spcAft>
            </a:pPr>
            <a:r>
              <a:rPr sz="1100" b="0" i="0">
                <a:solidFill>
                  <a:srgbClr val="334155"/>
                </a:solidFill>
                <a:latin typeface="Calibri"/>
              </a:rPr>
              <a:t>25. ¿Precio máximo por una leche especial para café o panadería?</a:t>
            </a:r>
          </a:p>
          <a:p>
            <a:pPr algn="l">
              <a:spcAft>
                <a:spcPts val="700"/>
              </a:spcAft>
            </a:pPr>
            <a:r>
              <a:rPr sz="1100" b="0" i="0">
                <a:solidFill>
                  <a:srgbClr val="334155"/>
                </a:solidFill>
                <a:latin typeface="Calibri"/>
              </a:rPr>
              <a:t>26. ¿Cuál es su preferencia de pago?</a:t>
            </a:r>
          </a:p>
          <a:p>
            <a:pPr algn="l">
              <a:spcAft>
                <a:spcPts val="700"/>
              </a:spcAft>
            </a:pPr>
            <a:r>
              <a:rPr sz="1100" b="0" i="0">
                <a:solidFill>
                  <a:srgbClr val="334155"/>
                </a:solidFill>
                <a:latin typeface="Calibri"/>
              </a:rPr>
              <a:t>27. ¿Cuál es la frecuencia ideal de entrega?</a:t>
            </a:r>
          </a:p>
          <a:p>
            <a:pPr algn="l">
              <a:spcAft>
                <a:spcPts val="700"/>
              </a:spcAft>
            </a:pPr>
            <a:r>
              <a:rPr sz="1100" b="0" i="0">
                <a:solidFill>
                  <a:srgbClr val="334155"/>
                </a:solidFill>
                <a:latin typeface="Calibri"/>
              </a:rPr>
              <a:t>28. ¿Cuáles son sus días preferidos de recepción?</a:t>
            </a:r>
          </a:p>
          <a:p>
            <a:pPr algn="l">
              <a:spcAft>
                <a:spcPts val="700"/>
              </a:spcAft>
            </a:pPr>
            <a:r>
              <a:rPr sz="1100" b="0" i="0">
                <a:solidFill>
                  <a:srgbClr val="334155"/>
                </a:solidFill>
                <a:latin typeface="Calibri"/>
              </a:rPr>
              <a:t>29. ¿Qué formas de contacto y pedido prefiere?</a:t>
            </a:r>
          </a:p>
          <a:p>
            <a:pPr algn="l">
              <a:spcAft>
                <a:spcPts val="700"/>
              </a:spcAft>
            </a:pPr>
            <a:r>
              <a:rPr sz="1100" b="0" i="0">
                <a:solidFill>
                  <a:srgbClr val="334155"/>
                </a:solidFill>
                <a:latin typeface="Calibri"/>
              </a:rPr>
              <a:t>30. Si la marca lanzara una nueva leche, ¿qué tan probable es que la compre?</a:t>
            </a:r>
          </a:p>
          <a:p>
            <a:pPr algn="l">
              <a:spcAft>
                <a:spcPts val="700"/>
              </a:spcAft>
            </a:pPr>
            <a:r>
              <a:rPr sz="1100" b="0" i="0">
                <a:solidFill>
                  <a:srgbClr val="334155"/>
                </a:solidFill>
                <a:latin typeface="Calibri"/>
              </a:rPr>
              <a:t>31. ¿Cuál considera un precio justo por esta leche?</a:t>
            </a:r>
          </a:p>
          <a:p>
            <a:pPr algn="l">
              <a:spcAft>
                <a:spcPts val="700"/>
              </a:spcAft>
            </a:pPr>
            <a:r>
              <a:rPr sz="1100" b="0" i="0">
                <a:solidFill>
                  <a:srgbClr val="334155"/>
                </a:solidFill>
                <a:latin typeface="Calibri"/>
              </a:rPr>
              <a:t>32. ¿Recomendaría esta leche a otras personas?</a:t>
            </a:r>
          </a:p>
        </p:txBody>
      </p:sp>
      <p:sp>
        <p:nvSpPr>
          <p:cNvPr id="8" name="TextBox 7"/>
          <p:cNvSpPr txBox="1"/>
          <p:nvPr/>
        </p:nvSpPr>
        <p:spPr>
          <a:xfrm>
            <a:off x="320040" y="1051560"/>
            <a:ext cx="11430000" cy="292608"/>
          </a:xfrm>
          <a:prstGeom prst="rect">
            <a:avLst/>
          </a:prstGeom>
          <a:noFill/>
        </p:spPr>
        <p:txBody>
          <a:bodyPr wrap="square" anchor="ctr">
            <a:spAutoFit/>
          </a:bodyPr>
          <a:lstStyle/>
          <a:p>
            <a:pPr algn="l"/>
            <a:r>
              <a:rPr sz="1000" b="0" i="1">
                <a:solidFill>
                  <a:srgbClr val="64748B"/>
                </a:solidFill>
                <a:latin typeface="Calibri"/>
              </a:rPr>
              <a:t>Aplicado a 63 establecimientos HoReCa y del canal detalle de la región central (abril–mayo de 2026). Incluye además datos de control: hora, correo y nombre.</a:t>
            </a:r>
          </a:p>
        </p:txBody>
      </p:sp>
      <p:sp>
        <p:nvSpPr>
          <p:cNvPr id="9" name="TextBox 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sin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386584"/>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03" name="Rectangle 102"/>
          <p:cNvSpPr/>
          <p:nvPr/>
        </p:nvSpPr>
        <p:spPr>
          <a:xfrm>
            <a:off x="26974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9" name="Rectangle 108"/>
          <p:cNvSpPr/>
          <p:nvPr/>
        </p:nvSpPr>
        <p:spPr>
          <a:xfrm>
            <a:off x="51663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1" name="Rectangle 110"/>
          <p:cNvSpPr/>
          <p:nvPr/>
        </p:nvSpPr>
        <p:spPr>
          <a:xfrm>
            <a:off x="59893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3" name="Rectangle 112"/>
          <p:cNvSpPr/>
          <p:nvPr/>
        </p:nvSpPr>
        <p:spPr>
          <a:xfrm>
            <a:off x="68122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5" name="Rectangle 114"/>
          <p:cNvSpPr/>
          <p:nvPr/>
        </p:nvSpPr>
        <p:spPr>
          <a:xfrm>
            <a:off x="76352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7" name="Rectangle 116"/>
          <p:cNvSpPr/>
          <p:nvPr/>
        </p:nvSpPr>
        <p:spPr>
          <a:xfrm>
            <a:off x="84582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9" name="Rectangle 118"/>
          <p:cNvSpPr/>
          <p:nvPr/>
        </p:nvSpPr>
        <p:spPr>
          <a:xfrm>
            <a:off x="92811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1" name="Rectangle 120"/>
          <p:cNvSpPr/>
          <p:nvPr/>
        </p:nvSpPr>
        <p:spPr>
          <a:xfrm>
            <a:off x="101041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3" name="Rectangle 122"/>
          <p:cNvSpPr/>
          <p:nvPr/>
        </p:nvSpPr>
        <p:spPr>
          <a:xfrm>
            <a:off x="109270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5" name="Rectangle 12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27" name="Rectangle 126"/>
          <p:cNvSpPr/>
          <p:nvPr/>
        </p:nvSpPr>
        <p:spPr>
          <a:xfrm>
            <a:off x="26974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31" name="Rectangle 130"/>
          <p:cNvSpPr/>
          <p:nvPr/>
        </p:nvSpPr>
        <p:spPr>
          <a:xfrm>
            <a:off x="43434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33" name="Rectangle 132"/>
          <p:cNvSpPr/>
          <p:nvPr/>
        </p:nvSpPr>
        <p:spPr>
          <a:xfrm>
            <a:off x="51663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35" name="Rectangle 134"/>
          <p:cNvSpPr/>
          <p:nvPr/>
        </p:nvSpPr>
        <p:spPr>
          <a:xfrm>
            <a:off x="59893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37" name="Rectangle 136"/>
          <p:cNvSpPr/>
          <p:nvPr/>
        </p:nvSpPr>
        <p:spPr>
          <a:xfrm>
            <a:off x="68122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39" name="Rectangle 138"/>
          <p:cNvSpPr/>
          <p:nvPr/>
        </p:nvSpPr>
        <p:spPr>
          <a:xfrm>
            <a:off x="76352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41" name="Rectangle 140"/>
          <p:cNvSpPr/>
          <p:nvPr/>
        </p:nvSpPr>
        <p:spPr>
          <a:xfrm>
            <a:off x="84582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43" name="Rectangle 142"/>
          <p:cNvSpPr/>
          <p:nvPr/>
        </p:nvSpPr>
        <p:spPr>
          <a:xfrm>
            <a:off x="92811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45" name="Rectangle 144"/>
          <p:cNvSpPr/>
          <p:nvPr/>
        </p:nvSpPr>
        <p:spPr>
          <a:xfrm>
            <a:off x="101041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47" name="Rectangle 146"/>
          <p:cNvSpPr/>
          <p:nvPr/>
        </p:nvSpPr>
        <p:spPr>
          <a:xfrm>
            <a:off x="109270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49" name="Rectangle 148"/>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008375"/>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51" name="Rectangle 150"/>
          <p:cNvSpPr/>
          <p:nvPr/>
        </p:nvSpPr>
        <p:spPr>
          <a:xfrm>
            <a:off x="26974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53" name="Rectangle 152"/>
          <p:cNvSpPr/>
          <p:nvPr/>
        </p:nvSpPr>
        <p:spPr>
          <a:xfrm>
            <a:off x="35204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155" name="Rectangle 154"/>
          <p:cNvSpPr/>
          <p:nvPr/>
        </p:nvSpPr>
        <p:spPr>
          <a:xfrm>
            <a:off x="43434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157" name="Rectangle 156"/>
          <p:cNvSpPr/>
          <p:nvPr/>
        </p:nvSpPr>
        <p:spPr>
          <a:xfrm>
            <a:off x="51663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1,147,285</a:t>
            </a:r>
          </a:p>
        </p:txBody>
      </p:sp>
      <p:sp>
        <p:nvSpPr>
          <p:cNvPr id="159" name="Rectangle 158"/>
          <p:cNvSpPr/>
          <p:nvPr/>
        </p:nvSpPr>
        <p:spPr>
          <a:xfrm>
            <a:off x="59893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2,708,518</a:t>
            </a:r>
          </a:p>
        </p:txBody>
      </p:sp>
      <p:sp>
        <p:nvSpPr>
          <p:cNvPr id="161" name="Rectangle 160"/>
          <p:cNvSpPr/>
          <p:nvPr/>
        </p:nvSpPr>
        <p:spPr>
          <a:xfrm>
            <a:off x="68122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4,669,056</a:t>
            </a:r>
          </a:p>
        </p:txBody>
      </p:sp>
      <p:sp>
        <p:nvSpPr>
          <p:cNvPr id="163" name="Rectangle 162"/>
          <p:cNvSpPr/>
          <p:nvPr/>
        </p:nvSpPr>
        <p:spPr>
          <a:xfrm>
            <a:off x="76352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65" name="Rectangle 164"/>
          <p:cNvSpPr/>
          <p:nvPr/>
        </p:nvSpPr>
        <p:spPr>
          <a:xfrm>
            <a:off x="84582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67" name="Rectangle 166"/>
          <p:cNvSpPr/>
          <p:nvPr/>
        </p:nvSpPr>
        <p:spPr>
          <a:xfrm>
            <a:off x="92811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69" name="Rectangle 168"/>
          <p:cNvSpPr/>
          <p:nvPr/>
        </p:nvSpPr>
        <p:spPr>
          <a:xfrm>
            <a:off x="101041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71" name="Rectangle 170"/>
          <p:cNvSpPr/>
          <p:nvPr/>
        </p:nvSpPr>
        <p:spPr>
          <a:xfrm>
            <a:off x="109270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73" name="Rectangle 172"/>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75" name="Rectangle 174"/>
          <p:cNvSpPr/>
          <p:nvPr/>
        </p:nvSpPr>
        <p:spPr>
          <a:xfrm>
            <a:off x="26974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7" name="Rectangle 176"/>
          <p:cNvSpPr/>
          <p:nvPr/>
        </p:nvSpPr>
        <p:spPr>
          <a:xfrm>
            <a:off x="35204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9" name="Rectangle 178"/>
          <p:cNvSpPr/>
          <p:nvPr/>
        </p:nvSpPr>
        <p:spPr>
          <a:xfrm>
            <a:off x="43434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81" name="Rectangle 180"/>
          <p:cNvSpPr/>
          <p:nvPr/>
        </p:nvSpPr>
        <p:spPr>
          <a:xfrm>
            <a:off x="51663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38,248</a:t>
            </a:r>
          </a:p>
        </p:txBody>
      </p:sp>
      <p:sp>
        <p:nvSpPr>
          <p:cNvPr id="183" name="Rectangle 182"/>
          <p:cNvSpPr/>
          <p:nvPr/>
        </p:nvSpPr>
        <p:spPr>
          <a:xfrm>
            <a:off x="59893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762,555</a:t>
            </a:r>
          </a:p>
        </p:txBody>
      </p:sp>
      <p:sp>
        <p:nvSpPr>
          <p:cNvPr id="185" name="Rectangle 184"/>
          <p:cNvSpPr/>
          <p:nvPr/>
        </p:nvSpPr>
        <p:spPr>
          <a:xfrm>
            <a:off x="68122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1,350,717</a:t>
            </a:r>
          </a:p>
        </p:txBody>
      </p:sp>
      <p:sp>
        <p:nvSpPr>
          <p:cNvPr id="187" name="Rectangle 186"/>
          <p:cNvSpPr/>
          <p:nvPr/>
        </p:nvSpPr>
        <p:spPr>
          <a:xfrm>
            <a:off x="76352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189" name="Rectangle 188"/>
          <p:cNvSpPr/>
          <p:nvPr/>
        </p:nvSpPr>
        <p:spPr>
          <a:xfrm>
            <a:off x="84582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191" name="Rectangle 190"/>
          <p:cNvSpPr/>
          <p:nvPr/>
        </p:nvSpPr>
        <p:spPr>
          <a:xfrm>
            <a:off x="92811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193" name="Rectangle 192"/>
          <p:cNvSpPr/>
          <p:nvPr/>
        </p:nvSpPr>
        <p:spPr>
          <a:xfrm>
            <a:off x="101041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195" name="Rectangle 194"/>
          <p:cNvSpPr/>
          <p:nvPr/>
        </p:nvSpPr>
        <p:spPr>
          <a:xfrm>
            <a:off x="109270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197" name="Rectangle 196"/>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199" name="Rectangle 198"/>
          <p:cNvSpPr/>
          <p:nvPr/>
        </p:nvSpPr>
        <p:spPr>
          <a:xfrm>
            <a:off x="26974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01" name="Rectangle 200"/>
          <p:cNvSpPr/>
          <p:nvPr/>
        </p:nvSpPr>
        <p:spPr>
          <a:xfrm>
            <a:off x="35204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203" name="Rectangle 202"/>
          <p:cNvSpPr/>
          <p:nvPr/>
        </p:nvSpPr>
        <p:spPr>
          <a:xfrm>
            <a:off x="43434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205" name="Rectangle 204"/>
          <p:cNvSpPr/>
          <p:nvPr/>
        </p:nvSpPr>
        <p:spPr>
          <a:xfrm>
            <a:off x="51663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1,109,038</a:t>
            </a:r>
          </a:p>
        </p:txBody>
      </p:sp>
      <p:sp>
        <p:nvSpPr>
          <p:cNvPr id="207" name="Rectangle 206"/>
          <p:cNvSpPr/>
          <p:nvPr/>
        </p:nvSpPr>
        <p:spPr>
          <a:xfrm>
            <a:off x="59893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1,945,963</a:t>
            </a:r>
          </a:p>
        </p:txBody>
      </p:sp>
      <p:sp>
        <p:nvSpPr>
          <p:cNvPr id="209" name="Rectangle 208"/>
          <p:cNvSpPr/>
          <p:nvPr/>
        </p:nvSpPr>
        <p:spPr>
          <a:xfrm>
            <a:off x="68122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3,318,339</a:t>
            </a:r>
          </a:p>
        </p:txBody>
      </p:sp>
      <p:sp>
        <p:nvSpPr>
          <p:cNvPr id="211" name="Rectangle 210"/>
          <p:cNvSpPr/>
          <p:nvPr/>
        </p:nvSpPr>
        <p:spPr>
          <a:xfrm>
            <a:off x="76352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13" name="Rectangle 212"/>
          <p:cNvSpPr/>
          <p:nvPr/>
        </p:nvSpPr>
        <p:spPr>
          <a:xfrm>
            <a:off x="84582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15" name="Rectangle 214"/>
          <p:cNvSpPr/>
          <p:nvPr/>
        </p:nvSpPr>
        <p:spPr>
          <a:xfrm>
            <a:off x="92811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17" name="Rectangle 216"/>
          <p:cNvSpPr/>
          <p:nvPr/>
        </p:nvSpPr>
        <p:spPr>
          <a:xfrm>
            <a:off x="101041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19" name="Rectangle 218"/>
          <p:cNvSpPr/>
          <p:nvPr/>
        </p:nvSpPr>
        <p:spPr>
          <a:xfrm>
            <a:off x="109270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21" name="Rectangle 220"/>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23" name="Rectangle 222"/>
          <p:cNvSpPr/>
          <p:nvPr/>
        </p:nvSpPr>
        <p:spPr>
          <a:xfrm>
            <a:off x="26974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7" name="Rectangle 226"/>
          <p:cNvSpPr/>
          <p:nvPr/>
        </p:nvSpPr>
        <p:spPr>
          <a:xfrm>
            <a:off x="43434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9" name="Rectangle 228"/>
          <p:cNvSpPr/>
          <p:nvPr/>
        </p:nvSpPr>
        <p:spPr>
          <a:xfrm>
            <a:off x="51663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1" name="Rectangle 230"/>
          <p:cNvSpPr/>
          <p:nvPr/>
        </p:nvSpPr>
        <p:spPr>
          <a:xfrm>
            <a:off x="59893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3" name="Rectangle 232"/>
          <p:cNvSpPr/>
          <p:nvPr/>
        </p:nvSpPr>
        <p:spPr>
          <a:xfrm>
            <a:off x="68122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5" name="Rectangle 234"/>
          <p:cNvSpPr/>
          <p:nvPr/>
        </p:nvSpPr>
        <p:spPr>
          <a:xfrm>
            <a:off x="76352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7" name="Rectangle 236"/>
          <p:cNvSpPr/>
          <p:nvPr/>
        </p:nvSpPr>
        <p:spPr>
          <a:xfrm>
            <a:off x="84582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9" name="Rectangle 238"/>
          <p:cNvSpPr/>
          <p:nvPr/>
        </p:nvSpPr>
        <p:spPr>
          <a:xfrm>
            <a:off x="92811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1" name="Rectangle 240"/>
          <p:cNvSpPr/>
          <p:nvPr/>
        </p:nvSpPr>
        <p:spPr>
          <a:xfrm>
            <a:off x="101041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3" name="Rectangle 242"/>
          <p:cNvSpPr/>
          <p:nvPr/>
        </p:nvSpPr>
        <p:spPr>
          <a:xfrm>
            <a:off x="109270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5" name="Rectangle 24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47" name="Rectangle 246"/>
          <p:cNvSpPr/>
          <p:nvPr/>
        </p:nvSpPr>
        <p:spPr>
          <a:xfrm>
            <a:off x="26974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1" name="Rectangle 250"/>
          <p:cNvSpPr/>
          <p:nvPr/>
        </p:nvSpPr>
        <p:spPr>
          <a:xfrm>
            <a:off x="43434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3" name="Rectangle 252"/>
          <p:cNvSpPr/>
          <p:nvPr/>
        </p:nvSpPr>
        <p:spPr>
          <a:xfrm>
            <a:off x="51663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5" name="Rectangle 254"/>
          <p:cNvSpPr/>
          <p:nvPr/>
        </p:nvSpPr>
        <p:spPr>
          <a:xfrm>
            <a:off x="59893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7" name="Rectangle 256"/>
          <p:cNvSpPr/>
          <p:nvPr/>
        </p:nvSpPr>
        <p:spPr>
          <a:xfrm>
            <a:off x="68122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9" name="Rectangle 258"/>
          <p:cNvSpPr/>
          <p:nvPr/>
        </p:nvSpPr>
        <p:spPr>
          <a:xfrm>
            <a:off x="76352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4582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2811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101041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9270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69" name="Rectangle 268"/>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271" name="Rectangle 270"/>
          <p:cNvSpPr/>
          <p:nvPr/>
        </p:nvSpPr>
        <p:spPr>
          <a:xfrm>
            <a:off x="26974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273" name="Rectangle 272"/>
          <p:cNvSpPr/>
          <p:nvPr/>
        </p:nvSpPr>
        <p:spPr>
          <a:xfrm>
            <a:off x="35204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3" name="Rectangle 292"/>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87375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295" name="Rectangle 294"/>
          <p:cNvSpPr/>
          <p:nvPr/>
        </p:nvSpPr>
        <p:spPr>
          <a:xfrm>
            <a:off x="26974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297" name="Rectangle 296"/>
          <p:cNvSpPr/>
          <p:nvPr/>
        </p:nvSpPr>
        <p:spPr>
          <a:xfrm>
            <a:off x="35204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01" name="Rectangle 300"/>
          <p:cNvSpPr/>
          <p:nvPr/>
        </p:nvSpPr>
        <p:spPr>
          <a:xfrm>
            <a:off x="51663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03" name="Rectangle 302"/>
          <p:cNvSpPr/>
          <p:nvPr/>
        </p:nvSpPr>
        <p:spPr>
          <a:xfrm>
            <a:off x="59893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05" name="Rectangle 304"/>
          <p:cNvSpPr/>
          <p:nvPr/>
        </p:nvSpPr>
        <p:spPr>
          <a:xfrm>
            <a:off x="68122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07" name="Rectangle 306"/>
          <p:cNvSpPr/>
          <p:nvPr/>
        </p:nvSpPr>
        <p:spPr>
          <a:xfrm>
            <a:off x="76352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09" name="Rectangle 308"/>
          <p:cNvSpPr/>
          <p:nvPr/>
        </p:nvSpPr>
        <p:spPr>
          <a:xfrm>
            <a:off x="84582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11" name="Rectangle 310"/>
          <p:cNvSpPr/>
          <p:nvPr/>
        </p:nvSpPr>
        <p:spPr>
          <a:xfrm>
            <a:off x="92811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13" name="Rectangle 312"/>
          <p:cNvSpPr/>
          <p:nvPr/>
        </p:nvSpPr>
        <p:spPr>
          <a:xfrm>
            <a:off x="101041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15" name="Rectangle 314"/>
          <p:cNvSpPr/>
          <p:nvPr/>
        </p:nvSpPr>
        <p:spPr>
          <a:xfrm>
            <a:off x="109270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17" name="Rectangle 316"/>
          <p:cNvSpPr/>
          <p:nvPr/>
        </p:nvSpPr>
        <p:spPr>
          <a:xfrm>
            <a:off x="320040" y="5184647"/>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518464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19" name="Rectangle 318"/>
          <p:cNvSpPr/>
          <p:nvPr/>
        </p:nvSpPr>
        <p:spPr>
          <a:xfrm>
            <a:off x="26974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321" name="Rectangle 320"/>
          <p:cNvSpPr/>
          <p:nvPr/>
        </p:nvSpPr>
        <p:spPr>
          <a:xfrm>
            <a:off x="35204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−733,857</a:t>
            </a:r>
          </a:p>
        </p:txBody>
      </p:sp>
      <p:sp>
        <p:nvSpPr>
          <p:cNvPr id="323" name="Rectangle 322"/>
          <p:cNvSpPr/>
          <p:nvPr/>
        </p:nvSpPr>
        <p:spPr>
          <a:xfrm>
            <a:off x="43434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35,705</a:t>
            </a:r>
          </a:p>
        </p:txBody>
      </p:sp>
      <p:sp>
        <p:nvSpPr>
          <p:cNvPr id="325" name="Rectangle 324"/>
          <p:cNvSpPr/>
          <p:nvPr/>
        </p:nvSpPr>
        <p:spPr>
          <a:xfrm>
            <a:off x="51663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1,165,014</a:t>
            </a:r>
          </a:p>
        </p:txBody>
      </p:sp>
      <p:sp>
        <p:nvSpPr>
          <p:cNvPr id="327" name="Rectangle 326"/>
          <p:cNvSpPr/>
          <p:nvPr/>
        </p:nvSpPr>
        <p:spPr>
          <a:xfrm>
            <a:off x="59893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1,962,343</a:t>
            </a:r>
          </a:p>
        </p:txBody>
      </p:sp>
      <p:sp>
        <p:nvSpPr>
          <p:cNvPr id="329" name="Rectangle 328"/>
          <p:cNvSpPr/>
          <p:nvPr/>
        </p:nvSpPr>
        <p:spPr>
          <a:xfrm>
            <a:off x="68122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3,290,643</a:t>
            </a:r>
          </a:p>
        </p:txBody>
      </p:sp>
      <p:sp>
        <p:nvSpPr>
          <p:cNvPr id="331" name="Rectangle 330"/>
          <p:cNvSpPr/>
          <p:nvPr/>
        </p:nvSpPr>
        <p:spPr>
          <a:xfrm>
            <a:off x="76352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333" name="Rectangle 332"/>
          <p:cNvSpPr/>
          <p:nvPr/>
        </p:nvSpPr>
        <p:spPr>
          <a:xfrm>
            <a:off x="84582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335" name="Rectangle 334"/>
          <p:cNvSpPr/>
          <p:nvPr/>
        </p:nvSpPr>
        <p:spPr>
          <a:xfrm>
            <a:off x="92811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337" name="Rectangle 336"/>
          <p:cNvSpPr/>
          <p:nvPr/>
        </p:nvSpPr>
        <p:spPr>
          <a:xfrm>
            <a:off x="101041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339" name="Rectangle 338"/>
          <p:cNvSpPr/>
          <p:nvPr/>
        </p:nvSpPr>
        <p:spPr>
          <a:xfrm>
            <a:off x="109270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341" name="Rectangle 340"/>
          <p:cNvSpPr/>
          <p:nvPr/>
        </p:nvSpPr>
        <p:spPr>
          <a:xfrm>
            <a:off x="320040" y="549554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49554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343" name="Rectangle 342"/>
          <p:cNvSpPr/>
          <p:nvPr/>
        </p:nvSpPr>
        <p:spPr>
          <a:xfrm>
            <a:off x="26974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−1,784,058</a:t>
            </a:r>
          </a:p>
        </p:txBody>
      </p:sp>
      <p:sp>
        <p:nvSpPr>
          <p:cNvPr id="345" name="Rectangle 344"/>
          <p:cNvSpPr/>
          <p:nvPr/>
        </p:nvSpPr>
        <p:spPr>
          <a:xfrm>
            <a:off x="35204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−2,517,915</a:t>
            </a:r>
          </a:p>
        </p:txBody>
      </p:sp>
      <p:sp>
        <p:nvSpPr>
          <p:cNvPr id="347" name="Rectangle 346"/>
          <p:cNvSpPr/>
          <p:nvPr/>
        </p:nvSpPr>
        <p:spPr>
          <a:xfrm>
            <a:off x="43434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−2,482,210</a:t>
            </a:r>
          </a:p>
        </p:txBody>
      </p:sp>
      <p:sp>
        <p:nvSpPr>
          <p:cNvPr id="349" name="Rectangle 348"/>
          <p:cNvSpPr/>
          <p:nvPr/>
        </p:nvSpPr>
        <p:spPr>
          <a:xfrm>
            <a:off x="51663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−1,317,196</a:t>
            </a:r>
          </a:p>
        </p:txBody>
      </p:sp>
      <p:sp>
        <p:nvSpPr>
          <p:cNvPr id="351" name="Rectangle 350"/>
          <p:cNvSpPr/>
          <p:nvPr/>
        </p:nvSpPr>
        <p:spPr>
          <a:xfrm>
            <a:off x="59893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645,146</a:t>
            </a:r>
          </a:p>
        </p:txBody>
      </p:sp>
      <p:sp>
        <p:nvSpPr>
          <p:cNvPr id="353" name="Rectangle 352"/>
          <p:cNvSpPr/>
          <p:nvPr/>
        </p:nvSpPr>
        <p:spPr>
          <a:xfrm>
            <a:off x="68122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3,935,789</a:t>
            </a:r>
          </a:p>
        </p:txBody>
      </p:sp>
      <p:sp>
        <p:nvSpPr>
          <p:cNvPr id="355" name="Rectangle 354"/>
          <p:cNvSpPr/>
          <p:nvPr/>
        </p:nvSpPr>
        <p:spPr>
          <a:xfrm>
            <a:off x="76352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8,664,400</a:t>
            </a:r>
          </a:p>
        </p:txBody>
      </p:sp>
      <p:sp>
        <p:nvSpPr>
          <p:cNvPr id="357" name="Rectangle 356"/>
          <p:cNvSpPr/>
          <p:nvPr/>
        </p:nvSpPr>
        <p:spPr>
          <a:xfrm>
            <a:off x="84582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15,160,792</a:t>
            </a:r>
          </a:p>
        </p:txBody>
      </p:sp>
      <p:sp>
        <p:nvSpPr>
          <p:cNvPr id="359" name="Rectangle 358"/>
          <p:cNvSpPr/>
          <p:nvPr/>
        </p:nvSpPr>
        <p:spPr>
          <a:xfrm>
            <a:off x="92811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23,605,712</a:t>
            </a:r>
          </a:p>
        </p:txBody>
      </p:sp>
      <p:sp>
        <p:nvSpPr>
          <p:cNvPr id="361" name="Rectangle 360"/>
          <p:cNvSpPr/>
          <p:nvPr/>
        </p:nvSpPr>
        <p:spPr>
          <a:xfrm>
            <a:off x="101041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34,346,085</a:t>
            </a:r>
          </a:p>
        </p:txBody>
      </p:sp>
      <p:sp>
        <p:nvSpPr>
          <p:cNvPr id="363" name="Rectangle 362"/>
          <p:cNvSpPr/>
          <p:nvPr/>
        </p:nvSpPr>
        <p:spPr>
          <a:xfrm>
            <a:off x="109270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50,291,726</a:t>
            </a:r>
          </a:p>
        </p:txBody>
      </p:sp>
      <p:sp>
        <p:nvSpPr>
          <p:cNvPr id="365" name="TextBox 364"/>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26 de la tesis y modelo financiero (réplica verificada). Valores en lempiras redondeados; el acumulado se calcula con valores exactos.</a:t>
            </a:r>
          </a:p>
        </p:txBody>
      </p:sp>
      <p:sp>
        <p:nvSpPr>
          <p:cNvPr id="366" name="TextBox 36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28448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2748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2748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1196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1196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199644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199644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28092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28092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Gastos financieros</a:t>
            </a:r>
          </a:p>
        </p:txBody>
      </p:sp>
      <p:sp>
        <p:nvSpPr>
          <p:cNvPr id="103" name="Rectangle 102"/>
          <p:cNvSpPr/>
          <p:nvPr/>
        </p:nvSpPr>
        <p:spPr>
          <a:xfrm>
            <a:off x="26974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107" name="Rectangle 106"/>
          <p:cNvSpPr/>
          <p:nvPr/>
        </p:nvSpPr>
        <p:spPr>
          <a:xfrm>
            <a:off x="43434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109" name="Rectangle 108"/>
          <p:cNvSpPr/>
          <p:nvPr/>
        </p:nvSpPr>
        <p:spPr>
          <a:xfrm>
            <a:off x="51663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111" name="Rectangle 110"/>
          <p:cNvSpPr/>
          <p:nvPr/>
        </p:nvSpPr>
        <p:spPr>
          <a:xfrm>
            <a:off x="59893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113" name="Rectangle 112"/>
          <p:cNvSpPr/>
          <p:nvPr/>
        </p:nvSpPr>
        <p:spPr>
          <a:xfrm>
            <a:off x="68122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115" name="Rectangle 114"/>
          <p:cNvSpPr/>
          <p:nvPr/>
        </p:nvSpPr>
        <p:spPr>
          <a:xfrm>
            <a:off x="76352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7" name="Rectangle 116"/>
          <p:cNvSpPr/>
          <p:nvPr/>
        </p:nvSpPr>
        <p:spPr>
          <a:xfrm>
            <a:off x="84582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9" name="Rectangle 118"/>
          <p:cNvSpPr/>
          <p:nvPr/>
        </p:nvSpPr>
        <p:spPr>
          <a:xfrm>
            <a:off x="92811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1" name="Rectangle 120"/>
          <p:cNvSpPr/>
          <p:nvPr/>
        </p:nvSpPr>
        <p:spPr>
          <a:xfrm>
            <a:off x="101041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3" name="Rectangle 122"/>
          <p:cNvSpPr/>
          <p:nvPr/>
        </p:nvSpPr>
        <p:spPr>
          <a:xfrm>
            <a:off x="109270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5" name="Rectangle 124"/>
          <p:cNvSpPr/>
          <p:nvPr/>
        </p:nvSpPr>
        <p:spPr>
          <a:xfrm>
            <a:off x="320040" y="256540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56540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27" name="Rectangle 126"/>
          <p:cNvSpPr/>
          <p:nvPr/>
        </p:nvSpPr>
        <p:spPr>
          <a:xfrm>
            <a:off x="26974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1" name="Rectangle 130"/>
          <p:cNvSpPr/>
          <p:nvPr/>
        </p:nvSpPr>
        <p:spPr>
          <a:xfrm>
            <a:off x="43434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3" name="Rectangle 132"/>
          <p:cNvSpPr/>
          <p:nvPr/>
        </p:nvSpPr>
        <p:spPr>
          <a:xfrm>
            <a:off x="51663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5" name="Rectangle 134"/>
          <p:cNvSpPr/>
          <p:nvPr/>
        </p:nvSpPr>
        <p:spPr>
          <a:xfrm>
            <a:off x="59893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7" name="Rectangle 136"/>
          <p:cNvSpPr/>
          <p:nvPr/>
        </p:nvSpPr>
        <p:spPr>
          <a:xfrm>
            <a:off x="68122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9" name="Rectangle 138"/>
          <p:cNvSpPr/>
          <p:nvPr/>
        </p:nvSpPr>
        <p:spPr>
          <a:xfrm>
            <a:off x="76352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1" name="Rectangle 140"/>
          <p:cNvSpPr/>
          <p:nvPr/>
        </p:nvSpPr>
        <p:spPr>
          <a:xfrm>
            <a:off x="84582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3" name="Rectangle 142"/>
          <p:cNvSpPr/>
          <p:nvPr/>
        </p:nvSpPr>
        <p:spPr>
          <a:xfrm>
            <a:off x="92811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5" name="Rectangle 144"/>
          <p:cNvSpPr/>
          <p:nvPr/>
        </p:nvSpPr>
        <p:spPr>
          <a:xfrm>
            <a:off x="101041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7" name="Rectangle 146"/>
          <p:cNvSpPr/>
          <p:nvPr/>
        </p:nvSpPr>
        <p:spPr>
          <a:xfrm>
            <a:off x="109270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9" name="Rectangle 148"/>
          <p:cNvSpPr/>
          <p:nvPr/>
        </p:nvSpPr>
        <p:spPr>
          <a:xfrm>
            <a:off x="320040" y="28498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28498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51" name="Rectangle 150"/>
          <p:cNvSpPr/>
          <p:nvPr/>
        </p:nvSpPr>
        <p:spPr>
          <a:xfrm>
            <a:off x="26974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53" name="Rectangle 152"/>
          <p:cNvSpPr/>
          <p:nvPr/>
        </p:nvSpPr>
        <p:spPr>
          <a:xfrm>
            <a:off x="35204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55" name="Rectangle 154"/>
          <p:cNvSpPr/>
          <p:nvPr/>
        </p:nvSpPr>
        <p:spPr>
          <a:xfrm>
            <a:off x="43434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57" name="Rectangle 156"/>
          <p:cNvSpPr/>
          <p:nvPr/>
        </p:nvSpPr>
        <p:spPr>
          <a:xfrm>
            <a:off x="51663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59" name="Rectangle 158"/>
          <p:cNvSpPr/>
          <p:nvPr/>
        </p:nvSpPr>
        <p:spPr>
          <a:xfrm>
            <a:off x="59893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61" name="Rectangle 160"/>
          <p:cNvSpPr/>
          <p:nvPr/>
        </p:nvSpPr>
        <p:spPr>
          <a:xfrm>
            <a:off x="68122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63" name="Rectangle 162"/>
          <p:cNvSpPr/>
          <p:nvPr/>
        </p:nvSpPr>
        <p:spPr>
          <a:xfrm>
            <a:off x="76352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65" name="Rectangle 164"/>
          <p:cNvSpPr/>
          <p:nvPr/>
        </p:nvSpPr>
        <p:spPr>
          <a:xfrm>
            <a:off x="84582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67" name="Rectangle 166"/>
          <p:cNvSpPr/>
          <p:nvPr/>
        </p:nvSpPr>
        <p:spPr>
          <a:xfrm>
            <a:off x="92811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69" name="Rectangle 168"/>
          <p:cNvSpPr/>
          <p:nvPr/>
        </p:nvSpPr>
        <p:spPr>
          <a:xfrm>
            <a:off x="101041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71" name="Rectangle 170"/>
          <p:cNvSpPr/>
          <p:nvPr/>
        </p:nvSpPr>
        <p:spPr>
          <a:xfrm>
            <a:off x="109270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73" name="Rectangle 172"/>
          <p:cNvSpPr/>
          <p:nvPr/>
        </p:nvSpPr>
        <p:spPr>
          <a:xfrm>
            <a:off x="320040" y="31343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13435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75" name="Rectangle 174"/>
          <p:cNvSpPr/>
          <p:nvPr/>
        </p:nvSpPr>
        <p:spPr>
          <a:xfrm>
            <a:off x="26974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77" name="Rectangle 176"/>
          <p:cNvSpPr/>
          <p:nvPr/>
        </p:nvSpPr>
        <p:spPr>
          <a:xfrm>
            <a:off x="35204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179" name="Rectangle 178"/>
          <p:cNvSpPr/>
          <p:nvPr/>
        </p:nvSpPr>
        <p:spPr>
          <a:xfrm>
            <a:off x="43434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181" name="Rectangle 180"/>
          <p:cNvSpPr/>
          <p:nvPr/>
        </p:nvSpPr>
        <p:spPr>
          <a:xfrm>
            <a:off x="51663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183" name="Rectangle 182"/>
          <p:cNvSpPr/>
          <p:nvPr/>
        </p:nvSpPr>
        <p:spPr>
          <a:xfrm>
            <a:off x="59893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185" name="Rectangle 184"/>
          <p:cNvSpPr/>
          <p:nvPr/>
        </p:nvSpPr>
        <p:spPr>
          <a:xfrm>
            <a:off x="68122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187" name="Rectangle 186"/>
          <p:cNvSpPr/>
          <p:nvPr/>
        </p:nvSpPr>
        <p:spPr>
          <a:xfrm>
            <a:off x="76352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89" name="Rectangle 188"/>
          <p:cNvSpPr/>
          <p:nvPr/>
        </p:nvSpPr>
        <p:spPr>
          <a:xfrm>
            <a:off x="84582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91" name="Rectangle 190"/>
          <p:cNvSpPr/>
          <p:nvPr/>
        </p:nvSpPr>
        <p:spPr>
          <a:xfrm>
            <a:off x="92811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93" name="Rectangle 192"/>
          <p:cNvSpPr/>
          <p:nvPr/>
        </p:nvSpPr>
        <p:spPr>
          <a:xfrm>
            <a:off x="101041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95" name="Rectangle 194"/>
          <p:cNvSpPr/>
          <p:nvPr/>
        </p:nvSpPr>
        <p:spPr>
          <a:xfrm>
            <a:off x="109270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97" name="Rectangle 196"/>
          <p:cNvSpPr/>
          <p:nvPr/>
        </p:nvSpPr>
        <p:spPr>
          <a:xfrm>
            <a:off x="320040" y="34188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4188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99" name="Rectangle 198"/>
          <p:cNvSpPr/>
          <p:nvPr/>
        </p:nvSpPr>
        <p:spPr>
          <a:xfrm>
            <a:off x="26974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3" name="Rectangle 202"/>
          <p:cNvSpPr/>
          <p:nvPr/>
        </p:nvSpPr>
        <p:spPr>
          <a:xfrm>
            <a:off x="43434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5" name="Rectangle 204"/>
          <p:cNvSpPr/>
          <p:nvPr/>
        </p:nvSpPr>
        <p:spPr>
          <a:xfrm>
            <a:off x="51663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7" name="Rectangle 206"/>
          <p:cNvSpPr/>
          <p:nvPr/>
        </p:nvSpPr>
        <p:spPr>
          <a:xfrm>
            <a:off x="59893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209" name="Rectangle 208"/>
          <p:cNvSpPr/>
          <p:nvPr/>
        </p:nvSpPr>
        <p:spPr>
          <a:xfrm>
            <a:off x="68122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211" name="Rectangle 210"/>
          <p:cNvSpPr/>
          <p:nvPr/>
        </p:nvSpPr>
        <p:spPr>
          <a:xfrm>
            <a:off x="76352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213" name="Rectangle 212"/>
          <p:cNvSpPr/>
          <p:nvPr/>
        </p:nvSpPr>
        <p:spPr>
          <a:xfrm>
            <a:off x="84582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215" name="Rectangle 214"/>
          <p:cNvSpPr/>
          <p:nvPr/>
        </p:nvSpPr>
        <p:spPr>
          <a:xfrm>
            <a:off x="92811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217" name="Rectangle 216"/>
          <p:cNvSpPr/>
          <p:nvPr/>
        </p:nvSpPr>
        <p:spPr>
          <a:xfrm>
            <a:off x="101041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219" name="Rectangle 218"/>
          <p:cNvSpPr/>
          <p:nvPr/>
        </p:nvSpPr>
        <p:spPr>
          <a:xfrm>
            <a:off x="109270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221" name="Rectangle 220"/>
          <p:cNvSpPr/>
          <p:nvPr/>
        </p:nvSpPr>
        <p:spPr>
          <a:xfrm>
            <a:off x="320040" y="37033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70331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223" name="Rectangle 222"/>
          <p:cNvSpPr/>
          <p:nvPr/>
        </p:nvSpPr>
        <p:spPr>
          <a:xfrm>
            <a:off x="26974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25" name="Rectangle 224"/>
          <p:cNvSpPr/>
          <p:nvPr/>
        </p:nvSpPr>
        <p:spPr>
          <a:xfrm>
            <a:off x="35204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27" name="Rectangle 226"/>
          <p:cNvSpPr/>
          <p:nvPr/>
        </p:nvSpPr>
        <p:spPr>
          <a:xfrm>
            <a:off x="43434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29" name="Rectangle 228"/>
          <p:cNvSpPr/>
          <p:nvPr/>
        </p:nvSpPr>
        <p:spPr>
          <a:xfrm>
            <a:off x="51663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31" name="Rectangle 230"/>
          <p:cNvSpPr/>
          <p:nvPr/>
        </p:nvSpPr>
        <p:spPr>
          <a:xfrm>
            <a:off x="59893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233" name="Rectangle 232"/>
          <p:cNvSpPr/>
          <p:nvPr/>
        </p:nvSpPr>
        <p:spPr>
          <a:xfrm>
            <a:off x="68122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235" name="Rectangle 234"/>
          <p:cNvSpPr/>
          <p:nvPr/>
        </p:nvSpPr>
        <p:spPr>
          <a:xfrm>
            <a:off x="76352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37" name="Rectangle 236"/>
          <p:cNvSpPr/>
          <p:nvPr/>
        </p:nvSpPr>
        <p:spPr>
          <a:xfrm>
            <a:off x="84582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39" name="Rectangle 238"/>
          <p:cNvSpPr/>
          <p:nvPr/>
        </p:nvSpPr>
        <p:spPr>
          <a:xfrm>
            <a:off x="92811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41" name="Rectangle 240"/>
          <p:cNvSpPr/>
          <p:nvPr/>
        </p:nvSpPr>
        <p:spPr>
          <a:xfrm>
            <a:off x="101041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43" name="Rectangle 242"/>
          <p:cNvSpPr/>
          <p:nvPr/>
        </p:nvSpPr>
        <p:spPr>
          <a:xfrm>
            <a:off x="109270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45" name="Rectangle 244"/>
          <p:cNvSpPr/>
          <p:nvPr/>
        </p:nvSpPr>
        <p:spPr>
          <a:xfrm>
            <a:off x="320040" y="39877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39877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47" name="Rectangle 246"/>
          <p:cNvSpPr/>
          <p:nvPr/>
        </p:nvSpPr>
        <p:spPr>
          <a:xfrm>
            <a:off x="26974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1" name="Rectangle 250"/>
          <p:cNvSpPr/>
          <p:nvPr/>
        </p:nvSpPr>
        <p:spPr>
          <a:xfrm>
            <a:off x="43434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3" name="Rectangle 252"/>
          <p:cNvSpPr/>
          <p:nvPr/>
        </p:nvSpPr>
        <p:spPr>
          <a:xfrm>
            <a:off x="51663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5" name="Rectangle 254"/>
          <p:cNvSpPr/>
          <p:nvPr/>
        </p:nvSpPr>
        <p:spPr>
          <a:xfrm>
            <a:off x="59893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7" name="Rectangle 256"/>
          <p:cNvSpPr/>
          <p:nvPr/>
        </p:nvSpPr>
        <p:spPr>
          <a:xfrm>
            <a:off x="68122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9" name="Rectangle 258"/>
          <p:cNvSpPr/>
          <p:nvPr/>
        </p:nvSpPr>
        <p:spPr>
          <a:xfrm>
            <a:off x="76352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1" name="Rectangle 260"/>
          <p:cNvSpPr/>
          <p:nvPr/>
        </p:nvSpPr>
        <p:spPr>
          <a:xfrm>
            <a:off x="84582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3" name="Rectangle 262"/>
          <p:cNvSpPr/>
          <p:nvPr/>
        </p:nvSpPr>
        <p:spPr>
          <a:xfrm>
            <a:off x="92811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5" name="Rectangle 264"/>
          <p:cNvSpPr/>
          <p:nvPr/>
        </p:nvSpPr>
        <p:spPr>
          <a:xfrm>
            <a:off x="101041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7" name="Rectangle 266"/>
          <p:cNvSpPr/>
          <p:nvPr/>
        </p:nvSpPr>
        <p:spPr>
          <a:xfrm>
            <a:off x="109270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9" name="Rectangle 268"/>
          <p:cNvSpPr/>
          <p:nvPr/>
        </p:nvSpPr>
        <p:spPr>
          <a:xfrm>
            <a:off x="320040" y="42722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2722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71" name="Rectangle 270"/>
          <p:cNvSpPr/>
          <p:nvPr/>
        </p:nvSpPr>
        <p:spPr>
          <a:xfrm>
            <a:off x="26974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3" name="Rectangle 272"/>
          <p:cNvSpPr/>
          <p:nvPr/>
        </p:nvSpPr>
        <p:spPr>
          <a:xfrm>
            <a:off x="35204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93" name="Rectangle 292"/>
          <p:cNvSpPr/>
          <p:nvPr/>
        </p:nvSpPr>
        <p:spPr>
          <a:xfrm>
            <a:off x="320040" y="45567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5567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Préstamo bancario</a:t>
            </a:r>
          </a:p>
        </p:txBody>
      </p:sp>
      <p:sp>
        <p:nvSpPr>
          <p:cNvPr id="295" name="Rectangle 294"/>
          <p:cNvSpPr/>
          <p:nvPr/>
        </p:nvSpPr>
        <p:spPr>
          <a:xfrm>
            <a:off x="26974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297" name="Rectangle 296"/>
          <p:cNvSpPr/>
          <p:nvPr/>
        </p:nvSpPr>
        <p:spPr>
          <a:xfrm>
            <a:off x="35204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1" name="Rectangle 300"/>
          <p:cNvSpPr/>
          <p:nvPr/>
        </p:nvSpPr>
        <p:spPr>
          <a:xfrm>
            <a:off x="51663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3" name="Rectangle 302"/>
          <p:cNvSpPr/>
          <p:nvPr/>
        </p:nvSpPr>
        <p:spPr>
          <a:xfrm>
            <a:off x="59893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5" name="Rectangle 304"/>
          <p:cNvSpPr/>
          <p:nvPr/>
        </p:nvSpPr>
        <p:spPr>
          <a:xfrm>
            <a:off x="68122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7" name="Rectangle 306"/>
          <p:cNvSpPr/>
          <p:nvPr/>
        </p:nvSpPr>
        <p:spPr>
          <a:xfrm>
            <a:off x="76352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9" name="Rectangle 308"/>
          <p:cNvSpPr/>
          <p:nvPr/>
        </p:nvSpPr>
        <p:spPr>
          <a:xfrm>
            <a:off x="84582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1" name="Rectangle 310"/>
          <p:cNvSpPr/>
          <p:nvPr/>
        </p:nvSpPr>
        <p:spPr>
          <a:xfrm>
            <a:off x="92811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3" name="Rectangle 312"/>
          <p:cNvSpPr/>
          <p:nvPr/>
        </p:nvSpPr>
        <p:spPr>
          <a:xfrm>
            <a:off x="101041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5" name="Rectangle 314"/>
          <p:cNvSpPr/>
          <p:nvPr/>
        </p:nvSpPr>
        <p:spPr>
          <a:xfrm>
            <a:off x="109270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7" name="Rectangle 316"/>
          <p:cNvSpPr/>
          <p:nvPr/>
        </p:nvSpPr>
        <p:spPr>
          <a:xfrm>
            <a:off x="320040" y="48412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48412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319" name="Rectangle 318"/>
          <p:cNvSpPr/>
          <p:nvPr/>
        </p:nvSpPr>
        <p:spPr>
          <a:xfrm>
            <a:off x="26974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321" name="Rectangle 320"/>
          <p:cNvSpPr/>
          <p:nvPr/>
        </p:nvSpPr>
        <p:spPr>
          <a:xfrm>
            <a:off x="35204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3" name="Rectangle 322"/>
          <p:cNvSpPr/>
          <p:nvPr/>
        </p:nvSpPr>
        <p:spPr>
          <a:xfrm>
            <a:off x="43434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5" name="Rectangle 324"/>
          <p:cNvSpPr/>
          <p:nvPr/>
        </p:nvSpPr>
        <p:spPr>
          <a:xfrm>
            <a:off x="51663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7" name="Rectangle 326"/>
          <p:cNvSpPr/>
          <p:nvPr/>
        </p:nvSpPr>
        <p:spPr>
          <a:xfrm>
            <a:off x="59893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9" name="Rectangle 328"/>
          <p:cNvSpPr/>
          <p:nvPr/>
        </p:nvSpPr>
        <p:spPr>
          <a:xfrm>
            <a:off x="68122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1" name="Rectangle 330"/>
          <p:cNvSpPr/>
          <p:nvPr/>
        </p:nvSpPr>
        <p:spPr>
          <a:xfrm>
            <a:off x="76352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3" name="Rectangle 332"/>
          <p:cNvSpPr/>
          <p:nvPr/>
        </p:nvSpPr>
        <p:spPr>
          <a:xfrm>
            <a:off x="84582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5" name="Rectangle 334"/>
          <p:cNvSpPr/>
          <p:nvPr/>
        </p:nvSpPr>
        <p:spPr>
          <a:xfrm>
            <a:off x="92811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7" name="Rectangle 336"/>
          <p:cNvSpPr/>
          <p:nvPr/>
        </p:nvSpPr>
        <p:spPr>
          <a:xfrm>
            <a:off x="101041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9" name="Rectangle 338"/>
          <p:cNvSpPr/>
          <p:nvPr/>
        </p:nvSpPr>
        <p:spPr>
          <a:xfrm>
            <a:off x="109270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1" name="Rectangle 340"/>
          <p:cNvSpPr/>
          <p:nvPr/>
        </p:nvSpPr>
        <p:spPr>
          <a:xfrm>
            <a:off x="320040" y="51257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12571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343" name="Rectangle 342"/>
          <p:cNvSpPr/>
          <p:nvPr/>
        </p:nvSpPr>
        <p:spPr>
          <a:xfrm>
            <a:off x="26974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345" name="Rectangle 344"/>
          <p:cNvSpPr/>
          <p:nvPr/>
        </p:nvSpPr>
        <p:spPr>
          <a:xfrm>
            <a:off x="35204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7" name="Rectangle 346"/>
          <p:cNvSpPr/>
          <p:nvPr/>
        </p:nvSpPr>
        <p:spPr>
          <a:xfrm>
            <a:off x="43434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49" name="Rectangle 348"/>
          <p:cNvSpPr/>
          <p:nvPr/>
        </p:nvSpPr>
        <p:spPr>
          <a:xfrm>
            <a:off x="51663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51" name="Rectangle 350"/>
          <p:cNvSpPr/>
          <p:nvPr/>
        </p:nvSpPr>
        <p:spPr>
          <a:xfrm>
            <a:off x="59893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53" name="Rectangle 352"/>
          <p:cNvSpPr/>
          <p:nvPr/>
        </p:nvSpPr>
        <p:spPr>
          <a:xfrm>
            <a:off x="68122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55" name="Rectangle 354"/>
          <p:cNvSpPr/>
          <p:nvPr/>
        </p:nvSpPr>
        <p:spPr>
          <a:xfrm>
            <a:off x="76352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57" name="Rectangle 356"/>
          <p:cNvSpPr/>
          <p:nvPr/>
        </p:nvSpPr>
        <p:spPr>
          <a:xfrm>
            <a:off x="84582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59" name="Rectangle 358"/>
          <p:cNvSpPr/>
          <p:nvPr/>
        </p:nvSpPr>
        <p:spPr>
          <a:xfrm>
            <a:off x="92811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61" name="Rectangle 360"/>
          <p:cNvSpPr/>
          <p:nvPr/>
        </p:nvSpPr>
        <p:spPr>
          <a:xfrm>
            <a:off x="101041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63" name="Rectangle 362"/>
          <p:cNvSpPr/>
          <p:nvPr/>
        </p:nvSpPr>
        <p:spPr>
          <a:xfrm>
            <a:off x="109270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65" name="Rectangle 364"/>
          <p:cNvSpPr/>
          <p:nvPr/>
        </p:nvSpPr>
        <p:spPr>
          <a:xfrm>
            <a:off x="320040" y="54101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TextBox 365"/>
          <p:cNvSpPr txBox="1"/>
          <p:nvPr/>
        </p:nvSpPr>
        <p:spPr>
          <a:xfrm>
            <a:off x="338328" y="54101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Abono a capital</a:t>
            </a:r>
          </a:p>
        </p:txBody>
      </p:sp>
      <p:sp>
        <p:nvSpPr>
          <p:cNvPr id="367" name="Rectangle 366"/>
          <p:cNvSpPr/>
          <p:nvPr/>
        </p:nvSpPr>
        <p:spPr>
          <a:xfrm>
            <a:off x="26974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TextBox 367"/>
          <p:cNvSpPr txBox="1"/>
          <p:nvPr/>
        </p:nvSpPr>
        <p:spPr>
          <a:xfrm>
            <a:off x="27157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69" name="Rectangle 368"/>
          <p:cNvSpPr/>
          <p:nvPr/>
        </p:nvSpPr>
        <p:spPr>
          <a:xfrm>
            <a:off x="35204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TextBox 369"/>
          <p:cNvSpPr txBox="1"/>
          <p:nvPr/>
        </p:nvSpPr>
        <p:spPr>
          <a:xfrm>
            <a:off x="35387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134,949</a:t>
            </a:r>
          </a:p>
        </p:txBody>
      </p:sp>
      <p:sp>
        <p:nvSpPr>
          <p:cNvPr id="371" name="Rectangle 370"/>
          <p:cNvSpPr/>
          <p:nvPr/>
        </p:nvSpPr>
        <p:spPr>
          <a:xfrm>
            <a:off x="43434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TextBox 371"/>
          <p:cNvSpPr txBox="1"/>
          <p:nvPr/>
        </p:nvSpPr>
        <p:spPr>
          <a:xfrm>
            <a:off x="43616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153,842</a:t>
            </a:r>
          </a:p>
        </p:txBody>
      </p:sp>
      <p:sp>
        <p:nvSpPr>
          <p:cNvPr id="373" name="Rectangle 372"/>
          <p:cNvSpPr/>
          <p:nvPr/>
        </p:nvSpPr>
        <p:spPr>
          <a:xfrm>
            <a:off x="51663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TextBox 373"/>
          <p:cNvSpPr txBox="1"/>
          <p:nvPr/>
        </p:nvSpPr>
        <p:spPr>
          <a:xfrm>
            <a:off x="51846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175,380</a:t>
            </a:r>
          </a:p>
        </p:txBody>
      </p:sp>
      <p:sp>
        <p:nvSpPr>
          <p:cNvPr id="375" name="Rectangle 374"/>
          <p:cNvSpPr/>
          <p:nvPr/>
        </p:nvSpPr>
        <p:spPr>
          <a:xfrm>
            <a:off x="59893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TextBox 375"/>
          <p:cNvSpPr txBox="1"/>
          <p:nvPr/>
        </p:nvSpPr>
        <p:spPr>
          <a:xfrm>
            <a:off x="60076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199,933</a:t>
            </a:r>
          </a:p>
        </p:txBody>
      </p:sp>
      <p:sp>
        <p:nvSpPr>
          <p:cNvPr id="377" name="Rectangle 376"/>
          <p:cNvSpPr/>
          <p:nvPr/>
        </p:nvSpPr>
        <p:spPr>
          <a:xfrm>
            <a:off x="68122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TextBox 377"/>
          <p:cNvSpPr txBox="1"/>
          <p:nvPr/>
        </p:nvSpPr>
        <p:spPr>
          <a:xfrm>
            <a:off x="68305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379" name="Rectangle 378"/>
          <p:cNvSpPr/>
          <p:nvPr/>
        </p:nvSpPr>
        <p:spPr>
          <a:xfrm>
            <a:off x="76352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TextBox 379"/>
          <p:cNvSpPr txBox="1"/>
          <p:nvPr/>
        </p:nvSpPr>
        <p:spPr>
          <a:xfrm>
            <a:off x="76535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1" name="Rectangle 380"/>
          <p:cNvSpPr/>
          <p:nvPr/>
        </p:nvSpPr>
        <p:spPr>
          <a:xfrm>
            <a:off x="84582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TextBox 381"/>
          <p:cNvSpPr txBox="1"/>
          <p:nvPr/>
        </p:nvSpPr>
        <p:spPr>
          <a:xfrm>
            <a:off x="84764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3" name="Rectangle 382"/>
          <p:cNvSpPr/>
          <p:nvPr/>
        </p:nvSpPr>
        <p:spPr>
          <a:xfrm>
            <a:off x="92811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TextBox 383"/>
          <p:cNvSpPr txBox="1"/>
          <p:nvPr/>
        </p:nvSpPr>
        <p:spPr>
          <a:xfrm>
            <a:off x="92994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5" name="Rectangle 384"/>
          <p:cNvSpPr/>
          <p:nvPr/>
        </p:nvSpPr>
        <p:spPr>
          <a:xfrm>
            <a:off x="101041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TextBox 385"/>
          <p:cNvSpPr txBox="1"/>
          <p:nvPr/>
        </p:nvSpPr>
        <p:spPr>
          <a:xfrm>
            <a:off x="101224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7" name="Rectangle 386"/>
          <p:cNvSpPr/>
          <p:nvPr/>
        </p:nvSpPr>
        <p:spPr>
          <a:xfrm>
            <a:off x="109270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TextBox 387"/>
          <p:cNvSpPr txBox="1"/>
          <p:nvPr/>
        </p:nvSpPr>
        <p:spPr>
          <a:xfrm>
            <a:off x="109453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9" name="Rectangle 388"/>
          <p:cNvSpPr/>
          <p:nvPr/>
        </p:nvSpPr>
        <p:spPr>
          <a:xfrm>
            <a:off x="320040" y="5694679"/>
            <a:ext cx="237744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TextBox 389"/>
          <p:cNvSpPr txBox="1"/>
          <p:nvPr/>
        </p:nvSpPr>
        <p:spPr>
          <a:xfrm>
            <a:off x="338328" y="569467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91" name="Rectangle 390"/>
          <p:cNvSpPr/>
          <p:nvPr/>
        </p:nvSpPr>
        <p:spPr>
          <a:xfrm>
            <a:off x="26974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TextBox 391"/>
          <p:cNvSpPr txBox="1"/>
          <p:nvPr/>
        </p:nvSpPr>
        <p:spPr>
          <a:xfrm>
            <a:off x="27157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−892,029</a:t>
            </a:r>
          </a:p>
        </p:txBody>
      </p:sp>
      <p:sp>
        <p:nvSpPr>
          <p:cNvPr id="393" name="Rectangle 392"/>
          <p:cNvSpPr/>
          <p:nvPr/>
        </p:nvSpPr>
        <p:spPr>
          <a:xfrm>
            <a:off x="35204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TextBox 393"/>
          <p:cNvSpPr txBox="1"/>
          <p:nvPr/>
        </p:nvSpPr>
        <p:spPr>
          <a:xfrm>
            <a:off x="35387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−993,690</a:t>
            </a:r>
          </a:p>
        </p:txBody>
      </p:sp>
      <p:sp>
        <p:nvSpPr>
          <p:cNvPr id="395" name="Rectangle 394"/>
          <p:cNvSpPr/>
          <p:nvPr/>
        </p:nvSpPr>
        <p:spPr>
          <a:xfrm>
            <a:off x="43434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TextBox 395"/>
          <p:cNvSpPr txBox="1"/>
          <p:nvPr/>
        </p:nvSpPr>
        <p:spPr>
          <a:xfrm>
            <a:off x="43616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−224,128</a:t>
            </a:r>
          </a:p>
        </p:txBody>
      </p:sp>
      <p:sp>
        <p:nvSpPr>
          <p:cNvPr id="397" name="Rectangle 396"/>
          <p:cNvSpPr/>
          <p:nvPr/>
        </p:nvSpPr>
        <p:spPr>
          <a:xfrm>
            <a:off x="51663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TextBox 397"/>
          <p:cNvSpPr txBox="1"/>
          <p:nvPr/>
        </p:nvSpPr>
        <p:spPr>
          <a:xfrm>
            <a:off x="51846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943,428</a:t>
            </a:r>
          </a:p>
        </p:txBody>
      </p:sp>
      <p:sp>
        <p:nvSpPr>
          <p:cNvPr id="399" name="Rectangle 398"/>
          <p:cNvSpPr/>
          <p:nvPr/>
        </p:nvSpPr>
        <p:spPr>
          <a:xfrm>
            <a:off x="59893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TextBox 399"/>
          <p:cNvSpPr txBox="1"/>
          <p:nvPr/>
        </p:nvSpPr>
        <p:spPr>
          <a:xfrm>
            <a:off x="60076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1,769,181</a:t>
            </a:r>
          </a:p>
        </p:txBody>
      </p:sp>
      <p:sp>
        <p:nvSpPr>
          <p:cNvPr id="401" name="Rectangle 400"/>
          <p:cNvSpPr/>
          <p:nvPr/>
        </p:nvSpPr>
        <p:spPr>
          <a:xfrm>
            <a:off x="68122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TextBox 401"/>
          <p:cNvSpPr txBox="1"/>
          <p:nvPr/>
        </p:nvSpPr>
        <p:spPr>
          <a:xfrm>
            <a:off x="68305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3,040,382</a:t>
            </a:r>
          </a:p>
        </p:txBody>
      </p:sp>
      <p:sp>
        <p:nvSpPr>
          <p:cNvPr id="403" name="Rectangle 402"/>
          <p:cNvSpPr/>
          <p:nvPr/>
        </p:nvSpPr>
        <p:spPr>
          <a:xfrm>
            <a:off x="76352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TextBox 403"/>
          <p:cNvSpPr txBox="1"/>
          <p:nvPr/>
        </p:nvSpPr>
        <p:spPr>
          <a:xfrm>
            <a:off x="76535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405" name="Rectangle 404"/>
          <p:cNvSpPr/>
          <p:nvPr/>
        </p:nvSpPr>
        <p:spPr>
          <a:xfrm>
            <a:off x="84582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TextBox 405"/>
          <p:cNvSpPr txBox="1"/>
          <p:nvPr/>
        </p:nvSpPr>
        <p:spPr>
          <a:xfrm>
            <a:off x="84764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407" name="Rectangle 406"/>
          <p:cNvSpPr/>
          <p:nvPr/>
        </p:nvSpPr>
        <p:spPr>
          <a:xfrm>
            <a:off x="92811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TextBox 407"/>
          <p:cNvSpPr txBox="1"/>
          <p:nvPr/>
        </p:nvSpPr>
        <p:spPr>
          <a:xfrm>
            <a:off x="92994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409" name="Rectangle 408"/>
          <p:cNvSpPr/>
          <p:nvPr/>
        </p:nvSpPr>
        <p:spPr>
          <a:xfrm>
            <a:off x="101041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TextBox 409"/>
          <p:cNvSpPr txBox="1"/>
          <p:nvPr/>
        </p:nvSpPr>
        <p:spPr>
          <a:xfrm>
            <a:off x="101224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411" name="Rectangle 410"/>
          <p:cNvSpPr/>
          <p:nvPr/>
        </p:nvSpPr>
        <p:spPr>
          <a:xfrm>
            <a:off x="109270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TextBox 411"/>
          <p:cNvSpPr txBox="1"/>
          <p:nvPr/>
        </p:nvSpPr>
        <p:spPr>
          <a:xfrm>
            <a:off x="109453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413" name="Rectangle 412"/>
          <p:cNvSpPr/>
          <p:nvPr/>
        </p:nvSpPr>
        <p:spPr>
          <a:xfrm>
            <a:off x="320040" y="59791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TextBox 413"/>
          <p:cNvSpPr txBox="1"/>
          <p:nvPr/>
        </p:nvSpPr>
        <p:spPr>
          <a:xfrm>
            <a:off x="338328" y="59791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415" name="Rectangle 414"/>
          <p:cNvSpPr/>
          <p:nvPr/>
        </p:nvSpPr>
        <p:spPr>
          <a:xfrm>
            <a:off x="26974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TextBox 415"/>
          <p:cNvSpPr txBox="1"/>
          <p:nvPr/>
        </p:nvSpPr>
        <p:spPr>
          <a:xfrm>
            <a:off x="27157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417" name="Rectangle 416"/>
          <p:cNvSpPr/>
          <p:nvPr/>
        </p:nvSpPr>
        <p:spPr>
          <a:xfrm>
            <a:off x="35204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TextBox 417"/>
          <p:cNvSpPr txBox="1"/>
          <p:nvPr/>
        </p:nvSpPr>
        <p:spPr>
          <a:xfrm>
            <a:off x="35387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−1,885,719</a:t>
            </a:r>
          </a:p>
        </p:txBody>
      </p:sp>
      <p:sp>
        <p:nvSpPr>
          <p:cNvPr id="419" name="Rectangle 418"/>
          <p:cNvSpPr/>
          <p:nvPr/>
        </p:nvSpPr>
        <p:spPr>
          <a:xfrm>
            <a:off x="43434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TextBox 419"/>
          <p:cNvSpPr txBox="1"/>
          <p:nvPr/>
        </p:nvSpPr>
        <p:spPr>
          <a:xfrm>
            <a:off x="43616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−2,109,848</a:t>
            </a:r>
          </a:p>
        </p:txBody>
      </p:sp>
      <p:sp>
        <p:nvSpPr>
          <p:cNvPr id="421" name="Rectangle 420"/>
          <p:cNvSpPr/>
          <p:nvPr/>
        </p:nvSpPr>
        <p:spPr>
          <a:xfrm>
            <a:off x="51663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TextBox 421"/>
          <p:cNvSpPr txBox="1"/>
          <p:nvPr/>
        </p:nvSpPr>
        <p:spPr>
          <a:xfrm>
            <a:off x="51846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−1,166,420</a:t>
            </a:r>
          </a:p>
        </p:txBody>
      </p:sp>
      <p:sp>
        <p:nvSpPr>
          <p:cNvPr id="423" name="Rectangle 422"/>
          <p:cNvSpPr/>
          <p:nvPr/>
        </p:nvSpPr>
        <p:spPr>
          <a:xfrm>
            <a:off x="59893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TextBox 423"/>
          <p:cNvSpPr txBox="1"/>
          <p:nvPr/>
        </p:nvSpPr>
        <p:spPr>
          <a:xfrm>
            <a:off x="60076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602,761</a:t>
            </a:r>
          </a:p>
        </p:txBody>
      </p:sp>
      <p:sp>
        <p:nvSpPr>
          <p:cNvPr id="425" name="Rectangle 424"/>
          <p:cNvSpPr/>
          <p:nvPr/>
        </p:nvSpPr>
        <p:spPr>
          <a:xfrm>
            <a:off x="68122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TextBox 425"/>
          <p:cNvSpPr txBox="1"/>
          <p:nvPr/>
        </p:nvSpPr>
        <p:spPr>
          <a:xfrm>
            <a:off x="68305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3,643,143</a:t>
            </a:r>
          </a:p>
        </p:txBody>
      </p:sp>
      <p:sp>
        <p:nvSpPr>
          <p:cNvPr id="427" name="Rectangle 426"/>
          <p:cNvSpPr/>
          <p:nvPr/>
        </p:nvSpPr>
        <p:spPr>
          <a:xfrm>
            <a:off x="76352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TextBox 427"/>
          <p:cNvSpPr txBox="1"/>
          <p:nvPr/>
        </p:nvSpPr>
        <p:spPr>
          <a:xfrm>
            <a:off x="76535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8,371,754</a:t>
            </a:r>
          </a:p>
        </p:txBody>
      </p:sp>
      <p:sp>
        <p:nvSpPr>
          <p:cNvPr id="429" name="Rectangle 428"/>
          <p:cNvSpPr/>
          <p:nvPr/>
        </p:nvSpPr>
        <p:spPr>
          <a:xfrm>
            <a:off x="84582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84764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14,868,146</a:t>
            </a:r>
          </a:p>
        </p:txBody>
      </p:sp>
      <p:sp>
        <p:nvSpPr>
          <p:cNvPr id="431" name="Rectangle 430"/>
          <p:cNvSpPr/>
          <p:nvPr/>
        </p:nvSpPr>
        <p:spPr>
          <a:xfrm>
            <a:off x="92811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TextBox 431"/>
          <p:cNvSpPr txBox="1"/>
          <p:nvPr/>
        </p:nvSpPr>
        <p:spPr>
          <a:xfrm>
            <a:off x="92994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23,313,066</a:t>
            </a:r>
          </a:p>
        </p:txBody>
      </p:sp>
      <p:sp>
        <p:nvSpPr>
          <p:cNvPr id="433" name="Rectangle 432"/>
          <p:cNvSpPr/>
          <p:nvPr/>
        </p:nvSpPr>
        <p:spPr>
          <a:xfrm>
            <a:off x="101041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TextBox 433"/>
          <p:cNvSpPr txBox="1"/>
          <p:nvPr/>
        </p:nvSpPr>
        <p:spPr>
          <a:xfrm>
            <a:off x="101224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34,053,438</a:t>
            </a:r>
          </a:p>
        </p:txBody>
      </p:sp>
      <p:sp>
        <p:nvSpPr>
          <p:cNvPr id="435" name="Rectangle 434"/>
          <p:cNvSpPr/>
          <p:nvPr/>
        </p:nvSpPr>
        <p:spPr>
          <a:xfrm>
            <a:off x="109270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TextBox 435"/>
          <p:cNvSpPr txBox="1"/>
          <p:nvPr/>
        </p:nvSpPr>
        <p:spPr>
          <a:xfrm>
            <a:off x="109453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437" name="TextBox 436"/>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27 de la tesis y modelo financiero (réplica verificada). Valores en lempiras redondeados; el acumulado se calcula con valores exactos.</a:t>
            </a:r>
          </a:p>
        </p:txBody>
      </p:sp>
      <p:sp>
        <p:nvSpPr>
          <p:cNvPr id="438" name="TextBox 43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Estado de Resultados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9" name="Rectangle 8"/>
          <p:cNvSpPr/>
          <p:nvPr/>
        </p:nvSpPr>
        <p:spPr>
          <a:xfrm>
            <a:off x="360273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2102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1" name="Rectangle 10"/>
          <p:cNvSpPr/>
          <p:nvPr/>
        </p:nvSpPr>
        <p:spPr>
          <a:xfrm>
            <a:off x="450799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2628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3" name="Rectangle 12"/>
          <p:cNvSpPr/>
          <p:nvPr/>
        </p:nvSpPr>
        <p:spPr>
          <a:xfrm>
            <a:off x="541324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153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5" name="Rectangle 14"/>
          <p:cNvSpPr/>
          <p:nvPr/>
        </p:nvSpPr>
        <p:spPr>
          <a:xfrm>
            <a:off x="631850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3679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7" name="Rectangle 16"/>
          <p:cNvSpPr/>
          <p:nvPr/>
        </p:nvSpPr>
        <p:spPr>
          <a:xfrm>
            <a:off x="722376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204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19" name="Rectangle 18"/>
          <p:cNvSpPr/>
          <p:nvPr/>
        </p:nvSpPr>
        <p:spPr>
          <a:xfrm>
            <a:off x="812901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4730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1" name="Rectangle 20"/>
          <p:cNvSpPr/>
          <p:nvPr/>
        </p:nvSpPr>
        <p:spPr>
          <a:xfrm>
            <a:off x="903427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3" name="Rectangle 22"/>
          <p:cNvSpPr/>
          <p:nvPr/>
        </p:nvSpPr>
        <p:spPr>
          <a:xfrm>
            <a:off x="993952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95781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5" name="Rectangle 24"/>
          <p:cNvSpPr/>
          <p:nvPr/>
        </p:nvSpPr>
        <p:spPr>
          <a:xfrm>
            <a:off x="1084478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6307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7" name="Rectangle 26"/>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Ingresos por ventas</a:t>
            </a:r>
          </a:p>
        </p:txBody>
      </p:sp>
      <p:sp>
        <p:nvSpPr>
          <p:cNvPr id="29" name="Rectangle 28"/>
          <p:cNvSpPr/>
          <p:nvPr/>
        </p:nvSpPr>
        <p:spPr>
          <a:xfrm>
            <a:off x="269748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71576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1" name="Rectangle 30"/>
          <p:cNvSpPr/>
          <p:nvPr/>
        </p:nvSpPr>
        <p:spPr>
          <a:xfrm>
            <a:off x="360273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2102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3" name="Rectangle 32"/>
          <p:cNvSpPr/>
          <p:nvPr/>
        </p:nvSpPr>
        <p:spPr>
          <a:xfrm>
            <a:off x="450799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2628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5" name="Rectangle 34"/>
          <p:cNvSpPr/>
          <p:nvPr/>
        </p:nvSpPr>
        <p:spPr>
          <a:xfrm>
            <a:off x="541324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3153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37" name="Rectangle 36"/>
          <p:cNvSpPr/>
          <p:nvPr/>
        </p:nvSpPr>
        <p:spPr>
          <a:xfrm>
            <a:off x="631850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3679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39" name="Rectangle 38"/>
          <p:cNvSpPr/>
          <p:nvPr/>
        </p:nvSpPr>
        <p:spPr>
          <a:xfrm>
            <a:off x="722376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1" name="Rectangle 40"/>
          <p:cNvSpPr/>
          <p:nvPr/>
        </p:nvSpPr>
        <p:spPr>
          <a:xfrm>
            <a:off x="812901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14730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3" name="Rectangle 42"/>
          <p:cNvSpPr/>
          <p:nvPr/>
        </p:nvSpPr>
        <p:spPr>
          <a:xfrm>
            <a:off x="903427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05256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5" name="Rectangle 44"/>
          <p:cNvSpPr/>
          <p:nvPr/>
        </p:nvSpPr>
        <p:spPr>
          <a:xfrm>
            <a:off x="993952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5781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47" name="Rectangle 46"/>
          <p:cNvSpPr/>
          <p:nvPr/>
        </p:nvSpPr>
        <p:spPr>
          <a:xfrm>
            <a:off x="1084478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86307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49" name="Rectangle 48"/>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Leche cruda</a:t>
            </a:r>
          </a:p>
        </p:txBody>
      </p:sp>
      <p:sp>
        <p:nvSpPr>
          <p:cNvPr id="51" name="Rectangle 50"/>
          <p:cNvSpPr/>
          <p:nvPr/>
        </p:nvSpPr>
        <p:spPr>
          <a:xfrm>
            <a:off x="269748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271576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1,512,557</a:t>
            </a:r>
          </a:p>
        </p:txBody>
      </p:sp>
      <p:sp>
        <p:nvSpPr>
          <p:cNvPr id="53" name="Rectangle 52"/>
          <p:cNvSpPr/>
          <p:nvPr/>
        </p:nvSpPr>
        <p:spPr>
          <a:xfrm>
            <a:off x="360273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62102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2,634,370</a:t>
            </a:r>
          </a:p>
        </p:txBody>
      </p:sp>
      <p:sp>
        <p:nvSpPr>
          <p:cNvPr id="55" name="Rectangle 54"/>
          <p:cNvSpPr/>
          <p:nvPr/>
        </p:nvSpPr>
        <p:spPr>
          <a:xfrm>
            <a:off x="450799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452628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4,129,374</a:t>
            </a:r>
          </a:p>
        </p:txBody>
      </p:sp>
      <p:sp>
        <p:nvSpPr>
          <p:cNvPr id="57" name="Rectangle 56"/>
          <p:cNvSpPr/>
          <p:nvPr/>
        </p:nvSpPr>
        <p:spPr>
          <a:xfrm>
            <a:off x="541324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43153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6,041,275</a:t>
            </a:r>
          </a:p>
        </p:txBody>
      </p:sp>
      <p:sp>
        <p:nvSpPr>
          <p:cNvPr id="59" name="Rectangle 58"/>
          <p:cNvSpPr/>
          <p:nvPr/>
        </p:nvSpPr>
        <p:spPr>
          <a:xfrm>
            <a:off x="631850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33679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8,417,509</a:t>
            </a:r>
          </a:p>
        </p:txBody>
      </p:sp>
      <p:sp>
        <p:nvSpPr>
          <p:cNvPr id="61" name="Rectangle 60"/>
          <p:cNvSpPr/>
          <p:nvPr/>
        </p:nvSpPr>
        <p:spPr>
          <a:xfrm>
            <a:off x="722376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24204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10,995,372</a:t>
            </a:r>
          </a:p>
        </p:txBody>
      </p:sp>
      <p:sp>
        <p:nvSpPr>
          <p:cNvPr id="63" name="Rectangle 62"/>
          <p:cNvSpPr/>
          <p:nvPr/>
        </p:nvSpPr>
        <p:spPr>
          <a:xfrm>
            <a:off x="812901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4730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14,116,486</a:t>
            </a:r>
          </a:p>
        </p:txBody>
      </p:sp>
      <p:sp>
        <p:nvSpPr>
          <p:cNvPr id="65" name="Rectangle 64"/>
          <p:cNvSpPr/>
          <p:nvPr/>
        </p:nvSpPr>
        <p:spPr>
          <a:xfrm>
            <a:off x="903427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05256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17,496,236</a:t>
            </a:r>
          </a:p>
        </p:txBody>
      </p:sp>
      <p:sp>
        <p:nvSpPr>
          <p:cNvPr id="67" name="Rectangle 66"/>
          <p:cNvSpPr/>
          <p:nvPr/>
        </p:nvSpPr>
        <p:spPr>
          <a:xfrm>
            <a:off x="993952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95781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21,510,078</a:t>
            </a:r>
          </a:p>
        </p:txBody>
      </p:sp>
      <p:sp>
        <p:nvSpPr>
          <p:cNvPr id="69" name="Rectangle 68"/>
          <p:cNvSpPr/>
          <p:nvPr/>
        </p:nvSpPr>
        <p:spPr>
          <a:xfrm>
            <a:off x="1084478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086307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25,849,736</a:t>
            </a:r>
          </a:p>
        </p:txBody>
      </p:sp>
      <p:sp>
        <p:nvSpPr>
          <p:cNvPr id="71" name="Rectangle 70"/>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Empaque y combustible</a:t>
            </a:r>
          </a:p>
        </p:txBody>
      </p:sp>
      <p:sp>
        <p:nvSpPr>
          <p:cNvPr id="73" name="Rectangle 72"/>
          <p:cNvSpPr/>
          <p:nvPr/>
        </p:nvSpPr>
        <p:spPr>
          <a:xfrm>
            <a:off x="269748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71576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195,624</a:t>
            </a:r>
          </a:p>
        </p:txBody>
      </p:sp>
      <p:sp>
        <p:nvSpPr>
          <p:cNvPr id="75" name="Rectangle 74"/>
          <p:cNvSpPr/>
          <p:nvPr/>
        </p:nvSpPr>
        <p:spPr>
          <a:xfrm>
            <a:off x="360273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62102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340,712</a:t>
            </a:r>
          </a:p>
        </p:txBody>
      </p:sp>
      <p:sp>
        <p:nvSpPr>
          <p:cNvPr id="77" name="Rectangle 76"/>
          <p:cNvSpPr/>
          <p:nvPr/>
        </p:nvSpPr>
        <p:spPr>
          <a:xfrm>
            <a:off x="450799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52628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534,066</a:t>
            </a:r>
          </a:p>
        </p:txBody>
      </p:sp>
      <p:sp>
        <p:nvSpPr>
          <p:cNvPr id="79" name="Rectangle 78"/>
          <p:cNvSpPr/>
          <p:nvPr/>
        </p:nvSpPr>
        <p:spPr>
          <a:xfrm>
            <a:off x="541324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543153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781,338</a:t>
            </a:r>
          </a:p>
        </p:txBody>
      </p:sp>
      <p:sp>
        <p:nvSpPr>
          <p:cNvPr id="81" name="Rectangle 80"/>
          <p:cNvSpPr/>
          <p:nvPr/>
        </p:nvSpPr>
        <p:spPr>
          <a:xfrm>
            <a:off x="631850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633679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1,088,665</a:t>
            </a:r>
          </a:p>
        </p:txBody>
      </p:sp>
      <p:sp>
        <p:nvSpPr>
          <p:cNvPr id="83" name="Rectangle 82"/>
          <p:cNvSpPr/>
          <p:nvPr/>
        </p:nvSpPr>
        <p:spPr>
          <a:xfrm>
            <a:off x="722376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724204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1,422,068</a:t>
            </a:r>
          </a:p>
        </p:txBody>
      </p:sp>
      <p:sp>
        <p:nvSpPr>
          <p:cNvPr id="85" name="Rectangle 84"/>
          <p:cNvSpPr/>
          <p:nvPr/>
        </p:nvSpPr>
        <p:spPr>
          <a:xfrm>
            <a:off x="812901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814730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1,825,732</a:t>
            </a:r>
          </a:p>
        </p:txBody>
      </p:sp>
      <p:sp>
        <p:nvSpPr>
          <p:cNvPr id="87" name="Rectangle 86"/>
          <p:cNvSpPr/>
          <p:nvPr/>
        </p:nvSpPr>
        <p:spPr>
          <a:xfrm>
            <a:off x="903427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05256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2,262,847</a:t>
            </a:r>
          </a:p>
        </p:txBody>
      </p:sp>
      <p:sp>
        <p:nvSpPr>
          <p:cNvPr id="89" name="Rectangle 88"/>
          <p:cNvSpPr/>
          <p:nvPr/>
        </p:nvSpPr>
        <p:spPr>
          <a:xfrm>
            <a:off x="993952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95781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2,781,970</a:t>
            </a:r>
          </a:p>
        </p:txBody>
      </p:sp>
      <p:sp>
        <p:nvSpPr>
          <p:cNvPr id="91" name="Rectangle 90"/>
          <p:cNvSpPr/>
          <p:nvPr/>
        </p:nvSpPr>
        <p:spPr>
          <a:xfrm>
            <a:off x="1084478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1086307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3,343,233</a:t>
            </a:r>
          </a:p>
        </p:txBody>
      </p:sp>
      <p:sp>
        <p:nvSpPr>
          <p:cNvPr id="93" name="Rectangle 92"/>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38328" y="2386584"/>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Margen de contribución</a:t>
            </a:r>
          </a:p>
        </p:txBody>
      </p:sp>
      <p:sp>
        <p:nvSpPr>
          <p:cNvPr id="95" name="Rectangle 94"/>
          <p:cNvSpPr/>
          <p:nvPr/>
        </p:nvSpPr>
        <p:spPr>
          <a:xfrm>
            <a:off x="269748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271576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1,315,819</a:t>
            </a:r>
          </a:p>
        </p:txBody>
      </p:sp>
      <p:sp>
        <p:nvSpPr>
          <p:cNvPr id="97" name="Rectangle 96"/>
          <p:cNvSpPr/>
          <p:nvPr/>
        </p:nvSpPr>
        <p:spPr>
          <a:xfrm>
            <a:off x="360273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362102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2,291,719</a:t>
            </a:r>
          </a:p>
        </p:txBody>
      </p:sp>
      <p:sp>
        <p:nvSpPr>
          <p:cNvPr id="99" name="Rectangle 98"/>
          <p:cNvSpPr/>
          <p:nvPr/>
        </p:nvSpPr>
        <p:spPr>
          <a:xfrm>
            <a:off x="450799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452628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3,592,269</a:t>
            </a:r>
          </a:p>
        </p:txBody>
      </p:sp>
      <p:sp>
        <p:nvSpPr>
          <p:cNvPr id="101" name="Rectangle 100"/>
          <p:cNvSpPr/>
          <p:nvPr/>
        </p:nvSpPr>
        <p:spPr>
          <a:xfrm>
            <a:off x="541324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543153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5,255,489</a:t>
            </a:r>
          </a:p>
        </p:txBody>
      </p:sp>
      <p:sp>
        <p:nvSpPr>
          <p:cNvPr id="103" name="Rectangle 102"/>
          <p:cNvSpPr/>
          <p:nvPr/>
        </p:nvSpPr>
        <p:spPr>
          <a:xfrm>
            <a:off x="631850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33679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7,322,649</a:t>
            </a:r>
          </a:p>
        </p:txBody>
      </p:sp>
      <p:sp>
        <p:nvSpPr>
          <p:cNvPr id="105" name="Rectangle 104"/>
          <p:cNvSpPr/>
          <p:nvPr/>
        </p:nvSpPr>
        <p:spPr>
          <a:xfrm>
            <a:off x="722376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724204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9,565,210</a:t>
            </a:r>
          </a:p>
        </p:txBody>
      </p:sp>
      <p:sp>
        <p:nvSpPr>
          <p:cNvPr id="107" name="Rectangle 106"/>
          <p:cNvSpPr/>
          <p:nvPr/>
        </p:nvSpPr>
        <p:spPr>
          <a:xfrm>
            <a:off x="812901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14730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12,280,363</a:t>
            </a:r>
          </a:p>
        </p:txBody>
      </p:sp>
      <p:sp>
        <p:nvSpPr>
          <p:cNvPr id="109" name="Rectangle 108"/>
          <p:cNvSpPr/>
          <p:nvPr/>
        </p:nvSpPr>
        <p:spPr>
          <a:xfrm>
            <a:off x="903427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05256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15,220,510</a:t>
            </a:r>
          </a:p>
        </p:txBody>
      </p:sp>
      <p:sp>
        <p:nvSpPr>
          <p:cNvPr id="111" name="Rectangle 110"/>
          <p:cNvSpPr/>
          <p:nvPr/>
        </p:nvSpPr>
        <p:spPr>
          <a:xfrm>
            <a:off x="993952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995781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18,712,274</a:t>
            </a:r>
          </a:p>
        </p:txBody>
      </p:sp>
      <p:sp>
        <p:nvSpPr>
          <p:cNvPr id="113" name="Rectangle 112"/>
          <p:cNvSpPr/>
          <p:nvPr/>
        </p:nvSpPr>
        <p:spPr>
          <a:xfrm>
            <a:off x="1084478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086307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22,487,476</a:t>
            </a:r>
          </a:p>
        </p:txBody>
      </p:sp>
      <p:sp>
        <p:nvSpPr>
          <p:cNvPr id="115" name="Rectangle 11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Personal</a:t>
            </a:r>
          </a:p>
        </p:txBody>
      </p:sp>
      <p:sp>
        <p:nvSpPr>
          <p:cNvPr id="117" name="Rectangle 116"/>
          <p:cNvSpPr/>
          <p:nvPr/>
        </p:nvSpPr>
        <p:spPr>
          <a:xfrm>
            <a:off x="269748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271576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1,426,533</a:t>
            </a:r>
          </a:p>
        </p:txBody>
      </p:sp>
      <p:sp>
        <p:nvSpPr>
          <p:cNvPr id="119" name="Rectangle 118"/>
          <p:cNvSpPr/>
          <p:nvPr/>
        </p:nvSpPr>
        <p:spPr>
          <a:xfrm>
            <a:off x="360273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2102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1,490,727</a:t>
            </a:r>
          </a:p>
        </p:txBody>
      </p:sp>
      <p:sp>
        <p:nvSpPr>
          <p:cNvPr id="121" name="Rectangle 120"/>
          <p:cNvSpPr/>
          <p:nvPr/>
        </p:nvSpPr>
        <p:spPr>
          <a:xfrm>
            <a:off x="450799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52628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1,557,809</a:t>
            </a:r>
          </a:p>
        </p:txBody>
      </p:sp>
      <p:sp>
        <p:nvSpPr>
          <p:cNvPr id="123" name="Rectangle 122"/>
          <p:cNvSpPr/>
          <p:nvPr/>
        </p:nvSpPr>
        <p:spPr>
          <a:xfrm>
            <a:off x="541324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543153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1,627,911</a:t>
            </a:r>
          </a:p>
        </p:txBody>
      </p:sp>
      <p:sp>
        <p:nvSpPr>
          <p:cNvPr id="125" name="Rectangle 124"/>
          <p:cNvSpPr/>
          <p:nvPr/>
        </p:nvSpPr>
        <p:spPr>
          <a:xfrm>
            <a:off x="631850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633679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1,701,167</a:t>
            </a:r>
          </a:p>
        </p:txBody>
      </p:sp>
      <p:sp>
        <p:nvSpPr>
          <p:cNvPr id="127" name="Rectangle 126"/>
          <p:cNvSpPr/>
          <p:nvPr/>
        </p:nvSpPr>
        <p:spPr>
          <a:xfrm>
            <a:off x="722376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724204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1,777,719</a:t>
            </a:r>
          </a:p>
        </p:txBody>
      </p:sp>
      <p:sp>
        <p:nvSpPr>
          <p:cNvPr id="129" name="Rectangle 128"/>
          <p:cNvSpPr/>
          <p:nvPr/>
        </p:nvSpPr>
        <p:spPr>
          <a:xfrm>
            <a:off x="812901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814730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1,857,716</a:t>
            </a:r>
          </a:p>
        </p:txBody>
      </p:sp>
      <p:sp>
        <p:nvSpPr>
          <p:cNvPr id="131" name="Rectangle 130"/>
          <p:cNvSpPr/>
          <p:nvPr/>
        </p:nvSpPr>
        <p:spPr>
          <a:xfrm>
            <a:off x="903427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905256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1,941,314</a:t>
            </a:r>
          </a:p>
        </p:txBody>
      </p:sp>
      <p:sp>
        <p:nvSpPr>
          <p:cNvPr id="133" name="Rectangle 132"/>
          <p:cNvSpPr/>
          <p:nvPr/>
        </p:nvSpPr>
        <p:spPr>
          <a:xfrm>
            <a:off x="993952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95781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2,028,673</a:t>
            </a:r>
          </a:p>
        </p:txBody>
      </p:sp>
      <p:sp>
        <p:nvSpPr>
          <p:cNvPr id="135" name="Rectangle 134"/>
          <p:cNvSpPr/>
          <p:nvPr/>
        </p:nvSpPr>
        <p:spPr>
          <a:xfrm>
            <a:off x="1084478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86307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2,119,963</a:t>
            </a:r>
          </a:p>
        </p:txBody>
      </p:sp>
      <p:sp>
        <p:nvSpPr>
          <p:cNvPr id="137" name="Rectangle 136"/>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338328" y="300837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 operativos</a:t>
            </a:r>
          </a:p>
        </p:txBody>
      </p:sp>
      <p:sp>
        <p:nvSpPr>
          <p:cNvPr id="139" name="Rectangle 138"/>
          <p:cNvSpPr/>
          <p:nvPr/>
        </p:nvSpPr>
        <p:spPr>
          <a:xfrm>
            <a:off x="269748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271576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351,120</a:t>
            </a:r>
          </a:p>
        </p:txBody>
      </p:sp>
      <p:sp>
        <p:nvSpPr>
          <p:cNvPr id="141" name="Rectangle 140"/>
          <p:cNvSpPr/>
          <p:nvPr/>
        </p:nvSpPr>
        <p:spPr>
          <a:xfrm>
            <a:off x="360273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362102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366,920</a:t>
            </a:r>
          </a:p>
        </p:txBody>
      </p:sp>
      <p:sp>
        <p:nvSpPr>
          <p:cNvPr id="143" name="Rectangle 142"/>
          <p:cNvSpPr/>
          <p:nvPr/>
        </p:nvSpPr>
        <p:spPr>
          <a:xfrm>
            <a:off x="450799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452628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383,432</a:t>
            </a:r>
          </a:p>
        </p:txBody>
      </p:sp>
      <p:sp>
        <p:nvSpPr>
          <p:cNvPr id="145" name="Rectangle 144"/>
          <p:cNvSpPr/>
          <p:nvPr/>
        </p:nvSpPr>
        <p:spPr>
          <a:xfrm>
            <a:off x="541324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43153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400,686</a:t>
            </a:r>
          </a:p>
        </p:txBody>
      </p:sp>
      <p:sp>
        <p:nvSpPr>
          <p:cNvPr id="147" name="Rectangle 146"/>
          <p:cNvSpPr/>
          <p:nvPr/>
        </p:nvSpPr>
        <p:spPr>
          <a:xfrm>
            <a:off x="631850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33679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418,717</a:t>
            </a:r>
          </a:p>
        </p:txBody>
      </p:sp>
      <p:sp>
        <p:nvSpPr>
          <p:cNvPr id="149" name="Rectangle 148"/>
          <p:cNvSpPr/>
          <p:nvPr/>
        </p:nvSpPr>
        <p:spPr>
          <a:xfrm>
            <a:off x="722376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724204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437,559</a:t>
            </a:r>
          </a:p>
        </p:txBody>
      </p:sp>
      <p:sp>
        <p:nvSpPr>
          <p:cNvPr id="151" name="Rectangle 150"/>
          <p:cNvSpPr/>
          <p:nvPr/>
        </p:nvSpPr>
        <p:spPr>
          <a:xfrm>
            <a:off x="812901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814730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457,250</a:t>
            </a:r>
          </a:p>
        </p:txBody>
      </p:sp>
      <p:sp>
        <p:nvSpPr>
          <p:cNvPr id="153" name="Rectangle 152"/>
          <p:cNvSpPr/>
          <p:nvPr/>
        </p:nvSpPr>
        <p:spPr>
          <a:xfrm>
            <a:off x="903427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905256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477,826</a:t>
            </a:r>
          </a:p>
        </p:txBody>
      </p:sp>
      <p:sp>
        <p:nvSpPr>
          <p:cNvPr id="155" name="Rectangle 154"/>
          <p:cNvSpPr/>
          <p:nvPr/>
        </p:nvSpPr>
        <p:spPr>
          <a:xfrm>
            <a:off x="993952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995781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499,328</a:t>
            </a:r>
          </a:p>
        </p:txBody>
      </p:sp>
      <p:sp>
        <p:nvSpPr>
          <p:cNvPr id="157" name="Rectangle 156"/>
          <p:cNvSpPr/>
          <p:nvPr/>
        </p:nvSpPr>
        <p:spPr>
          <a:xfrm>
            <a:off x="1084478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1086307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521,798</a:t>
            </a:r>
          </a:p>
        </p:txBody>
      </p:sp>
      <p:sp>
        <p:nvSpPr>
          <p:cNvPr id="159" name="Rectangle 158"/>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Gastos administrativos</a:t>
            </a:r>
          </a:p>
        </p:txBody>
      </p:sp>
      <p:sp>
        <p:nvSpPr>
          <p:cNvPr id="161" name="Rectangle 160"/>
          <p:cNvSpPr/>
          <p:nvPr/>
        </p:nvSpPr>
        <p:spPr>
          <a:xfrm>
            <a:off x="269748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271576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270,864</a:t>
            </a:r>
          </a:p>
        </p:txBody>
      </p:sp>
      <p:sp>
        <p:nvSpPr>
          <p:cNvPr id="163" name="Rectangle 162"/>
          <p:cNvSpPr/>
          <p:nvPr/>
        </p:nvSpPr>
        <p:spPr>
          <a:xfrm>
            <a:off x="360273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62102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283,053</a:t>
            </a:r>
          </a:p>
        </p:txBody>
      </p:sp>
      <p:sp>
        <p:nvSpPr>
          <p:cNvPr id="165" name="Rectangle 164"/>
          <p:cNvSpPr/>
          <p:nvPr/>
        </p:nvSpPr>
        <p:spPr>
          <a:xfrm>
            <a:off x="450799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452628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295,790</a:t>
            </a:r>
          </a:p>
        </p:txBody>
      </p:sp>
      <p:sp>
        <p:nvSpPr>
          <p:cNvPr id="167" name="Rectangle 166"/>
          <p:cNvSpPr/>
          <p:nvPr/>
        </p:nvSpPr>
        <p:spPr>
          <a:xfrm>
            <a:off x="541324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43153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309,101</a:t>
            </a:r>
          </a:p>
        </p:txBody>
      </p:sp>
      <p:sp>
        <p:nvSpPr>
          <p:cNvPr id="169" name="Rectangle 168"/>
          <p:cNvSpPr/>
          <p:nvPr/>
        </p:nvSpPr>
        <p:spPr>
          <a:xfrm>
            <a:off x="631850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33679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323,010</a:t>
            </a:r>
          </a:p>
        </p:txBody>
      </p:sp>
      <p:sp>
        <p:nvSpPr>
          <p:cNvPr id="171" name="Rectangle 170"/>
          <p:cNvSpPr/>
          <p:nvPr/>
        </p:nvSpPr>
        <p:spPr>
          <a:xfrm>
            <a:off x="722376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724204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337,546</a:t>
            </a:r>
          </a:p>
        </p:txBody>
      </p:sp>
      <p:sp>
        <p:nvSpPr>
          <p:cNvPr id="173" name="Rectangle 172"/>
          <p:cNvSpPr/>
          <p:nvPr/>
        </p:nvSpPr>
        <p:spPr>
          <a:xfrm>
            <a:off x="812901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814730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352,735</a:t>
            </a:r>
          </a:p>
        </p:txBody>
      </p:sp>
      <p:sp>
        <p:nvSpPr>
          <p:cNvPr id="175" name="Rectangle 174"/>
          <p:cNvSpPr/>
          <p:nvPr/>
        </p:nvSpPr>
        <p:spPr>
          <a:xfrm>
            <a:off x="903427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905256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368,608</a:t>
            </a:r>
          </a:p>
        </p:txBody>
      </p:sp>
      <p:sp>
        <p:nvSpPr>
          <p:cNvPr id="177" name="Rectangle 176"/>
          <p:cNvSpPr/>
          <p:nvPr/>
        </p:nvSpPr>
        <p:spPr>
          <a:xfrm>
            <a:off x="993952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995781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385,196</a:t>
            </a:r>
          </a:p>
        </p:txBody>
      </p:sp>
      <p:sp>
        <p:nvSpPr>
          <p:cNvPr id="179" name="Rectangle 178"/>
          <p:cNvSpPr/>
          <p:nvPr/>
        </p:nvSpPr>
        <p:spPr>
          <a:xfrm>
            <a:off x="1084478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1086307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402,530</a:t>
            </a:r>
          </a:p>
        </p:txBody>
      </p:sp>
      <p:sp>
        <p:nvSpPr>
          <p:cNvPr id="181" name="Rectangle 180"/>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EBITDA</a:t>
            </a:r>
          </a:p>
        </p:txBody>
      </p:sp>
      <p:sp>
        <p:nvSpPr>
          <p:cNvPr id="183" name="Rectangle 182"/>
          <p:cNvSpPr/>
          <p:nvPr/>
        </p:nvSpPr>
        <p:spPr>
          <a:xfrm>
            <a:off x="269748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271576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−732,697</a:t>
            </a:r>
          </a:p>
        </p:txBody>
      </p:sp>
      <p:sp>
        <p:nvSpPr>
          <p:cNvPr id="185" name="Rectangle 184"/>
          <p:cNvSpPr/>
          <p:nvPr/>
        </p:nvSpPr>
        <p:spPr>
          <a:xfrm>
            <a:off x="360273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362102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151,019</a:t>
            </a:r>
          </a:p>
        </p:txBody>
      </p:sp>
      <p:sp>
        <p:nvSpPr>
          <p:cNvPr id="187" name="Rectangle 186"/>
          <p:cNvSpPr/>
          <p:nvPr/>
        </p:nvSpPr>
        <p:spPr>
          <a:xfrm>
            <a:off x="450799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452628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1,355,238</a:t>
            </a:r>
          </a:p>
        </p:txBody>
      </p:sp>
      <p:sp>
        <p:nvSpPr>
          <p:cNvPr id="189" name="Rectangle 188"/>
          <p:cNvSpPr/>
          <p:nvPr/>
        </p:nvSpPr>
        <p:spPr>
          <a:xfrm>
            <a:off x="541324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543153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2,917,792</a:t>
            </a:r>
          </a:p>
        </p:txBody>
      </p:sp>
      <p:sp>
        <p:nvSpPr>
          <p:cNvPr id="191" name="Rectangle 190"/>
          <p:cNvSpPr/>
          <p:nvPr/>
        </p:nvSpPr>
        <p:spPr>
          <a:xfrm>
            <a:off x="631850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633679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4,879,754</a:t>
            </a:r>
          </a:p>
        </p:txBody>
      </p:sp>
      <p:sp>
        <p:nvSpPr>
          <p:cNvPr id="193" name="Rectangle 192"/>
          <p:cNvSpPr/>
          <p:nvPr/>
        </p:nvSpPr>
        <p:spPr>
          <a:xfrm>
            <a:off x="722376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724204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7,012,385</a:t>
            </a:r>
          </a:p>
        </p:txBody>
      </p:sp>
      <p:sp>
        <p:nvSpPr>
          <p:cNvPr id="195" name="Rectangle 194"/>
          <p:cNvSpPr/>
          <p:nvPr/>
        </p:nvSpPr>
        <p:spPr>
          <a:xfrm>
            <a:off x="812901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814730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9,612,661</a:t>
            </a:r>
          </a:p>
        </p:txBody>
      </p:sp>
      <p:sp>
        <p:nvSpPr>
          <p:cNvPr id="197" name="Rectangle 196"/>
          <p:cNvSpPr/>
          <p:nvPr/>
        </p:nvSpPr>
        <p:spPr>
          <a:xfrm>
            <a:off x="903427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905256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12,432,762</a:t>
            </a:r>
          </a:p>
        </p:txBody>
      </p:sp>
      <p:sp>
        <p:nvSpPr>
          <p:cNvPr id="199" name="Rectangle 198"/>
          <p:cNvSpPr/>
          <p:nvPr/>
        </p:nvSpPr>
        <p:spPr>
          <a:xfrm>
            <a:off x="993952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995781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15,799,078</a:t>
            </a:r>
          </a:p>
        </p:txBody>
      </p:sp>
      <p:sp>
        <p:nvSpPr>
          <p:cNvPr id="201" name="Rectangle 200"/>
          <p:cNvSpPr/>
          <p:nvPr/>
        </p:nvSpPr>
        <p:spPr>
          <a:xfrm>
            <a:off x="1084478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1086307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19,443,185</a:t>
            </a:r>
          </a:p>
        </p:txBody>
      </p:sp>
      <p:sp>
        <p:nvSpPr>
          <p:cNvPr id="203" name="Rectangle 202"/>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05" name="Rectangle 204"/>
          <p:cNvSpPr/>
          <p:nvPr/>
        </p:nvSpPr>
        <p:spPr>
          <a:xfrm>
            <a:off x="269748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271576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7" name="Rectangle 206"/>
          <p:cNvSpPr/>
          <p:nvPr/>
        </p:nvSpPr>
        <p:spPr>
          <a:xfrm>
            <a:off x="360273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362102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9" name="Rectangle 208"/>
          <p:cNvSpPr/>
          <p:nvPr/>
        </p:nvSpPr>
        <p:spPr>
          <a:xfrm>
            <a:off x="450799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452628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1" name="Rectangle 210"/>
          <p:cNvSpPr/>
          <p:nvPr/>
        </p:nvSpPr>
        <p:spPr>
          <a:xfrm>
            <a:off x="541324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543153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3" name="Rectangle 212"/>
          <p:cNvSpPr/>
          <p:nvPr/>
        </p:nvSpPr>
        <p:spPr>
          <a:xfrm>
            <a:off x="631850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633679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5" name="Rectangle 214"/>
          <p:cNvSpPr/>
          <p:nvPr/>
        </p:nvSpPr>
        <p:spPr>
          <a:xfrm>
            <a:off x="722376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724204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7" name="Rectangle 216"/>
          <p:cNvSpPr/>
          <p:nvPr/>
        </p:nvSpPr>
        <p:spPr>
          <a:xfrm>
            <a:off x="812901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814730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9" name="Rectangle 218"/>
          <p:cNvSpPr/>
          <p:nvPr/>
        </p:nvSpPr>
        <p:spPr>
          <a:xfrm>
            <a:off x="903427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905256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1" name="Rectangle 220"/>
          <p:cNvSpPr/>
          <p:nvPr/>
        </p:nvSpPr>
        <p:spPr>
          <a:xfrm>
            <a:off x="993952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995781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3" name="Rectangle 222"/>
          <p:cNvSpPr/>
          <p:nvPr/>
        </p:nvSpPr>
        <p:spPr>
          <a:xfrm>
            <a:off x="1084478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1086307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5" name="Rectangle 22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municipal (ICS)</a:t>
            </a:r>
          </a:p>
        </p:txBody>
      </p:sp>
      <p:sp>
        <p:nvSpPr>
          <p:cNvPr id="227" name="Rectangle 226"/>
          <p:cNvSpPr/>
          <p:nvPr/>
        </p:nvSpPr>
        <p:spPr>
          <a:xfrm>
            <a:off x="269748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271576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229" name="Rectangle 228"/>
          <p:cNvSpPr/>
          <p:nvPr/>
        </p:nvSpPr>
        <p:spPr>
          <a:xfrm>
            <a:off x="360273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362102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231" name="Rectangle 230"/>
          <p:cNvSpPr/>
          <p:nvPr/>
        </p:nvSpPr>
        <p:spPr>
          <a:xfrm>
            <a:off x="450799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452628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233" name="Rectangle 232"/>
          <p:cNvSpPr/>
          <p:nvPr/>
        </p:nvSpPr>
        <p:spPr>
          <a:xfrm>
            <a:off x="541324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543153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235" name="Rectangle 234"/>
          <p:cNvSpPr/>
          <p:nvPr/>
        </p:nvSpPr>
        <p:spPr>
          <a:xfrm>
            <a:off x="631850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633679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237" name="Rectangle 236"/>
          <p:cNvSpPr/>
          <p:nvPr/>
        </p:nvSpPr>
        <p:spPr>
          <a:xfrm>
            <a:off x="722376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724204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239" name="Rectangle 238"/>
          <p:cNvSpPr/>
          <p:nvPr/>
        </p:nvSpPr>
        <p:spPr>
          <a:xfrm>
            <a:off x="812901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814730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241" name="Rectangle 240"/>
          <p:cNvSpPr/>
          <p:nvPr/>
        </p:nvSpPr>
        <p:spPr>
          <a:xfrm>
            <a:off x="903427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905256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243" name="Rectangle 242"/>
          <p:cNvSpPr/>
          <p:nvPr/>
        </p:nvSpPr>
        <p:spPr>
          <a:xfrm>
            <a:off x="993952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995781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245" name="Rectangle 244"/>
          <p:cNvSpPr/>
          <p:nvPr/>
        </p:nvSpPr>
        <p:spPr>
          <a:xfrm>
            <a:off x="1084478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1086307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247" name="Rectangle 246"/>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Intereses</a:t>
            </a:r>
          </a:p>
        </p:txBody>
      </p:sp>
      <p:sp>
        <p:nvSpPr>
          <p:cNvPr id="249" name="Rectangle 248"/>
          <p:cNvSpPr/>
          <p:nvPr/>
        </p:nvSpPr>
        <p:spPr>
          <a:xfrm>
            <a:off x="269748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271576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251" name="Rectangle 250"/>
          <p:cNvSpPr/>
          <p:nvPr/>
        </p:nvSpPr>
        <p:spPr>
          <a:xfrm>
            <a:off x="360273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362102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253" name="Rectangle 252"/>
          <p:cNvSpPr/>
          <p:nvPr/>
        </p:nvSpPr>
        <p:spPr>
          <a:xfrm>
            <a:off x="450799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452628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255" name="Rectangle 254"/>
          <p:cNvSpPr/>
          <p:nvPr/>
        </p:nvSpPr>
        <p:spPr>
          <a:xfrm>
            <a:off x="541324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543153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257" name="Rectangle 256"/>
          <p:cNvSpPr/>
          <p:nvPr/>
        </p:nvSpPr>
        <p:spPr>
          <a:xfrm>
            <a:off x="631850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33679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259" name="Rectangle 258"/>
          <p:cNvSpPr/>
          <p:nvPr/>
        </p:nvSpPr>
        <p:spPr>
          <a:xfrm>
            <a:off x="722376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24204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12901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14730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03427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05256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993952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995781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84478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86307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9" name="Rectangle 268"/>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873751"/>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271" name="Rectangle 270"/>
          <p:cNvSpPr/>
          <p:nvPr/>
        </p:nvSpPr>
        <p:spPr>
          <a:xfrm>
            <a:off x="269748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73" name="Rectangle 272"/>
          <p:cNvSpPr/>
          <p:nvPr/>
        </p:nvSpPr>
        <p:spPr>
          <a:xfrm>
            <a:off x="360273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62102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75" name="Rectangle 274"/>
          <p:cNvSpPr/>
          <p:nvPr/>
        </p:nvSpPr>
        <p:spPr>
          <a:xfrm>
            <a:off x="450799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52628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77" name="Rectangle 276"/>
          <p:cNvSpPr/>
          <p:nvPr/>
        </p:nvSpPr>
        <p:spPr>
          <a:xfrm>
            <a:off x="541324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43153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279" name="Rectangle 278"/>
          <p:cNvSpPr/>
          <p:nvPr/>
        </p:nvSpPr>
        <p:spPr>
          <a:xfrm>
            <a:off x="631850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33679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281" name="Rectangle 280"/>
          <p:cNvSpPr/>
          <p:nvPr/>
        </p:nvSpPr>
        <p:spPr>
          <a:xfrm>
            <a:off x="722376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724204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283" name="Rectangle 282"/>
          <p:cNvSpPr/>
          <p:nvPr/>
        </p:nvSpPr>
        <p:spPr>
          <a:xfrm>
            <a:off x="812901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814730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285" name="Rectangle 284"/>
          <p:cNvSpPr/>
          <p:nvPr/>
        </p:nvSpPr>
        <p:spPr>
          <a:xfrm>
            <a:off x="903427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905256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287" name="Rectangle 286"/>
          <p:cNvSpPr/>
          <p:nvPr/>
        </p:nvSpPr>
        <p:spPr>
          <a:xfrm>
            <a:off x="993952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95781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289" name="Rectangle 288"/>
          <p:cNvSpPr/>
          <p:nvPr/>
        </p:nvSpPr>
        <p:spPr>
          <a:xfrm>
            <a:off x="1084478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86307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291" name="Rectangle 290"/>
          <p:cNvSpPr/>
          <p:nvPr/>
        </p:nvSpPr>
        <p:spPr>
          <a:xfrm>
            <a:off x="320040" y="518464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338328" y="5184647"/>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sobre la renta</a:t>
            </a:r>
          </a:p>
        </p:txBody>
      </p:sp>
      <p:sp>
        <p:nvSpPr>
          <p:cNvPr id="293" name="Rectangle 292"/>
          <p:cNvSpPr/>
          <p:nvPr/>
        </p:nvSpPr>
        <p:spPr>
          <a:xfrm>
            <a:off x="269748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271576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5" name="Rectangle 294"/>
          <p:cNvSpPr/>
          <p:nvPr/>
        </p:nvSpPr>
        <p:spPr>
          <a:xfrm>
            <a:off x="360273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362102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7" name="Rectangle 296"/>
          <p:cNvSpPr/>
          <p:nvPr/>
        </p:nvSpPr>
        <p:spPr>
          <a:xfrm>
            <a:off x="450799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452628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541324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543153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301" name="Rectangle 300"/>
          <p:cNvSpPr/>
          <p:nvPr/>
        </p:nvSpPr>
        <p:spPr>
          <a:xfrm>
            <a:off x="631850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633679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303" name="Rectangle 302"/>
          <p:cNvSpPr/>
          <p:nvPr/>
        </p:nvSpPr>
        <p:spPr>
          <a:xfrm>
            <a:off x="722376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724204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305" name="Rectangle 304"/>
          <p:cNvSpPr/>
          <p:nvPr/>
        </p:nvSpPr>
        <p:spPr>
          <a:xfrm>
            <a:off x="812901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814730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307" name="Rectangle 306"/>
          <p:cNvSpPr/>
          <p:nvPr/>
        </p:nvSpPr>
        <p:spPr>
          <a:xfrm>
            <a:off x="903427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905256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309" name="Rectangle 308"/>
          <p:cNvSpPr/>
          <p:nvPr/>
        </p:nvSpPr>
        <p:spPr>
          <a:xfrm>
            <a:off x="993952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995781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311" name="Rectangle 310"/>
          <p:cNvSpPr/>
          <p:nvPr/>
        </p:nvSpPr>
        <p:spPr>
          <a:xfrm>
            <a:off x="1084478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1086307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313" name="Rectangle 312"/>
          <p:cNvSpPr/>
          <p:nvPr/>
        </p:nvSpPr>
        <p:spPr>
          <a:xfrm>
            <a:off x="320040" y="5495543"/>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338328" y="5495543"/>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NETA</a:t>
            </a:r>
          </a:p>
        </p:txBody>
      </p:sp>
      <p:sp>
        <p:nvSpPr>
          <p:cNvPr id="315" name="Rectangle 314"/>
          <p:cNvSpPr/>
          <p:nvPr/>
        </p:nvSpPr>
        <p:spPr>
          <a:xfrm>
            <a:off x="269748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271576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317" name="Rectangle 316"/>
          <p:cNvSpPr/>
          <p:nvPr/>
        </p:nvSpPr>
        <p:spPr>
          <a:xfrm>
            <a:off x="360273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62102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319" name="Rectangle 318"/>
          <p:cNvSpPr/>
          <p:nvPr/>
        </p:nvSpPr>
        <p:spPr>
          <a:xfrm>
            <a:off x="450799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452628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321" name="Rectangle 320"/>
          <p:cNvSpPr/>
          <p:nvPr/>
        </p:nvSpPr>
        <p:spPr>
          <a:xfrm>
            <a:off x="541324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543153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323" name="Rectangle 322"/>
          <p:cNvSpPr/>
          <p:nvPr/>
        </p:nvSpPr>
        <p:spPr>
          <a:xfrm>
            <a:off x="631850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633679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325" name="Rectangle 324"/>
          <p:cNvSpPr/>
          <p:nvPr/>
        </p:nvSpPr>
        <p:spPr>
          <a:xfrm>
            <a:off x="722376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724204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327" name="Rectangle 326"/>
          <p:cNvSpPr/>
          <p:nvPr/>
        </p:nvSpPr>
        <p:spPr>
          <a:xfrm>
            <a:off x="812901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814730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329" name="Rectangle 328"/>
          <p:cNvSpPr/>
          <p:nvPr/>
        </p:nvSpPr>
        <p:spPr>
          <a:xfrm>
            <a:off x="903427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905256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331" name="Rectangle 330"/>
          <p:cNvSpPr/>
          <p:nvPr/>
        </p:nvSpPr>
        <p:spPr>
          <a:xfrm>
            <a:off x="993952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995781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333" name="Rectangle 332"/>
          <p:cNvSpPr/>
          <p:nvPr/>
        </p:nvSpPr>
        <p:spPr>
          <a:xfrm>
            <a:off x="1084478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1086307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335" name="Rectangle 334"/>
          <p:cNvSpPr/>
          <p:nvPr/>
        </p:nvSpPr>
        <p:spPr>
          <a:xfrm>
            <a:off x="320040" y="580643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338328" y="580643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Margen neto</a:t>
            </a:r>
          </a:p>
        </p:txBody>
      </p:sp>
      <p:sp>
        <p:nvSpPr>
          <p:cNvPr id="337" name="Rectangle 336"/>
          <p:cNvSpPr/>
          <p:nvPr/>
        </p:nvSpPr>
        <p:spPr>
          <a:xfrm>
            <a:off x="269748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271576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−35.2 %</a:t>
            </a:r>
          </a:p>
        </p:txBody>
      </p:sp>
      <p:sp>
        <p:nvSpPr>
          <p:cNvPr id="339" name="Rectangle 338"/>
          <p:cNvSpPr/>
          <p:nvPr/>
        </p:nvSpPr>
        <p:spPr>
          <a:xfrm>
            <a:off x="360273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362102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−3.1 %</a:t>
            </a:r>
          </a:p>
        </p:txBody>
      </p:sp>
      <p:sp>
        <p:nvSpPr>
          <p:cNvPr id="341" name="Rectangle 340"/>
          <p:cNvSpPr/>
          <p:nvPr/>
        </p:nvSpPr>
        <p:spPr>
          <a:xfrm>
            <a:off x="450799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452628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12.9 %</a:t>
            </a:r>
          </a:p>
        </p:txBody>
      </p:sp>
      <p:sp>
        <p:nvSpPr>
          <p:cNvPr id="343" name="Rectangle 342"/>
          <p:cNvSpPr/>
          <p:nvPr/>
        </p:nvSpPr>
        <p:spPr>
          <a:xfrm>
            <a:off x="541324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543153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16.2 %</a:t>
            </a:r>
          </a:p>
        </p:txBody>
      </p:sp>
      <p:sp>
        <p:nvSpPr>
          <p:cNvPr id="345" name="Rectangle 344"/>
          <p:cNvSpPr/>
          <p:nvPr/>
        </p:nvSpPr>
        <p:spPr>
          <a:xfrm>
            <a:off x="631850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633679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19.6 %</a:t>
            </a:r>
          </a:p>
        </p:txBody>
      </p:sp>
      <p:sp>
        <p:nvSpPr>
          <p:cNvPr id="347" name="Rectangle 346"/>
          <p:cNvSpPr/>
          <p:nvPr/>
        </p:nvSpPr>
        <p:spPr>
          <a:xfrm>
            <a:off x="722376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724204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22.2 %</a:t>
            </a:r>
          </a:p>
        </p:txBody>
      </p:sp>
      <p:sp>
        <p:nvSpPr>
          <p:cNvPr id="349" name="Rectangle 348"/>
          <p:cNvSpPr/>
          <p:nvPr/>
        </p:nvSpPr>
        <p:spPr>
          <a:xfrm>
            <a:off x="812901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814730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23.8 %</a:t>
            </a:r>
          </a:p>
        </p:txBody>
      </p:sp>
      <p:sp>
        <p:nvSpPr>
          <p:cNvPr id="351" name="Rectangle 350"/>
          <p:cNvSpPr/>
          <p:nvPr/>
        </p:nvSpPr>
        <p:spPr>
          <a:xfrm>
            <a:off x="903427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905256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24.8 %</a:t>
            </a:r>
          </a:p>
        </p:txBody>
      </p:sp>
      <p:sp>
        <p:nvSpPr>
          <p:cNvPr id="353" name="Rectangle 352"/>
          <p:cNvSpPr/>
          <p:nvPr/>
        </p:nvSpPr>
        <p:spPr>
          <a:xfrm>
            <a:off x="993952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995781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25.7 %</a:t>
            </a:r>
          </a:p>
        </p:txBody>
      </p:sp>
      <p:sp>
        <p:nvSpPr>
          <p:cNvPr id="355" name="Rectangle 354"/>
          <p:cNvSpPr/>
          <p:nvPr/>
        </p:nvSpPr>
        <p:spPr>
          <a:xfrm>
            <a:off x="1084478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1086307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26.3 %</a:t>
            </a:r>
          </a:p>
        </p:txBody>
      </p:sp>
      <p:sp>
        <p:nvSpPr>
          <p:cNvPr id="357" name="TextBox 356"/>
          <p:cNvSpPr txBox="1"/>
          <p:nvPr/>
        </p:nvSpPr>
        <p:spPr>
          <a:xfrm>
            <a:off x="320040" y="6263640"/>
            <a:ext cx="11521440" cy="274320"/>
          </a:xfrm>
          <a:prstGeom prst="rect">
            <a:avLst/>
          </a:prstGeom>
          <a:noFill/>
        </p:spPr>
        <p:txBody>
          <a:bodyPr wrap="square" anchor="ctr">
            <a:spAutoFit/>
          </a:bodyPr>
          <a:lstStyle/>
          <a:p>
            <a:pPr algn="l"/>
            <a:r>
              <a:rPr sz="850" b="0" i="1">
                <a:solidFill>
                  <a:srgbClr val="64748B"/>
                </a:solidFill>
                <a:latin typeface="Calibri"/>
              </a:rPr>
              <a:t>Fuente: modelo financiero, hoja "Análisis Complementario" (sección 10). La utilidad antes de impuestos coincide con la Tabla 27.</a:t>
            </a:r>
          </a:p>
        </p:txBody>
      </p:sp>
      <p:sp>
        <p:nvSpPr>
          <p:cNvPr id="358" name="TextBox 35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Balance General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6576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50876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50876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Caja y bancos (excedentes)</a:t>
            </a:r>
          </a:p>
        </p:txBody>
      </p:sp>
      <p:sp>
        <p:nvSpPr>
          <p:cNvPr id="31" name="Rectangle 30"/>
          <p:cNvSpPr/>
          <p:nvPr/>
        </p:nvSpPr>
        <p:spPr>
          <a:xfrm>
            <a:off x="26974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5" name="Rectangle 34"/>
          <p:cNvSpPr/>
          <p:nvPr/>
        </p:nvSpPr>
        <p:spPr>
          <a:xfrm>
            <a:off x="43434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7" name="Rectangle 36"/>
          <p:cNvSpPr/>
          <p:nvPr/>
        </p:nvSpPr>
        <p:spPr>
          <a:xfrm>
            <a:off x="51663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943,428</a:t>
            </a:r>
          </a:p>
        </p:txBody>
      </p:sp>
      <p:sp>
        <p:nvSpPr>
          <p:cNvPr id="39" name="Rectangle 38"/>
          <p:cNvSpPr/>
          <p:nvPr/>
        </p:nvSpPr>
        <p:spPr>
          <a:xfrm>
            <a:off x="59893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2,712,609</a:t>
            </a:r>
          </a:p>
        </p:txBody>
      </p:sp>
      <p:sp>
        <p:nvSpPr>
          <p:cNvPr id="41" name="Rectangle 40"/>
          <p:cNvSpPr/>
          <p:nvPr/>
        </p:nvSpPr>
        <p:spPr>
          <a:xfrm>
            <a:off x="68122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5,752,991</a:t>
            </a:r>
          </a:p>
        </p:txBody>
      </p:sp>
      <p:sp>
        <p:nvSpPr>
          <p:cNvPr id="43" name="Rectangle 42"/>
          <p:cNvSpPr/>
          <p:nvPr/>
        </p:nvSpPr>
        <p:spPr>
          <a:xfrm>
            <a:off x="76352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10,481,602</a:t>
            </a:r>
          </a:p>
        </p:txBody>
      </p:sp>
      <p:sp>
        <p:nvSpPr>
          <p:cNvPr id="45" name="Rectangle 44"/>
          <p:cNvSpPr/>
          <p:nvPr/>
        </p:nvSpPr>
        <p:spPr>
          <a:xfrm>
            <a:off x="84582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16,977,994</a:t>
            </a:r>
          </a:p>
        </p:txBody>
      </p:sp>
      <p:sp>
        <p:nvSpPr>
          <p:cNvPr id="47" name="Rectangle 46"/>
          <p:cNvSpPr/>
          <p:nvPr/>
        </p:nvSpPr>
        <p:spPr>
          <a:xfrm>
            <a:off x="92811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25,422,913</a:t>
            </a:r>
          </a:p>
        </p:txBody>
      </p:sp>
      <p:sp>
        <p:nvSpPr>
          <p:cNvPr id="49" name="Rectangle 48"/>
          <p:cNvSpPr/>
          <p:nvPr/>
        </p:nvSpPr>
        <p:spPr>
          <a:xfrm>
            <a:off x="101041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36,163,286</a:t>
            </a:r>
          </a:p>
        </p:txBody>
      </p:sp>
      <p:sp>
        <p:nvSpPr>
          <p:cNvPr id="51" name="Rectangle 50"/>
          <p:cNvSpPr/>
          <p:nvPr/>
        </p:nvSpPr>
        <p:spPr>
          <a:xfrm>
            <a:off x="109270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49,422,490</a:t>
            </a:r>
          </a:p>
        </p:txBody>
      </p:sp>
      <p:sp>
        <p:nvSpPr>
          <p:cNvPr id="53" name="Rectangle 52"/>
          <p:cNvSpPr/>
          <p:nvPr/>
        </p:nvSpPr>
        <p:spPr>
          <a:xfrm>
            <a:off x="320040" y="187451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87451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de trabajo</a:t>
            </a:r>
          </a:p>
        </p:txBody>
      </p:sp>
      <p:sp>
        <p:nvSpPr>
          <p:cNvPr id="55" name="Rectangle 54"/>
          <p:cNvSpPr/>
          <p:nvPr/>
        </p:nvSpPr>
        <p:spPr>
          <a:xfrm>
            <a:off x="26974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7" name="Rectangle 56"/>
          <p:cNvSpPr/>
          <p:nvPr/>
        </p:nvSpPr>
        <p:spPr>
          <a:xfrm>
            <a:off x="35204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9" name="Rectangle 58"/>
          <p:cNvSpPr/>
          <p:nvPr/>
        </p:nvSpPr>
        <p:spPr>
          <a:xfrm>
            <a:off x="43434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426,315</a:t>
            </a:r>
          </a:p>
        </p:txBody>
      </p:sp>
      <p:sp>
        <p:nvSpPr>
          <p:cNvPr id="61" name="Rectangle 60"/>
          <p:cNvSpPr/>
          <p:nvPr/>
        </p:nvSpPr>
        <p:spPr>
          <a:xfrm>
            <a:off x="51663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575,039</a:t>
            </a:r>
          </a:p>
        </p:txBody>
      </p:sp>
      <p:sp>
        <p:nvSpPr>
          <p:cNvPr id="63" name="Rectangle 62"/>
          <p:cNvSpPr/>
          <p:nvPr/>
        </p:nvSpPr>
        <p:spPr>
          <a:xfrm>
            <a:off x="59893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763,359</a:t>
            </a:r>
          </a:p>
        </p:txBody>
      </p:sp>
      <p:sp>
        <p:nvSpPr>
          <p:cNvPr id="65" name="Rectangle 64"/>
          <p:cNvSpPr/>
          <p:nvPr/>
        </p:nvSpPr>
        <p:spPr>
          <a:xfrm>
            <a:off x="68122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995,756</a:t>
            </a:r>
          </a:p>
        </p:txBody>
      </p:sp>
      <p:sp>
        <p:nvSpPr>
          <p:cNvPr id="67" name="Rectangle 66"/>
          <p:cNvSpPr/>
          <p:nvPr/>
        </p:nvSpPr>
        <p:spPr>
          <a:xfrm>
            <a:off x="76352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1,247,522</a:t>
            </a:r>
          </a:p>
        </p:txBody>
      </p:sp>
      <p:sp>
        <p:nvSpPr>
          <p:cNvPr id="69" name="Rectangle 68"/>
          <p:cNvSpPr/>
          <p:nvPr/>
        </p:nvSpPr>
        <p:spPr>
          <a:xfrm>
            <a:off x="84582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1,550,827</a:t>
            </a:r>
          </a:p>
        </p:txBody>
      </p:sp>
      <p:sp>
        <p:nvSpPr>
          <p:cNvPr id="71" name="Rectangle 70"/>
          <p:cNvSpPr/>
          <p:nvPr/>
        </p:nvSpPr>
        <p:spPr>
          <a:xfrm>
            <a:off x="92811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1,878,903</a:t>
            </a:r>
          </a:p>
        </p:txBody>
      </p:sp>
      <p:sp>
        <p:nvSpPr>
          <p:cNvPr id="73" name="Rectangle 72"/>
          <p:cNvSpPr/>
          <p:nvPr/>
        </p:nvSpPr>
        <p:spPr>
          <a:xfrm>
            <a:off x="101041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2,267,104</a:t>
            </a:r>
          </a:p>
        </p:txBody>
      </p:sp>
      <p:sp>
        <p:nvSpPr>
          <p:cNvPr id="75" name="Rectangle 74"/>
          <p:cNvSpPr/>
          <p:nvPr/>
        </p:nvSpPr>
        <p:spPr>
          <a:xfrm>
            <a:off x="109270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77" name="Rectangle 76"/>
          <p:cNvSpPr/>
          <p:nvPr/>
        </p:nvSpPr>
        <p:spPr>
          <a:xfrm>
            <a:off x="320040" y="224027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24027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Activos fijos y diferidos (costo)</a:t>
            </a:r>
          </a:p>
        </p:txBody>
      </p:sp>
      <p:sp>
        <p:nvSpPr>
          <p:cNvPr id="79" name="Rectangle 78"/>
          <p:cNvSpPr/>
          <p:nvPr/>
        </p:nvSpPr>
        <p:spPr>
          <a:xfrm>
            <a:off x="26974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1" name="Rectangle 80"/>
          <p:cNvSpPr/>
          <p:nvPr/>
        </p:nvSpPr>
        <p:spPr>
          <a:xfrm>
            <a:off x="35204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3" name="Rectangle 82"/>
          <p:cNvSpPr/>
          <p:nvPr/>
        </p:nvSpPr>
        <p:spPr>
          <a:xfrm>
            <a:off x="43434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5" name="Rectangle 84"/>
          <p:cNvSpPr/>
          <p:nvPr/>
        </p:nvSpPr>
        <p:spPr>
          <a:xfrm>
            <a:off x="51663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7" name="Rectangle 86"/>
          <p:cNvSpPr/>
          <p:nvPr/>
        </p:nvSpPr>
        <p:spPr>
          <a:xfrm>
            <a:off x="59893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9" name="Rectangle 88"/>
          <p:cNvSpPr/>
          <p:nvPr/>
        </p:nvSpPr>
        <p:spPr>
          <a:xfrm>
            <a:off x="68122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1" name="Rectangle 90"/>
          <p:cNvSpPr/>
          <p:nvPr/>
        </p:nvSpPr>
        <p:spPr>
          <a:xfrm>
            <a:off x="76352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3" name="Rectangle 92"/>
          <p:cNvSpPr/>
          <p:nvPr/>
        </p:nvSpPr>
        <p:spPr>
          <a:xfrm>
            <a:off x="84582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5" name="Rectangle 94"/>
          <p:cNvSpPr/>
          <p:nvPr/>
        </p:nvSpPr>
        <p:spPr>
          <a:xfrm>
            <a:off x="92811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7" name="Rectangle 96"/>
          <p:cNvSpPr/>
          <p:nvPr/>
        </p:nvSpPr>
        <p:spPr>
          <a:xfrm>
            <a:off x="101041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9" name="Rectangle 98"/>
          <p:cNvSpPr/>
          <p:nvPr/>
        </p:nvSpPr>
        <p:spPr>
          <a:xfrm>
            <a:off x="109270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01" name="Rectangle 100"/>
          <p:cNvSpPr/>
          <p:nvPr/>
        </p:nvSpPr>
        <p:spPr>
          <a:xfrm>
            <a:off x="320040" y="260603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60603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acumulada</a:t>
            </a:r>
          </a:p>
        </p:txBody>
      </p:sp>
      <p:sp>
        <p:nvSpPr>
          <p:cNvPr id="103" name="Rectangle 102"/>
          <p:cNvSpPr/>
          <p:nvPr/>
        </p:nvSpPr>
        <p:spPr>
          <a:xfrm>
            <a:off x="26974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409,400</a:t>
            </a:r>
          </a:p>
        </p:txBody>
      </p:sp>
      <p:sp>
        <p:nvSpPr>
          <p:cNvPr id="109" name="Rectangle 108"/>
          <p:cNvSpPr/>
          <p:nvPr/>
        </p:nvSpPr>
        <p:spPr>
          <a:xfrm>
            <a:off x="51663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614,100</a:t>
            </a:r>
          </a:p>
        </p:txBody>
      </p:sp>
      <p:sp>
        <p:nvSpPr>
          <p:cNvPr id="111" name="Rectangle 110"/>
          <p:cNvSpPr/>
          <p:nvPr/>
        </p:nvSpPr>
        <p:spPr>
          <a:xfrm>
            <a:off x="59893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818,800</a:t>
            </a:r>
          </a:p>
        </p:txBody>
      </p:sp>
      <p:sp>
        <p:nvSpPr>
          <p:cNvPr id="113" name="Rectangle 112"/>
          <p:cNvSpPr/>
          <p:nvPr/>
        </p:nvSpPr>
        <p:spPr>
          <a:xfrm>
            <a:off x="68122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1,023,500</a:t>
            </a:r>
          </a:p>
        </p:txBody>
      </p:sp>
      <p:sp>
        <p:nvSpPr>
          <p:cNvPr id="115" name="Rectangle 114"/>
          <p:cNvSpPr/>
          <p:nvPr/>
        </p:nvSpPr>
        <p:spPr>
          <a:xfrm>
            <a:off x="76352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1,113,000</a:t>
            </a:r>
          </a:p>
        </p:txBody>
      </p:sp>
      <p:sp>
        <p:nvSpPr>
          <p:cNvPr id="117" name="Rectangle 116"/>
          <p:cNvSpPr/>
          <p:nvPr/>
        </p:nvSpPr>
        <p:spPr>
          <a:xfrm>
            <a:off x="84582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1,202,500</a:t>
            </a:r>
          </a:p>
        </p:txBody>
      </p:sp>
      <p:sp>
        <p:nvSpPr>
          <p:cNvPr id="119" name="Rectangle 118"/>
          <p:cNvSpPr/>
          <p:nvPr/>
        </p:nvSpPr>
        <p:spPr>
          <a:xfrm>
            <a:off x="92811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1,292,000</a:t>
            </a:r>
          </a:p>
        </p:txBody>
      </p:sp>
      <p:sp>
        <p:nvSpPr>
          <p:cNvPr id="121" name="Rectangle 120"/>
          <p:cNvSpPr/>
          <p:nvPr/>
        </p:nvSpPr>
        <p:spPr>
          <a:xfrm>
            <a:off x="101041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1,381,500</a:t>
            </a:r>
          </a:p>
        </p:txBody>
      </p:sp>
      <p:sp>
        <p:nvSpPr>
          <p:cNvPr id="123" name="Rectangle 122"/>
          <p:cNvSpPr/>
          <p:nvPr/>
        </p:nvSpPr>
        <p:spPr>
          <a:xfrm>
            <a:off x="109270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25" name="Rectangle 124"/>
          <p:cNvSpPr/>
          <p:nvPr/>
        </p:nvSpPr>
        <p:spPr>
          <a:xfrm>
            <a:off x="320040" y="2971799"/>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971799"/>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ACTIVO</a:t>
            </a:r>
          </a:p>
        </p:txBody>
      </p:sp>
      <p:sp>
        <p:nvSpPr>
          <p:cNvPr id="127" name="Rectangle 126"/>
          <p:cNvSpPr/>
          <p:nvPr/>
        </p:nvSpPr>
        <p:spPr>
          <a:xfrm>
            <a:off x="26974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129" name="Rectangle 128"/>
          <p:cNvSpPr/>
          <p:nvPr/>
        </p:nvSpPr>
        <p:spPr>
          <a:xfrm>
            <a:off x="35204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131" name="Rectangle 130"/>
          <p:cNvSpPr/>
          <p:nvPr/>
        </p:nvSpPr>
        <p:spPr>
          <a:xfrm>
            <a:off x="43434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133" name="Rectangle 132"/>
          <p:cNvSpPr/>
          <p:nvPr/>
        </p:nvSpPr>
        <p:spPr>
          <a:xfrm>
            <a:off x="51663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135" name="Rectangle 134"/>
          <p:cNvSpPr/>
          <p:nvPr/>
        </p:nvSpPr>
        <p:spPr>
          <a:xfrm>
            <a:off x="59893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137" name="Rectangle 136"/>
          <p:cNvSpPr/>
          <p:nvPr/>
        </p:nvSpPr>
        <p:spPr>
          <a:xfrm>
            <a:off x="68122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139" name="Rectangle 138"/>
          <p:cNvSpPr/>
          <p:nvPr/>
        </p:nvSpPr>
        <p:spPr>
          <a:xfrm>
            <a:off x="76352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141" name="Rectangle 140"/>
          <p:cNvSpPr/>
          <p:nvPr/>
        </p:nvSpPr>
        <p:spPr>
          <a:xfrm>
            <a:off x="84582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143" name="Rectangle 142"/>
          <p:cNvSpPr/>
          <p:nvPr/>
        </p:nvSpPr>
        <p:spPr>
          <a:xfrm>
            <a:off x="92811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145" name="Rectangle 144"/>
          <p:cNvSpPr/>
          <p:nvPr/>
        </p:nvSpPr>
        <p:spPr>
          <a:xfrm>
            <a:off x="101041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147" name="Rectangle 146"/>
          <p:cNvSpPr/>
          <p:nvPr/>
        </p:nvSpPr>
        <p:spPr>
          <a:xfrm>
            <a:off x="109270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149" name="Rectangle 148"/>
          <p:cNvSpPr/>
          <p:nvPr/>
        </p:nvSpPr>
        <p:spPr>
          <a:xfrm>
            <a:off x="320040" y="333755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33755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Préstamo bancario</a:t>
            </a:r>
          </a:p>
        </p:txBody>
      </p:sp>
      <p:sp>
        <p:nvSpPr>
          <p:cNvPr id="151" name="Rectangle 150"/>
          <p:cNvSpPr/>
          <p:nvPr/>
        </p:nvSpPr>
        <p:spPr>
          <a:xfrm>
            <a:off x="26974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53" name="Rectangle 152"/>
          <p:cNvSpPr/>
          <p:nvPr/>
        </p:nvSpPr>
        <p:spPr>
          <a:xfrm>
            <a:off x="35204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757,080</a:t>
            </a:r>
          </a:p>
        </p:txBody>
      </p:sp>
      <p:sp>
        <p:nvSpPr>
          <p:cNvPr id="155" name="Rectangle 154"/>
          <p:cNvSpPr/>
          <p:nvPr/>
        </p:nvSpPr>
        <p:spPr>
          <a:xfrm>
            <a:off x="43434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603,238</a:t>
            </a:r>
          </a:p>
        </p:txBody>
      </p:sp>
      <p:sp>
        <p:nvSpPr>
          <p:cNvPr id="157" name="Rectangle 156"/>
          <p:cNvSpPr/>
          <p:nvPr/>
        </p:nvSpPr>
        <p:spPr>
          <a:xfrm>
            <a:off x="51663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427,857</a:t>
            </a:r>
          </a:p>
        </p:txBody>
      </p:sp>
      <p:sp>
        <p:nvSpPr>
          <p:cNvPr id="159" name="Rectangle 158"/>
          <p:cNvSpPr/>
          <p:nvPr/>
        </p:nvSpPr>
        <p:spPr>
          <a:xfrm>
            <a:off x="59893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161" name="Rectangle 160"/>
          <p:cNvSpPr/>
          <p:nvPr/>
        </p:nvSpPr>
        <p:spPr>
          <a:xfrm>
            <a:off x="68122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3" name="Rectangle 162"/>
          <p:cNvSpPr/>
          <p:nvPr/>
        </p:nvSpPr>
        <p:spPr>
          <a:xfrm>
            <a:off x="76352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5" name="Rectangle 164"/>
          <p:cNvSpPr/>
          <p:nvPr/>
        </p:nvSpPr>
        <p:spPr>
          <a:xfrm>
            <a:off x="84582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7" name="Rectangle 166"/>
          <p:cNvSpPr/>
          <p:nvPr/>
        </p:nvSpPr>
        <p:spPr>
          <a:xfrm>
            <a:off x="92811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9" name="Rectangle 168"/>
          <p:cNvSpPr/>
          <p:nvPr/>
        </p:nvSpPr>
        <p:spPr>
          <a:xfrm>
            <a:off x="101041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1" name="Rectangle 170"/>
          <p:cNvSpPr/>
          <p:nvPr/>
        </p:nvSpPr>
        <p:spPr>
          <a:xfrm>
            <a:off x="109270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3" name="Rectangle 172"/>
          <p:cNvSpPr/>
          <p:nvPr/>
        </p:nvSpPr>
        <p:spPr>
          <a:xfrm>
            <a:off x="320040" y="370332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70332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social inicial</a:t>
            </a:r>
          </a:p>
        </p:txBody>
      </p:sp>
      <p:sp>
        <p:nvSpPr>
          <p:cNvPr id="175" name="Rectangle 174"/>
          <p:cNvSpPr/>
          <p:nvPr/>
        </p:nvSpPr>
        <p:spPr>
          <a:xfrm>
            <a:off x="26974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7" name="Rectangle 176"/>
          <p:cNvSpPr/>
          <p:nvPr/>
        </p:nvSpPr>
        <p:spPr>
          <a:xfrm>
            <a:off x="35204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9" name="Rectangle 178"/>
          <p:cNvSpPr/>
          <p:nvPr/>
        </p:nvSpPr>
        <p:spPr>
          <a:xfrm>
            <a:off x="43434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1" name="Rectangle 180"/>
          <p:cNvSpPr/>
          <p:nvPr/>
        </p:nvSpPr>
        <p:spPr>
          <a:xfrm>
            <a:off x="51663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3" name="Rectangle 182"/>
          <p:cNvSpPr/>
          <p:nvPr/>
        </p:nvSpPr>
        <p:spPr>
          <a:xfrm>
            <a:off x="59893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5" name="Rectangle 184"/>
          <p:cNvSpPr/>
          <p:nvPr/>
        </p:nvSpPr>
        <p:spPr>
          <a:xfrm>
            <a:off x="68122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7" name="Rectangle 186"/>
          <p:cNvSpPr/>
          <p:nvPr/>
        </p:nvSpPr>
        <p:spPr>
          <a:xfrm>
            <a:off x="76352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9" name="Rectangle 188"/>
          <p:cNvSpPr/>
          <p:nvPr/>
        </p:nvSpPr>
        <p:spPr>
          <a:xfrm>
            <a:off x="84582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1" name="Rectangle 190"/>
          <p:cNvSpPr/>
          <p:nvPr/>
        </p:nvSpPr>
        <p:spPr>
          <a:xfrm>
            <a:off x="92811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3" name="Rectangle 192"/>
          <p:cNvSpPr/>
          <p:nvPr/>
        </p:nvSpPr>
        <p:spPr>
          <a:xfrm>
            <a:off x="101041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5" name="Rectangle 194"/>
          <p:cNvSpPr/>
          <p:nvPr/>
        </p:nvSpPr>
        <p:spPr>
          <a:xfrm>
            <a:off x="109270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7" name="Rectangle 196"/>
          <p:cNvSpPr/>
          <p:nvPr/>
        </p:nvSpPr>
        <p:spPr>
          <a:xfrm>
            <a:off x="320040" y="406908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406908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Aportes adicionales de socios</a:t>
            </a:r>
          </a:p>
        </p:txBody>
      </p:sp>
      <p:sp>
        <p:nvSpPr>
          <p:cNvPr id="199" name="Rectangle 198"/>
          <p:cNvSpPr/>
          <p:nvPr/>
        </p:nvSpPr>
        <p:spPr>
          <a:xfrm>
            <a:off x="26974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993,690</a:t>
            </a:r>
          </a:p>
        </p:txBody>
      </p:sp>
      <p:sp>
        <p:nvSpPr>
          <p:cNvPr id="203" name="Rectangle 202"/>
          <p:cNvSpPr/>
          <p:nvPr/>
        </p:nvSpPr>
        <p:spPr>
          <a:xfrm>
            <a:off x="43434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5" name="Rectangle 204"/>
          <p:cNvSpPr/>
          <p:nvPr/>
        </p:nvSpPr>
        <p:spPr>
          <a:xfrm>
            <a:off x="51663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7" name="Rectangle 206"/>
          <p:cNvSpPr/>
          <p:nvPr/>
        </p:nvSpPr>
        <p:spPr>
          <a:xfrm>
            <a:off x="59893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9" name="Rectangle 208"/>
          <p:cNvSpPr/>
          <p:nvPr/>
        </p:nvSpPr>
        <p:spPr>
          <a:xfrm>
            <a:off x="68122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1" name="Rectangle 210"/>
          <p:cNvSpPr/>
          <p:nvPr/>
        </p:nvSpPr>
        <p:spPr>
          <a:xfrm>
            <a:off x="76352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3" name="Rectangle 212"/>
          <p:cNvSpPr/>
          <p:nvPr/>
        </p:nvSpPr>
        <p:spPr>
          <a:xfrm>
            <a:off x="84582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5" name="Rectangle 214"/>
          <p:cNvSpPr/>
          <p:nvPr/>
        </p:nvSpPr>
        <p:spPr>
          <a:xfrm>
            <a:off x="92811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7" name="Rectangle 216"/>
          <p:cNvSpPr/>
          <p:nvPr/>
        </p:nvSpPr>
        <p:spPr>
          <a:xfrm>
            <a:off x="101041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9" name="Rectangle 218"/>
          <p:cNvSpPr/>
          <p:nvPr/>
        </p:nvSpPr>
        <p:spPr>
          <a:xfrm>
            <a:off x="109270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21" name="Rectangle 220"/>
          <p:cNvSpPr/>
          <p:nvPr/>
        </p:nvSpPr>
        <p:spPr>
          <a:xfrm>
            <a:off x="320040" y="443484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443484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Utilidades retenidas</a:t>
            </a:r>
          </a:p>
        </p:txBody>
      </p:sp>
      <p:sp>
        <p:nvSpPr>
          <p:cNvPr id="223" name="Rectangle 222"/>
          <p:cNvSpPr/>
          <p:nvPr/>
        </p:nvSpPr>
        <p:spPr>
          <a:xfrm>
            <a:off x="26974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−1,063,441</a:t>
            </a:r>
          </a:p>
        </p:txBody>
      </p:sp>
      <p:sp>
        <p:nvSpPr>
          <p:cNvPr id="227" name="Rectangle 226"/>
          <p:cNvSpPr/>
          <p:nvPr/>
        </p:nvSpPr>
        <p:spPr>
          <a:xfrm>
            <a:off x="43434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−1,225,170</a:t>
            </a:r>
          </a:p>
        </p:txBody>
      </p:sp>
      <p:sp>
        <p:nvSpPr>
          <p:cNvPr id="229" name="Rectangle 228"/>
          <p:cNvSpPr/>
          <p:nvPr/>
        </p:nvSpPr>
        <p:spPr>
          <a:xfrm>
            <a:off x="51663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−162,338</a:t>
            </a:r>
          </a:p>
        </p:txBody>
      </p:sp>
      <p:sp>
        <p:nvSpPr>
          <p:cNvPr id="231" name="Rectangle 230"/>
          <p:cNvSpPr/>
          <p:nvPr/>
        </p:nvSpPr>
        <p:spPr>
          <a:xfrm>
            <a:off x="59893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1,790,396</a:t>
            </a:r>
          </a:p>
        </p:txBody>
      </p:sp>
      <p:sp>
        <p:nvSpPr>
          <p:cNvPr id="233" name="Rectangle 232"/>
          <p:cNvSpPr/>
          <p:nvPr/>
        </p:nvSpPr>
        <p:spPr>
          <a:xfrm>
            <a:off x="68122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5,086,399</a:t>
            </a:r>
          </a:p>
        </p:txBody>
      </p:sp>
      <p:sp>
        <p:nvSpPr>
          <p:cNvPr id="235" name="Rectangle 234"/>
          <p:cNvSpPr/>
          <p:nvPr/>
        </p:nvSpPr>
        <p:spPr>
          <a:xfrm>
            <a:off x="76352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9,977,276</a:t>
            </a:r>
          </a:p>
        </p:txBody>
      </p:sp>
      <p:sp>
        <p:nvSpPr>
          <p:cNvPr id="237" name="Rectangle 236"/>
          <p:cNvSpPr/>
          <p:nvPr/>
        </p:nvSpPr>
        <p:spPr>
          <a:xfrm>
            <a:off x="84582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16,687,473</a:t>
            </a:r>
          </a:p>
        </p:txBody>
      </p:sp>
      <p:sp>
        <p:nvSpPr>
          <p:cNvPr id="239" name="Rectangle 238"/>
          <p:cNvSpPr/>
          <p:nvPr/>
        </p:nvSpPr>
        <p:spPr>
          <a:xfrm>
            <a:off x="92811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25,370,968</a:t>
            </a:r>
          </a:p>
        </p:txBody>
      </p:sp>
      <p:sp>
        <p:nvSpPr>
          <p:cNvPr id="241" name="Rectangle 240"/>
          <p:cNvSpPr/>
          <p:nvPr/>
        </p:nvSpPr>
        <p:spPr>
          <a:xfrm>
            <a:off x="101041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36,410,042</a:t>
            </a:r>
          </a:p>
        </p:txBody>
      </p:sp>
      <p:sp>
        <p:nvSpPr>
          <p:cNvPr id="243" name="Rectangle 242"/>
          <p:cNvSpPr/>
          <p:nvPr/>
        </p:nvSpPr>
        <p:spPr>
          <a:xfrm>
            <a:off x="109270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245" name="Rectangle 244"/>
          <p:cNvSpPr/>
          <p:nvPr/>
        </p:nvSpPr>
        <p:spPr>
          <a:xfrm>
            <a:off x="320040" y="4800600"/>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800600"/>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PASIVO Y PATRIMONIO</a:t>
            </a:r>
          </a:p>
        </p:txBody>
      </p:sp>
      <p:sp>
        <p:nvSpPr>
          <p:cNvPr id="247" name="Rectangle 246"/>
          <p:cNvSpPr/>
          <p:nvPr/>
        </p:nvSpPr>
        <p:spPr>
          <a:xfrm>
            <a:off x="26974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249" name="Rectangle 248"/>
          <p:cNvSpPr/>
          <p:nvPr/>
        </p:nvSpPr>
        <p:spPr>
          <a:xfrm>
            <a:off x="35204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251" name="Rectangle 250"/>
          <p:cNvSpPr/>
          <p:nvPr/>
        </p:nvSpPr>
        <p:spPr>
          <a:xfrm>
            <a:off x="43434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253" name="Rectangle 252"/>
          <p:cNvSpPr/>
          <p:nvPr/>
        </p:nvSpPr>
        <p:spPr>
          <a:xfrm>
            <a:off x="51663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255" name="Rectangle 254"/>
          <p:cNvSpPr/>
          <p:nvPr/>
        </p:nvSpPr>
        <p:spPr>
          <a:xfrm>
            <a:off x="59893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257" name="Rectangle 256"/>
          <p:cNvSpPr/>
          <p:nvPr/>
        </p:nvSpPr>
        <p:spPr>
          <a:xfrm>
            <a:off x="68122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259" name="Rectangle 258"/>
          <p:cNvSpPr/>
          <p:nvPr/>
        </p:nvSpPr>
        <p:spPr>
          <a:xfrm>
            <a:off x="76352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261" name="Rectangle 260"/>
          <p:cNvSpPr/>
          <p:nvPr/>
        </p:nvSpPr>
        <p:spPr>
          <a:xfrm>
            <a:off x="84582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263" name="Rectangle 262"/>
          <p:cNvSpPr/>
          <p:nvPr/>
        </p:nvSpPr>
        <p:spPr>
          <a:xfrm>
            <a:off x="92811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265" name="Rectangle 264"/>
          <p:cNvSpPr/>
          <p:nvPr/>
        </p:nvSpPr>
        <p:spPr>
          <a:xfrm>
            <a:off x="101041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267" name="Rectangle 266"/>
          <p:cNvSpPr/>
          <p:nvPr/>
        </p:nvSpPr>
        <p:spPr>
          <a:xfrm>
            <a:off x="109270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269" name="TextBox 268"/>
          <p:cNvSpPr txBox="1"/>
          <p:nvPr/>
        </p:nvSpPr>
        <p:spPr>
          <a:xfrm>
            <a:off x="320040" y="5349240"/>
            <a:ext cx="11521440" cy="274320"/>
          </a:xfrm>
          <a:prstGeom prst="rect">
            <a:avLst/>
          </a:prstGeom>
          <a:noFill/>
        </p:spPr>
        <p:txBody>
          <a:bodyPr wrap="square" anchor="ctr">
            <a:spAutoFit/>
          </a:bodyPr>
          <a:lstStyle/>
          <a:p>
            <a:pPr algn="l"/>
            <a:r>
              <a:rPr sz="850" b="0" i="1">
                <a:solidFill>
                  <a:srgbClr val="64748B"/>
                </a:solidFill>
                <a:latin typeface="Calibri"/>
              </a:rPr>
              <a:t>Supuestos: sin reparto de dividendos; déficits de los años 1 y 2 cubiertos con aportes de socios; la recuperación del capital de trabajo (año 10) es una convención de evaluación y no se registra como caja. Activo = pasivo + patrimonio en todos los años.</a:t>
            </a:r>
          </a:p>
        </p:txBody>
      </p:sp>
      <p:sp>
        <p:nvSpPr>
          <p:cNvPr id="270" name="TextBox 26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E783CA9-6FFC-4A5C-8070-73DABA78C17B}">
  <we:reference id="WA200010725" version="1.0.0.1" store="Omex" storeType="OMEX"/>
  <we:alternateReferences>
    <we:reference id="WA200010725" version="1.0.0.1" store="WA200010725" storeType="OMEX"/>
  </we:alternateReferences>
  <we:properties>
    <we:property name="claude.fileId" value="&quot;4560c314-448b-424d-afca-702a2a5a5b0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TotalTime>
  <Words>4090</Words>
  <Application>Microsoft Office PowerPoint</Application>
  <PresentationFormat>Panorámica</PresentationFormat>
  <Paragraphs>708</Paragraphs>
  <Slides>23</Slides>
  <Notes>23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23</vt:i4>
      </vt:variant>
    </vt:vector>
  </HeadingPairs>
  <TitlesOfParts>
    <vt:vector size="26"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FredyValladares23@outlook.com</dc:creator>
  <cp:lastModifiedBy>Elkin Arcesio Gomez Salazar</cp:lastModifiedBy>
  <cp:revision>4</cp:revision>
  <dcterms:created xsi:type="dcterms:W3CDTF">2026-09-17T05:51:58Z</dcterms:created>
  <dcterms:modified xsi:type="dcterms:W3CDTF">2026-09-24T15:00:51Z</dcterms:modified>
</cp:coreProperties>
</file>