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1" r:id="rId34"/>
    <p:sldId id="280" r:id="rId4"/>
    <p:sldId id="259" r:id="rId5"/>
    <p:sldId id="282" r:id="rId35"/>
    <p:sldId id="260" r:id="rId6"/>
    <p:sldId id="283" r:id="rId3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4" r:id="rId37"/>
    <p:sldId id="285" r:id="rId38"/>
    <p:sldId id="286" r:id="rId39"/>
    <p:sldId id="268" r:id="rId14"/>
    <p:sldId id="269" r:id="rId15"/>
    <p:sldId id="287" r:id="rId40"/>
    <p:sldId id="270" r:id="rId16"/>
    <p:sldId id="271" r:id="rId17"/>
    <p:sldId id="288" r:id="rId41"/>
    <p:sldId id="289" r:id="rId42"/>
    <p:sldId id="272" r:id="rId18"/>
    <p:sldId id="273" r:id="rId19"/>
    <p:sldId id="290" r:id="rId43"/>
    <p:sldId id="274" r:id="rId20"/>
    <p:sldId id="275" r:id="rId21"/>
    <p:sldId id="291" r:id="rId44"/>
    <p:sldId id="276" r:id="rId22"/>
    <p:sldId id="292" r:id="rId45"/>
    <p:sldId id="277" r:id="rId23"/>
    <p:sldId id="293" r:id="rId46"/>
    <p:sldId id="294" r:id="rId47"/>
    <p:sldId id="295" r:id="rId48"/>
    <p:sldId id="296" r:id="rId49"/>
    <p:sldId id="297" r:id="rId50"/>
    <p:sldId id="298" r:id="rId51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1B2C3D4-0000-4000-8000-000000000001}" name="Claude (revisión ONUDI)" initials="CR" userId="Claude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laude (revisión ONUDI)" initials="CR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460595-9126-482A-A3B9-5B759A5C0DC6}" v="1" dt="2026-09-24T14:52:43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commentAuthors" Target="commentAuthors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kin Gómez" userId="385c81511b083e44" providerId="LiveId" clId="{28FC696F-35B8-4250-866E-37577D9724C4}"/>
    <pc:docChg chg="custSel addSld delSld modSld">
      <pc:chgData name="Elkin Gómez" userId="385c81511b083e44" providerId="LiveId" clId="{28FC696F-35B8-4250-866E-37577D9724C4}" dt="2026-09-24T15:00:44.512" v="399" actId="20577"/>
      <pc:docMkLst>
        <pc:docMk/>
      </pc:docMkLst>
      <pc:sldChg chg="addSp modSp mod">
        <pc:chgData name="Elkin Gómez" userId="385c81511b083e44" providerId="LiveId" clId="{28FC696F-35B8-4250-866E-37577D9724C4}" dt="2026-09-24T14:58:05.499" v="263" actId="20577"/>
        <pc:sldMkLst>
          <pc:docMk/>
          <pc:sldMk cId="0" sldId="257"/>
        </pc:sldMkLst>
        <pc:spChg chg="add mod">
          <ac:chgData name="Elkin Gómez" userId="385c81511b083e44" providerId="LiveId" clId="{28FC696F-35B8-4250-866E-37577D9724C4}" dt="2026-09-24T14:58:05.499" v="263" actId="20577"/>
          <ac:spMkLst>
            <pc:docMk/>
            <pc:sldMk cId="0" sldId="257"/>
            <ac:spMk id="37" creationId="{B5DE28D2-48C6-452D-9224-58A1B0B8C1F8}"/>
          </ac:spMkLst>
        </pc:spChg>
      </pc:sldChg>
      <pc:sldChg chg="del">
        <pc:chgData name="Elkin Gómez" userId="385c81511b083e44" providerId="LiveId" clId="{28FC696F-35B8-4250-866E-37577D9724C4}" dt="2026-09-24T14:55:51.865" v="1"/>
        <pc:sldMkLst>
          <pc:docMk/>
          <pc:sldMk cId="0" sldId="258"/>
        </pc:sldMkLst>
      </pc:sldChg>
      <pc:sldChg chg="addSp modSp mod">
        <pc:chgData name="Elkin Gómez" userId="385c81511b083e44" providerId="LiveId" clId="{28FC696F-35B8-4250-866E-37577D9724C4}" dt="2026-09-24T14:56:42.896" v="54"/>
        <pc:sldMkLst>
          <pc:docMk/>
          <pc:sldMk cId="0" sldId="259"/>
        </pc:sldMkLst>
        <pc:spChg chg="add mod">
          <ac:chgData name="Elkin Gómez" userId="385c81511b083e44" providerId="LiveId" clId="{28FC696F-35B8-4250-866E-37577D9724C4}" dt="2026-09-24T14:56:42.896" v="54"/>
          <ac:spMkLst>
            <pc:docMk/>
            <pc:sldMk cId="0" sldId="259"/>
            <ac:spMk id="26" creationId="{3ADF0D01-B711-45A3-8B76-5C4E882061A6}"/>
          </ac:spMkLst>
        </pc:spChg>
      </pc:sldChg>
      <pc:sldChg chg="addSp modSp mod">
        <pc:chgData name="Elkin Gómez" userId="385c81511b083e44" providerId="LiveId" clId="{28FC696F-35B8-4250-866E-37577D9724C4}" dt="2026-09-24T14:56:42.899" v="71"/>
        <pc:sldMkLst>
          <pc:docMk/>
          <pc:sldMk cId="0" sldId="260"/>
        </pc:sldMkLst>
        <pc:spChg chg="add mod">
          <ac:chgData name="Elkin Gómez" userId="385c81511b083e44" providerId="LiveId" clId="{28FC696F-35B8-4250-866E-37577D9724C4}" dt="2026-09-24T14:56:42.899" v="71"/>
          <ac:spMkLst>
            <pc:docMk/>
            <pc:sldMk cId="0" sldId="260"/>
            <ac:spMk id="49" creationId="{49AA6EAD-9C6B-4858-ACDE-F2FF03709C07}"/>
          </ac:spMkLst>
        </pc:spChg>
      </pc:sldChg>
      <pc:sldChg chg="addSp modSp mod">
        <pc:chgData name="Elkin Gómez" userId="385c81511b083e44" providerId="LiveId" clId="{28FC696F-35B8-4250-866E-37577D9724C4}" dt="2026-09-24T14:59:07.070" v="359" actId="33524"/>
        <pc:sldMkLst>
          <pc:docMk/>
          <pc:sldMk cId="0" sldId="261"/>
        </pc:sldMkLst>
        <pc:spChg chg="add mod">
          <ac:chgData name="Elkin Gómez" userId="385c81511b083e44" providerId="LiveId" clId="{28FC696F-35B8-4250-866E-37577D9724C4}" dt="2026-09-24T14:59:07.070" v="359" actId="33524"/>
          <ac:spMkLst>
            <pc:docMk/>
            <pc:sldMk cId="0" sldId="261"/>
            <ac:spMk id="22" creationId="{EF4D83EE-C0F9-4B72-BAA2-5FE6C6382ACC}"/>
          </ac:spMkLst>
        </pc:spChg>
      </pc:sldChg>
      <pc:sldChg chg="addSp delSp modSp mod">
        <pc:chgData name="Elkin Gómez" userId="385c81511b083e44" providerId="LiveId" clId="{28FC696F-35B8-4250-866E-37577D9724C4}" dt="2026-09-24T14:59:14.070" v="360" actId="478"/>
        <pc:sldMkLst>
          <pc:docMk/>
          <pc:sldMk cId="0" sldId="262"/>
        </pc:sldMkLst>
        <pc:spChg chg="add del mod">
          <ac:chgData name="Elkin Gómez" userId="385c81511b083e44" providerId="LiveId" clId="{28FC696F-35B8-4250-866E-37577D9724C4}" dt="2026-09-24T14:59:14.070" v="360" actId="478"/>
          <ac:spMkLst>
            <pc:docMk/>
            <pc:sldMk cId="0" sldId="262"/>
            <ac:spMk id="38" creationId="{D4A01838-C5EC-4050-A2FC-E27A9E9E6C44}"/>
          </ac:spMkLst>
        </pc:spChg>
      </pc:sldChg>
      <pc:sldChg chg="addSp delSp modSp mod">
        <pc:chgData name="Elkin Gómez" userId="385c81511b083e44" providerId="LiveId" clId="{28FC696F-35B8-4250-866E-37577D9724C4}" dt="2026-09-24T15:00:03.335" v="364" actId="478"/>
        <pc:sldMkLst>
          <pc:docMk/>
          <pc:sldMk cId="0" sldId="265"/>
        </pc:sldMkLst>
        <pc:spChg chg="add del mod">
          <ac:chgData name="Elkin Gómez" userId="385c81511b083e44" providerId="LiveId" clId="{28FC696F-35B8-4250-866E-37577D9724C4}" dt="2026-09-24T15:00:03.335" v="364" actId="478"/>
          <ac:spMkLst>
            <pc:docMk/>
            <pc:sldMk cId="0" sldId="265"/>
            <ac:spMk id="82" creationId="{52A25B1E-D8BB-4478-9FF9-D019E848E264}"/>
          </ac:spMkLst>
        </pc:spChg>
      </pc:sldChg>
      <pc:sldChg chg="addSp modSp mod">
        <pc:chgData name="Elkin Gómez" userId="385c81511b083e44" providerId="LiveId" clId="{28FC696F-35B8-4250-866E-37577D9724C4}" dt="2026-09-24T14:56:42.939" v="139"/>
        <pc:sldMkLst>
          <pc:docMk/>
          <pc:sldMk cId="0" sldId="267"/>
        </pc:sldMkLst>
        <pc:spChg chg="add mod">
          <ac:chgData name="Elkin Gómez" userId="385c81511b083e44" providerId="LiveId" clId="{28FC696F-35B8-4250-866E-37577D9724C4}" dt="2026-09-24T14:56:42.939" v="139"/>
          <ac:spMkLst>
            <pc:docMk/>
            <pc:sldMk cId="0" sldId="267"/>
            <ac:spMk id="55" creationId="{90FE9E98-742F-4F0B-9198-1A3E12BBF151}"/>
          </ac:spMkLst>
        </pc:spChg>
      </pc:sldChg>
      <pc:sldChg chg="addSp modSp mod">
        <pc:chgData name="Elkin Gómez" userId="385c81511b083e44" providerId="LiveId" clId="{28FC696F-35B8-4250-866E-37577D9724C4}" dt="2026-09-24T15:00:44.512" v="399" actId="20577"/>
        <pc:sldMkLst>
          <pc:docMk/>
          <pc:sldMk cId="0" sldId="269"/>
        </pc:sldMkLst>
        <pc:spChg chg="add mod">
          <ac:chgData name="Elkin Gómez" userId="385c81511b083e44" providerId="LiveId" clId="{28FC696F-35B8-4250-866E-37577D9724C4}" dt="2026-09-24T15:00:44.512" v="399" actId="20577"/>
          <ac:spMkLst>
            <pc:docMk/>
            <pc:sldMk cId="0" sldId="269"/>
            <ac:spMk id="57" creationId="{B5B782C2-F317-44AC-B988-4FFF4FA9DAF8}"/>
          </ac:spMkLst>
        </pc:spChg>
      </pc:sldChg>
      <pc:sldChg chg="addSp modSp mod">
        <pc:chgData name="Elkin Gómez" userId="385c81511b083e44" providerId="LiveId" clId="{28FC696F-35B8-4250-866E-37577D9724C4}" dt="2026-09-24T14:56:52.757" v="259"/>
        <pc:sldMkLst>
          <pc:docMk/>
          <pc:sldMk cId="0" sldId="271"/>
        </pc:sldMkLst>
        <pc:spChg chg="add mod">
          <ac:chgData name="Elkin Gómez" userId="385c81511b083e44" providerId="LiveId" clId="{28FC696F-35B8-4250-866E-37577D9724C4}" dt="2026-09-24T14:56:52.757" v="259"/>
          <ac:spMkLst>
            <pc:docMk/>
            <pc:sldMk cId="0" sldId="271"/>
            <ac:spMk id="65" creationId="{F6E891EB-BF5C-4E85-A711-81AD31614CA5}"/>
          </ac:spMkLst>
        </pc:spChg>
      </pc:sldChg>
      <pc:sldChg chg="addSp modSp mod">
        <pc:chgData name="Elkin Gómez" userId="385c81511b083e44" providerId="LiveId" clId="{28FC696F-35B8-4250-866E-37577D9724C4}" dt="2026-09-24T14:56:42.962" v="190"/>
        <pc:sldMkLst>
          <pc:docMk/>
          <pc:sldMk cId="0" sldId="272"/>
        </pc:sldMkLst>
        <pc:spChg chg="add mod">
          <ac:chgData name="Elkin Gómez" userId="385c81511b083e44" providerId="LiveId" clId="{28FC696F-35B8-4250-866E-37577D9724C4}" dt="2026-09-24T14:56:42.962" v="190"/>
          <ac:spMkLst>
            <pc:docMk/>
            <pc:sldMk cId="0" sldId="272"/>
            <ac:spMk id="5" creationId="{8F40E589-20E7-402C-A6E5-99D6B21063A8}"/>
          </ac:spMkLst>
        </pc:spChg>
      </pc:sldChg>
      <pc:sldChg chg="addSp modSp mod">
        <pc:chgData name="Elkin Gómez" userId="385c81511b083e44" providerId="LiveId" clId="{28FC696F-35B8-4250-866E-37577D9724C4}" dt="2026-09-24T14:56:42.967" v="207"/>
        <pc:sldMkLst>
          <pc:docMk/>
          <pc:sldMk cId="0" sldId="273"/>
        </pc:sldMkLst>
        <pc:spChg chg="add mod">
          <ac:chgData name="Elkin Gómez" userId="385c81511b083e44" providerId="LiveId" clId="{28FC696F-35B8-4250-866E-37577D9724C4}" dt="2026-09-24T14:56:42.967" v="207"/>
          <ac:spMkLst>
            <pc:docMk/>
            <pc:sldMk cId="0" sldId="273"/>
            <ac:spMk id="62" creationId="{3B6FE4FA-38BF-4194-9400-FDF93D400CA5}"/>
          </ac:spMkLst>
        </pc:spChg>
      </pc:sldChg>
      <pc:sldChg chg="addSp modSp mod">
        <pc:chgData name="Elkin Gómez" userId="385c81511b083e44" providerId="LiveId" clId="{28FC696F-35B8-4250-866E-37577D9724C4}" dt="2026-09-24T14:56:42.979" v="224"/>
        <pc:sldMkLst>
          <pc:docMk/>
          <pc:sldMk cId="0" sldId="275"/>
        </pc:sldMkLst>
        <pc:spChg chg="add mod">
          <ac:chgData name="Elkin Gómez" userId="385c81511b083e44" providerId="LiveId" clId="{28FC696F-35B8-4250-866E-37577D9724C4}" dt="2026-09-24T14:56:42.979" v="224"/>
          <ac:spMkLst>
            <pc:docMk/>
            <pc:sldMk cId="0" sldId="275"/>
            <ac:spMk id="73" creationId="{D19EE002-A8C0-43EB-8683-DA3C3041ABA8}"/>
          </ac:spMkLst>
        </pc:spChg>
      </pc:sldChg>
      <pc:sldChg chg="addSp modSp mod">
        <pc:chgData name="Elkin Gómez" userId="385c81511b083e44" providerId="LiveId" clId="{28FC696F-35B8-4250-866E-37577D9724C4}" dt="2026-09-24T14:56:42.986" v="241"/>
        <pc:sldMkLst>
          <pc:docMk/>
          <pc:sldMk cId="0" sldId="276"/>
        </pc:sldMkLst>
        <pc:spChg chg="add mod">
          <ac:chgData name="Elkin Gómez" userId="385c81511b083e44" providerId="LiveId" clId="{28FC696F-35B8-4250-866E-37577D9724C4}" dt="2026-09-24T14:56:42.986" v="241"/>
          <ac:spMkLst>
            <pc:docMk/>
            <pc:sldMk cId="0" sldId="276"/>
            <ac:spMk id="36" creationId="{728FE2D5-72B8-4ABA-86F0-DE4C0A6048A3}"/>
          </ac:spMkLst>
        </pc:spChg>
      </pc:sldChg>
      <pc:sldChg chg="addSp modSp mod">
        <pc:chgData name="Elkin Gómez" userId="385c81511b083e44" providerId="LiveId" clId="{28FC696F-35B8-4250-866E-37577D9724C4}" dt="2026-09-24T14:56:42.994" v="258"/>
        <pc:sldMkLst>
          <pc:docMk/>
          <pc:sldMk cId="0" sldId="277"/>
        </pc:sldMkLst>
        <pc:spChg chg="add mod">
          <ac:chgData name="Elkin Gómez" userId="385c81511b083e44" providerId="LiveId" clId="{28FC696F-35B8-4250-866E-37577D9724C4}" dt="2026-09-24T14:56:42.994" v="258"/>
          <ac:spMkLst>
            <pc:docMk/>
            <pc:sldMk cId="0" sldId="277"/>
            <ac:spMk id="36" creationId="{C5B3E143-622A-4217-8A1F-81904FE55A6C}"/>
          </ac:spMkLst>
        </pc:spChg>
      </pc:sldChg>
      <pc:sldChg chg="add del">
        <pc:chgData name="Elkin Gómez" userId="385c81511b083e44" providerId="LiveId" clId="{28FC696F-35B8-4250-866E-37577D9724C4}" dt="2026-09-24T14:56:06.494" v="3"/>
        <pc:sldMkLst>
          <pc:docMk/>
          <pc:sldMk cId="1731679758" sldId="279"/>
        </pc:sldMkLst>
      </pc:sldChg>
      <pc:sldChg chg="addSp modSp add mod">
        <pc:chgData name="Elkin Gómez" userId="385c81511b083e44" providerId="LiveId" clId="{28FC696F-35B8-4250-866E-37577D9724C4}" dt="2026-09-24T14:56:42.882" v="37"/>
        <pc:sldMkLst>
          <pc:docMk/>
          <pc:sldMk cId="3543442249" sldId="280"/>
        </pc:sldMkLst>
        <pc:spChg chg="add mod">
          <ac:chgData name="Elkin Gómez" userId="385c81511b083e44" providerId="LiveId" clId="{28FC696F-35B8-4250-866E-37577D9724C4}" dt="2026-09-24T14:56:42.882" v="37"/>
          <ac:spMkLst>
            <pc:docMk/>
            <pc:sldMk cId="3543442249" sldId="280"/>
            <ac:spMk id="25" creationId="{49B94A2C-185C-454A-8860-68543C6D3658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Volumen proyectado (L/año)</c:v>
                </c:pt>
              </c:strCache>
            </c:strRef>
          </c:tx>
          <c:spPr>
            <a:ln w="28575">
              <a:solidFill>
                <a:srgbClr val="0D2341"/>
              </a:solidFill>
            </a:ln>
          </c:spPr>
          <c:marker>
            <c:symbol val="circle"/>
            <c:size val="6"/>
            <c:spPr>
              <a:solidFill>
                <a:srgbClr val="0D2341"/>
              </a:solidFill>
              <a:ln>
                <a:solidFill>
                  <a:srgbClr val="0D2341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Año 1</c:v>
                </c:pt>
                <c:pt idx="1">
                  <c:v>Año 2</c:v>
                </c:pt>
                <c:pt idx="2">
                  <c:v>Año 3</c:v>
                </c:pt>
                <c:pt idx="3">
                  <c:v>Año 4</c:v>
                </c:pt>
                <c:pt idx="4">
                  <c:v>Año 5</c:v>
                </c:pt>
                <c:pt idx="5">
                  <c:v>Año 6</c:v>
                </c:pt>
                <c:pt idx="6">
                  <c:v>Año 7</c:v>
                </c:pt>
                <c:pt idx="7">
                  <c:v>Año 8</c:v>
                </c:pt>
                <c:pt idx="8">
                  <c:v>Año 9</c:v>
                </c:pt>
                <c:pt idx="9">
                  <c:v>Año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108000</c:v>
                </c:pt>
                <c:pt idx="1">
                  <c:v>180000</c:v>
                </c:pt>
                <c:pt idx="2">
                  <c:v>270000</c:v>
                </c:pt>
                <c:pt idx="3">
                  <c:v>378000</c:v>
                </c:pt>
                <c:pt idx="4">
                  <c:v>504000</c:v>
                </c:pt>
                <c:pt idx="5">
                  <c:v>630000</c:v>
                </c:pt>
                <c:pt idx="6">
                  <c:v>774000</c:v>
                </c:pt>
                <c:pt idx="7">
                  <c:v>918000</c:v>
                </c:pt>
                <c:pt idx="8">
                  <c:v>1080000</c:v>
                </c:pt>
                <c:pt idx="9">
                  <c:v>1242000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Punto de equilibrio contable (L/año)</c:v>
                </c:pt>
              </c:strCache>
            </c:strRef>
          </c:tx>
          <c:spPr>
            <a:ln w="28575">
              <a:solidFill>
                <a:srgbClr val="B5862A"/>
              </a:solidFill>
            </a:ln>
          </c:spPr>
          <c:marker>
            <c:symbol val="circle"/>
            <c:size val="6"/>
            <c:spPr>
              <a:solidFill>
                <a:srgbClr val="B5862A"/>
              </a:solidFill>
              <a:ln>
                <a:solidFill>
                  <a:srgbClr val="B5862A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Año 1</c:v>
                </c:pt>
                <c:pt idx="1">
                  <c:v>Año 2</c:v>
                </c:pt>
                <c:pt idx="2">
                  <c:v>Año 3</c:v>
                </c:pt>
                <c:pt idx="3">
                  <c:v>Año 4</c:v>
                </c:pt>
                <c:pt idx="4">
                  <c:v>Año 5</c:v>
                </c:pt>
                <c:pt idx="5">
                  <c:v>Año 6</c:v>
                </c:pt>
                <c:pt idx="6">
                  <c:v>Año 7</c:v>
                </c:pt>
                <c:pt idx="7">
                  <c:v>Año 8</c:v>
                </c:pt>
                <c:pt idx="8">
                  <c:v>Año 9</c:v>
                </c:pt>
                <c:pt idx="9">
                  <c:v>Año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184940</c:v>
                </c:pt>
                <c:pt idx="1">
                  <c:v>184216</c:v>
                </c:pt>
                <c:pt idx="2">
                  <c:v>183524</c:v>
                </c:pt>
                <c:pt idx="3">
                  <c:v>182861</c:v>
                </c:pt>
                <c:pt idx="4">
                  <c:v>182227</c:v>
                </c:pt>
                <c:pt idx="5">
                  <c:v>174033</c:v>
                </c:pt>
                <c:pt idx="6">
                  <c:v>173779</c:v>
                </c:pt>
                <c:pt idx="7">
                  <c:v>173536</c:v>
                </c:pt>
                <c:pt idx="8">
                  <c:v>173304</c:v>
                </c:pt>
                <c:pt idx="9">
                  <c:v>173082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950">
                <a:solidFill>
                  <a:srgbClr val="334155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334155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D2341"/>
                </a:solidFill>
              </a:rPr>
              <a:t>Variación del VAN sin financiamiento vs. caso base (L 15.37 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Variable en su valor mínimo</c:v>
                </c:pt>
              </c:strCache>
            </c:strRef>
          </c:tx>
          <c:spPr>
            <a:solidFill>
              <a:srgbClr val="8FB8C9"/>
            </a:solidFill>
          </c:spPr>
          <c:invertIfNegative val="0"/>
          <c:cat>
            <c:strRef>
              <c:f>Sheet1!$A$2:$A$12</c:f>
              <c:strCache>
                <c:ptCount val="11"/>
                <c:pt idx="0">
                  <c:v>Combustible de reparto</c:v>
                </c:pt>
                <c:pt idx="1">
                  <c:v>Costos fijos operativos</c:v>
                </c:pt>
                <c:pt idx="2">
                  <c:v>Costo de empaque</c:v>
                </c:pt>
                <c:pt idx="3">
                  <c:v>Clientes activos, Año 1</c:v>
                </c:pt>
                <c:pt idx="4">
                  <c:v>Merma de proceso</c:v>
                </c:pt>
                <c:pt idx="5">
                  <c:v>Clientes activos, Año 5</c:v>
                </c:pt>
                <c:pt idx="6">
                  <c:v>Inflación anual</c:v>
                </c:pt>
                <c:pt idx="7">
                  <c:v>Clientes activos, Año 10</c:v>
                </c:pt>
                <c:pt idx="8">
                  <c:v>Costo de leche cruda</c:v>
                </c:pt>
                <c:pt idx="9">
                  <c:v>Precio de venta, Año 1</c:v>
                </c:pt>
                <c:pt idx="10">
                  <c:v>Consumo por cliente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150281</c:v>
                </c:pt>
                <c:pt idx="1">
                  <c:v>153645</c:v>
                </c:pt>
                <c:pt idx="2">
                  <c:v>195366</c:v>
                </c:pt>
                <c:pt idx="3">
                  <c:v>-221828</c:v>
                </c:pt>
                <c:pt idx="4">
                  <c:v>185724</c:v>
                </c:pt>
                <c:pt idx="5">
                  <c:v>-499065</c:v>
                </c:pt>
                <c:pt idx="6">
                  <c:v>-428655</c:v>
                </c:pt>
                <c:pt idx="7">
                  <c:v>-777930</c:v>
                </c:pt>
                <c:pt idx="8">
                  <c:v>3021116</c:v>
                </c:pt>
                <c:pt idx="9">
                  <c:v>-4253647</c:v>
                </c:pt>
                <c:pt idx="10">
                  <c:v>-3812864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Variable en su valor máximo</c:v>
                </c:pt>
              </c:strCache>
            </c:strRef>
          </c:tx>
          <c:spPr>
            <a:solidFill>
              <a:srgbClr val="0D2341"/>
            </a:solidFill>
          </c:spPr>
          <c:invertIfNegative val="0"/>
          <c:cat>
            <c:strRef>
              <c:f>Sheet1!$A$2:$A$12</c:f>
              <c:strCache>
                <c:ptCount val="11"/>
                <c:pt idx="0">
                  <c:v>Combustible de reparto</c:v>
                </c:pt>
                <c:pt idx="1">
                  <c:v>Costos fijos operativos</c:v>
                </c:pt>
                <c:pt idx="2">
                  <c:v>Costo de empaque</c:v>
                </c:pt>
                <c:pt idx="3">
                  <c:v>Clientes activos, Año 1</c:v>
                </c:pt>
                <c:pt idx="4">
                  <c:v>Merma de proceso</c:v>
                </c:pt>
                <c:pt idx="5">
                  <c:v>Clientes activos, Año 5</c:v>
                </c:pt>
                <c:pt idx="6">
                  <c:v>Inflación anual</c:v>
                </c:pt>
                <c:pt idx="7">
                  <c:v>Clientes activos, Año 10</c:v>
                </c:pt>
                <c:pt idx="8">
                  <c:v>Costo de leche cruda</c:v>
                </c:pt>
                <c:pt idx="9">
                  <c:v>Precio de venta, Año 1</c:v>
                </c:pt>
                <c:pt idx="10">
                  <c:v>Consumo por cliente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-187851</c:v>
                </c:pt>
                <c:pt idx="1">
                  <c:v>-230380</c:v>
                </c:pt>
                <c:pt idx="2">
                  <c:v>-195365</c:v>
                </c:pt>
                <c:pt idx="3">
                  <c:v>223083</c:v>
                </c:pt>
                <c:pt idx="4">
                  <c:v>-282935</c:v>
                </c:pt>
                <c:pt idx="5">
                  <c:v>499072</c:v>
                </c:pt>
                <c:pt idx="6">
                  <c:v>586339</c:v>
                </c:pt>
                <c:pt idx="7">
                  <c:v>777930</c:v>
                </c:pt>
                <c:pt idx="8">
                  <c:v>-4532075</c:v>
                </c:pt>
                <c:pt idx="9">
                  <c:v>4244793</c:v>
                </c:pt>
                <c:pt idx="10">
                  <c:v>5073107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950">
                <a:solidFill>
                  <a:srgbClr val="33415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000.0"/>
          <c:min val="-6000000.0"/>
        </c:scaling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numFmt formatCode="#,##0,,&quot;M&quot;;−#,##0,,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000000.0"/>
      </c:valAx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50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7315200" y="0"/>
            <a:ext cx="4846320" cy="685800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7178040" y="0"/>
            <a:ext cx="137160" cy="68580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502920" y="5029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EAFIT · ZAMORANO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65380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419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Prefactibilidad para la Producción y Distribución de Leche Pasteurizada a Mercado Nicho en Honduras</a:t>
            </a:r>
            <a:endParaRPr lang="es-419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596800"/>
            <a:ext cx="6492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Leche Fresca Pasteurizada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3100320"/>
            <a:ext cx="64008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502920" y="292608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11887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POR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543800" y="1508760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Jaime Mauricio Caballero Madriz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543800" y="1856232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Fredy Daniel Valladares Suazo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2203704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Horacio Ernesto Medal Picado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274320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3035808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PhD. Elkin Gómez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543800" y="6217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 txBox="1"/>
          <p:nvPr/>
        </p:nvSpPr>
        <p:spPr>
          <a:xfrm>
            <a:off x="502920" y="2286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583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la Presentación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37" name="TextBox 36"/>
          <p:cNvSpPr txBox="1"/>
          <p:nvPr/>
        </p:nvSpPr>
        <p:spPr>
          <a:xfrm>
            <a:off x="502920" y="138988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" y="1389888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Resumen ejecutivo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874519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" y="1874519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Introducción y contexto del sector lácteo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235915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" y="2359152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Indicadores macroeconómicos de Honduras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284378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" y="2843784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Planteamiento del problema y pregunta de investigación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28416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3328416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Objetivos del estudio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8130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" y="3813048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Diseño metodológico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429768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" y="4297680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Justificación del proyecto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78231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" y="4782312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Metodología ONUDI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266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" y="5266944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sectorial: PESTEL y 5 Fuerzas de Porter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751576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" y="5751576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Análisis de mercado y proyección de ventas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138988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22008" y="1389888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técnico: localización, proceso, tamaño, materia prima y planta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1874519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8" y="1874519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legal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35915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22008" y="2359152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administrativo y plantilla de personal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6520" y="284378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22008" y="2843784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ambiental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3328416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8" y="3328416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financiero: inversión, préstamo, estados financieros y equilibrio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8130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22008" y="3813048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Indicadores financieros: VAN, TIR, PRI, IRVA, B/C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29768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22008" y="4297680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Sensibilidad, tornado y escenarios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478231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22008" y="4782312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Análisis de riesgos: Monte Carlo y efecto sobre el valor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46520" y="52669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19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22008" y="5266944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Conclusiones, limitaciones y recomendaciones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6520" y="5751576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7A8A"/>
                </a:solidFill>
                <a:latin typeface="Calibri"/>
              </a:rP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22008" y="5751576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Bibliografía y anexos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Lácteo en Honduras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320040" y="1115568"/>
            <a:ext cx="11521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leche y sus derivados son componentes esenciales de la dieta hondureña y pilares de la economía agroindustrial. El país cuenta con dos circuitos: el industrial (formalizado, ~25% del total) y el artesanal (mayoría, distribución local). Las grandes empresas migraron a leche UHT, dejando un nicho desatendido de leche fresca pasteurizada.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25" name="Rectangle 24"/>
          <p:cNvSpPr/>
          <p:nvPr/>
        </p:nvSpPr>
        <p:spPr>
          <a:xfrm>
            <a:off x="320040" y="1874519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11479" y="1947672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10.0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2563977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Habitantes en Honduras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79" y="2882188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INE, 2025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1874519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51959" y="1947672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350,000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2563977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Empleos directos en la cadena láctea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59" y="2882188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CNP+L Honduras, 2017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1874519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092440" y="1947672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~25 %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2563977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Producción vía circuito industrial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2882188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Holmann, 2001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355848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11479" y="3429000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15 %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79" y="4045305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Aporte de la cadena láctea al PIB agropecuario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79" y="4363516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CNP+L Honduras, 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3355848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251959" y="3429000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~600 M 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59" y="4045305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Producción nacional de leche por año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363516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SAG, 2026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01000" y="3355848"/>
            <a:ext cx="361188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092440" y="3429000"/>
            <a:ext cx="3429000" cy="662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1A7A8A"/>
                </a:solidFill>
                <a:latin typeface="Calibri"/>
              </a:rPr>
              <a:t>+2,000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4045305"/>
            <a:ext cx="3429000" cy="37124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Clientes potenciales tipo A, región central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4363516"/>
            <a:ext cx="3429000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 i="1">
                <a:solidFill>
                  <a:srgbClr val="64748B"/>
                </a:solidFill>
                <a:latin typeface="Calibri"/>
              </a:rPr>
              <a:t>Censos comerciales del equipo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498348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Fuentes: INE (2025), Estadísticas de género en Honduras, julio 2025 (población: 10,045,495); CNP+L Honduras (2017); Holmann (2001); SAG (2026). La cifra de 8.4 M correspondía a 2012 y la de 666 mil t (FAOSTAT) a 2014.</a:t>
            </a:r>
          </a:p>
        </p:txBody>
      </p:sp>
    </p:spTree>
    <p:extLst>
      <p:ext uri="{BB962C8B-B14F-4D97-AF65-F5344CB8AC3E}">
        <p14:creationId xmlns:p14="http://schemas.microsoft.com/office/powerpoint/2010/main" val="3543442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Macroeconómicos de Honduras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3566160" cy="128016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411480" y="13258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PIB 2026, proyección (Banco Mundial, 2026)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60520" y="1188720"/>
            <a:ext cx="3566160" cy="12801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4251960" y="13258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4.9 %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Desempleo abierto 2025 (INE, 2025)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01000" y="1188720"/>
            <a:ext cx="3566160" cy="12801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8092440" y="13258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4.98 %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interanual 2025 (BCH, 2026)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633472"/>
            <a:ext cx="3566160" cy="12801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411480" y="2770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74.8 %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3649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Informalidad laboral 2024 (INE, 2025)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60520" y="2633472"/>
            <a:ext cx="3566160" cy="128016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 txBox="1"/>
          <p:nvPr/>
        </p:nvSpPr>
        <p:spPr>
          <a:xfrm>
            <a:off x="4251960" y="2770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US$12,212 M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4251960" y="33649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Remesas 2025, ≈29 % del PIB (BCH en La Tribuna, 2026; UNAH, 2026)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1000" y="2633472"/>
            <a:ext cx="3566160" cy="12801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8092440" y="2770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26.5 %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33649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del hogar en alimentos (BCH, ENIGH 2023-2024)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114800"/>
            <a:ext cx="11430000" cy="82296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 txBox="1"/>
          <p:nvPr/>
        </p:nvSpPr>
        <p:spPr>
          <a:xfrm>
            <a:off x="502920" y="4187952"/>
            <a:ext cx="110642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el proyecto: el crecimiento del PIB (3.4 %) y las remesas (US$12,212 M en 2025) sostienen un segmento urbano con capacidad de pago para productos diferenciados. La informalidad (74.8 %) confirma que el nicho está en consumidores con empleo formal, cafeterías gourmet y canal HoReCa. El modelo financiero usa una inflación de 4.5 % anual, dentro del rango meta del BCH (4 % ± 1 punto).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26" name="TextBox 25"/>
          <p:cNvSpPr txBox="1"/>
          <p:nvPr/>
        </p:nvSpPr>
        <p:spPr>
          <a:xfrm>
            <a:off x="320040" y="507492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Fuentes: Banco Mundial (2026), Honduras: panorama general; INE (2025), EPHPM 2025 e Informalidad laboral 2024; BCH (2026), Índice de Precios al Consumidor, diciembre 2025; La Tribuna (2026), remesas 2025 con datos del BCH; UNAH (2026), Boletín Económico; BCH (2024), ENIGH 2023-2024.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Estudio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11430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502920" y="115214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89888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prefactibilidad de crear una nueva marca de leche fresca o fluida en Honduras, para capturar un mercado nicho actualmente no atendido por ninguna empresa en el país.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08483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320040" y="208483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01168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822960" y="204825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Sectorial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25856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PESTEL + 5 Fuerzas de Porter: condiciones macro y micro del sector lácteo.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2491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 txBox="1"/>
          <p:nvPr/>
        </p:nvSpPr>
        <p:spPr>
          <a:xfrm>
            <a:off x="320040" y="272491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65176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 txBox="1"/>
          <p:nvPr/>
        </p:nvSpPr>
        <p:spPr>
          <a:xfrm>
            <a:off x="822960" y="268833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Administrativo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89864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organizacional y procesos de gestión eficientes y escalables.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336499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20040" y="336499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29184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822960" y="332841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Mercado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53872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potencial, oferta existente y comportamiento de consumidores (63 encuestas).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0507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 txBox="1"/>
          <p:nvPr/>
        </p:nvSpPr>
        <p:spPr>
          <a:xfrm>
            <a:off x="320040" y="400507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393192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 txBox="1"/>
          <p:nvPr/>
        </p:nvSpPr>
        <p:spPr>
          <a:xfrm>
            <a:off x="822960" y="396849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Ambiental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417880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ambientales y medidas de mitigación (MIAMBIENTE, SENASA).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208483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263640" y="208483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201168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 txBox="1"/>
          <p:nvPr/>
        </p:nvSpPr>
        <p:spPr>
          <a:xfrm>
            <a:off x="6766560" y="204825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Técnico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225856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Infraestructura, procesos productivos y capacidad instalada.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272491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6263640" y="272491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675120" y="265176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6766560" y="268833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Financiero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766560" y="289864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Proyectar inversiones, costos e ingresos; calcular VAN, TIR, B/C.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336499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 txBox="1"/>
          <p:nvPr/>
        </p:nvSpPr>
        <p:spPr>
          <a:xfrm>
            <a:off x="6263640" y="336499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675120" y="329184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 txBox="1"/>
          <p:nvPr/>
        </p:nvSpPr>
        <p:spPr>
          <a:xfrm>
            <a:off x="6766560" y="332841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Legal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353872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Normativas, permisos y obligaciones jurídicas (SENASA, ARSA, SAG).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63640" y="4005072"/>
            <a:ext cx="347472" cy="402336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 txBox="1"/>
          <p:nvPr/>
        </p:nvSpPr>
        <p:spPr>
          <a:xfrm>
            <a:off x="6263640" y="4005072"/>
            <a:ext cx="347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75120" y="3931920"/>
            <a:ext cx="5074920" cy="5486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 txBox="1"/>
          <p:nvPr/>
        </p:nvSpPr>
        <p:spPr>
          <a:xfrm>
            <a:off x="6766560" y="3968496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4178808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Monte Carlo con @Risk para cuantificar incertidumbre.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"Pura"?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5303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54864" cy="17373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484632" y="1280160"/>
            <a:ext cx="5047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HoReCa sin abastecer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1618488"/>
            <a:ext cx="5047488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cafeterías gourmet y restaurantes necesitan leche fresca para calidad de espuma. La UHT no genera la cremosidad para cappuccinos. Ninguna empresa ofrece este producto en Honduras actualmente.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143000"/>
            <a:ext cx="5303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6080760" y="1280160"/>
            <a:ext cx="54864" cy="17373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6245352" y="1280160"/>
            <a:ext cx="5047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detalle amplio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245352" y="1618488"/>
            <a:ext cx="5047488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2,000 clientes tipo "A" en región central que históricamente compraban leche fresca y hoy sustituyen con UHT por falta de oferta. Alta rotación y baja devolución.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3337560"/>
            <a:ext cx="5303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20040" y="3474720"/>
            <a:ext cx="54864" cy="17373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484632" y="3474720"/>
            <a:ext cx="5047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 diferenciada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" y="3813048"/>
            <a:ext cx="5047488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Leche fresca pasteurizada conserva propiedades nutricionales (proteínas, calcio, vitaminas) y mejor sabor. La UHT pasteuriza a &gt;135°C vs 72°C HTST, alterando organolépticos.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3337560"/>
            <a:ext cx="5303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6080760" y="3474720"/>
            <a:ext cx="54864" cy="17373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6245352" y="3474720"/>
            <a:ext cx="5047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del estudio de mercado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3813048"/>
            <a:ext cx="5047488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65 % de los establecimientos encuestados considera probable o muy probable comprar el producto y el 48 % pagaría entre L 26 y L 30 por litro de una marca diferenciada, rango que contiene el precio base de L 28.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ONUDI · Componentes del Estudio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510790" cy="3840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411480" y="1225296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Sectorial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 txBox="1"/>
          <p:nvPr/>
        </p:nvSpPr>
        <p:spPr>
          <a:xfrm>
            <a:off x="411480" y="1609344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PESTEL + Porter. Análisis cuantitativo y cualitativo del entorno macro y competitivo.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3750" y="1170432"/>
            <a:ext cx="2510790" cy="3840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 txBox="1"/>
          <p:nvPr/>
        </p:nvSpPr>
        <p:spPr>
          <a:xfrm>
            <a:off x="3425190" y="1225296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Mercado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3750" y="1554480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3425190" y="1609344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 a 63 establecimientos. Evalúa demanda, competencia y define estrategia "Pura".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47460" y="1170432"/>
            <a:ext cx="2510790" cy="3840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 txBox="1"/>
          <p:nvPr/>
        </p:nvSpPr>
        <p:spPr>
          <a:xfrm>
            <a:off x="6438900" y="1225296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Técnico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47460" y="1554480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 txBox="1"/>
          <p:nvPr/>
        </p:nvSpPr>
        <p:spPr>
          <a:xfrm>
            <a:off x="6438900" y="1609344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 (Comayagua), proceso HTST, capacidad 1,000–5,000 L/día y equipos.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61170" y="1170432"/>
            <a:ext cx="2510790" cy="3840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 txBox="1"/>
          <p:nvPr/>
        </p:nvSpPr>
        <p:spPr>
          <a:xfrm>
            <a:off x="9452610" y="1225296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Legal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361170" y="1554480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 txBox="1"/>
          <p:nvPr/>
        </p:nvSpPr>
        <p:spPr>
          <a:xfrm>
            <a:off x="9452610" y="1609344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Regulatorio: ARSA (licencia sanitaria), SENASA (inocuidad), SAG (producción), MIAMBIENTE.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2660904"/>
            <a:ext cx="2510790" cy="3840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 txBox="1"/>
          <p:nvPr/>
        </p:nvSpPr>
        <p:spPr>
          <a:xfrm>
            <a:off x="411480" y="2715768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Administrativo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044952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 txBox="1"/>
          <p:nvPr/>
        </p:nvSpPr>
        <p:spPr>
          <a:xfrm>
            <a:off x="411480" y="3099816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 escalable. Organigrama, roles, salarios y gestión del talento.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33750" y="2660904"/>
            <a:ext cx="2510790" cy="3840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 txBox="1"/>
          <p:nvPr/>
        </p:nvSpPr>
        <p:spPr>
          <a:xfrm>
            <a:off x="3425190" y="2715768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Ambiental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333750" y="3044952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 txBox="1"/>
          <p:nvPr/>
        </p:nvSpPr>
        <p:spPr>
          <a:xfrm>
            <a:off x="3425190" y="3099816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General del Ambiente, SERNA/MIAMBIENTE, SENASA. Gestión de efluentes y residuos.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47460" y="2660904"/>
            <a:ext cx="2510790" cy="3840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6438900" y="2715768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Financiero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47460" y="3044952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6438900" y="3099816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10 años: inversión L 1,784,058, flujos de caja, VAN, TIR, B/C.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361170" y="2660904"/>
            <a:ext cx="2510790" cy="3840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9452610" y="2715768"/>
            <a:ext cx="2373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Riesgos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361170" y="3044952"/>
            <a:ext cx="2510790" cy="85039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9452610" y="3099816"/>
            <a:ext cx="237363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Monte Carlo (@Risk) con 11 eventos bajo enfoque frecuencia-severidad.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Sectorial · PESTEL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93192" y="1261872"/>
            <a:ext cx="502920" cy="502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393192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1325880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9768" y="182880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regulado por SAG y SENASA. Marco legal estable con apoyo al sector agroalimentario. Política de inocuidad alimentaria activa.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0" y="1170432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187952" y="1261872"/>
            <a:ext cx="50292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4187952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325880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24528" y="182880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+3.4 % proyectado para 2026 (Banco Mundial), inflación de 4.98 % en 2025 (BCH) y remesas por US$12,212 M en 2025 (BCH). Segmento urbano con ingreso formal dispuesto a pagar por calidad.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09560" y="1170432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7982712" y="1261872"/>
            <a:ext cx="502920" cy="502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7982712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567928" y="1325880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019288" y="182880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leche cruda por tradición cultural. Tendencia creciente a productos más naturales y de calidad en zonas urbanas.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328416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93192" y="3419856"/>
            <a:ext cx="50292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 txBox="1"/>
          <p:nvPr/>
        </p:nvSpPr>
        <p:spPr>
          <a:xfrm>
            <a:off x="393192" y="34198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3483864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" y="3986784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HTST disponible y regulada (RTCA). Pasteurizadores, tanques de frío y envasadoras. HACCP implementable desde inicio.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14800" y="3328416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4187952" y="3419856"/>
            <a:ext cx="502920" cy="502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4187952" y="34198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773168" y="3483864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ECOLÓGICO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224528" y="3986784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vulnerabilidad al cambio climático. Gestión obligatoria de efluentes lácteos. Normativa MIAMBIENTE. Cadena de frío con huella energética.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09560" y="3328416"/>
            <a:ext cx="352044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7982712" y="3419856"/>
            <a:ext cx="50292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7982712" y="34198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567928" y="3483864"/>
            <a:ext cx="2770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019288" y="3986784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Ordenanza Inspección Sanitaria de Leche, RTCA, Ley de Inocuidad Alimentaria. Registro ARSA, permisos SENASA y licencia sanitaria requeridos.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Sectorial · 5 Fuerzas de Porter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389120" y="2606040"/>
            <a:ext cx="3383280" cy="19659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4480560" y="2697480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32004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Única leche fresca fluida en Honduras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349300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Alianza con ganaderos CREL certificados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78561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Foco: HoReCa y cafeterías gourmet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407822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Precio L 28/L validado por mercado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188720"/>
            <a:ext cx="3840480" cy="17830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338328" y="1280160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Proveedores · Medio-alto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1609344"/>
            <a:ext cx="3639312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atomización de ganaderos y dependencia del clima. Contratos con CREL estabilizan suministro y precio.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1188720"/>
            <a:ext cx="3840480" cy="17830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8202168" y="1280160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Competidores · Medio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1609344"/>
            <a:ext cx="3639312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moderadas: tecnología, permisos SENASA/ARSA e inversión; mercado controlado por un actor dominante.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28600" y="3154680"/>
            <a:ext cx="3840480" cy="17830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 txBox="1"/>
          <p:nvPr/>
        </p:nvSpPr>
        <p:spPr>
          <a:xfrm>
            <a:off x="338328" y="3246120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 Competitiva · Alta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" y="3575304"/>
            <a:ext cx="3639312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Sula (Lacthosa), Leyde y Dos Pinos dominan con UHT. Nadie ofrece leche fresca fluida: espacio de nicho.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2440" y="3154680"/>
            <a:ext cx="3840480" cy="17830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8202168" y="3246120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Clientes · Medio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02168" y="3575304"/>
            <a:ext cx="3639312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Supermercados negocian fuerte; canal detalle y HoReCa (+2,000 clientes tipo A) son más accesibles y valoran servicio local.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14800" y="5120640"/>
            <a:ext cx="3931920" cy="13258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 txBox="1"/>
          <p:nvPr/>
        </p:nvSpPr>
        <p:spPr>
          <a:xfrm>
            <a:off x="4224528" y="5212080"/>
            <a:ext cx="37307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Sustitutos · Alto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24528" y="5541264"/>
            <a:ext cx="3730752" cy="996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Leche UHT (Sula, Dos Pinos), bebidas vegetales (soya, almendra, avena), leche cruda informal.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Mercado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320040" y="1042415"/>
            <a:ext cx="4114800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aplicada a 63 establecimientos (pulperías, restaurantes, cafeterías y otros)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94360" y="1426464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594360" y="1426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081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intención de compra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691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disposición entre canal HoReCa y detalle urbano que valoran frescura e inocuidad sobre el precio.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146464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594360" y="2146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1281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frecuente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11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frecuente de lácteos en todos los segmentos. Alta rotación, baja devolución en clientes tipo 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2866464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594360" y="2866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8481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validado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31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considera precios actuales moderados. L 28/litro aceptado por el mercado objetivo.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" y="3586464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594360" y="3586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5681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de oferta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51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empresa ofrece leche fresca fluida. Clientes usan UHT por defecto, no por preferencia.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80560" y="1143000"/>
            <a:ext cx="7315200" cy="384048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526280" y="1170432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Clientes y Ventas a 10 Años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4846320"/>
            <a:ext cx="7223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inicial L 28/litro · Ajuste inflación 4.5%/año · Consumo promedio 150 L/mes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80560" y="1691640"/>
            <a:ext cx="73152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 txBox="1"/>
          <p:nvPr/>
        </p:nvSpPr>
        <p:spPr>
          <a:xfrm>
            <a:off x="4526280" y="171907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1691640"/>
            <a:ext cx="137160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 txBox="1"/>
          <p:nvPr/>
        </p:nvSpPr>
        <p:spPr>
          <a:xfrm>
            <a:off x="5257800" y="171907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1691640"/>
            <a:ext cx="201168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6629400" y="171907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Litros/año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95360" y="1691640"/>
            <a:ext cx="320040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8641080" y="171907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(L)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480560" y="2039112"/>
            <a:ext cx="7315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4526280" y="21305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212080" y="2039112"/>
            <a:ext cx="13716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257800" y="21305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583680" y="2039112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6629400" y="21305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108,000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595360" y="2039112"/>
            <a:ext cx="32004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8641080" y="21305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3,024,000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480560" y="2496312"/>
            <a:ext cx="7315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0"/>
          <p:cNvSpPr txBox="1"/>
          <p:nvPr/>
        </p:nvSpPr>
        <p:spPr>
          <a:xfrm>
            <a:off x="4526280" y="25877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212080" y="2496312"/>
            <a:ext cx="1371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 txBox="1"/>
          <p:nvPr/>
        </p:nvSpPr>
        <p:spPr>
          <a:xfrm>
            <a:off x="5257800" y="25877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583680" y="249631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 txBox="1"/>
          <p:nvPr/>
        </p:nvSpPr>
        <p:spPr>
          <a:xfrm>
            <a:off x="6629400" y="25877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180,000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8595360" y="2496312"/>
            <a:ext cx="32004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8" name="Text 46"/>
          <p:cNvSpPr txBox="1"/>
          <p:nvPr/>
        </p:nvSpPr>
        <p:spPr>
          <a:xfrm>
            <a:off x="8641080" y="25877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5,266,800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4480560" y="2953512"/>
            <a:ext cx="7315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Text 48"/>
          <p:cNvSpPr txBox="1"/>
          <p:nvPr/>
        </p:nvSpPr>
        <p:spPr>
          <a:xfrm>
            <a:off x="4526280" y="30449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212080" y="2953512"/>
            <a:ext cx="13716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2" name="Text 50"/>
          <p:cNvSpPr txBox="1"/>
          <p:nvPr/>
        </p:nvSpPr>
        <p:spPr>
          <a:xfrm>
            <a:off x="5257800" y="30449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583680" y="2953512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4" name="Text 52"/>
          <p:cNvSpPr txBox="1"/>
          <p:nvPr/>
        </p:nvSpPr>
        <p:spPr>
          <a:xfrm>
            <a:off x="6629400" y="30449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270,000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595360" y="2953512"/>
            <a:ext cx="32004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54"/>
          <p:cNvSpPr txBox="1"/>
          <p:nvPr/>
        </p:nvSpPr>
        <p:spPr>
          <a:xfrm>
            <a:off x="8641080" y="30449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8,255,709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4480560" y="3410712"/>
            <a:ext cx="7315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8" name="Text 56"/>
          <p:cNvSpPr txBox="1"/>
          <p:nvPr/>
        </p:nvSpPr>
        <p:spPr>
          <a:xfrm>
            <a:off x="4526280" y="35021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5212080" y="3410712"/>
            <a:ext cx="1371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0" name="Text 58"/>
          <p:cNvSpPr txBox="1"/>
          <p:nvPr/>
        </p:nvSpPr>
        <p:spPr>
          <a:xfrm>
            <a:off x="5257800" y="35021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6583680" y="341071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2" name="Text 60"/>
          <p:cNvSpPr txBox="1"/>
          <p:nvPr/>
        </p:nvSpPr>
        <p:spPr>
          <a:xfrm>
            <a:off x="6629400" y="35021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504,000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8595360" y="3410712"/>
            <a:ext cx="32004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4" name="Text 62"/>
          <p:cNvSpPr txBox="1"/>
          <p:nvPr/>
        </p:nvSpPr>
        <p:spPr>
          <a:xfrm>
            <a:off x="8641080" y="35021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16,828,822</a:t>
            </a:r>
            <a:endParaRPr lang="en-US" sz="1250" dirty="0"/>
          </a:p>
        </p:txBody>
      </p:sp>
      <p:sp>
        <p:nvSpPr>
          <p:cNvPr id="65" name="Shape 63"/>
          <p:cNvSpPr/>
          <p:nvPr/>
        </p:nvSpPr>
        <p:spPr>
          <a:xfrm>
            <a:off x="4480560" y="3867912"/>
            <a:ext cx="7315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64"/>
          <p:cNvSpPr txBox="1"/>
          <p:nvPr/>
        </p:nvSpPr>
        <p:spPr>
          <a:xfrm>
            <a:off x="4526280" y="39593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5212080" y="3867912"/>
            <a:ext cx="13716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8" name="Text 66"/>
          <p:cNvSpPr txBox="1"/>
          <p:nvPr/>
        </p:nvSpPr>
        <p:spPr>
          <a:xfrm>
            <a:off x="5257800" y="39593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6583680" y="3867912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0" name="Text 68"/>
          <p:cNvSpPr txBox="1"/>
          <p:nvPr/>
        </p:nvSpPr>
        <p:spPr>
          <a:xfrm>
            <a:off x="6629400" y="39593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774,000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595360" y="3867912"/>
            <a:ext cx="320040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2" name="Text 70"/>
          <p:cNvSpPr txBox="1"/>
          <p:nvPr/>
        </p:nvSpPr>
        <p:spPr>
          <a:xfrm>
            <a:off x="8641080" y="39593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28,222,581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4480560" y="4325112"/>
            <a:ext cx="7315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4" name="Text 72"/>
          <p:cNvSpPr txBox="1"/>
          <p:nvPr/>
        </p:nvSpPr>
        <p:spPr>
          <a:xfrm>
            <a:off x="4526280" y="44165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5212080" y="4325112"/>
            <a:ext cx="1371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6" name="Text 74"/>
          <p:cNvSpPr txBox="1"/>
          <p:nvPr/>
        </p:nvSpPr>
        <p:spPr>
          <a:xfrm>
            <a:off x="5257800" y="44165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6583680" y="432511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8" name="Text 76"/>
          <p:cNvSpPr txBox="1"/>
          <p:nvPr/>
        </p:nvSpPr>
        <p:spPr>
          <a:xfrm>
            <a:off x="6629400" y="441655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1,242,000</a:t>
            </a:r>
            <a:endParaRPr lang="en-US" sz="1250" dirty="0"/>
          </a:p>
        </p:txBody>
      </p:sp>
      <p:sp>
        <p:nvSpPr>
          <p:cNvPr id="79" name="Shape 77"/>
          <p:cNvSpPr/>
          <p:nvPr/>
        </p:nvSpPr>
        <p:spPr>
          <a:xfrm>
            <a:off x="8595360" y="4325112"/>
            <a:ext cx="32004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0" name="Text 78"/>
          <p:cNvSpPr txBox="1"/>
          <p:nvPr/>
        </p:nvSpPr>
        <p:spPr>
          <a:xfrm>
            <a:off x="8641080" y="4416552"/>
            <a:ext cx="3127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51,680,445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Técnico · Localización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5303520" cy="64008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 Óptima: Comayagua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18288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ubicada en autopista CA-5, a 500 m de la entrada a Comayagua, punto estratégico entre Tegucigalpa (80 km) y San Pedro Sula (160 km). Ventajas: acceso a productores ganaderos, logística de frío eficiente y zonificación agroindustrial compatible.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" y="2697480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320040" y="2697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9748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productores ganaderos certificados de la región y CREL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3081528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320040" y="30815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08152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de cadena de frío eficiente hacia ambas ciudades principales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3465576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32004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346557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Zonificación agroindustrial compatible con procesamiento de lácteos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849624"/>
            <a:ext cx="27432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 txBox="1"/>
          <p:nvPr/>
        </p:nvSpPr>
        <p:spPr>
          <a:xfrm>
            <a:off x="320040" y="38496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384962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Autopista CA-5: conectividad directa Tegucigalpa - San Pedro Sula</a:t>
            </a:r>
            <a:endParaRPr lang="en-US" sz="1150" dirty="0"/>
          </a:p>
        </p:txBody>
      </p:sp>
      <p:sp>
        <p:nvSpPr>
          <p:cNvPr id="86" name="Text 8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87" name="Rectangle 86"/>
          <p:cNvSpPr/>
          <p:nvPr/>
        </p:nvSpPr>
        <p:spPr>
          <a:xfrm>
            <a:off x="5943600" y="1115568"/>
            <a:ext cx="58064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035040" y="1115568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Matriz de selección de localización (Tabla 8 de la tesis)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943600" y="1554480"/>
            <a:ext cx="251460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961888" y="1554480"/>
            <a:ext cx="247802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Criterio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58200" y="1554480"/>
            <a:ext cx="82296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8476488" y="155448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Peso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81160" y="1554480"/>
            <a:ext cx="123444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299448" y="1554480"/>
            <a:ext cx="1197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Comayagua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15600" y="1554480"/>
            <a:ext cx="1234440" cy="31089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533888" y="1554480"/>
            <a:ext cx="1197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Villanueva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43600" y="1865376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961888" y="1865376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Costo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58200" y="1865376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476488" y="1865376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10 %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281160" y="1865376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299448" y="1865376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 / 0.30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15600" y="1865376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533888" y="1865376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 / 0.10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943600" y="2194560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961888" y="2194560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Logística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458200" y="2194560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8476488" y="2194560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15 %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281160" y="2194560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299448" y="2194560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0.30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515600" y="2194560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10533888" y="2194560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43600" y="2523744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5961888" y="2523744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Proveedores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58200" y="2523744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8476488" y="2523744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15 %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281160" y="2523744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9299448" y="2523744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 / 0.45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515600" y="2523744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0533888" y="2523744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 / 0.15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943600" y="2852927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961888" y="2852927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Competencia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458200" y="2852927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8476488" y="2852927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5 %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281160" y="2852927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9299448" y="2852927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 / 0.05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15600" y="2852927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533888" y="2852927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 / 0.05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0" y="3182111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961888" y="3182111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Disponibilidad de mano de obra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58200" y="3182111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8476488" y="3182111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10 %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281160" y="3182111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299448" y="3182111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0.20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515600" y="3182111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0533888" y="3182111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0.20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0" y="3511295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5961888" y="3511295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Accesibilidad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58200" y="3511295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476488" y="3511295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10 %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281160" y="3511295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299448" y="3511295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 / 0.30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515600" y="3511295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533888" y="3511295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 / 0.30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0" y="3840479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5961888" y="3840479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Flujo de personas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458200" y="3840479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476488" y="3840479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5 %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281160" y="3840479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9299448" y="3840479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515600" y="3840479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0533888" y="3840479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0" y="4169663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961888" y="4169663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Acceso a materia prima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458200" y="4169663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8476488" y="4169663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20 %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281160" y="4169663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299448" y="4169663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 / 0.60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515600" y="4169663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10533888" y="4169663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 / 0.20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943600" y="4498848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5961888" y="4498848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Impuestos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58200" y="4498848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8476488" y="4498848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5 %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281160" y="4498848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9299448" y="4498848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515600" y="4498848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0533888" y="4498848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943600" y="4828032"/>
            <a:ext cx="2514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5961888" y="4828032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Permisos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58200" y="4828032"/>
            <a:ext cx="8229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8476488" y="4828032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5 %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281160" y="4828032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9299448" y="4828032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0515600" y="4828032"/>
            <a:ext cx="12344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10533888" y="4828032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 / 0.10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943600" y="5157216"/>
            <a:ext cx="251460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961888" y="5157216"/>
            <a:ext cx="247802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TOTAL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458200" y="5157216"/>
            <a:ext cx="82296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8476488" y="5157216"/>
            <a:ext cx="7863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0D2341"/>
                </a:solidFill>
                <a:latin typeface="Calibri"/>
              </a:rPr>
              <a:t>100 %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281160" y="5157216"/>
            <a:ext cx="123444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9299448" y="5157216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0D2341"/>
                </a:solidFill>
                <a:latin typeface="Calibri"/>
              </a:rPr>
              <a:t>2.50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515600" y="5157216"/>
            <a:ext cx="123444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10533888" y="5157216"/>
            <a:ext cx="119786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0D2341"/>
                </a:solidFill>
                <a:latin typeface="Calibri"/>
              </a:rPr>
              <a:t>1.60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943600" y="5577840"/>
            <a:ext cx="5806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Escala: 1 = bajo, 2 = medio, 3 = alto. Cada celda muestra puntaje / puntaje ponderado.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Productivo · HTST y Capacidad Instalada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91440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91440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48840" y="1362456"/>
            <a:ext cx="137160" cy="12801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39319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Recibo de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Leche Cruda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319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recibo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calidad SENASA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8036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288036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0" y="1362456"/>
            <a:ext cx="137160" cy="12801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228600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235915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Enfriamiento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35915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 4°C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volumen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4632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 txBox="1"/>
          <p:nvPr/>
        </p:nvSpPr>
        <p:spPr>
          <a:xfrm>
            <a:off x="484632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080760" y="1362456"/>
            <a:ext cx="137160" cy="12801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25196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432511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Pasteurización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HTST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32511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72°C / 15 seg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Placas de intercambio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1228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 txBox="1"/>
          <p:nvPr/>
        </p:nvSpPr>
        <p:spPr>
          <a:xfrm>
            <a:off x="681228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046720" y="1362456"/>
            <a:ext cx="137160" cy="12801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621792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629107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Enfriamiento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29107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a 4°C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intercamb.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77824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 txBox="1"/>
          <p:nvPr/>
        </p:nvSpPr>
        <p:spPr>
          <a:xfrm>
            <a:off x="877824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012680" y="1362456"/>
            <a:ext cx="137160" cy="12801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Shape 30"/>
          <p:cNvSpPr/>
          <p:nvPr/>
        </p:nvSpPr>
        <p:spPr>
          <a:xfrm>
            <a:off x="818388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 txBox="1"/>
          <p:nvPr/>
        </p:nvSpPr>
        <p:spPr>
          <a:xfrm>
            <a:off x="825703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Envasado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Bolsa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5703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polietileno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litro / 500 ml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744200" y="1143000"/>
            <a:ext cx="566928" cy="566928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10744200" y="1143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0149840" y="1828800"/>
            <a:ext cx="1755648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10222992" y="1920240"/>
            <a:ext cx="1627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Frío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0222992" y="242316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Camión refrigerado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4°C constante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0040" y="4572000"/>
            <a:ext cx="2651760" cy="96012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 txBox="1"/>
          <p:nvPr/>
        </p:nvSpPr>
        <p:spPr>
          <a:xfrm>
            <a:off x="411480" y="46451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L/día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50749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inicial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227832" y="4572000"/>
            <a:ext cx="2651760" cy="96012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 txBox="1"/>
          <p:nvPr/>
        </p:nvSpPr>
        <p:spPr>
          <a:xfrm>
            <a:off x="3319272" y="46451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L/día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3319272" y="50749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máxima (escalable)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135624" y="4572000"/>
            <a:ext cx="2651760" cy="96012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6227064" y="46451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72°C / 15s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27064" y="50749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 HTST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043416" y="4572000"/>
            <a:ext cx="2651760" cy="96012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Text 48"/>
          <p:cNvSpPr txBox="1"/>
          <p:nvPr/>
        </p:nvSpPr>
        <p:spPr>
          <a:xfrm>
            <a:off x="9134856" y="46451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4°C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134856" y="50749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cadena de frío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5623560"/>
            <a:ext cx="11430000" cy="6400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457200" y="5742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HACCP implementable desde inicio · Control microbiológico diario · Trazabilidad completa del lote · BPM y POES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Legal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5349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349240" cy="4754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429768" y="1207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271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 de Regulación Sanitaria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9768" y="17373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73736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sanitaria de establecimiento procesador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9768" y="224028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24028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sanitario del producto (leche pasteurizada)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274320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74320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Libre Venta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55080" y="1143000"/>
            <a:ext cx="5349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355080" y="1143000"/>
            <a:ext cx="534924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6464808" y="1207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1271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Nacional de Sanidad e Inocuidad Agroalimentaria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17373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173736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funcionamiento como planta procesadora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24028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24028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de ganaderos proveedores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74320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74320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Auditorías de inocuidad y BPM en campo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" y="3611880"/>
            <a:ext cx="5349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320040" y="3611880"/>
            <a:ext cx="5349240" cy="475488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429768" y="36758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3739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Secretaría de Agricultura y Ganadería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" y="42062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5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20624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como empresa procesadora de productos lácteos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29768" y="47091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5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70916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Ordenanza Inspección Sanitaria de Leche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29768" y="521208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5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21208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Reglamento Técnico RTCA (Centroamérica)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3611880"/>
            <a:ext cx="5349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Shape 34"/>
          <p:cNvSpPr/>
          <p:nvPr/>
        </p:nvSpPr>
        <p:spPr>
          <a:xfrm>
            <a:off x="6355080" y="3611880"/>
            <a:ext cx="534924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 txBox="1"/>
          <p:nvPr/>
        </p:nvSpPr>
        <p:spPr>
          <a:xfrm>
            <a:off x="6464807" y="3675888"/>
            <a:ext cx="144436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MIAMBIENTE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3739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Secretaría de Recursos Naturales y Ambiente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420624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420624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Impacto Ambiental (EIA) preoperacional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7091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470916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ambiental de operación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521208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212080"/>
            <a:ext cx="4965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efluentes: DBO y DQO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Administrativo · Estructura Organizacional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5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57" name="Rectangle 56"/>
          <p:cNvSpPr/>
          <p:nvPr/>
        </p:nvSpPr>
        <p:spPr>
          <a:xfrm>
            <a:off x="4480560" y="1234440"/>
            <a:ext cx="3200400" cy="50292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480560" y="1234440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Gerente de Operaciones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71616" y="1737360"/>
            <a:ext cx="27432" cy="5029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481328" y="2231136"/>
            <a:ext cx="8622792" cy="2743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481328" y="2231136"/>
            <a:ext cx="27432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48640" y="2542032"/>
            <a:ext cx="1892807" cy="60350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48640" y="2542032"/>
            <a:ext cx="1892807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Asistente de televenta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y facturación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3200400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48640" y="3200400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Pedidos y cartera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547872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48640" y="3547872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Facturación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3895344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48640" y="3895344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Reportes de ventas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30168" y="2231136"/>
            <a:ext cx="27432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697480" y="2542032"/>
            <a:ext cx="1892807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2697480" y="2542032"/>
            <a:ext cx="1892807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Operador de recibo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y despacho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97480" y="3200400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697480" y="3200400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Recepción y temperatura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97480" y="3547872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697480" y="3547872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Carga y descarga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97480" y="3895344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697480" y="3895344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Trazabilidad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779008" y="2231136"/>
            <a:ext cx="27432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4846320" y="2542032"/>
            <a:ext cx="1892807" cy="60350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846320" y="2542032"/>
            <a:ext cx="1892807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Operador de pasteuri-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zación y empaque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46320" y="3200400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846320" y="3200400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Pasteurización HTST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547872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846320" y="3547872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Envasado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846320" y="3895344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4846320" y="3895344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Control de parámetros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27848" y="2231136"/>
            <a:ext cx="27432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995160" y="2542032"/>
            <a:ext cx="1892807" cy="6035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995160" y="2542032"/>
            <a:ext cx="1892807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Operador de mante-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nimiento y aseo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995160" y="3200400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6995160" y="3200400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Mantenimiento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995160" y="3547872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6995160" y="3547872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Limpieza CIP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995160" y="3895344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995160" y="3895344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Seguridad e higiene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76688" y="2231136"/>
            <a:ext cx="27432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9144000" y="2542032"/>
            <a:ext cx="1892807" cy="60350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9144000" y="2542032"/>
            <a:ext cx="1892807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Entregador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0" y="3200400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9144000" y="3200400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Distribución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44000" y="3547872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9144000" y="3547872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Cobranza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44000" y="3895344"/>
            <a:ext cx="1892807" cy="3017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9144000" y="3895344"/>
            <a:ext cx="1892807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i="0">
                <a:solidFill>
                  <a:srgbClr val="334155"/>
                </a:solidFill>
                <a:latin typeface="Calibri"/>
              </a:rPr>
              <a:t>Retroalimentación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434840"/>
            <a:ext cx="11064240" cy="868680"/>
          </a:xfrm>
          <a:prstGeom prst="rect">
            <a:avLst/>
          </a:prstGeom>
          <a:solidFill>
            <a:srgbClr val="E6F4F6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685800" y="44348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Estructura funcional jerárquica con 6 cargos. </a:t>
            </a:r>
            <a:r>
              <a:rPr sz="1100" b="0" i="0">
                <a:solidFill>
                  <a:srgbClr val="1B3A5C"/>
                </a:solidFill>
                <a:latin typeface="Calibri"/>
              </a:rPr>
              <a:t>Planilla mensual L 92,600 · Costos fijos operativos L 28,000/mes · Gastos administrativos L 21,600/mes.</a:t>
            </a:r>
          </a:p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Crecimiento previsto: </a:t>
            </a:r>
            <a:r>
              <a:rPr sz="1100" b="0" i="0">
                <a:solidFill>
                  <a:srgbClr val="1B3A5C"/>
                </a:solidFill>
                <a:latin typeface="Calibri"/>
              </a:rPr>
              <a:t>mercadeo y ventas, contador, supervisor de producción, técnico de calidad, coordinador de logística y más entregadores.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Ambiental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5349240" cy="164592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54864" cy="1645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484632" y="1207008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Normativo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1536192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General del Ambiente (SERNA/MIAMBIENTE), Reglamento de Salud Ambiental, requisitos SENASA para plantas procesadoras. Evaluación de Impacto Ambiental (EIA) previa a operación.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115568"/>
            <a:ext cx="5349240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6355080" y="1115568"/>
            <a:ext cx="54864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6519672" y="1207008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Efluentes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1536192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efluentes lácteos (suero, aguas de lavado) tienen alta carga orgánica. Trampa de grasas y tratamiento biológico antes de la descarga. Cumplimiento de límites de DBO y DQO de MiAmbiente.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889504"/>
            <a:ext cx="5349240" cy="164592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20040" y="2889504"/>
            <a:ext cx="54864" cy="1645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484632" y="2980944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Sólidos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" y="3310128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Envases defectuosos (polietileno), plásticos de insumos y residuos orgánicos. Plan de segregación, reciclaje y disposición adecuada. Contrato con empresa autorizada de disposición final.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55080" y="2889504"/>
            <a:ext cx="5349240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6355080" y="2889504"/>
            <a:ext cx="54864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6519672" y="2980944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Frío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3310128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energético continuo por refrigeración. Equipos eficientes y mantenimiento preventivo. Sistemas de respaldo, registro de temperatura y protocolos de contingencia.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663440"/>
            <a:ext cx="5349240" cy="164592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320040" y="4663440"/>
            <a:ext cx="54864" cy="16459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84632" y="4754880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de Mitigación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" y="5084064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BPM y POES desde el inicio de operaciones. Monitoreo periódico de parámetros ambientales. Plan de contingencias ante derrames. Capacitación continua al personal.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55080" y="4663440"/>
            <a:ext cx="5349240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6355080" y="4663440"/>
            <a:ext cx="54864" cy="1645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6519672" y="4754880"/>
            <a:ext cx="5093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Monitoreo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19672" y="5084064"/>
            <a:ext cx="5093208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mensual de DBO, DQO y pH de efluentes y del consumo de agua y energía por litro producido; evaluación integral trimestral y auditorías internas con registros documentados.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Financiero · Plan de Inversión y Supuestos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4" name="Text 62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65" name="TextBox 64"/>
          <p:cNvSpPr txBox="1"/>
          <p:nvPr/>
        </p:nvSpPr>
        <p:spPr>
          <a:xfrm>
            <a:off x="320040" y="1097280"/>
            <a:ext cx="5577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Desglose de la inversión inicial (Tabla 16)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1444752"/>
            <a:ext cx="338328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38328" y="1444752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Rubro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03320" y="1444752"/>
            <a:ext cx="132588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721607" y="1444752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Monto (L)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0" y="1444752"/>
            <a:ext cx="86868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047488" y="1444752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1755648"/>
            <a:ext cx="33832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38328" y="1755648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Tanques de almacenamiento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703320" y="1755648"/>
            <a:ext cx="13258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721607" y="1755648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360,000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1755648"/>
            <a:ext cx="8686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5047488" y="1755648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2066544"/>
            <a:ext cx="33832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38328" y="2066544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Pasteurizador HTST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2066544"/>
            <a:ext cx="13258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721607" y="2066544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150,000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0" y="2066544"/>
            <a:ext cx="8686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5047488" y="2066544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" y="2377440"/>
            <a:ext cx="33832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8328" y="2377440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Envasadora automática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703320" y="2377440"/>
            <a:ext cx="13258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721607" y="2377440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260,000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0" y="2377440"/>
            <a:ext cx="8686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5047488" y="2377440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" y="2688336"/>
            <a:ext cx="33832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338328" y="2688336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Sistema de enfriamiento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2688336"/>
            <a:ext cx="13258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3721607" y="2688336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125,000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0" y="2688336"/>
            <a:ext cx="8686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5047488" y="2688336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2999232"/>
            <a:ext cx="33832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38328" y="2999232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Camión de distribución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703320" y="2999232"/>
            <a:ext cx="13258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3721607" y="2999232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500,000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0" y="2999232"/>
            <a:ext cx="8686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5047488" y="2999232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20040" y="3310127"/>
            <a:ext cx="33832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38328" y="3310127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Activos fijos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703320" y="3310127"/>
            <a:ext cx="13258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721607" y="3310127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1,395,000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0" y="3310127"/>
            <a:ext cx="8686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047488" y="3310127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78.2 %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" y="3621023"/>
            <a:ext cx="33832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38328" y="3621023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Gastos diferidos preoperativos y legales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03320" y="3621023"/>
            <a:ext cx="13258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721607" y="3621023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76,000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0" y="3621023"/>
            <a:ext cx="8686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47488" y="3621023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4.3 %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3931920"/>
            <a:ext cx="33832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38328" y="3931920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Capital de trabajo (1 mes de costos)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703320" y="3931920"/>
            <a:ext cx="13258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721607" y="3931920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313,058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29200" y="3931920"/>
            <a:ext cx="86868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047488" y="3931920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17.5 %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" y="4242816"/>
            <a:ext cx="338328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38328" y="4242816"/>
            <a:ext cx="33467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INVERSIÓN TOTAL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4242816"/>
            <a:ext cx="132588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3721607" y="4242816"/>
            <a:ext cx="12893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1,784,058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29200" y="4242816"/>
            <a:ext cx="86868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047488" y="4242816"/>
            <a:ext cx="832103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100 %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20040" y="4645152"/>
            <a:ext cx="5577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Supuestos base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20040" y="4956048"/>
            <a:ext cx="27432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65759" y="4956048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Horizonte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37360" y="4956048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10 años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127248" y="4956048"/>
            <a:ext cx="27432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172968" y="4956048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Precio año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44568" y="4956048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L 28.00/litro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20040" y="5285232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365759" y="5285232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Inflación anual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737360" y="5285232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4.5 %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127248" y="5285232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172968" y="5285232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Clientes año 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44568" y="5285232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60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20040" y="5614416"/>
            <a:ext cx="27432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365759" y="5614416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Consumo por cliente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737360" y="5614416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150 L/mes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127248" y="5614416"/>
            <a:ext cx="27432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172968" y="5614416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Costos fijos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44568" y="5614416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L 28,000/mes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20040" y="5943600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365759" y="5943600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Gastos administrativos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737360" y="594360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L 21,600/mes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127248" y="5943600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3172968" y="5943600"/>
            <a:ext cx="1463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ISR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44568" y="594360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 i="0">
                <a:solidFill>
                  <a:srgbClr val="1B3A5C"/>
                </a:solidFill>
                <a:latin typeface="Calibri"/>
              </a:rPr>
              <a:t>25 % + 5 %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72200" y="1115568"/>
            <a:ext cx="5577840" cy="91440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309360" y="1152144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A7A8A"/>
                </a:solidFill>
                <a:latin typeface="Calibri"/>
              </a:rPr>
              <a:t>INVERSIÓN TOTAL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09360" y="1389888"/>
            <a:ext cx="5303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 1,784,058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172200" y="2121408"/>
            <a:ext cx="2743200" cy="713232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9006840" y="2121408"/>
            <a:ext cx="274320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263640" y="213969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A7A8A"/>
                </a:solidFill>
                <a:latin typeface="Calibri"/>
              </a:rPr>
              <a:t>Recursos propios · 50 %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2414016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A7A8A"/>
                </a:solidFill>
                <a:latin typeface="Calibri"/>
              </a:rPr>
              <a:t>L 892,029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098280" y="213969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1B3A5C"/>
                </a:solidFill>
                <a:latin typeface="Calibri"/>
              </a:rPr>
              <a:t>Préstamo bancario · 50 %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098280" y="2414016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B3A5C"/>
                </a:solidFill>
                <a:latin typeface="Calibri"/>
              </a:rPr>
              <a:t>L 892,029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172200" y="2852928"/>
            <a:ext cx="55778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Préstamo: 14 % anual · 5 años · cuota constante L 259,833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172200" y="3154680"/>
            <a:ext cx="5577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309360" y="3200400"/>
            <a:ext cx="5349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D2341"/>
                </a:solidFill>
                <a:latin typeface="Calibri"/>
              </a:rPr>
              <a:t>Tasa de descuento única: 15 %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Es el rendimiento mínimo exigido por los socios (Ke). Se aplica al flujo del proyecto (100 % capital propio) y al flujo del accionista.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334155"/>
                </a:solidFill>
                <a:latin typeface="Calibri"/>
              </a:rPr>
              <a:t>WACC = 50 % × 14 % × (1 − 25 %) + 50 % × 15 % = 12.8 %: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solo referencia; no descuenta ningún flujo.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72200" y="4645152"/>
            <a:ext cx="5577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Estructura de costos y gastos operativos, año 1 (L 3,756,698)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72200" y="4983480"/>
            <a:ext cx="2247869" cy="4572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6172200" y="4983480"/>
            <a:ext cx="224786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40.3 %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420069" y="4983480"/>
            <a:ext cx="2119579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8420069" y="4983480"/>
            <a:ext cx="21195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38.0 %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0539648" y="4983480"/>
            <a:ext cx="518739" cy="457200"/>
          </a:xfrm>
          <a:prstGeom prst="rect">
            <a:avLst/>
          </a:prstGeom>
          <a:solidFill>
            <a:srgbClr val="9ECFD5"/>
          </a:solidFill>
          <a:ln w="12700">
            <a:solidFill>
              <a:srgbClr val="9E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10539648" y="4983480"/>
            <a:ext cx="5187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341"/>
                </a:solidFill>
                <a:latin typeface="Calibri"/>
              </a:rPr>
              <a:t>9.3 %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1058387" y="4983480"/>
            <a:ext cx="401604" cy="457200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11459992" y="4983480"/>
            <a:ext cx="145023" cy="4572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11605016" y="4983480"/>
            <a:ext cx="145023" cy="457200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6172200" y="5586983"/>
            <a:ext cx="146304" cy="14630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355080" y="553212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Leche cruda (40.3 %)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046720" y="5586983"/>
            <a:ext cx="146304" cy="14630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8229600" y="553212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Personal (38.0 %)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921240" y="5586983"/>
            <a:ext cx="146304" cy="146304"/>
          </a:xfrm>
          <a:prstGeom prst="rect">
            <a:avLst/>
          </a:prstGeom>
          <a:solidFill>
            <a:srgbClr val="9ECFD5"/>
          </a:solidFill>
          <a:ln w="12700">
            <a:solidFill>
              <a:srgbClr val="9E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10104119" y="553212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Costos fijos (9.3 %)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172200" y="5861303"/>
            <a:ext cx="146304" cy="146304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55080" y="580644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Administración (7.2 %)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046720" y="5861303"/>
            <a:ext cx="146304" cy="146304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8229600" y="580644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Empaque (2.6 %)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921240" y="5861303"/>
            <a:ext cx="146304" cy="146304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10104119" y="5806440"/>
            <a:ext cx="16916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Combustible (2.6 %)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Financieros · VAN, TIR, PRI, IRVA y B/C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HeaderBg"/>
          <p:cNvSpPr/>
          <p:nvPr/>
        </p:nvSpPr>
        <p:spPr>
          <a:xfrm>
            <a:off x="320040" y="1115568"/>
            <a:ext cx="5440680" cy="411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HeaderTxt"/>
          <p:cNvSpPr txBox="1"/>
          <p:nvPr/>
        </p:nvSpPr>
        <p:spPr>
          <a:xfrm>
            <a:off x="457200" y="1115568"/>
            <a:ext cx="5166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FINANCIAMIENTO</a:t>
            </a:r>
            <a:endParaRPr lang="en-US" sz="1100" dirty="0"/>
          </a:p>
        </p:txBody>
      </p:sp>
      <p:sp>
        <p:nvSpPr>
          <p:cNvPr id="44" name="HeaderBg"/>
          <p:cNvSpPr/>
          <p:nvPr/>
        </p:nvSpPr>
        <p:spPr>
          <a:xfrm>
            <a:off x="6126480" y="1115568"/>
            <a:ext cx="5715000" cy="41148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HeaderTxt"/>
          <p:cNvSpPr txBox="1"/>
          <p:nvPr/>
        </p:nvSpPr>
        <p:spPr>
          <a:xfrm>
            <a:off x="6263640" y="1115568"/>
            <a:ext cx="5440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FINANCIAMIENTO (50% préstamo al 14% anual)</a:t>
            </a:r>
            <a:endParaRPr lang="en-US" sz="1100" dirty="0"/>
          </a:p>
        </p:txBody>
      </p:sp>
      <p:sp>
        <p:nvSpPr>
          <p:cNvPr id="46" name="CardBg"/>
          <p:cNvSpPr/>
          <p:nvPr/>
        </p:nvSpPr>
        <p:spPr>
          <a:xfrm>
            <a:off x="320040" y="1600200"/>
            <a:ext cx="175260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CardVal"/>
          <p:cNvSpPr txBox="1"/>
          <p:nvPr/>
        </p:nvSpPr>
        <p:spPr>
          <a:xfrm>
            <a:off x="320040" y="1645920"/>
            <a:ext cx="175260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15,370,631</a:t>
            </a:r>
            <a:endParaRPr lang="en-US" sz="2000" dirty="0"/>
          </a:p>
        </p:txBody>
      </p:sp>
      <p:sp>
        <p:nvSpPr>
          <p:cNvPr id="48" name="CardLbl"/>
          <p:cNvSpPr txBox="1"/>
          <p:nvPr/>
        </p:nvSpPr>
        <p:spPr>
          <a:xfrm>
            <a:off x="320040" y="2396916"/>
            <a:ext cx="175260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sin financiamiento</a:t>
            </a:r>
            <a:endParaRPr lang="en-US" sz="1000" dirty="0"/>
          </a:p>
        </p:txBody>
      </p:sp>
      <p:sp>
        <p:nvSpPr>
          <p:cNvPr id="49" name="CardBg"/>
          <p:cNvSpPr/>
          <p:nvPr/>
        </p:nvSpPr>
        <p:spPr>
          <a:xfrm>
            <a:off x="2164080" y="1600200"/>
            <a:ext cx="175260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CardVal"/>
          <p:cNvSpPr txBox="1"/>
          <p:nvPr/>
        </p:nvSpPr>
        <p:spPr>
          <a:xfrm>
            <a:off x="2164080" y="1645920"/>
            <a:ext cx="175260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55.95%</a:t>
            </a:r>
            <a:endParaRPr lang="en-US" sz="2000" dirty="0"/>
          </a:p>
        </p:txBody>
      </p:sp>
      <p:sp>
        <p:nvSpPr>
          <p:cNvPr id="51" name="CardLbl"/>
          <p:cNvSpPr txBox="1"/>
          <p:nvPr/>
        </p:nvSpPr>
        <p:spPr>
          <a:xfrm>
            <a:off x="2164080" y="2396916"/>
            <a:ext cx="175260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sin financiamiento</a:t>
            </a:r>
            <a:endParaRPr lang="en-US" sz="1000" dirty="0"/>
          </a:p>
        </p:txBody>
      </p:sp>
      <p:sp>
        <p:nvSpPr>
          <p:cNvPr id="52" name="CardBg"/>
          <p:cNvSpPr/>
          <p:nvPr/>
        </p:nvSpPr>
        <p:spPr>
          <a:xfrm>
            <a:off x="4008120" y="1600200"/>
            <a:ext cx="175260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CardVal"/>
          <p:cNvSpPr txBox="1"/>
          <p:nvPr/>
        </p:nvSpPr>
        <p:spPr>
          <a:xfrm>
            <a:off x="4008120" y="1645920"/>
            <a:ext cx="175260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3.67 años</a:t>
            </a:r>
            <a:endParaRPr lang="en-US" sz="2000" dirty="0"/>
          </a:p>
        </p:txBody>
      </p:sp>
      <p:sp>
        <p:nvSpPr>
          <p:cNvPr id="54" name="CardLbl"/>
          <p:cNvSpPr txBox="1"/>
          <p:nvPr/>
        </p:nvSpPr>
        <p:spPr>
          <a:xfrm>
            <a:off x="4008120" y="2396916"/>
            <a:ext cx="175260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recuperación</a:t>
            </a:r>
            <a:endParaRPr lang="en-US" sz="1000" dirty="0"/>
          </a:p>
        </p:txBody>
      </p:sp>
      <p:sp>
        <p:nvSpPr>
          <p:cNvPr id="55" name="CardBg"/>
          <p:cNvSpPr/>
          <p:nvPr/>
        </p:nvSpPr>
        <p:spPr>
          <a:xfrm>
            <a:off x="320040" y="2939796"/>
            <a:ext cx="267462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6" name="CardVal"/>
          <p:cNvSpPr txBox="1"/>
          <p:nvPr/>
        </p:nvSpPr>
        <p:spPr>
          <a:xfrm>
            <a:off x="320040" y="2985516"/>
            <a:ext cx="267462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8.62</a:t>
            </a:r>
            <a:endParaRPr lang="en-US" sz="2000" dirty="0"/>
          </a:p>
        </p:txBody>
      </p:sp>
      <p:sp>
        <p:nvSpPr>
          <p:cNvPr id="57" name="CardLbl"/>
          <p:cNvSpPr txBox="1"/>
          <p:nvPr/>
        </p:nvSpPr>
        <p:spPr>
          <a:xfrm>
            <a:off x="320040" y="3736512"/>
            <a:ext cx="267462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Rentabilidad (IRVA)</a:t>
            </a:r>
            <a:endParaRPr lang="en-US" sz="1000" dirty="0"/>
          </a:p>
        </p:txBody>
      </p:sp>
      <p:sp>
        <p:nvSpPr>
          <p:cNvPr id="58" name="CardBg"/>
          <p:cNvSpPr/>
          <p:nvPr/>
        </p:nvSpPr>
        <p:spPr>
          <a:xfrm>
            <a:off x="3086100" y="2939796"/>
            <a:ext cx="267462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9" name="CardVal"/>
          <p:cNvSpPr txBox="1"/>
          <p:nvPr/>
        </p:nvSpPr>
        <p:spPr>
          <a:xfrm>
            <a:off x="3086100" y="2985516"/>
            <a:ext cx="267462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2000" dirty="0"/>
          </a:p>
        </p:txBody>
      </p:sp>
      <p:sp>
        <p:nvSpPr>
          <p:cNvPr id="60" name="CardLbl"/>
          <p:cNvSpPr txBox="1"/>
          <p:nvPr/>
        </p:nvSpPr>
        <p:spPr>
          <a:xfrm>
            <a:off x="3086100" y="3736512"/>
            <a:ext cx="267462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Beneficio / Costo</a:t>
            </a:r>
            <a:endParaRPr lang="en-US" sz="1000" dirty="0"/>
          </a:p>
        </p:txBody>
      </p:sp>
      <p:sp>
        <p:nvSpPr>
          <p:cNvPr id="61" name="CardBg"/>
          <p:cNvSpPr/>
          <p:nvPr/>
        </p:nvSpPr>
        <p:spPr>
          <a:xfrm>
            <a:off x="6126480" y="1600200"/>
            <a:ext cx="184404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2" name="CardVal"/>
          <p:cNvSpPr txBox="1"/>
          <p:nvPr/>
        </p:nvSpPr>
        <p:spPr>
          <a:xfrm>
            <a:off x="6126480" y="1645920"/>
            <a:ext cx="184404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15,459,686</a:t>
            </a:r>
            <a:endParaRPr lang="en-US" sz="2000" dirty="0"/>
          </a:p>
        </p:txBody>
      </p:sp>
      <p:sp>
        <p:nvSpPr>
          <p:cNvPr id="63" name="CardLbl"/>
          <p:cNvSpPr txBox="1"/>
          <p:nvPr/>
        </p:nvSpPr>
        <p:spPr>
          <a:xfrm>
            <a:off x="6126480" y="2396916"/>
            <a:ext cx="184404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con financiamiento</a:t>
            </a:r>
            <a:endParaRPr lang="en-US" sz="1000" dirty="0"/>
          </a:p>
        </p:txBody>
      </p:sp>
      <p:sp>
        <p:nvSpPr>
          <p:cNvPr id="64" name="CardBg"/>
          <p:cNvSpPr/>
          <p:nvPr/>
        </p:nvSpPr>
        <p:spPr>
          <a:xfrm>
            <a:off x="8061960" y="1600200"/>
            <a:ext cx="184404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5" name="CardVal"/>
          <p:cNvSpPr txBox="1"/>
          <p:nvPr/>
        </p:nvSpPr>
        <p:spPr>
          <a:xfrm>
            <a:off x="8061960" y="1645920"/>
            <a:ext cx="184404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63.62%</a:t>
            </a:r>
            <a:endParaRPr lang="en-US" sz="2000" dirty="0"/>
          </a:p>
        </p:txBody>
      </p:sp>
      <p:sp>
        <p:nvSpPr>
          <p:cNvPr id="66" name="CardLbl"/>
          <p:cNvSpPr txBox="1"/>
          <p:nvPr/>
        </p:nvSpPr>
        <p:spPr>
          <a:xfrm>
            <a:off x="8061960" y="2396916"/>
            <a:ext cx="184404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con financiamiento</a:t>
            </a:r>
            <a:endParaRPr lang="en-US" sz="1000" dirty="0"/>
          </a:p>
        </p:txBody>
      </p:sp>
      <p:sp>
        <p:nvSpPr>
          <p:cNvPr id="67" name="CardBg"/>
          <p:cNvSpPr/>
          <p:nvPr/>
        </p:nvSpPr>
        <p:spPr>
          <a:xfrm>
            <a:off x="9997440" y="1600200"/>
            <a:ext cx="184404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8" name="CardVal"/>
          <p:cNvSpPr txBox="1"/>
          <p:nvPr/>
        </p:nvSpPr>
        <p:spPr>
          <a:xfrm>
            <a:off x="9997440" y="1645920"/>
            <a:ext cx="184404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3.66 años</a:t>
            </a:r>
            <a:endParaRPr lang="en-US" sz="2000" dirty="0"/>
          </a:p>
        </p:txBody>
      </p:sp>
      <p:sp>
        <p:nvSpPr>
          <p:cNvPr id="69" name="CardLbl"/>
          <p:cNvSpPr txBox="1"/>
          <p:nvPr/>
        </p:nvSpPr>
        <p:spPr>
          <a:xfrm>
            <a:off x="9997440" y="2396916"/>
            <a:ext cx="184404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recuperación</a:t>
            </a:r>
            <a:endParaRPr lang="en-US" sz="1000" dirty="0"/>
          </a:p>
        </p:txBody>
      </p:sp>
      <p:sp>
        <p:nvSpPr>
          <p:cNvPr id="70" name="CardBg"/>
          <p:cNvSpPr/>
          <p:nvPr/>
        </p:nvSpPr>
        <p:spPr>
          <a:xfrm>
            <a:off x="6126480" y="2939796"/>
            <a:ext cx="281178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1" name="CardVal"/>
          <p:cNvSpPr txBox="1"/>
          <p:nvPr/>
        </p:nvSpPr>
        <p:spPr>
          <a:xfrm>
            <a:off x="6126480" y="2985516"/>
            <a:ext cx="281178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17.33</a:t>
            </a:r>
            <a:endParaRPr lang="en-US" sz="2000" dirty="0"/>
          </a:p>
        </p:txBody>
      </p:sp>
      <p:sp>
        <p:nvSpPr>
          <p:cNvPr id="72" name="CardLbl"/>
          <p:cNvSpPr txBox="1"/>
          <p:nvPr/>
        </p:nvSpPr>
        <p:spPr>
          <a:xfrm>
            <a:off x="6126480" y="3736512"/>
            <a:ext cx="281178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Rentabilidad (IRVA)</a:t>
            </a:r>
            <a:endParaRPr lang="en-US" sz="1000" dirty="0"/>
          </a:p>
        </p:txBody>
      </p:sp>
      <p:sp>
        <p:nvSpPr>
          <p:cNvPr id="73" name="CardBg"/>
          <p:cNvSpPr/>
          <p:nvPr/>
        </p:nvSpPr>
        <p:spPr>
          <a:xfrm>
            <a:off x="9029700" y="2939796"/>
            <a:ext cx="2811780" cy="124815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4" name="CardVal"/>
          <p:cNvSpPr txBox="1"/>
          <p:nvPr/>
        </p:nvSpPr>
        <p:spPr>
          <a:xfrm>
            <a:off x="9029700" y="2985516"/>
            <a:ext cx="2811780" cy="77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2000" dirty="0"/>
          </a:p>
        </p:txBody>
      </p:sp>
      <p:sp>
        <p:nvSpPr>
          <p:cNvPr id="75" name="CardLbl"/>
          <p:cNvSpPr txBox="1"/>
          <p:nvPr/>
        </p:nvSpPr>
        <p:spPr>
          <a:xfrm>
            <a:off x="9029700" y="3736512"/>
            <a:ext cx="2811780" cy="428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Beneficio / Costo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279392"/>
            <a:ext cx="18288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 txBox="1"/>
          <p:nvPr/>
        </p:nvSpPr>
        <p:spPr>
          <a:xfrm>
            <a:off x="594360" y="4297680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IRVA = VAN / inversión aportada: sin financiamiento se divide entre L 1,784,058; con financiamiento, entre el aporte de los socios (L 892,029). Por eso se duplica (8.62 → 17.33).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040" y="4663440"/>
            <a:ext cx="18288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 txBox="1"/>
          <p:nvPr/>
        </p:nvSpPr>
        <p:spPr>
          <a:xfrm>
            <a:off x="594360" y="4681728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B/C = VP de beneficios / (inversión + VP de costos). Con deuda baja el aporte propio, pero entran intereses y amortizaciones cuyo VP al 15 % casi iguala al préstamo: 1.239 y 1.241.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" y="5047488"/>
            <a:ext cx="18288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594360" y="5065776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VAN se descuentan al 15 % (rendimiento mínimo de los socios); el WACC de 12.8 % es solo referencial. La TIR con deuda (63.62 %) supera el costo del préstamo (14 %).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20040" y="5431536"/>
            <a:ext cx="182880" cy="27432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 txBox="1"/>
          <p:nvPr/>
        </p:nvSpPr>
        <p:spPr>
          <a:xfrm>
            <a:off x="594360" y="5449824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VAN son determinísticos (supuestos puntuales). El VPN medio de @RISK (L 24.0 M) mide otra cosa y se concilia en la sección de riesgos.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Sensibilidad · Variables Críticas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62" name="TextBox 61"/>
          <p:cNvSpPr txBox="1"/>
          <p:nvPr/>
        </p:nvSpPr>
        <p:spPr>
          <a:xfrm>
            <a:off x="320040" y="1051560"/>
            <a:ext cx="11430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Clasificación por el rango de variación del VAN sin financiamiento al mover cada variable entre su mínimo y máximo (una a la vez; rangos de las Tablas 36 y 37).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1417320"/>
            <a:ext cx="118872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20040" y="1417320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MUY ALTO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54480" y="1417320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645920" y="1417320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Consumo por cliente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46320" y="1417320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150 L/mes · Mín 127.5 L/mes · Máx 180 L/mes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1417320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−3.81 M / +5.07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8.89 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1837944"/>
            <a:ext cx="118872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20040" y="1837944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MUY ALTO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54480" y="1837944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645920" y="1837944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Precio de venta, Año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46320" y="1837944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L 28 · Mín L 26 · Máx L 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8160" y="1837944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−4.25 M / +4.24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8.50 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2258568"/>
            <a:ext cx="118872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20040" y="2258568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MUY ALTO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54480" y="2258568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645920" y="2258568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Costo de leche cruda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46320" y="2258568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L 13.00 · Mín L 11.70 · Máx L 14.95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8160" y="2258568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+3.02 M / −4.53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7.55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2679192"/>
            <a:ext cx="1188720" cy="365760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20040" y="2679192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54480" y="2679192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645920" y="2679192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Clientes activos, Año 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46320" y="2679192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690 · Mín 552 · Máx 828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38160" y="2679192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−0.78 M / +0.78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1.56 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040" y="3099816"/>
            <a:ext cx="1188720" cy="365760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20040" y="3099816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554480" y="3099816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645920" y="3099816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Inflación anual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3099816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4.5 % · Mín 3.82 % · Máx 5.4 %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38160" y="3099816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−0.43 M / +0.59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1.01 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3520440"/>
            <a:ext cx="1188720" cy="365760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20040" y="3520440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554480" y="3520440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45920" y="3520440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Clientes activos, Año 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6320" y="3520440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280 · Mín 224 · Máx 336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38160" y="3520440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−0.50 M / +0.50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1.00 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0040" y="3941064"/>
            <a:ext cx="118872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320040" y="3941064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554480" y="3941064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645920" y="3941064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Merma de proceso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46320" y="3941064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3 % · Mín 2.4 % · Máx 3.9 %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38160" y="3941064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+0.19 M / −0.28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0.47 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4361688"/>
            <a:ext cx="118872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20040" y="4361688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554480" y="4361688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1645920" y="4361688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Clientes activos, Año 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46320" y="4361688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60 · Mín 45 · Máx 75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138160" y="4361688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−0.22 M / +0.22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0.44 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20040" y="4782312"/>
            <a:ext cx="118872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320040" y="4782312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554480" y="4782312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645920" y="4782312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Costo de empaque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46320" y="4782312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L 0.8667 · Mín L 0.78 · Máx L 0.9533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138160" y="4782312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+0.20 M / −0.20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0.39 M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20040" y="5202936"/>
            <a:ext cx="118872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20040" y="5202936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554480" y="5202936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645920" y="5202936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Costos fijos operativos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46320" y="5202936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L 28,000 · Mín L 25,200 · Máx L 32,200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38160" y="5202936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+0.15 M / −0.23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0.38 M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20040" y="5623560"/>
            <a:ext cx="118872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320040" y="5623560"/>
            <a:ext cx="1188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BAJO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554480" y="5623560"/>
            <a:ext cx="10195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645920" y="5623560"/>
            <a:ext cx="3657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Combustible de reparto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46320" y="5623560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Base L 0.8667 · Mín L 0.8 · Máx L 0.95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138160" y="5623560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ΔVAN: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+0.15 M / −0.19 M</a:t>
            </a:r>
            <a:r>
              <a:rPr sz="1000" b="0" i="0">
                <a:solidFill>
                  <a:srgbClr val="64748B"/>
                </a:solidFill>
                <a:latin typeface="Calibri"/>
              </a:rPr>
              <a:t>   Rango: </a:t>
            </a:r>
            <a:r>
              <a:rPr sz="1000" b="1" i="0">
                <a:solidFill>
                  <a:srgbClr val="334155"/>
                </a:solidFill>
                <a:latin typeface="Calibri"/>
              </a:rPr>
              <a:t>L 0.34 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0040" y="6089904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No simuladas: tasa del préstamo (14 %, contractual), ISR, aportes patronales y estructura de financiamiento. La variación del tipo de cambio se trata como evento de riesgo (Monte Carlo).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 · @Risk Monte Carlo — 11 Eventos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320040" y="1060704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de pérdidas: L 3,614,648 (15.1 % del VPN medio del inversionista) · VPN Inversionista &gt; 0 en el 100 % de las 10,000 iteraciones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292608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356616" y="1417320"/>
            <a:ext cx="28712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Riesgo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59436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3282696" y="1417320"/>
            <a:ext cx="539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0" y="1371600"/>
            <a:ext cx="59436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3877056" y="1417320"/>
            <a:ext cx="539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371600"/>
            <a:ext cx="132588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 txBox="1"/>
          <p:nvPr/>
        </p:nvSpPr>
        <p:spPr>
          <a:xfrm>
            <a:off x="4471416" y="1417320"/>
            <a:ext cx="1271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Esp. (L)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60720" y="1371600"/>
            <a:ext cx="77724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5797296" y="1417320"/>
            <a:ext cx="722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Riesgo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37960" y="1371600"/>
            <a:ext cx="4251960" cy="347472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6574536" y="1417320"/>
            <a:ext cx="4197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Mitigación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1719072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 txBox="1"/>
          <p:nvPr/>
        </p:nvSpPr>
        <p:spPr>
          <a:xfrm>
            <a:off x="356616" y="1810512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de nuevo competidor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1719072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 txBox="1"/>
          <p:nvPr/>
        </p:nvSpPr>
        <p:spPr>
          <a:xfrm>
            <a:off x="3282696" y="1810512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40480" y="1719072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3877056" y="1810512"/>
            <a:ext cx="539496" cy="237744"/>
          </a:xfrm>
          <a:prstGeom prst="rect">
            <a:avLst/>
          </a:prstGeom>
          <a:solidFill>
            <a:srgbClr val="E7EA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34840" y="171907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 txBox="1"/>
          <p:nvPr/>
        </p:nvSpPr>
        <p:spPr>
          <a:xfrm>
            <a:off x="4471416" y="1810512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1,137,757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60720" y="1719072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5797296" y="1810512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31.48%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1719072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6574536" y="1810512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rápido y contratos con distribuidores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2121408"/>
            <a:ext cx="29260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 txBox="1"/>
          <p:nvPr/>
        </p:nvSpPr>
        <p:spPr>
          <a:xfrm>
            <a:off x="356616" y="2212848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precio leche cruda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46120" y="2121408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 txBox="1"/>
          <p:nvPr/>
        </p:nvSpPr>
        <p:spPr>
          <a:xfrm>
            <a:off x="3282696" y="2212848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40480" y="2121408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 txBox="1"/>
          <p:nvPr/>
        </p:nvSpPr>
        <p:spPr>
          <a:xfrm>
            <a:off x="3877056" y="2212848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34840" y="2121408"/>
            <a:ext cx="1325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 txBox="1"/>
          <p:nvPr/>
        </p:nvSpPr>
        <p:spPr>
          <a:xfrm>
            <a:off x="4471416" y="2212848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801,253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760720" y="2121408"/>
            <a:ext cx="77724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 txBox="1"/>
          <p:nvPr/>
        </p:nvSpPr>
        <p:spPr>
          <a:xfrm>
            <a:off x="5797296" y="2212848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22.17%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37960" y="2121408"/>
            <a:ext cx="42519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 txBox="1"/>
          <p:nvPr/>
        </p:nvSpPr>
        <p:spPr>
          <a:xfrm>
            <a:off x="6574536" y="2212848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LP con CREL y ganaderos certificados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" y="2523744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 txBox="1"/>
          <p:nvPr/>
        </p:nvSpPr>
        <p:spPr>
          <a:xfrm>
            <a:off x="356616" y="2615184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de clientes clave HoReCa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46120" y="2523744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3"/>
          <p:cNvSpPr txBox="1"/>
          <p:nvPr/>
        </p:nvSpPr>
        <p:spPr>
          <a:xfrm>
            <a:off x="3282696" y="2615184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840480" y="2523744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 txBox="1"/>
          <p:nvPr/>
        </p:nvSpPr>
        <p:spPr>
          <a:xfrm>
            <a:off x="3877056" y="2615184"/>
            <a:ext cx="539496" cy="237744"/>
          </a:xfrm>
          <a:prstGeom prst="rect">
            <a:avLst/>
          </a:prstGeom>
          <a:solidFill>
            <a:srgbClr val="E7EA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434840" y="2523744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 txBox="1"/>
          <p:nvPr/>
        </p:nvSpPr>
        <p:spPr>
          <a:xfrm>
            <a:off x="4471416" y="2615184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684,048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760720" y="2523744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 txBox="1"/>
          <p:nvPr/>
        </p:nvSpPr>
        <p:spPr>
          <a:xfrm>
            <a:off x="5797296" y="2615184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18.92%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37960" y="2523744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6574536" y="2615184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de abastecimiento y política de cambios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0040" y="2926080"/>
            <a:ext cx="29260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5" name="Text 53"/>
          <p:cNvSpPr txBox="1"/>
          <p:nvPr/>
        </p:nvSpPr>
        <p:spPr>
          <a:xfrm>
            <a:off x="356616" y="3017520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equipo pasteurización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246120" y="2926080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55"/>
          <p:cNvSpPr txBox="1"/>
          <p:nvPr/>
        </p:nvSpPr>
        <p:spPr>
          <a:xfrm>
            <a:off x="3282696" y="3017520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840480" y="2926080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9" name="Text 57"/>
          <p:cNvSpPr txBox="1"/>
          <p:nvPr/>
        </p:nvSpPr>
        <p:spPr>
          <a:xfrm>
            <a:off x="3877056" y="3017520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434840" y="2926080"/>
            <a:ext cx="1325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9"/>
          <p:cNvSpPr txBox="1"/>
          <p:nvPr/>
        </p:nvSpPr>
        <p:spPr>
          <a:xfrm>
            <a:off x="4471416" y="3017520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187,460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760720" y="2926080"/>
            <a:ext cx="77724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3" name="Text 61"/>
          <p:cNvSpPr txBox="1"/>
          <p:nvPr/>
        </p:nvSpPr>
        <p:spPr>
          <a:xfrm>
            <a:off x="5797296" y="3017520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5.19%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537960" y="2926080"/>
            <a:ext cx="42519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5" name="Text 63"/>
          <p:cNvSpPr txBox="1"/>
          <p:nvPr/>
        </p:nvSpPr>
        <p:spPr>
          <a:xfrm>
            <a:off x="6574536" y="3017520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mantenimiento preventivo y seguro de equipo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20040" y="3328416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7" name="Text 65"/>
          <p:cNvSpPr txBox="1"/>
          <p:nvPr/>
        </p:nvSpPr>
        <p:spPr>
          <a:xfrm>
            <a:off x="356616" y="3419856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precio combustible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246120" y="3328416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9" name="Text 67"/>
          <p:cNvSpPr txBox="1"/>
          <p:nvPr/>
        </p:nvSpPr>
        <p:spPr>
          <a:xfrm>
            <a:off x="3282696" y="3419856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840480" y="3328416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1" name="Text 69"/>
          <p:cNvSpPr txBox="1"/>
          <p:nvPr/>
        </p:nvSpPr>
        <p:spPr>
          <a:xfrm>
            <a:off x="3877056" y="3419856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434840" y="3328416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3" name="Text 71"/>
          <p:cNvSpPr txBox="1"/>
          <p:nvPr/>
        </p:nvSpPr>
        <p:spPr>
          <a:xfrm>
            <a:off x="4471416" y="3419856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171,890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760720" y="3328416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5" name="Text 73"/>
          <p:cNvSpPr txBox="1"/>
          <p:nvPr/>
        </p:nvSpPr>
        <p:spPr>
          <a:xfrm>
            <a:off x="5797296" y="3419856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4.76%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6537960" y="3328416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7" name="Text 75"/>
          <p:cNvSpPr txBox="1"/>
          <p:nvPr/>
        </p:nvSpPr>
        <p:spPr>
          <a:xfrm>
            <a:off x="6574536" y="3419856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rutas y revisión periódica de tarifas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320040" y="3730752"/>
            <a:ext cx="29260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9" name="Text 77"/>
          <p:cNvSpPr txBox="1"/>
          <p:nvPr/>
        </p:nvSpPr>
        <p:spPr>
          <a:xfrm>
            <a:off x="356616" y="3822192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mayor a proyectada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246120" y="3730752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1" name="Text 79"/>
          <p:cNvSpPr txBox="1"/>
          <p:nvPr/>
        </p:nvSpPr>
        <p:spPr>
          <a:xfrm>
            <a:off x="3282696" y="3822192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840480" y="3730752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3" name="Text 81"/>
          <p:cNvSpPr txBox="1"/>
          <p:nvPr/>
        </p:nvSpPr>
        <p:spPr>
          <a:xfrm>
            <a:off x="3877056" y="3822192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434840" y="3730752"/>
            <a:ext cx="1325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5" name="Text 83"/>
          <p:cNvSpPr txBox="1"/>
          <p:nvPr/>
        </p:nvSpPr>
        <p:spPr>
          <a:xfrm>
            <a:off x="4471416" y="3822192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169,206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760720" y="3730752"/>
            <a:ext cx="77724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7" name="Text 85"/>
          <p:cNvSpPr txBox="1"/>
          <p:nvPr/>
        </p:nvSpPr>
        <p:spPr>
          <a:xfrm>
            <a:off x="5797296" y="3822192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4.68%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6537960" y="3730752"/>
            <a:ext cx="42519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9" name="Text 87"/>
          <p:cNvSpPr txBox="1"/>
          <p:nvPr/>
        </p:nvSpPr>
        <p:spPr>
          <a:xfrm>
            <a:off x="6574536" y="3822192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anual de precios alineada a inflación real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320040" y="4133088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1" name="Text 89"/>
          <p:cNvSpPr txBox="1"/>
          <p:nvPr/>
        </p:nvSpPr>
        <p:spPr>
          <a:xfrm>
            <a:off x="356616" y="4224528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Interrupción cadena de frío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3246120" y="4133088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3" name="Text 91"/>
          <p:cNvSpPr txBox="1"/>
          <p:nvPr/>
        </p:nvSpPr>
        <p:spPr>
          <a:xfrm>
            <a:off x="3282696" y="4224528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3840480" y="4133088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5" name="Text 93"/>
          <p:cNvSpPr txBox="1"/>
          <p:nvPr/>
        </p:nvSpPr>
        <p:spPr>
          <a:xfrm>
            <a:off x="3877056" y="4224528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434840" y="4133088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7" name="Text 95"/>
          <p:cNvSpPr txBox="1"/>
          <p:nvPr/>
        </p:nvSpPr>
        <p:spPr>
          <a:xfrm>
            <a:off x="4471416" y="4224528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135,281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5760720" y="4133088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9" name="Text 97"/>
          <p:cNvSpPr txBox="1"/>
          <p:nvPr/>
        </p:nvSpPr>
        <p:spPr>
          <a:xfrm>
            <a:off x="5797296" y="4224528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3.74%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537960" y="4133088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1" name="Text 99"/>
          <p:cNvSpPr txBox="1"/>
          <p:nvPr/>
        </p:nvSpPr>
        <p:spPr>
          <a:xfrm>
            <a:off x="6574536" y="4224528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de respaldo y protocolos de contingencia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320040" y="4535424"/>
            <a:ext cx="29260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3" name="Text 101"/>
          <p:cNvSpPr txBox="1"/>
          <p:nvPr/>
        </p:nvSpPr>
        <p:spPr>
          <a:xfrm>
            <a:off x="356616" y="4626864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tipo de cambio Lps/USD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3246120" y="4535424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5" name="Text 103"/>
          <p:cNvSpPr txBox="1"/>
          <p:nvPr/>
        </p:nvSpPr>
        <p:spPr>
          <a:xfrm>
            <a:off x="3282696" y="4626864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3840480" y="4535424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7" name="Text 105"/>
          <p:cNvSpPr txBox="1"/>
          <p:nvPr/>
        </p:nvSpPr>
        <p:spPr>
          <a:xfrm>
            <a:off x="3877056" y="4626864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4434840" y="4535424"/>
            <a:ext cx="1325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9" name="Text 107"/>
          <p:cNvSpPr txBox="1"/>
          <p:nvPr/>
        </p:nvSpPr>
        <p:spPr>
          <a:xfrm>
            <a:off x="4471416" y="4626864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112,704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5760720" y="4535424"/>
            <a:ext cx="77724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1" name="Text 109"/>
          <p:cNvSpPr txBox="1"/>
          <p:nvPr/>
        </p:nvSpPr>
        <p:spPr>
          <a:xfrm>
            <a:off x="5797296" y="4626864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3.12%</a:t>
            </a:r>
            <a:endParaRPr lang="en-US" sz="1100" dirty="0"/>
          </a:p>
        </p:txBody>
      </p:sp>
      <p:sp>
        <p:nvSpPr>
          <p:cNvPr id="112" name="Shape 110"/>
          <p:cNvSpPr/>
          <p:nvPr/>
        </p:nvSpPr>
        <p:spPr>
          <a:xfrm>
            <a:off x="6537960" y="4535424"/>
            <a:ext cx="42519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3" name="Text 111"/>
          <p:cNvSpPr txBox="1"/>
          <p:nvPr/>
        </p:nvSpPr>
        <p:spPr>
          <a:xfrm>
            <a:off x="6574536" y="4626864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Diversificar proveedores nacionales de insumos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320040" y="4937760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5" name="Text 113"/>
          <p:cNvSpPr txBox="1"/>
          <p:nvPr/>
        </p:nvSpPr>
        <p:spPr>
          <a:xfrm>
            <a:off x="356616" y="5029200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Contaminación de lote / retiro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3246120" y="493776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7" name="Text 115"/>
          <p:cNvSpPr txBox="1"/>
          <p:nvPr/>
        </p:nvSpPr>
        <p:spPr>
          <a:xfrm>
            <a:off x="3282696" y="5029200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3840480" y="493776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9" name="Text 117"/>
          <p:cNvSpPr txBox="1"/>
          <p:nvPr/>
        </p:nvSpPr>
        <p:spPr>
          <a:xfrm>
            <a:off x="3877056" y="5029200"/>
            <a:ext cx="539496" cy="237744"/>
          </a:xfrm>
          <a:prstGeom prst="rect">
            <a:avLst/>
          </a:prstGeom>
          <a:solidFill>
            <a:srgbClr val="E7EA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434840" y="4937760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1" name="Text 119"/>
          <p:cNvSpPr txBox="1"/>
          <p:nvPr/>
        </p:nvSpPr>
        <p:spPr>
          <a:xfrm>
            <a:off x="4471416" y="5029200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99,188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5760720" y="4937760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3" name="Text 121"/>
          <p:cNvSpPr txBox="1"/>
          <p:nvPr/>
        </p:nvSpPr>
        <p:spPr>
          <a:xfrm>
            <a:off x="5797296" y="5029200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2.74%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6537960" y="4937760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5" name="Text 123"/>
          <p:cNvSpPr txBox="1"/>
          <p:nvPr/>
        </p:nvSpPr>
        <p:spPr>
          <a:xfrm>
            <a:off x="6574536" y="5029200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completa, análisis microbiológicos diarios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320040" y="5340096"/>
            <a:ext cx="29260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7" name="Text 125"/>
          <p:cNvSpPr txBox="1"/>
          <p:nvPr/>
        </p:nvSpPr>
        <p:spPr>
          <a:xfrm>
            <a:off x="356616" y="5431536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 de transporte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3246120" y="5340096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9" name="Text 127"/>
          <p:cNvSpPr txBox="1"/>
          <p:nvPr/>
        </p:nvSpPr>
        <p:spPr>
          <a:xfrm>
            <a:off x="3282696" y="5431536"/>
            <a:ext cx="539496" cy="237744"/>
          </a:xfrm>
          <a:prstGeom prst="rect">
            <a:avLst/>
          </a:prstGeom>
          <a:solidFill>
            <a:srgbClr val="FDEBD5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3840480" y="5340096"/>
            <a:ext cx="5943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1" name="Text 129"/>
          <p:cNvSpPr txBox="1"/>
          <p:nvPr/>
        </p:nvSpPr>
        <p:spPr>
          <a:xfrm>
            <a:off x="3877056" y="5431536"/>
            <a:ext cx="539496" cy="237744"/>
          </a:xfrm>
          <a:prstGeom prst="rect">
            <a:avLst/>
          </a:prstGeom>
          <a:solidFill>
            <a:srgbClr val="E7EA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434840" y="5340096"/>
            <a:ext cx="1325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3" name="Text 131"/>
          <p:cNvSpPr txBox="1"/>
          <p:nvPr/>
        </p:nvSpPr>
        <p:spPr>
          <a:xfrm>
            <a:off x="4471416" y="5431536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58,815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5760720" y="5340096"/>
            <a:ext cx="77724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5" name="Text 133"/>
          <p:cNvSpPr txBox="1"/>
          <p:nvPr/>
        </p:nvSpPr>
        <p:spPr>
          <a:xfrm>
            <a:off x="5797296" y="5431536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1.63%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537960" y="5340096"/>
            <a:ext cx="425196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7" name="Text 135"/>
          <p:cNvSpPr txBox="1"/>
          <p:nvPr/>
        </p:nvSpPr>
        <p:spPr>
          <a:xfrm>
            <a:off x="6574536" y="5431536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de carga, capacitación y rutas seguras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320040" y="5742432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9" name="Text 137"/>
          <p:cNvSpPr txBox="1"/>
          <p:nvPr/>
        </p:nvSpPr>
        <p:spPr>
          <a:xfrm>
            <a:off x="356616" y="5833872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normativa SENASA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3246120" y="5742432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1" name="Text 139"/>
          <p:cNvSpPr txBox="1"/>
          <p:nvPr/>
        </p:nvSpPr>
        <p:spPr>
          <a:xfrm>
            <a:off x="3282696" y="5833872"/>
            <a:ext cx="539496" cy="237744"/>
          </a:xfrm>
          <a:prstGeom prst="rect">
            <a:avLst/>
          </a:prstGeom>
          <a:solidFill>
            <a:srgbClr val="FBE4E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840480" y="5742432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3" name="Text 141"/>
          <p:cNvSpPr txBox="1"/>
          <p:nvPr/>
        </p:nvSpPr>
        <p:spPr>
          <a:xfrm>
            <a:off x="3877056" y="5833872"/>
            <a:ext cx="539496" cy="237744"/>
          </a:xfrm>
          <a:prstGeom prst="rect">
            <a:avLst/>
          </a:prstGeom>
          <a:solidFill>
            <a:srgbClr val="E7EA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34840" y="574243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5" name="Text 143"/>
          <p:cNvSpPr txBox="1"/>
          <p:nvPr/>
        </p:nvSpPr>
        <p:spPr>
          <a:xfrm>
            <a:off x="4471416" y="5833872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57,046</a:t>
            </a:r>
            <a:endParaRPr lang="en-US" sz="1100" dirty="0"/>
          </a:p>
        </p:txBody>
      </p:sp>
      <p:sp>
        <p:nvSpPr>
          <p:cNvPr id="146" name="Shape 144"/>
          <p:cNvSpPr/>
          <p:nvPr/>
        </p:nvSpPr>
        <p:spPr>
          <a:xfrm>
            <a:off x="5760720" y="5742432"/>
            <a:ext cx="777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7" name="Text 145"/>
          <p:cNvSpPr txBox="1"/>
          <p:nvPr/>
        </p:nvSpPr>
        <p:spPr>
          <a:xfrm>
            <a:off x="5797296" y="5833872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1.58%</a:t>
            </a:r>
            <a:endParaRPr lang="en-US" sz="1100" dirty="0"/>
          </a:p>
        </p:txBody>
      </p:sp>
      <p:sp>
        <p:nvSpPr>
          <p:cNvPr id="148" name="Shape 146"/>
          <p:cNvSpPr/>
          <p:nvPr/>
        </p:nvSpPr>
        <p:spPr>
          <a:xfrm>
            <a:off x="6537960" y="5742432"/>
            <a:ext cx="4251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9" name="Text 147"/>
          <p:cNvSpPr txBox="1"/>
          <p:nvPr/>
        </p:nvSpPr>
        <p:spPr>
          <a:xfrm>
            <a:off x="6574536" y="5833872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BPM, POES y HACCP desde el inicio de operaciones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320040" y="6144768"/>
            <a:ext cx="292608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1" name="Text 149"/>
          <p:cNvSpPr txBox="1"/>
          <p:nvPr/>
        </p:nvSpPr>
        <p:spPr>
          <a:xfrm>
            <a:off x="356616" y="6236208"/>
            <a:ext cx="2871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152" name="Shape 150"/>
          <p:cNvSpPr/>
          <p:nvPr/>
        </p:nvSpPr>
        <p:spPr>
          <a:xfrm>
            <a:off x="3246120" y="6144768"/>
            <a:ext cx="59436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3" name="Text 151"/>
          <p:cNvSpPr txBox="1"/>
          <p:nvPr/>
        </p:nvSpPr>
        <p:spPr>
          <a:xfrm>
            <a:off x="3282696" y="6236208"/>
            <a:ext cx="539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4" name="Shape 152"/>
          <p:cNvSpPr/>
          <p:nvPr/>
        </p:nvSpPr>
        <p:spPr>
          <a:xfrm>
            <a:off x="3840480" y="6144768"/>
            <a:ext cx="59436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5" name="Text 153"/>
          <p:cNvSpPr txBox="1"/>
          <p:nvPr/>
        </p:nvSpPr>
        <p:spPr>
          <a:xfrm>
            <a:off x="3877056" y="6236208"/>
            <a:ext cx="539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6" name="Shape 154"/>
          <p:cNvSpPr/>
          <p:nvPr/>
        </p:nvSpPr>
        <p:spPr>
          <a:xfrm>
            <a:off x="4434840" y="6144768"/>
            <a:ext cx="132588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7" name="Text 155"/>
          <p:cNvSpPr txBox="1"/>
          <p:nvPr/>
        </p:nvSpPr>
        <p:spPr>
          <a:xfrm>
            <a:off x="4471416" y="6236208"/>
            <a:ext cx="1271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3,614,648</a:t>
            </a:r>
            <a:endParaRPr lang="en-US" sz="1100" dirty="0"/>
          </a:p>
        </p:txBody>
      </p:sp>
      <p:sp>
        <p:nvSpPr>
          <p:cNvPr id="158" name="Shape 156"/>
          <p:cNvSpPr/>
          <p:nvPr/>
        </p:nvSpPr>
        <p:spPr>
          <a:xfrm>
            <a:off x="5760720" y="6144768"/>
            <a:ext cx="77724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9" name="Text 157"/>
          <p:cNvSpPr txBox="1"/>
          <p:nvPr/>
        </p:nvSpPr>
        <p:spPr>
          <a:xfrm>
            <a:off x="5797296" y="6236208"/>
            <a:ext cx="722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60" name="Shape 158"/>
          <p:cNvSpPr/>
          <p:nvPr/>
        </p:nvSpPr>
        <p:spPr>
          <a:xfrm>
            <a:off x="6537960" y="6144768"/>
            <a:ext cx="4251960" cy="384048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1" name="Text 159"/>
          <p:cNvSpPr txBox="1"/>
          <p:nvPr/>
        </p:nvSpPr>
        <p:spPr>
          <a:xfrm>
            <a:off x="6574536" y="6236208"/>
            <a:ext cx="4197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162" name="Text 160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del Riesgo sobre el Valor del Proyecto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32004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margen entre VPN Inversionista y el riesgo cuantificado es amplio: propuesta prefactible incluso bajo escenarios adversos de Monte Carlo.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749040" cy="1691640"/>
          </a:xfrm>
          <a:prstGeom prst="rect">
            <a:avLst/>
          </a:prstGeom>
          <a:solidFill>
            <a:srgbClr val="0D234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457200" y="15361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Medio (Inversionista)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88366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23,999,077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25786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del modelo probabilístico @Risk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749040" cy="1691640"/>
          </a:xfrm>
          <a:prstGeom prst="rect">
            <a:avLst/>
          </a:prstGeom>
          <a:solidFill>
            <a:srgbClr val="FDECEA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 txBox="1"/>
          <p:nvPr/>
        </p:nvSpPr>
        <p:spPr>
          <a:xfrm>
            <a:off x="4434840" y="15361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de Pérdidas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88366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3,614,648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5786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15.06% del VPN inversionista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1463040"/>
            <a:ext cx="3749040" cy="1691640"/>
          </a:xfrm>
          <a:prstGeom prst="rect">
            <a:avLst/>
          </a:prstGeom>
          <a:solidFill>
            <a:srgbClr val="E6F4F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 txBox="1"/>
          <p:nvPr/>
        </p:nvSpPr>
        <p:spPr>
          <a:xfrm>
            <a:off x="8412480" y="15361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de Evaluación (neto)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188366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20,384,429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5786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amplio = PREFACTIBLE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" y="3291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Estadísticos de la Simulación Monte Carlo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657600"/>
            <a:ext cx="5303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 txBox="1"/>
          <p:nvPr/>
        </p:nvSpPr>
        <p:spPr>
          <a:xfrm>
            <a:off x="411480" y="368503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modelados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6850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950208"/>
            <a:ext cx="5303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 txBox="1"/>
          <p:nvPr/>
        </p:nvSpPr>
        <p:spPr>
          <a:xfrm>
            <a:off x="411480" y="397764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utilizada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39776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Frecuencia-Severidad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" y="4242816"/>
            <a:ext cx="5303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 txBox="1"/>
          <p:nvPr/>
        </p:nvSpPr>
        <p:spPr>
          <a:xfrm>
            <a:off x="411480" y="427024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427024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4535424"/>
            <a:ext cx="5303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 txBox="1"/>
          <p:nvPr/>
        </p:nvSpPr>
        <p:spPr>
          <a:xfrm>
            <a:off x="411480" y="4562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VPN Risk (CV)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703320" y="45628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41.5%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4828032"/>
            <a:ext cx="5303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411480" y="4855464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VPN Inversionista (CV)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85546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2.1%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5120640"/>
            <a:ext cx="5303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 txBox="1"/>
          <p:nvPr/>
        </p:nvSpPr>
        <p:spPr>
          <a:xfrm>
            <a:off x="411480" y="514807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95 % del VPN Risk (pérdidas)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703320" y="514807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6,373,570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20040" y="5413248"/>
            <a:ext cx="5303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 txBox="1"/>
          <p:nvPr/>
        </p:nvSpPr>
        <p:spPr>
          <a:xfrm>
            <a:off x="411480" y="544068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99 % del VPN Risk (pérdidas)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5440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7,924,618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0040" y="5705856"/>
            <a:ext cx="5303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 txBox="1"/>
          <p:nvPr/>
        </p:nvSpPr>
        <p:spPr>
          <a:xfrm>
            <a:off x="411480" y="573328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 con VPN Inversionista &gt; 0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573328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(mín. L 22.1 M)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20040" y="5998464"/>
            <a:ext cx="5303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 txBox="1"/>
          <p:nvPr/>
        </p:nvSpPr>
        <p:spPr>
          <a:xfrm>
            <a:off x="411480" y="602589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Riesgo-VPN (RRV)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60258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15.06%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035040" y="32918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Valor Esperado de Pérdida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035040" y="3730752"/>
            <a:ext cx="41148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8" name="Text 46"/>
          <p:cNvSpPr txBox="1"/>
          <p:nvPr/>
        </p:nvSpPr>
        <p:spPr>
          <a:xfrm>
            <a:off x="6035040" y="3730752"/>
            <a:ext cx="411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510528" y="3730752"/>
            <a:ext cx="5376672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Text 48"/>
          <p:cNvSpPr txBox="1"/>
          <p:nvPr/>
        </p:nvSpPr>
        <p:spPr>
          <a:xfrm>
            <a:off x="6583680" y="377647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de nuevo competidor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875520" y="37947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1,137,757  |  31.48%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035040" y="4242816"/>
            <a:ext cx="411480" cy="43891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 txBox="1"/>
          <p:nvPr/>
        </p:nvSpPr>
        <p:spPr>
          <a:xfrm>
            <a:off x="6035040" y="4242816"/>
            <a:ext cx="411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510528" y="4242816"/>
            <a:ext cx="537667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5" name="Text 53"/>
          <p:cNvSpPr txBox="1"/>
          <p:nvPr/>
        </p:nvSpPr>
        <p:spPr>
          <a:xfrm>
            <a:off x="6583680" y="42885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precio leche cruda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9875520" y="43068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801,253  |  22.17%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035040" y="4754880"/>
            <a:ext cx="411480" cy="438912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8" name="Text 56"/>
          <p:cNvSpPr txBox="1"/>
          <p:nvPr/>
        </p:nvSpPr>
        <p:spPr>
          <a:xfrm>
            <a:off x="6035040" y="4754880"/>
            <a:ext cx="411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3°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510528" y="4754880"/>
            <a:ext cx="5376672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0" name="Text 58"/>
          <p:cNvSpPr txBox="1"/>
          <p:nvPr/>
        </p:nvSpPr>
        <p:spPr>
          <a:xfrm>
            <a:off x="6583680" y="480060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de clientes clave HoReCa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9875520" y="481888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5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684,048  |  18.92%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035040" y="5266944"/>
            <a:ext cx="41148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3" name="Text 61"/>
          <p:cNvSpPr txBox="1"/>
          <p:nvPr/>
        </p:nvSpPr>
        <p:spPr>
          <a:xfrm>
            <a:off x="6035040" y="5266944"/>
            <a:ext cx="411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4°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10528" y="5266944"/>
            <a:ext cx="537667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5" name="Text 63"/>
          <p:cNvSpPr txBox="1"/>
          <p:nvPr/>
        </p:nvSpPr>
        <p:spPr>
          <a:xfrm>
            <a:off x="6583680" y="5312664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equipo pasteurización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9875520" y="53309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187,460  |  5.19%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035040" y="5779008"/>
            <a:ext cx="411480" cy="43891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8" name="Text 66"/>
          <p:cNvSpPr txBox="1"/>
          <p:nvPr/>
        </p:nvSpPr>
        <p:spPr>
          <a:xfrm>
            <a:off x="6035040" y="5779008"/>
            <a:ext cx="411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5°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6510528" y="5779008"/>
            <a:ext cx="5376672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0" name="Text 68"/>
          <p:cNvSpPr txBox="1"/>
          <p:nvPr/>
        </p:nvSpPr>
        <p:spPr>
          <a:xfrm>
            <a:off x="6583680" y="582472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precio combustible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9875520" y="584301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171,890  |  4.76%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  <p:sp>
        <p:nvSpPr>
          <p:cNvPr id="36" name="Rectangle 35"/>
          <p:cNvSpPr/>
          <p:nvPr/>
        </p:nvSpPr>
        <p:spPr>
          <a:xfrm>
            <a:off x="320040" y="1143000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29768" y="1252728"/>
            <a:ext cx="411480" cy="411480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29768" y="125272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1252728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A7A8A"/>
                </a:solidFill>
                <a:latin typeface="Calibri"/>
              </a:rPr>
              <a:t>Prefactibilidad confirmada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1691640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El proyecto "Pura" es prefactible en las dimensiones comercial, técnica, organizacional, legal, ambiental, financiera y de riesgos.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59" y="1143000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6190488" y="1252728"/>
            <a:ext cx="411480" cy="411480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90488" y="125272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02551" y="1252728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A7A8A"/>
                </a:solidFill>
                <a:latin typeface="Calibri"/>
              </a:rPr>
              <a:t>Oportunidad de nicho clara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1691640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PESTEL y Porter muestran rivalidad alta en UHT pero ningún oferente de leche fresca fluida: la estrategia se enfoca en HoReCa y detalle urbano.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2478024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29768" y="2587752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9768" y="25877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" y="2587752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Mercado validado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" y="3026664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Las 63 encuestas muestran intención de compra (65 %), consumo frecuente y disposición de pago (L 26–30) compatible con el precio de L 28.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59" y="2478024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190488" y="2587752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0488" y="25877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02551" y="2587752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Viabilidad técnica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0488" y="3026664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Comayagua es la localización óptima (2.50 vs. 1.60). 1,000 L/día cubren la demanda hasta el año 3; desde el año 4 se requiere la ampliación prevista.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813048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29768" y="3922776"/>
            <a:ext cx="411480" cy="411480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29768" y="392277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1832" y="3922776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A7A8A"/>
                </a:solidFill>
                <a:latin typeface="Calibri"/>
              </a:rPr>
              <a:t>Rentabilidad financiera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9768" y="4361688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VAN L 15.37 M, TIR 55.95 %, PRI 3.67 años y B/C 1.24 sin financiamiento; con deuda, VAN L 15.46 M y TIR 63.62 %. Equilibrio superado desde el año 3.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59" y="3813048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6190488" y="3922776"/>
            <a:ext cx="411480" cy="411480"/>
          </a:xfrm>
          <a:prstGeom prst="ellipse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190488" y="392277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02551" y="3922776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A7A8A"/>
                </a:solidFill>
                <a:latin typeface="Calibri"/>
              </a:rPr>
              <a:t>Robustez ante escenarios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0488" y="4361688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Consumo por cliente, precio y costo de la leche son críticos. Con las 11 variables en su extremo desfavorable, el VAN es L 2.02 M y la TIR 21.2 %.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5148072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429768" y="5257800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29768" y="5257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1832" y="5257800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Riesgos manejables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" y="5696712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Pérdida esperada L 3.61 M (15.1 % del VPN medio); VaR 95 % L 6.37 M. Controles críticos: cadena de frío, proveedores y fidelización.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80759" y="5148072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6190488" y="5257800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190488" y="5257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02551" y="5257800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Evaluación económica y social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90488" y="5696712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6 empleos directos, compras de leche a productores por L 112.7 M en 10 años y L 21.0 M en ISR e ICS. No se cuantificaron empleos indirectos, valor agregado ni divisas.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01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3520440" cy="438912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 txBox="1"/>
          <p:nvPr/>
        </p:nvSpPr>
        <p:spPr>
          <a:xfrm>
            <a:off x="411480" y="1197864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1234440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 a Factibilidad Integral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9768" y="1673352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estudio de factibilidad con información primaria adicional, cotizaciones definitivas de equipos y confirmación de demanda en campo antes de decidir la inversión.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60520" y="11430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160520" y="1143000"/>
            <a:ext cx="352044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 txBox="1"/>
          <p:nvPr/>
        </p:nvSpPr>
        <p:spPr>
          <a:xfrm>
            <a:off x="4251960" y="1197864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1234440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Asegurar Suministro de Materia Prima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70248" y="1673352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acuerdos con ganaderos organizados y CREL de Comayagua. Garantizar disponibilidad permanente, estabilidad de precios y calidad certificada (parámetros SENASA).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01000" y="11430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8001000" y="1143000"/>
            <a:ext cx="3520440" cy="438912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 txBox="1"/>
          <p:nvPr/>
        </p:nvSpPr>
        <p:spPr>
          <a:xfrm>
            <a:off x="8092440" y="1197864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513064" y="1234440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Trámites Regulatorios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10728" y="1673352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Comenzar oportunamente con ARSA (licencia sanitaria), SENASA (inocuidad), registros sanitarios y MIAMBIENTE para reducir riesgos de retrasos en la implementación.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035808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20040" y="3035808"/>
            <a:ext cx="352044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 txBox="1"/>
          <p:nvPr/>
        </p:nvSpPr>
        <p:spPr>
          <a:xfrm>
            <a:off x="411480" y="3090672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" y="3127248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Comercial HoReCa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29768" y="3566160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Enfocarse inicialmente en cafeterías especializadas, restaurantes y hoteles. Aprovechar la ventaja competitiva vs UHT con demostraciones de calidad de espuma para baristas.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035808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4160520" y="3035808"/>
            <a:ext cx="3520440" cy="438912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 txBox="1"/>
          <p:nvPr/>
        </p:nvSpPr>
        <p:spPr>
          <a:xfrm>
            <a:off x="4251960" y="3090672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72584" y="3127248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Sistemas de Inocuidad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270248" y="3566160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 BPM, POES y HACCP desde el primer día de operaciones para garantizar inocuidad, facilitar auditorías SENASA y fortalecer la reputación de la marca "Pura".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01000" y="3035808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8001000" y="3035808"/>
            <a:ext cx="352044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 txBox="1"/>
          <p:nvPr/>
        </p:nvSpPr>
        <p:spPr>
          <a:xfrm>
            <a:off x="8092440" y="3090672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513064" y="3127248"/>
            <a:ext cx="2916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y KPIs del Modelo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110728" y="3566160"/>
            <a:ext cx="3319272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KPIs: volumen de ventas, costos de producción, cadena de frío y satisfacción del cliente. Ejecutar análisis de sensibilidad periódicos y actualizar el modelo de riesgos.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2026   |   Caballero · Valladares · Medal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3246120"/>
            <a:ext cx="12161520" cy="73152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11247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Quedamos a disposición para responder sus preguntas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POR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Jaime Mauricio Caballero Madriz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32511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Fredy Daniel Valladares Suazo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72584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Horacio Ernesto Medal Picado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074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358384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PhD. Elkin Gómez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Agronegocios · Universidad EAFIT · Zamorano · Medellín, 2026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RESUMEN EJECUTIVO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6692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20040" y="1307592"/>
            <a:ext cx="54864" cy="804671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80160"/>
            <a:ext cx="5394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6093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Las grandes industrias migraron a leche UHT y dejaron sin oferta de leche fresca pasteurizada a cafeterías de especialidad y a más de 2,000 clientes tipo A de la región central.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59152"/>
            <a:ext cx="56692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20040" y="2496312"/>
            <a:ext cx="54864" cy="804671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" y="2468880"/>
            <a:ext cx="5394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Propuesta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79806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Marca "Pura": planta en Comayagua, pasteurización HTST, bolsa de 1 litro, capacidad inicial de 1,000 L/día escalable a 5,000 L/día; canal HoReCa y detalle.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547872"/>
            <a:ext cx="56692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20040" y="3685032"/>
            <a:ext cx="54864" cy="804671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" y="3657600"/>
            <a:ext cx="5394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3986783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Encuesta a 63 establecimientos: 65 % compraría el producto y 48 % pagaría L 26–30 por litro. Precio base L 28; 60 clientes en el año 1 y 690 en el año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736592"/>
            <a:ext cx="56692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20040" y="4873752"/>
            <a:ext cx="54864" cy="804671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4632" y="4846320"/>
            <a:ext cx="5394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Inversión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517550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 1,784,058 (activos fijos L 1,395,000; diferidos L 76,000; capital de trabajo L 313,058), financiada 50 % con socios y 50 % con préstamo al 14 % a 5 años.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170432"/>
            <a:ext cx="2724912" cy="969264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9359" y="1243584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L 15,370,631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1674449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VAN sin financiamiento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34272" y="1170432"/>
            <a:ext cx="2724912" cy="969264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25711" y="1243584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55.95 %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1" y="1674449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TIR sin financiamiento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249424"/>
            <a:ext cx="2724912" cy="969264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59" y="2322576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3.67 años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2753441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Período de recuperación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34272" y="2249424"/>
            <a:ext cx="2724912" cy="969264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25711" y="2322576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1.24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1" y="2753441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Relación beneficio/costo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328415"/>
            <a:ext cx="2724912" cy="969264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09359" y="3401568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L 2,020,142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3832433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VAN en escenario pesimista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34272" y="3328415"/>
            <a:ext cx="2724912" cy="969264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25711" y="3401568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L 3,614,648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25711" y="3832433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Pérdida esperada por riesgos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407408"/>
            <a:ext cx="2724912" cy="969264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09359" y="4480560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L 6,373,570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59" y="4911425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VaR 95 % de las pérdidas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34272" y="4407408"/>
            <a:ext cx="2724912" cy="969264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25711" y="4480560"/>
            <a:ext cx="2542032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100 %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5711" y="4911425"/>
            <a:ext cx="2542032" cy="271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Iteraciones con VPN &gt; 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961888"/>
            <a:ext cx="11430000" cy="50292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57200" y="5961888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9ECFD5"/>
                </a:solidFill>
                <a:latin typeface="Calibri"/>
              </a:rPr>
              <a:t>Conclusión: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el proyecto es prefactible en las dimensiones comercial, técnica, organizacional, legal, ambiental, financiera y de riesgos; se recomienda avanzar a factibilidad.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Planteamiento del Problema y Pregunta de Investigación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56235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54864" cy="19659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5349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Situación 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627632"/>
            <a:ext cx="534924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Calibri"/>
              </a:rPr>
              <a:t>Las principales industrias lácteas migraron su oferta de leche fluida a la leche UHT. Cafeterías de especialidad y más de 2,000 clientes tipo A del canal detalle de la región central, que compraban leche fresca por su calidad y su espuma, hoy la sustituyen con UHT o con leche cruda informal sin garantía de inocuidad.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88720"/>
            <a:ext cx="56235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54864" cy="19659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91072" y="1298448"/>
            <a:ext cx="5349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Contexto productivo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27632"/>
            <a:ext cx="534924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Calibri"/>
              </a:rPr>
              <a:t>Honduras produce alrededor de 600 millones de litros de leche al año (SAG, 2026) y parte de la demanda interna se cubre con importaciones. Existe materia prima nacional y una demanda insatisfecha, sin una oferta formal de leche fresca pasteurizada para este nicho.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566160"/>
            <a:ext cx="11430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20040" y="3703320"/>
            <a:ext cx="54864" cy="777239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" y="3675887"/>
            <a:ext cx="11155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Problema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005072"/>
            <a:ext cx="1115568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No existe evidencia técnica, comercial, legal, ambiental, financiera y de riesgos que permita decidir si conviene invertir en una planta propia para atender ese nicho.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800600"/>
            <a:ext cx="11430000" cy="13258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487375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9ECFD5"/>
                </a:solidFill>
                <a:latin typeface="Calibri"/>
              </a:rPr>
              <a:t>PREGUNTA DE INVESTIGACIÓN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¿Es prefactible, en las dimensiones de mercado, técnica, organizacional, legal, ambiental, financiera y de riesgos, producir y distribuir leche fresca pasteurizada bajo la marca "Pura" para el mercado nicho del canal HoReCa y del canal detalle de la región central de Honduras?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DISEÑO METODOLÓGICO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Diseño Metodológico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3703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20040" y="1307592"/>
            <a:ext cx="54864" cy="20574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80160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Tipo de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609344"/>
            <a:ext cx="3429000" cy="18013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Estudio de prefactibilidad con enfoque mixto, descriptivo y proyectivo, organizado según la metodología ONUDI (sectorial, mercado, técnico, legal, administrativo, ambiental, financiero y riesgos).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1170432"/>
            <a:ext cx="3703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87952" y="1307592"/>
            <a:ext cx="54864" cy="20574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352544" y="1280160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Fuentes de información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1609344"/>
            <a:ext cx="3429000" cy="18013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Primarias: encuesta estructurada validada por juicio de expertos (abril–mayo de 2026) y cotizaciones de equipos (Grupo Disatyr). Secundarias: BCH, INE, SAG, SENASA, ARSA, MiAmbiente, FAOSTAT y literatura especializada.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4" y="1170432"/>
            <a:ext cx="3703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5864" y="1307592"/>
            <a:ext cx="54864" cy="20574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0456" y="1280160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Técnicas de análisis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1609344"/>
            <a:ext cx="3429000" cy="18013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PESTEL y 5 Fuerzas de Porter; estadística descriptiva; matriz de localización ponderada; flujo de caja descontado a 10 años (VAN, TIR, PRI, IRVA, B/C); sensibilidad, escenarios y Monte Carlo con @RISK (10,000 iteraciones).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657600"/>
            <a:ext cx="11430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Cálculo de la muestra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3017520" cy="329184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8328" y="4023360"/>
            <a:ext cx="29809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Parámetro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4023360"/>
            <a:ext cx="1737360" cy="329184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355848" y="4023360"/>
            <a:ext cx="170078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4023360"/>
            <a:ext cx="6675120" cy="329184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93207" y="4023360"/>
            <a:ext cx="66385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5254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38328" y="4352544"/>
            <a:ext cx="2980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Población objetivo (N)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4352544"/>
            <a:ext cx="1737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55848" y="4352544"/>
            <a:ext cx="17007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500 establecimientos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4352544"/>
            <a:ext cx="6675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93207" y="4352544"/>
            <a:ext cx="6638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Tiendas y negocios de la región central declarados en la base de clientes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1830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8328" y="4718304"/>
            <a:ext cx="2980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Encuestas obtenidas (n)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718304"/>
            <a:ext cx="1737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355848" y="4718304"/>
            <a:ext cx="17007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63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718304"/>
            <a:ext cx="6675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93207" y="4718304"/>
            <a:ext cx="6638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HoReCa, pulperías, comercios y otros; selección no probabilística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08406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8328" y="5084064"/>
            <a:ext cx="2980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Error con n = 63 (95 %, p = q = 0.5)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5084064"/>
            <a:ext cx="1737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55848" y="5084064"/>
            <a:ext cx="17007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± 11.55 %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74920" y="5084064"/>
            <a:ext cx="6675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93207" y="5084064"/>
            <a:ext cx="6638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Referencia teórica con muestreo aleatorio simple y corrección por población finita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44982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8328" y="5449824"/>
            <a:ext cx="2980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Muestra para ± 5 % (95 %, p = q = 0.5)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37560" y="5449824"/>
            <a:ext cx="1737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355848" y="5449824"/>
            <a:ext cx="17007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218 encuestas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74920" y="5449824"/>
            <a:ext cx="6675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93207" y="5449824"/>
            <a:ext cx="6638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n = N·z²·p·q / [e²·(N−1) + z²·p·q] = 500·1.96²·0.25 / (0.05²·499 + 1.96²·0.25)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94360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Por el tipo de selección, los resultados de la encuesta se interpretan de forma descriptiva y no se extrapolan estadísticamente a toda la población.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Estudio Técnico · Tamaño del Proyecto y Equipos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57607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Justificación del tamaño: demanda frente a capacidad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7315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38328" y="1463040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Año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463040"/>
            <a:ext cx="10058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69848" y="146304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7400" y="1463040"/>
            <a:ext cx="160020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075688" y="1463040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Leche cruda (L/año)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463040"/>
            <a:ext cx="10058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75887" y="146304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L/día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63040"/>
            <a:ext cx="14173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81727" y="1463040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Uso de 1,000 L/día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28800"/>
            <a:ext cx="731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8328" y="1828800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182880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69848" y="182880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1828800"/>
            <a:ext cx="1600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75688" y="1828800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111,340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182880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675887" y="182880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828800"/>
            <a:ext cx="1417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81727" y="1828800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30.5 %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94560"/>
            <a:ext cx="731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328" y="2194560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219456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9848" y="219456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2194560"/>
            <a:ext cx="1600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075688" y="2194560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185,567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219456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75887" y="219456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508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2194560"/>
            <a:ext cx="1417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681727" y="2194560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50.8 %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560320"/>
            <a:ext cx="731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8328" y="2560320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" y="256032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9848" y="256032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57400" y="2560320"/>
            <a:ext cx="1600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75688" y="2560320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278,351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2560320"/>
            <a:ext cx="10058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675887" y="256032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763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2560320"/>
            <a:ext cx="1417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681727" y="2560320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76.3 %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2926079"/>
            <a:ext cx="7315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8328" y="2926079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" y="292607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69848" y="292607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210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7400" y="2926079"/>
            <a:ext cx="160020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075688" y="2926079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389,691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0" y="292607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3675887" y="292607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1,068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2926079"/>
            <a:ext cx="14173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681727" y="2926079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106.8 %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291839"/>
            <a:ext cx="7315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38328" y="3291839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51560" y="329183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69848" y="329183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280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3291839"/>
            <a:ext cx="160020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075688" y="3291839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519,588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0" y="329183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75887" y="329183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1,424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63440" y="3291839"/>
            <a:ext cx="14173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681727" y="3291839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142.4 %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3657599"/>
            <a:ext cx="7315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38328" y="3657599"/>
            <a:ext cx="6949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51560" y="365759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69848" y="365759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690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3657599"/>
            <a:ext cx="160020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075688" y="3657599"/>
            <a:ext cx="15636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1,280,412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0" y="3657599"/>
            <a:ext cx="100584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675887" y="3657599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3,508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63440" y="3657599"/>
            <a:ext cx="1417320" cy="365760"/>
          </a:xfrm>
          <a:prstGeom prst="rect">
            <a:avLst/>
          </a:prstGeom>
          <a:solidFill>
            <a:srgbClr val="FBE4E1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681727" y="3657599"/>
            <a:ext cx="13807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350.8 %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0040" y="4114800"/>
            <a:ext cx="5760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64748B"/>
                </a:solidFill>
                <a:latin typeface="Calibri"/>
              </a:rPr>
              <a:t>Leche cruda = litros vendidos / (1 − 3 % de merma), 365 días. 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La capacidad inicial de 1,000 L/día cubre la demanda de los años 1 a 3 </a:t>
            </a:r>
            <a:r>
              <a:rPr sz="1100" b="1" i="0">
                <a:solidFill>
                  <a:srgbClr val="334155"/>
                </a:solidFill>
                <a:latin typeface="Calibri"/>
              </a:rPr>
              <a:t>(305 a 763 L/día)</a:t>
            </a:r>
            <a:r>
              <a:rPr sz="1100" b="0" i="0">
                <a:solidFill>
                  <a:srgbClr val="334155"/>
                </a:solidFill>
                <a:latin typeface="Calibri"/>
              </a:rPr>
              <a:t>. Desde el año 4 (1,068 L/día) se requiere la ampliación prevista; en el año 10 se usa el 70 % de la capacidad máxima de 5,000 L/día.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C0392B"/>
                </a:solidFill>
                <a:latin typeface="Calibri"/>
              </a:rPr>
              <a:t>La inversión de esa ampliación no está presupuestada en el modelo financiero (ver limitaciones).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55080" y="1097280"/>
            <a:ext cx="5394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Equipos principales y costo (Tablas 11 y 16)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55080" y="1463040"/>
            <a:ext cx="320040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373368" y="1463040"/>
            <a:ext cx="31638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Equipo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55480" y="1463040"/>
            <a:ext cx="11887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573767" y="1463040"/>
            <a:ext cx="1152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Costo (L)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44200" y="1463040"/>
            <a:ext cx="10058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762488" y="1463040"/>
            <a:ext cx="969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Vida útil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1828800"/>
            <a:ext cx="3200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373368" y="1828800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Tanques de almacenamiento (recibo 2,000 L)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55480" y="1828800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573767" y="1828800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360,000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44200" y="1828800"/>
            <a:ext cx="1005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762488" y="1828800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 años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55080" y="2212848"/>
            <a:ext cx="3200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373368" y="2212848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Pasteurizador HTST de placas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55480" y="2212848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9573767" y="2212848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150,000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744200" y="2212848"/>
            <a:ext cx="1005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0762488" y="2212848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 años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55080" y="2596896"/>
            <a:ext cx="3200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373368" y="2596896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Envasadora automática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555480" y="2596896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9573767" y="2596896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260,000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744200" y="2596896"/>
            <a:ext cx="1005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10762488" y="2596896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 años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55080" y="2980944"/>
            <a:ext cx="3200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373368" y="2980944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Sistema de enfriamiento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55480" y="2980944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9573767" y="2980944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125,000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44200" y="2980944"/>
            <a:ext cx="1005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762488" y="2980944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10 años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55080" y="3364991"/>
            <a:ext cx="3200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6373368" y="3364991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Camión de distribución refrigerado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55480" y="3364991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9573767" y="3364991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500,000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744200" y="3364991"/>
            <a:ext cx="1005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10762488" y="3364991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5 años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55080" y="3749039"/>
            <a:ext cx="320040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373368" y="3749039"/>
            <a:ext cx="316382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1" i="0">
                <a:solidFill>
                  <a:srgbClr val="0D2341"/>
                </a:solidFill>
                <a:latin typeface="Calibri"/>
              </a:rPr>
              <a:t>TOTAL ACTIVOS FIJOS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555480" y="3749039"/>
            <a:ext cx="118872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573767" y="3749039"/>
            <a:ext cx="115214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1" i="0">
                <a:solidFill>
                  <a:srgbClr val="0D2341"/>
                </a:solidFill>
                <a:latin typeface="Calibri"/>
              </a:rPr>
              <a:t>1,395,000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744200" y="3749039"/>
            <a:ext cx="100584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10762488" y="3749039"/>
            <a:ext cx="969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1" i="0">
                <a:solidFill>
                  <a:srgbClr val="0D2341"/>
                </a:solidFill>
                <a:latin typeface="Calibri"/>
              </a:rPr>
              <a:t/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55080" y="4297680"/>
            <a:ext cx="5394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Proveedor de referencia: Grupo Disatyr. Depreciación en línea recta: maquinaria 10 % anual; camión 20 % anual (Ley del ISR). El laboratorio de toma de muestras forma parte del área de recepción.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Estudio de Materias Primas · Leche Cruda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2743200" cy="10972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11479" y="1243584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A7A8A"/>
                </a:solidFill>
                <a:latin typeface="Calibri"/>
              </a:rPr>
              <a:t>111,340 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741017"/>
            <a:ext cx="2560320" cy="3072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Leche cruda requerida, año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170432"/>
            <a:ext cx="274320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291840" y="1243584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B3A5C"/>
                </a:solidFill>
                <a:latin typeface="Calibri"/>
              </a:rPr>
              <a:t>1.28 M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741017"/>
            <a:ext cx="2560320" cy="3072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Leche cruda requerida, año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70432"/>
            <a:ext cx="2743200" cy="10972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1243584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A7A8A"/>
                </a:solidFill>
                <a:latin typeface="Calibri"/>
              </a:rPr>
              <a:t>0.21 %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741017"/>
            <a:ext cx="2560320" cy="3072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De la producción nacional (año 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170432"/>
            <a:ext cx="278892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52560" y="1243584"/>
            <a:ext cx="260603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B3A5C"/>
                </a:solidFill>
                <a:latin typeface="Calibri"/>
              </a:rPr>
              <a:t>L 112.7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41017"/>
            <a:ext cx="2606039" cy="3072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Compras a productores en 10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7033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20040" y="2606040"/>
            <a:ext cx="54864" cy="333756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4632" y="2578608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Proveedores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2907792"/>
            <a:ext cx="3429000" cy="3081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Calibri"/>
              </a:rPr>
              <a:t>Centros de Recolección de Leche (CREL) promovidos por la Cámara Hondureña de la Leche (CAHLE) y ganaderos certificados de la zona de Comayagua. Estrategia: contratos de suministro con precio justo en toda temporada, asistencia técnica y capacitación para asegurar lealtad y calidad.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7952" y="2468880"/>
            <a:ext cx="37033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187952" y="2606040"/>
            <a:ext cx="54864" cy="33375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52544" y="2578608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Calidad exigida (OHN 18:2018)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4" y="2907792"/>
            <a:ext cx="3429000" cy="3081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Calibri"/>
              </a:rPr>
              <a:t>Grado A: reducción del azul de metileno ≥ 5 h; células somáticas ≤ 400,000/ml; densidad 1.029–1.033 g/ml. Grasa ≥ 3.5 %, proteína ≥ 3.2 %, sólidos totales ≥ 12 %, acidez 0.13–0.16 %, antibióticos ausentes y prueba de alcohol negativa. Transporte a ≤ 4 °C.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4" y="2468880"/>
            <a:ext cx="37033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055864" y="2606040"/>
            <a:ext cx="54864" cy="3337560"/>
          </a:xfrm>
          <a:prstGeom prst="rect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0456" y="2578608"/>
            <a:ext cx="3429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Estacionalidad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2907792"/>
            <a:ext cx="3429000" cy="3081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Calibri"/>
              </a:rPr>
              <a:t>La producción depende de pequeños y medianos productores y varía por época en volumen y calidad. La sequía de 2024 redujo la producción entre 30 % y 40 % (El Heraldo, 2024). Mitigación: varios CREL proveedores, contratos a plazo y tanque de recibo de 2,000 L; el riesgo se modela en @RISK.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272784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Requerimiento: modelo financiero (hoja "Análisis Complementario", sección 12). Producción nacional ≈ 600 millones de L/año (SAG, 2026). Parámetros: OHN 18 (2018), Tablas 9 y 10 de la tesis.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Distribución de Planta (Layout)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ayout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1188720"/>
            <a:ext cx="1030682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21792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Esquema funcional elaborado con base en el diagrama de flujo del proceso (Figura 23) y los requisitos de diseño de Alvarenga (2009) y ARSA (2024). No es un plano arquitectónico: las dimensiones se definen en la fase de factibilidad.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Plantilla de Personal y Salarios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32918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188720"/>
            <a:ext cx="32552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Cargo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1188720"/>
            <a:ext cx="40233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0168" y="1188720"/>
            <a:ext cx="39867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188720"/>
            <a:ext cx="201168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53528" y="1188720"/>
            <a:ext cx="19751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Salario mensual (L)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188720"/>
            <a:ext cx="21031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65208" y="1188720"/>
            <a:ext cx="206654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cotizable IHSS (L)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54480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328" y="1554480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Gerente de operaciones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155448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30168" y="1554480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Ingeniero industrial o administrador de empresas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1554480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53528" y="1554480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25,000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46920" y="1554480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65208" y="1554480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938528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8328" y="1938528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Asistente de televenta y facturación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1938528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30168" y="1938528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Pasante universitario de Administración o afín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1938528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53528" y="1938528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17,000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938528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65208" y="1938528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322576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38328" y="2322576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Operador de recibo y despacho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32257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30168" y="2322576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Secundaria completa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322576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653528" y="2322576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11,300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2322576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665208" y="2322576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706624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38328" y="2706624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Operador de pasteurización y empaque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11880" y="270662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30168" y="2706624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Secundaria completa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35240" y="2706624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653528" y="2706624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11,300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46920" y="2706624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665208" y="2706624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090672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38328" y="3090672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Operador de mantenimiento y aseo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3090672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30168" y="3090672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Mecánico industrial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35240" y="3090672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53528" y="3090672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14,000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3090672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665208" y="3090672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474720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8328" y="3474720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Entregador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11880" y="347472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30168" y="3474720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Secundaria completa, licencia pesada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35240" y="3474720"/>
            <a:ext cx="2011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653528" y="3474720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14,000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46920" y="3474720"/>
            <a:ext cx="2103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665208" y="3474720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Calibri"/>
              </a:rPr>
              <a:t>11,109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3858768"/>
            <a:ext cx="329184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38328" y="3858768"/>
            <a:ext cx="325526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1" i="0">
                <a:solidFill>
                  <a:srgbClr val="0D2341"/>
                </a:solidFill>
                <a:latin typeface="Calibri"/>
              </a:rPr>
              <a:t>PLANILLA MENSUAL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11880" y="3858768"/>
            <a:ext cx="402336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630168" y="3858768"/>
            <a:ext cx="398678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100" b="1" i="0">
                <a:solidFill>
                  <a:srgbClr val="0D2341"/>
                </a:solidFill>
                <a:latin typeface="Calibri"/>
              </a:rPr>
              <a:t>6 colaboradores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35240" y="3858768"/>
            <a:ext cx="201168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653528" y="3858768"/>
            <a:ext cx="1975104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1" i="0">
                <a:solidFill>
                  <a:srgbClr val="0D2341"/>
                </a:solidFill>
                <a:latin typeface="Calibri"/>
              </a:rPr>
              <a:t>92,600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46920" y="3858768"/>
            <a:ext cx="2103120" cy="384048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665208" y="3858768"/>
            <a:ext cx="2066543" cy="384048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100" b="1" i="0">
                <a:solidFill>
                  <a:srgbClr val="0D2341"/>
                </a:solidFill>
                <a:latin typeface="Calibri"/>
              </a:rPr>
              <a:t>66,656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526280"/>
            <a:ext cx="2743200" cy="123444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11479" y="4599432"/>
            <a:ext cx="2560320" cy="617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A7A8A"/>
                </a:solidFill>
                <a:latin typeface="Calibri"/>
              </a:rPr>
              <a:t>L 5,725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79" y="5168188"/>
            <a:ext cx="2560320" cy="3456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Cargas patronales mensuales</a:t>
            </a:r>
          </a:p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(IHSS 7.2 % con techo + INFOP 1 %)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0" y="4526280"/>
            <a:ext cx="2743200" cy="12344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291840" y="4599432"/>
            <a:ext cx="2560320" cy="617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B3A5C"/>
                </a:solidFill>
                <a:latin typeface="Calibri"/>
              </a:rPr>
              <a:t>14 salarios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1840" y="5168188"/>
            <a:ext cx="2560320" cy="3456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Por año: 12 + aguinaldo</a:t>
            </a:r>
          </a:p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+ decimocuarto mes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80759" y="4526280"/>
            <a:ext cx="2743200" cy="123444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172199" y="4599432"/>
            <a:ext cx="2560320" cy="617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A7A8A"/>
                </a:solidFill>
                <a:latin typeface="Calibri"/>
              </a:rPr>
              <a:t>L 1,426,533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72199" y="5168188"/>
            <a:ext cx="2560320" cy="3456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Costo anual de personal, año 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61119" y="4526280"/>
            <a:ext cx="2743200" cy="12344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9052559" y="4599432"/>
            <a:ext cx="2560320" cy="617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B3A5C"/>
                </a:solidFill>
                <a:latin typeface="Calibri"/>
              </a:rPr>
              <a:t>L 2,119,963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52559" y="5168188"/>
            <a:ext cx="2560320" cy="3456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Costo anual, año 10</a:t>
            </a:r>
          </a:p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(ajuste por inflación 4.5 %)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594360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Fuente: Tablas 19 y 20 de la tesis. Techo de cotización IHSS: L 11,109.36 mensuales.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Préstamo y Estado de Resultados Proyectado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4937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Tabla de amortización del préstamo (Tabla 24)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44752"/>
            <a:ext cx="5486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38328" y="1444752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Año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444752"/>
            <a:ext cx="114300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1444752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Saldo inicial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444752"/>
            <a:ext cx="10515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029968" y="144475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Intereses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1444752"/>
            <a:ext cx="10515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081528" y="144475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Abono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444752"/>
            <a:ext cx="109728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33087" y="1444752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Saldo final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10512"/>
            <a:ext cx="548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8328" y="1810512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1810512"/>
            <a:ext cx="1143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1810512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181051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29968" y="181051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124,884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181051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081528" y="181051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134,949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1810512"/>
            <a:ext cx="10972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133087" y="1810512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757,080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176272"/>
            <a:ext cx="548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328" y="2176272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2176272"/>
            <a:ext cx="1143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2176272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757,080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217627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029968" y="217627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105,991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217627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81528" y="217627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153,842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2176272"/>
            <a:ext cx="10972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33087" y="2176272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603,238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542032"/>
            <a:ext cx="548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8328" y="2542032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2542032"/>
            <a:ext cx="1143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2542032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603,238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254203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29968" y="254203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84,453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63240" y="2542032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081528" y="2542032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175,380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2542032"/>
            <a:ext cx="10972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133087" y="2542032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427,857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2907791"/>
            <a:ext cx="548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8328" y="2907791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" y="2907791"/>
            <a:ext cx="1143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86968" y="2907791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427,857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0" y="2907791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029968" y="290779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59,900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2907791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3081528" y="290779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199,933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907791"/>
            <a:ext cx="10972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133087" y="2907791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227,924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273551"/>
            <a:ext cx="548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38328" y="3273551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0" i="0">
                <a:solidFill>
                  <a:srgbClr val="334155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" y="3273551"/>
            <a:ext cx="1143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86968" y="3273551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227,924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0" y="3273551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029968" y="327355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31,909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63240" y="3273551"/>
            <a:ext cx="10515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081528" y="327355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227,924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0" y="3273551"/>
            <a:ext cx="10972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133087" y="3273551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3639311"/>
            <a:ext cx="54864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38328" y="3639311"/>
            <a:ext cx="51206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0D2341"/>
                </a:solidFill>
                <a:latin typeface="Calibri"/>
              </a:rPr>
              <a:t>Total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8680" y="3639311"/>
            <a:ext cx="114300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86968" y="3639311"/>
            <a:ext cx="110642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2011680" y="3639311"/>
            <a:ext cx="10515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029968" y="363931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407,138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63240" y="3639311"/>
            <a:ext cx="10515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081528" y="3639311"/>
            <a:ext cx="1014983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892,029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0" y="3639311"/>
            <a:ext cx="109728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33087" y="3639311"/>
            <a:ext cx="106070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0040" y="4114800"/>
            <a:ext cx="4892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Monto L 892,029 al 14 % anual, 5 años, cuota constante de L 259,833. La deuda queda cancelada al cierre del año 5.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892040"/>
            <a:ext cx="4892040" cy="1143000"/>
          </a:xfrm>
          <a:prstGeom prst="rect">
            <a:avLst/>
          </a:prstGeom>
          <a:solidFill>
            <a:srgbClr val="FBE4E1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57200" y="4919472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  <a:latin typeface="Calibri"/>
              </a:rPr>
              <a:t>Necesidad de caja: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los flujos con financiamiento de los años 1 y 2 son negativos (−L 993,690 y −L 224,128). Los socios deben aportar L 1,217,819 adicionales; su exposición máxima acumulada llega a L 2,109,848 en el año 2 (Tabla 27).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1097280"/>
            <a:ext cx="6309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Estado de resultados, con financiamiento (L)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1444752"/>
            <a:ext cx="23317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5504688" y="144475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18120" y="1444752"/>
            <a:ext cx="795528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7836408" y="14447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Año 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613648" y="1444752"/>
            <a:ext cx="795528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631936" y="14447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Año 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09176" y="1444752"/>
            <a:ext cx="795528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427463" y="14447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Año 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04703" y="1444752"/>
            <a:ext cx="795528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222991" y="14447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Año 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000231" y="1444752"/>
            <a:ext cx="795528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1018519" y="14447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Año 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86400" y="181051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5504688" y="181051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Ingresos por ventas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18120" y="18105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7836408" y="18105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3,024,000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13648" y="18105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8631936" y="18105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5,266,800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409176" y="18105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9427463" y="18105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8,255,709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04703" y="18105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10222991" y="18105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16,828,822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1000231" y="18105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1018519" y="18105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51,680,445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86400" y="217627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5504688" y="217627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(−) Costos variables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18120" y="21762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7836408" y="21762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1,708,181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13648" y="21762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8631936" y="21762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2,975,081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409176" y="21762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9427463" y="21762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4,663,440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04703" y="21762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10222991" y="21762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9,506,174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000231" y="21762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11018519" y="21762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29,192,969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86400" y="254203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504688" y="254203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1" i="0">
                <a:solidFill>
                  <a:srgbClr val="0D2341"/>
                </a:solidFill>
                <a:latin typeface="Calibri"/>
              </a:rPr>
              <a:t>(=) Margen de contribución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818120" y="25420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7836408" y="25420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1,315,819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13648" y="25420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8631936" y="25420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2,291,719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409176" y="25420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9427463" y="25420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3,592,269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04703" y="25420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10222991" y="25420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7,322,649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000231" y="25420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11018519" y="25420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22,487,476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486400" y="2907791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504688" y="2907791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(−) Costos fijos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818120" y="290779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836408" y="290779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2,048,517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13648" y="290779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8631936" y="290779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2,140,700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409176" y="290779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9427463" y="290779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2,237,031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204703" y="290779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22991" y="290779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2,442,894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000231" y="290779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1018519" y="290779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3,044,290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400" y="3273551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5504688" y="3273551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1" i="0">
                <a:solidFill>
                  <a:srgbClr val="0D2341"/>
                </a:solidFill>
                <a:latin typeface="Calibri"/>
              </a:rPr>
              <a:t>(=) EBITDA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818120" y="327355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7836408" y="327355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−732,697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613648" y="327355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8631936" y="327355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151,019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409176" y="327355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9427463" y="327355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1,355,238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204703" y="327355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10222991" y="327355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4,879,754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000231" y="327355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11018519" y="327355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19,443,185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486400" y="3639311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5504688" y="3639311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(−) Depreciación y amortización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818120" y="363931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7836408" y="363931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613648" y="363931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8631936" y="363931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409176" y="363931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9427463" y="363931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204703" y="363931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222991" y="363931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000231" y="3639311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11018519" y="3639311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486400" y="400507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5504688" y="400507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(−) Intereses e ICS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818120" y="40050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7836408" y="40050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126,044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613648" y="40050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8631936" y="40050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108,048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409176" y="40050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Box 170"/>
          <p:cNvSpPr txBox="1"/>
          <p:nvPr/>
        </p:nvSpPr>
        <p:spPr>
          <a:xfrm>
            <a:off x="9427463" y="40050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87,706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0204703" y="40050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10222991" y="40050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37,908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000231" y="400507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11018519" y="400507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12,202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486400" y="437083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5504688" y="437083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1" i="0">
                <a:solidFill>
                  <a:srgbClr val="0D2341"/>
                </a:solidFill>
                <a:latin typeface="Calibri"/>
              </a:rPr>
              <a:t>(=) Utilidad antes de impuestos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818120" y="43708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TextBox 178"/>
          <p:cNvSpPr txBox="1"/>
          <p:nvPr/>
        </p:nvSpPr>
        <p:spPr>
          <a:xfrm>
            <a:off x="7836408" y="43708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613648" y="43708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TextBox 180"/>
          <p:cNvSpPr txBox="1"/>
          <p:nvPr/>
        </p:nvSpPr>
        <p:spPr>
          <a:xfrm>
            <a:off x="8631936" y="43708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409176" y="43708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TextBox 182"/>
          <p:cNvSpPr txBox="1"/>
          <p:nvPr/>
        </p:nvSpPr>
        <p:spPr>
          <a:xfrm>
            <a:off x="9427463" y="43708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04703" y="43708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10222991" y="43708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4,637,146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000231" y="437083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TextBox 186"/>
          <p:cNvSpPr txBox="1"/>
          <p:nvPr/>
        </p:nvSpPr>
        <p:spPr>
          <a:xfrm>
            <a:off x="11018519" y="437083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19,341,483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486400" y="473659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5504688" y="473659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(−) Impuesto sobre la renta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818120" y="473659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7836408" y="473659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613648" y="473659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TextBox 192"/>
          <p:cNvSpPr txBox="1"/>
          <p:nvPr/>
        </p:nvSpPr>
        <p:spPr>
          <a:xfrm>
            <a:off x="8631936" y="473659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409176" y="473659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9427463" y="473659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0204703" y="473659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TextBox 196"/>
          <p:cNvSpPr txBox="1"/>
          <p:nvPr/>
        </p:nvSpPr>
        <p:spPr>
          <a:xfrm>
            <a:off x="10222991" y="473659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1,341,144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000231" y="473659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TextBox 198"/>
          <p:cNvSpPr txBox="1"/>
          <p:nvPr/>
        </p:nvSpPr>
        <p:spPr>
          <a:xfrm>
            <a:off x="11018519" y="473659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5,752,445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0" y="5102352"/>
            <a:ext cx="23317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TextBox 200"/>
          <p:cNvSpPr txBox="1"/>
          <p:nvPr/>
        </p:nvSpPr>
        <p:spPr>
          <a:xfrm>
            <a:off x="5504688" y="510235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1" i="0">
                <a:solidFill>
                  <a:srgbClr val="0D2341"/>
                </a:solidFill>
                <a:latin typeface="Calibri"/>
              </a:rPr>
              <a:t>(=) UTILIDAD NETA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818120" y="5102352"/>
            <a:ext cx="795528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TextBox 202"/>
          <p:cNvSpPr txBox="1"/>
          <p:nvPr/>
        </p:nvSpPr>
        <p:spPr>
          <a:xfrm>
            <a:off x="7836408" y="51023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8613648" y="5102352"/>
            <a:ext cx="795528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8631936" y="51023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409176" y="5102352"/>
            <a:ext cx="795528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TextBox 206"/>
          <p:cNvSpPr txBox="1"/>
          <p:nvPr/>
        </p:nvSpPr>
        <p:spPr>
          <a:xfrm>
            <a:off x="9427463" y="51023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0204703" y="5102352"/>
            <a:ext cx="795528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TextBox 208"/>
          <p:cNvSpPr txBox="1"/>
          <p:nvPr/>
        </p:nvSpPr>
        <p:spPr>
          <a:xfrm>
            <a:off x="10222991" y="51023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3,296,003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1000231" y="5102352"/>
            <a:ext cx="795528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11018519" y="510235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1" i="0">
                <a:solidFill>
                  <a:srgbClr val="0D2341"/>
                </a:solidFill>
                <a:latin typeface="Calibri"/>
              </a:rPr>
              <a:t>13,589,038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86400" y="5468112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TextBox 212"/>
          <p:cNvSpPr txBox="1"/>
          <p:nvPr/>
        </p:nvSpPr>
        <p:spPr>
          <a:xfrm>
            <a:off x="5504688" y="5468112"/>
            <a:ext cx="22951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Calibri"/>
              </a:rPr>
              <a:t>Margen neto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818120" y="54681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7836408" y="54681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-35.2 %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613648" y="54681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TextBox 216"/>
          <p:cNvSpPr txBox="1"/>
          <p:nvPr/>
        </p:nvSpPr>
        <p:spPr>
          <a:xfrm>
            <a:off x="8631936" y="54681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-3.1 %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9409176" y="54681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TextBox 218"/>
          <p:cNvSpPr txBox="1"/>
          <p:nvPr/>
        </p:nvSpPr>
        <p:spPr>
          <a:xfrm>
            <a:off x="9427463" y="54681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12.9 %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204703" y="54681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TextBox 220"/>
          <p:cNvSpPr txBox="1"/>
          <p:nvPr/>
        </p:nvSpPr>
        <p:spPr>
          <a:xfrm>
            <a:off x="10222991" y="54681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19.6 %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1000231" y="5468112"/>
            <a:ext cx="7955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TextBox 222"/>
          <p:cNvSpPr txBox="1"/>
          <p:nvPr/>
        </p:nvSpPr>
        <p:spPr>
          <a:xfrm>
            <a:off x="11018519" y="5468112"/>
            <a:ext cx="758952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950" b="0" i="0">
                <a:solidFill>
                  <a:srgbClr val="334155"/>
                </a:solidFill>
                <a:latin typeface="Calibri"/>
              </a:rPr>
              <a:t>26.3 %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20040" y="6144768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El estado de resultados y el balance general completos (años 0 a 10) están en los anexos y en la hoja "Análisis Complementario" del modelo en Excel. Utilidad antes de impuestos idéntica a la Tabla 27.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Punto de Equilibrio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114300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7498079" y="1143000"/>
            <a:ext cx="4251960" cy="91440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89519" y="1216152"/>
            <a:ext cx="4069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L 12.18 por litro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618488"/>
            <a:ext cx="4069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Margen de contribución unitario, año 1 (L 28.00 − L 15.82)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48840"/>
            <a:ext cx="425196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19" y="2221992"/>
            <a:ext cx="4069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184,940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2624328"/>
            <a:ext cx="4069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Punto de equilibrio contable, año 1 (≈ 103 clientes)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3154680"/>
            <a:ext cx="4251960" cy="91440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227832"/>
            <a:ext cx="4069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A7A8A"/>
                </a:solidFill>
                <a:latin typeface="Calibri"/>
              </a:rPr>
              <a:t>32 %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630168"/>
            <a:ext cx="4069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Margen de seguridad en el año 3 (volumen 270,000 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4160520"/>
            <a:ext cx="425196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19" y="4233672"/>
            <a:ext cx="4069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1B3A5C"/>
                </a:solidFill>
                <a:latin typeface="Calibri"/>
              </a:rPr>
              <a:t>86 %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636008"/>
            <a:ext cx="4069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334155"/>
                </a:solidFill>
                <a:latin typeface="Calibri"/>
              </a:rPr>
              <a:t>Margen de seguridad en el año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150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334155"/>
                </a:solidFill>
                <a:latin typeface="Calibri"/>
              </a:rPr>
              <a:t>PE contable = (costos fijos + depreciación) / margen de contribución unitario.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El proyecto opera bajo el equilibrio en los años 1 y 2 (coincide con las utilidades negativas de la Tabla 26) y lo supera desde el año 3. El PE de efectivo (sin depreciación) es 168,138 L/año.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SENSIBILIDAD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Gráfico de Tornado y Escenarios sobre el VAN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1097280"/>
          <a:ext cx="6675120" cy="5074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23760" y="1097280"/>
            <a:ext cx="4526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Escenarios (Tabla 39 de la tesis)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63040"/>
            <a:ext cx="16459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42048" y="1463040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1463040"/>
            <a:ext cx="9601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87968" y="146304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Pesimista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463040"/>
            <a:ext cx="9601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48088" y="146304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89920" y="1463040"/>
            <a:ext cx="96012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808208" y="146304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Optimista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16459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42048" y="1828800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VAN sin fin. (L 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82880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87968" y="182880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2.02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0" y="182880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48088" y="182880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15.37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89920" y="182880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808208" y="182880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31.17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194560"/>
            <a:ext cx="16459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42048" y="2194560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VAN con fin. (L 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219456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87968" y="219456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2.07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19456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848088" y="219456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15.46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789920" y="2194560"/>
            <a:ext cx="96012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808208" y="219456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31.28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2560320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242048" y="2560320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TIR sin fin.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560320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87968" y="256032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21.2 %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2560320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848088" y="256032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55.9 %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789920" y="2560320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808208" y="2560320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93.9 %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2926079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242048" y="2926079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TIR con fin.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0" y="292607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887968" y="292607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21.9 %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29800" y="292607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48088" y="292607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63.6 %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292607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808208" y="292607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122.5 %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291839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242048" y="3291839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PRI sin fin. (años)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69680" y="329183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887968" y="329183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7.03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29183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848088" y="329183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3.67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789920" y="329183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808208" y="329183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2.12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657599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242048" y="3657599"/>
            <a:ext cx="16093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B/C sin fin.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69680" y="365759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887968" y="365759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1.05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29800" y="365759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848088" y="365759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1.24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89920" y="3657599"/>
            <a:ext cx="960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808208" y="3657599"/>
            <a:ext cx="92354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1.41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60" y="4114800"/>
            <a:ext cx="45262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34155"/>
                </a:solidFill>
                <a:latin typeface="Calibri"/>
              </a:rPr>
              <a:t>Pesimista: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las 11 variables a la vez en su extremo desfavorable (más inflación, leche L 14.95, merma 3.9 %, precio L 26, consumo 127.5 L/mes y menos clientes). 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34155"/>
                </a:solidFill>
                <a:latin typeface="Calibri"/>
              </a:rPr>
              <a:t>Optimista: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el extremo favorable de todas. 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A7A8A"/>
                </a:solidFill>
                <a:latin typeface="Calibri"/>
              </a:rPr>
              <a:t>Aun en el pesimista el VAN es positivo y la TIR (21.2 %) supera la tasa de descuento del 15 %.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RIESGOS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VAN Determinístico vs. VPN Medio de @RISK: qué mide cada uno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3611880" cy="22402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43584"/>
            <a:ext cx="3337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1A7A8A"/>
                </a:solidFill>
                <a:latin typeface="Calibri"/>
              </a:rPr>
              <a:t>VAN determinístico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A7A8A"/>
                </a:solidFill>
                <a:latin typeface="Calibri"/>
              </a:rPr>
              <a:t>L 15,459,686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3337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Calibri"/>
              </a:rPr>
              <a:t>Flujo del accionista con supuestos puntuales: precio y costos crecen con la inflación de 4.5 %. Es el valor de decisión de la tesis (Tabla 31).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88720"/>
            <a:ext cx="3611880" cy="22402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0" y="1243584"/>
            <a:ext cx="3337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1B3A5C"/>
                </a:solidFill>
                <a:latin typeface="Calibri"/>
              </a:rPr>
              <a:t>VPN medio @RISK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72768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B3A5C"/>
                </a:solidFill>
                <a:latin typeface="Calibri"/>
              </a:rPr>
              <a:t>L 23,999,077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48840"/>
            <a:ext cx="3337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Calibri"/>
              </a:rPr>
              <a:t>Promedio de 10,000 iteraciones del modelo probabilístico ("Estudio Financiero Prob"). Sirve para medir dispersión y construir la relación riesgo-VPN.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188720"/>
            <a:ext cx="3611880" cy="2240280"/>
          </a:xfrm>
          <a:prstGeom prst="rect">
            <a:avLst/>
          </a:prstGeom>
          <a:solidFill>
            <a:srgbClr val="E6F4F6"/>
          </a:solidFill>
          <a:ln w="12700">
            <a:solidFill>
              <a:srgbClr val="E6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38160" y="1243584"/>
            <a:ext cx="3337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1A7A8A"/>
                </a:solidFill>
                <a:latin typeface="Calibri"/>
              </a:rPr>
              <a:t>VPN de evaluación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572768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A7A8A"/>
                </a:solidFill>
                <a:latin typeface="Calibri"/>
              </a:rPr>
              <a:t>L 20,384,429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48840"/>
            <a:ext cx="3337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334155"/>
                </a:solidFill>
                <a:latin typeface="Calibri"/>
              </a:rPr>
              <a:t>VPN medio menos la pérdida esperada de los 11 eventos (L 3,614,648). Indicador ajustado por riesgo del modelo probabilístico.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611880"/>
            <a:ext cx="11430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¿Por qué difieren? Conciliación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59352"/>
            <a:ext cx="941832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8328" y="3959352"/>
            <a:ext cx="938174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3959352"/>
            <a:ext cx="201168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56648" y="3959352"/>
            <a:ext cx="197510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Valor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270248"/>
            <a:ext cx="9418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8328" y="4270248"/>
            <a:ext cx="93817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VAN determinístico con financiamiento (costos indexados a la inflación)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38360" y="4270248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756648" y="4270248"/>
            <a:ext cx="197510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15,459,686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99432"/>
            <a:ext cx="9418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328" y="4599432"/>
            <a:ext cx="93817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(+) Efecto de no indexar a la inflación la leche, el empaque, el combustible y los costos fijos (lógica del modelo probabilístico)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38360" y="4599432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56648" y="4599432"/>
            <a:ext cx="197510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+8,655,398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28616"/>
            <a:ext cx="9418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8328" y="4928616"/>
            <a:ext cx="93817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(=) Mismo modelo con esa lógica y valores base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8360" y="4928616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756648" y="4928616"/>
            <a:ext cx="197510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24,115,084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257800"/>
            <a:ext cx="9418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38328" y="5257800"/>
            <a:ext cx="93817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(±) Distribuciones PERT/Normal y no linealidad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5257800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756648" y="5257800"/>
            <a:ext cx="197510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0" i="0">
                <a:solidFill>
                  <a:srgbClr val="334155"/>
                </a:solidFill>
                <a:latin typeface="Calibri"/>
              </a:rPr>
              <a:t>−116,007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86984"/>
            <a:ext cx="941832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8328" y="5586984"/>
            <a:ext cx="938174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1050" b="1" i="0">
                <a:solidFill>
                  <a:srgbClr val="0D2341"/>
                </a:solidFill>
                <a:latin typeface="Calibri"/>
              </a:rPr>
              <a:t>(=) VPN medio @RISK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38360" y="5586984"/>
            <a:ext cx="2011680" cy="329184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756648" y="5586984"/>
            <a:ext cx="1975104" cy="329184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1050" b="1" i="0">
                <a:solidFill>
                  <a:srgbClr val="0D2341"/>
                </a:solidFill>
                <a:latin typeface="Calibri"/>
              </a:rPr>
              <a:t>23,999,077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5989320"/>
            <a:ext cx="11430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334155"/>
                </a:solidFill>
                <a:latin typeface="Calibri"/>
              </a:rPr>
              <a:t>Lectura conservadora: </a:t>
            </a:r>
            <a:r>
              <a:rPr sz="1050" b="0" i="0">
                <a:solidFill>
                  <a:srgbClr val="334155"/>
                </a:solidFill>
                <a:latin typeface="Calibri"/>
              </a:rPr>
              <a:t>la pérdida esperada equivale al 15.1 % del VPN medio y al 23.4 % del VAN determinístico; en ambos casos el margen es amplio.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Limitaciones del Estudio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429768" y="1252728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125272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252728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Muestra no probabilística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91640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63 encuestas de una población de 500; resultados descriptivos (error teórico ± 11.55 %; para ± 5 % se requerían 218).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59" y="1143000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190488" y="1252728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90488" y="125272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1" y="1252728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Entrevistas no documentadas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1691640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Las entrevistas a actores clave se planificaron, pero no hay registro de cuántas se realizaron; no se usan como evidencia.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478024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429768" y="2587752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5877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2587752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Información de prefactibilidad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3026664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Se usaron fuentes secundarias y cotizaciones referenciales; costos y demanda deben confirmarse en la factibilidad.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478024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190488" y="2587752"/>
            <a:ext cx="411480" cy="411480"/>
          </a:xfrm>
          <a:prstGeom prst="ellipse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190488" y="25877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1" y="2587752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B5862A"/>
                </a:solidFill>
                <a:latin typeface="Calibri"/>
              </a:rPr>
              <a:t>Ampliación no presupuestada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26664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La demanda supera 1,000 L/día desde el año 4, pero el flujo no incluye la inversión para ampliar la capacidad.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13048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29768" y="3922776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768" y="392277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3922776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Evaluación económica y social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4361688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No se cuantificaron empleos indirectos, valor agregado nacional ni efecto en divisas, como exige la metodología ONUDI.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59" y="3813048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190488" y="3922776"/>
            <a:ext cx="411480" cy="4114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90488" y="392277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1" y="3922776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Parámetros de riesgo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361688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Probabilidades y severidades por juicio experto, sin historia propia; los 11 eventos se modelaron como independientes.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148072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29768" y="5257800"/>
            <a:ext cx="411480" cy="411480"/>
          </a:xfrm>
          <a:prstGeom prst="ellipse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29768" y="5257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5257800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B5862A"/>
                </a:solidFill>
                <a:latin typeface="Calibri"/>
              </a:rPr>
              <a:t>Modelo probabilístico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" y="5696712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No indexa algunos costos a la inflación, por lo que su VPN medio (L 24.0 M) supera al VAN determinístico; se usa para medir dispersión.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59" y="5148072"/>
            <a:ext cx="5669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6190488" y="5257800"/>
            <a:ext cx="411480" cy="411480"/>
          </a:xfrm>
          <a:prstGeom prst="ellipse">
            <a:avLst/>
          </a:prstGeom>
          <a:solidFill>
            <a:srgbClr val="B5862A"/>
          </a:solidFill>
          <a:ln w="12700">
            <a:solidFill>
              <a:srgbClr val="B5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90488" y="5257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2551" y="5257800"/>
            <a:ext cx="4937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B5862A"/>
                </a:solidFill>
                <a:latin typeface="Calibri"/>
              </a:rPr>
              <a:t>Financiamiento de arranque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0488" y="5696712"/>
            <a:ext cx="5449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34155"/>
                </a:solidFill>
                <a:latin typeface="Calibri"/>
              </a:rPr>
              <a:t>Los déficits de caja de los años 1 y 2 (L 1.22 M) se cubren con aportes de los socios; no se evaluó una línea de capital de trabajo.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Bibliografía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20040" y="1143000"/>
            <a:ext cx="56692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Agencia de Regulación Sanitaria. (2024). Reglamento para el control sanitario de alimentos y bebidas (Acuerdo 0632-ARSA-2023). ARSA.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Ardón Alvarenga, N. L. (2009). Estudio de prefactibilidad para establecer una planta procesadora de leche en Jocón, Yoro, Honduras.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Banco Central de Honduras. (2024). Encuesta Nacional de Ingresos y Gastos de los Hogares (ENIGH) 2023-2024. BCH.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Banco Central de Honduras. (2026). Índice de precios al consumidor, diciembre 2025. BCH.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Banco Mundial. (2026). Honduras: panorama general. https://www.bancomundial.org/ext/es/country/honduras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CNP+L Honduras. (2017). Sector lácteos. Centro Nacional de Producción más Limpia de Honduras.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El Heraldo. (2024). Honduras está perdiendo entre 30 % a 40 % en la producción de la leche este 2024.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Franco, M. A., Montoya, L. M. y Gómez, E. (2012). Aplicación de la metodología ONUDI para proyectos de crecimiento orgánico en Grupo EMI.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Holmann, F. (2001). Milk market of small scale artisan cheese factories in selected livestock watersheds of Honduras and Nicaragua.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La Tribuna. (2026, 6 de enero). Ingreso de remesas en 2025 ascendió a $12,211 millones [datos del Banco Central de Honduras].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43000"/>
            <a:ext cx="56235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Instituto Nacional de Estadística. (2025a). Estadísticas de género en Honduras, julio 2025. INE.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Instituto Nacional de Estadística. (2025b). Encuesta Permanente de Hogares de Propósitos Múltiples, EPHPM 2025. INE.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Instituto Nacional de Estadística. (2025c). Informalidad laboral 2024. INE.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Navarro Monterroza, C. A. y Pérez Extremor, J. L. (2014). Guía de implementación de sistema integrado de gestión ISO 9001:2008 – ISO 22000:2005.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OHN 18. (2018). Leche cruda de vaca. Requisitos. Organismo Hondureño de Normalización.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ONUDI. (2019). Guía de transferencia metodológica. Organización de las Naciones Unidas para el Desarrollo Industrial.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Sapag Chain, N. (2008). Preparación y evaluación de proyectos (5.ª ed.). McGraw-Hill.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Secretaría de Agricultura y Ganadería. (2026, 18 de julio). Gobierno, productores e industria revisan los desafíos del sector lácteo. SAG.</a:t>
            </a:r>
          </a:p>
          <a:p>
            <a:pPr algn="l">
              <a:spcAft>
                <a:spcPts val="700"/>
              </a:spcAft>
            </a:pPr>
            <a:r>
              <a:rPr sz="1050" b="0" i="0">
                <a:solidFill>
                  <a:srgbClr val="334155"/>
                </a:solidFill>
                <a:latin typeface="Calibri"/>
              </a:rPr>
              <a:t>Universidad Nacional Autónoma de Honduras. (2026). Remesas alcanzan cifra récord en Honduras: ya representan el 29.4 % del PIB. UNAH.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ANEXO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0D2341"/>
                </a:solidFill>
                <a:latin typeface="Calibri"/>
              </a:rPr>
              <a:t>Anexo A · Instrumento de Encuesta Comercial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20040" y="1371600"/>
            <a:ext cx="37033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1. ¿Cuál es su edad?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2. ¿Dónde reside?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3. ¿Qué tipo de establecimiento administra o representa?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4. ¿Cuál es el volumen mensual de productos lácteos que utiliza?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5. ¿Qué tipo de leche utiliza actualmente?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6. ¿Quién es su principal proveedor?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7. ¿Qué dificultades presenta la leche que utiliza?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8. ¿Cómo afectan estos problemas a su negocio?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9. ¿Con qué frecuencia compra productos lácteos?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10. ¿Dónde suele comprar este tipo de productos?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11. ¿Cuál es su presupuesto aproximado para lácteos?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371600"/>
            <a:ext cx="37033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12. ¿Cómo percibe los precios de los lácteos en la actualidad?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13. ¿Cómo percibe la calidad del producto por su presentación?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14. ¿Qué marcas de leche conoce?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15. ¿Qué marca de leche prefiere y por qué?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16. ¿Qué le impide adquirir las marcas actuales?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17. ¿Cómo evalúa las marcas de leche disponibles?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18. ¿Qué porcentaje de su volumen cambiaría a una nueva leche?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19. ¿Qué condiciones son indispensables para cambiar de proveedor?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20. Si esta marca fuera una persona, ¿cómo la describiría?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21. ¿Cómo percibe esta marca de leche?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22. ¿Qué empaque o diseño le parece más atractivo?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371600"/>
            <a:ext cx="37033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23. ¿Cuál es el precio que paga hoy por litro?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24. ¿En qué presentación compra la leche?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25. ¿Precio máximo por una leche especial para café o panadería?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26. ¿Cuál es su preferencia de pago?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27. ¿Cuál es la frecuencia ideal de entrega?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28. ¿Cuáles son sus días preferidos de recepción?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29. ¿Qué formas de contacto y pedido prefiere?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30. Si la marca lanzara una nueva leche, ¿qué tan probable es que la compre?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31. ¿Cuál considera un precio justo por esta leche?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32. ¿Recomendaría esta leche a otras personas?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051560"/>
            <a:ext cx="11430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Aplicado a 63 establecimientos HoReCa y del canal detalle de la región central (abril–mayo de 2026). Incluye además datos de control: hora, correo y nombre.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ANEXO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0D2341"/>
                </a:solidFill>
                <a:latin typeface="Calibri"/>
              </a:rPr>
              <a:t>Anexo B · Flujo de Caja Proyectado sin Financiamiento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37744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143000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1576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6168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8464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0760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3056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5352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7648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944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0412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12240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1143000"/>
            <a:ext cx="82296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945368" y="1143000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453896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38328" y="1453896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Ingresos por ventas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71576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3872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3,024,000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36168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5,266,800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8464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8,255,709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0760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12,078,102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8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3056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16,828,822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5352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21,982,649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7648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28,222,581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8116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9944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34,979,592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12240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43,004,323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27080" y="1453896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45368" y="1453896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51,680,445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1764792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8328" y="1764792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Costos variables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9748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71576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53872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1,708,181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4340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36168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2,975,081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6636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8464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4,663,440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8932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00760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6,822,613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1228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83056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9,506,174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3524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65352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12,417,440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47648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15,942,219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8116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29944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19,759,082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0412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12240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24,292,048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27080" y="1764792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945368" y="1764792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29,192,969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075688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8328" y="2075688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Costos fijos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9748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271576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2044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53872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2,048,517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4340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36168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2,140,700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6636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18464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2,237,031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8932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00760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2,337,698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1228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3056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2,442,894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3524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765352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2,552,824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5820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847648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2,667,701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8116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929944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2,787,748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0412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012240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2,913,197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927080" y="2075688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0945368" y="2075688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3,044,290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2386584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38328" y="2386584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Depreciación y amortización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69748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271576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53872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36168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6636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518464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98932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00760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1228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83056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63524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65352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45820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847648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28116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29944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0412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012240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927080" y="2386584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945368" y="2386584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2697479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38328" y="2697479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ICS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9748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71576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2044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53872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1,160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34340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2,057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16636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18464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3,252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98932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00760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4,573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81228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83056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5,999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63524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765352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7,347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847648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8,595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28116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29944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9,697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0412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012240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10,901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927080" y="269747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10945368" y="269747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12,202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3008375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38328" y="3008375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antes de impuestos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69748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271576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52044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53872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−938,557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34340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36168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−55,738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16636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518464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1,147,285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98932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00760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2,708,518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81228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83056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4,669,056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63524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765352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6,915,539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45820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847648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9,514,567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28116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929944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12,333,565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10412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012240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15,698,677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0927080" y="300837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10945368" y="300837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19,341,483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3319271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38328" y="3319271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ISR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69748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71576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52044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53872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4340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436168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16636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518464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38,248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98932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600760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762,555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81228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683056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1,350,717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63524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765352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2,024,662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45820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847648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2,804,370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8116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929944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3,650,070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010412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1012240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4,659,603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10927080" y="331927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10945368" y="331927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5,752,445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20040" y="3630167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338328" y="3630167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después de impuestos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69748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271576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352044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353872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−938,557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434340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436168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−55,738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16636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518464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1,109,038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98932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TextBox 207"/>
          <p:cNvSpPr txBox="1"/>
          <p:nvPr/>
        </p:nvSpPr>
        <p:spPr>
          <a:xfrm>
            <a:off x="600760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1,945,963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81228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TextBox 209"/>
          <p:cNvSpPr txBox="1"/>
          <p:nvPr/>
        </p:nvSpPr>
        <p:spPr>
          <a:xfrm>
            <a:off x="683056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3,318,339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63524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TextBox 211"/>
          <p:cNvSpPr txBox="1"/>
          <p:nvPr/>
        </p:nvSpPr>
        <p:spPr>
          <a:xfrm>
            <a:off x="765352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4,890,877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5820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847648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6,710,197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28116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929944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8,683,496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010412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TextBox 217"/>
          <p:cNvSpPr txBox="1"/>
          <p:nvPr/>
        </p:nvSpPr>
        <p:spPr>
          <a:xfrm>
            <a:off x="1012240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11,039,074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0927080" y="3630167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10945368" y="363016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13,589,038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0040" y="3941063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338328" y="3941063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Depreciación y amortización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269748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271576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352044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353872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434340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436168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16636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TextBox 229"/>
          <p:cNvSpPr txBox="1"/>
          <p:nvPr/>
        </p:nvSpPr>
        <p:spPr>
          <a:xfrm>
            <a:off x="518464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98932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Box 231"/>
          <p:cNvSpPr txBox="1"/>
          <p:nvPr/>
        </p:nvSpPr>
        <p:spPr>
          <a:xfrm>
            <a:off x="600760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681228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TextBox 233"/>
          <p:cNvSpPr txBox="1"/>
          <p:nvPr/>
        </p:nvSpPr>
        <p:spPr>
          <a:xfrm>
            <a:off x="683056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763524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TextBox 235"/>
          <p:cNvSpPr txBox="1"/>
          <p:nvPr/>
        </p:nvSpPr>
        <p:spPr>
          <a:xfrm>
            <a:off x="765352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45820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TextBox 237"/>
          <p:cNvSpPr txBox="1"/>
          <p:nvPr/>
        </p:nvSpPr>
        <p:spPr>
          <a:xfrm>
            <a:off x="847648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28116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929944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10412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TextBox 241"/>
          <p:cNvSpPr txBox="1"/>
          <p:nvPr/>
        </p:nvSpPr>
        <p:spPr>
          <a:xfrm>
            <a:off x="1012240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27080" y="394106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TextBox 243"/>
          <p:cNvSpPr txBox="1"/>
          <p:nvPr/>
        </p:nvSpPr>
        <p:spPr>
          <a:xfrm>
            <a:off x="10945368" y="394106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20040" y="4251959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TextBox 245"/>
          <p:cNvSpPr txBox="1"/>
          <p:nvPr/>
        </p:nvSpPr>
        <p:spPr>
          <a:xfrm>
            <a:off x="338328" y="4251959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Recuperación de capital de trabajo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9748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TextBox 247"/>
          <p:cNvSpPr txBox="1"/>
          <p:nvPr/>
        </p:nvSpPr>
        <p:spPr>
          <a:xfrm>
            <a:off x="271576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52044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TextBox 249"/>
          <p:cNvSpPr txBox="1"/>
          <p:nvPr/>
        </p:nvSpPr>
        <p:spPr>
          <a:xfrm>
            <a:off x="353872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34340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TextBox 251"/>
          <p:cNvSpPr txBox="1"/>
          <p:nvPr/>
        </p:nvSpPr>
        <p:spPr>
          <a:xfrm>
            <a:off x="436168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6636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518464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98932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TextBox 255"/>
          <p:cNvSpPr txBox="1"/>
          <p:nvPr/>
        </p:nvSpPr>
        <p:spPr>
          <a:xfrm>
            <a:off x="600760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81228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TextBox 257"/>
          <p:cNvSpPr txBox="1"/>
          <p:nvPr/>
        </p:nvSpPr>
        <p:spPr>
          <a:xfrm>
            <a:off x="683056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63524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TextBox 259"/>
          <p:cNvSpPr txBox="1"/>
          <p:nvPr/>
        </p:nvSpPr>
        <p:spPr>
          <a:xfrm>
            <a:off x="765352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845820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TextBox 261"/>
          <p:cNvSpPr txBox="1"/>
          <p:nvPr/>
        </p:nvSpPr>
        <p:spPr>
          <a:xfrm>
            <a:off x="847648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928116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TextBox 263"/>
          <p:cNvSpPr txBox="1"/>
          <p:nvPr/>
        </p:nvSpPr>
        <p:spPr>
          <a:xfrm>
            <a:off x="929944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1010412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TextBox 265"/>
          <p:cNvSpPr txBox="1"/>
          <p:nvPr/>
        </p:nvSpPr>
        <p:spPr>
          <a:xfrm>
            <a:off x="1012240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10927080" y="4251959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TextBox 267"/>
          <p:cNvSpPr txBox="1"/>
          <p:nvPr/>
        </p:nvSpPr>
        <p:spPr>
          <a:xfrm>
            <a:off x="10945368" y="4251959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2,686,438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320040" y="4562855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TextBox 269"/>
          <p:cNvSpPr txBox="1"/>
          <p:nvPr/>
        </p:nvSpPr>
        <p:spPr>
          <a:xfrm>
            <a:off x="338328" y="4562855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Inversión en activos fijos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269748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TextBox 271"/>
          <p:cNvSpPr txBox="1"/>
          <p:nvPr/>
        </p:nvSpPr>
        <p:spPr>
          <a:xfrm>
            <a:off x="271576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352044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TextBox 273"/>
          <p:cNvSpPr txBox="1"/>
          <p:nvPr/>
        </p:nvSpPr>
        <p:spPr>
          <a:xfrm>
            <a:off x="353872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434340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TextBox 275"/>
          <p:cNvSpPr txBox="1"/>
          <p:nvPr/>
        </p:nvSpPr>
        <p:spPr>
          <a:xfrm>
            <a:off x="436168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516636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TextBox 277"/>
          <p:cNvSpPr txBox="1"/>
          <p:nvPr/>
        </p:nvSpPr>
        <p:spPr>
          <a:xfrm>
            <a:off x="518464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98932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TextBox 279"/>
          <p:cNvSpPr txBox="1"/>
          <p:nvPr/>
        </p:nvSpPr>
        <p:spPr>
          <a:xfrm>
            <a:off x="600760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681228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TextBox 281"/>
          <p:cNvSpPr txBox="1"/>
          <p:nvPr/>
        </p:nvSpPr>
        <p:spPr>
          <a:xfrm>
            <a:off x="683056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763524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765352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845820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TextBox 285"/>
          <p:cNvSpPr txBox="1"/>
          <p:nvPr/>
        </p:nvSpPr>
        <p:spPr>
          <a:xfrm>
            <a:off x="847648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928116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TextBox 287"/>
          <p:cNvSpPr txBox="1"/>
          <p:nvPr/>
        </p:nvSpPr>
        <p:spPr>
          <a:xfrm>
            <a:off x="929944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010412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TextBox 289"/>
          <p:cNvSpPr txBox="1"/>
          <p:nvPr/>
        </p:nvSpPr>
        <p:spPr>
          <a:xfrm>
            <a:off x="1012240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10927080" y="4562855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TextBox 291"/>
          <p:cNvSpPr txBox="1"/>
          <p:nvPr/>
        </p:nvSpPr>
        <p:spPr>
          <a:xfrm>
            <a:off x="10945368" y="4562855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320040" y="4873751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TextBox 293"/>
          <p:cNvSpPr txBox="1"/>
          <p:nvPr/>
        </p:nvSpPr>
        <p:spPr>
          <a:xfrm>
            <a:off x="338328" y="4873751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Inversión en capital de trabajo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269748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TextBox 295"/>
          <p:cNvSpPr txBox="1"/>
          <p:nvPr/>
        </p:nvSpPr>
        <p:spPr>
          <a:xfrm>
            <a:off x="271576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313,058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52044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TextBox 297"/>
          <p:cNvSpPr txBox="1"/>
          <p:nvPr/>
        </p:nvSpPr>
        <p:spPr>
          <a:xfrm>
            <a:off x="353872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434340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TextBox 299"/>
          <p:cNvSpPr txBox="1"/>
          <p:nvPr/>
        </p:nvSpPr>
        <p:spPr>
          <a:xfrm>
            <a:off x="436168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113,257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516636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TextBox 301"/>
          <p:cNvSpPr txBox="1"/>
          <p:nvPr/>
        </p:nvSpPr>
        <p:spPr>
          <a:xfrm>
            <a:off x="518464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148,724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98932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TextBox 303"/>
          <p:cNvSpPr txBox="1"/>
          <p:nvPr/>
        </p:nvSpPr>
        <p:spPr>
          <a:xfrm>
            <a:off x="600760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188,320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681228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TextBox 305"/>
          <p:cNvSpPr txBox="1"/>
          <p:nvPr/>
        </p:nvSpPr>
        <p:spPr>
          <a:xfrm>
            <a:off x="683056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232,396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763524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TextBox 307"/>
          <p:cNvSpPr txBox="1"/>
          <p:nvPr/>
        </p:nvSpPr>
        <p:spPr>
          <a:xfrm>
            <a:off x="765352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251,766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TextBox 309"/>
          <p:cNvSpPr txBox="1"/>
          <p:nvPr/>
        </p:nvSpPr>
        <p:spPr>
          <a:xfrm>
            <a:off x="847648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303,305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28116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TextBox 311"/>
          <p:cNvSpPr txBox="1"/>
          <p:nvPr/>
        </p:nvSpPr>
        <p:spPr>
          <a:xfrm>
            <a:off x="929944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328,076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010412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TextBox 313"/>
          <p:cNvSpPr txBox="1"/>
          <p:nvPr/>
        </p:nvSpPr>
        <p:spPr>
          <a:xfrm>
            <a:off x="1012240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388,201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0927080" y="4873751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TextBox 315"/>
          <p:cNvSpPr txBox="1"/>
          <p:nvPr/>
        </p:nvSpPr>
        <p:spPr>
          <a:xfrm>
            <a:off x="10945368" y="4873751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419,335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20040" y="5184647"/>
            <a:ext cx="237744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TextBox 317"/>
          <p:cNvSpPr txBox="1"/>
          <p:nvPr/>
        </p:nvSpPr>
        <p:spPr>
          <a:xfrm>
            <a:off x="338328" y="5184647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FLUJO DE CAJA NETO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9748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TextBox 319"/>
          <p:cNvSpPr txBox="1"/>
          <p:nvPr/>
        </p:nvSpPr>
        <p:spPr>
          <a:xfrm>
            <a:off x="271576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−1,784,058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52044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TextBox 321"/>
          <p:cNvSpPr txBox="1"/>
          <p:nvPr/>
        </p:nvSpPr>
        <p:spPr>
          <a:xfrm>
            <a:off x="353872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−733,857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34340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TextBox 323"/>
          <p:cNvSpPr txBox="1"/>
          <p:nvPr/>
        </p:nvSpPr>
        <p:spPr>
          <a:xfrm>
            <a:off x="436168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35,705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516636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TextBox 325"/>
          <p:cNvSpPr txBox="1"/>
          <p:nvPr/>
        </p:nvSpPr>
        <p:spPr>
          <a:xfrm>
            <a:off x="518464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1,165,014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98932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TextBox 327"/>
          <p:cNvSpPr txBox="1"/>
          <p:nvPr/>
        </p:nvSpPr>
        <p:spPr>
          <a:xfrm>
            <a:off x="600760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1,962,343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81228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TextBox 329"/>
          <p:cNvSpPr txBox="1"/>
          <p:nvPr/>
        </p:nvSpPr>
        <p:spPr>
          <a:xfrm>
            <a:off x="683056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3,290,643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763524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TextBox 331"/>
          <p:cNvSpPr txBox="1"/>
          <p:nvPr/>
        </p:nvSpPr>
        <p:spPr>
          <a:xfrm>
            <a:off x="765352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4,728,611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845820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TextBox 333"/>
          <p:cNvSpPr txBox="1"/>
          <p:nvPr/>
        </p:nvSpPr>
        <p:spPr>
          <a:xfrm>
            <a:off x="847648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6,496,392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28116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TextBox 335"/>
          <p:cNvSpPr txBox="1"/>
          <p:nvPr/>
        </p:nvSpPr>
        <p:spPr>
          <a:xfrm>
            <a:off x="929944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8,444,920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10412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TextBox 337"/>
          <p:cNvSpPr txBox="1"/>
          <p:nvPr/>
        </p:nvSpPr>
        <p:spPr>
          <a:xfrm>
            <a:off x="1012240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10,740,373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10927080" y="5184647"/>
            <a:ext cx="82296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TextBox 339"/>
          <p:cNvSpPr txBox="1"/>
          <p:nvPr/>
        </p:nvSpPr>
        <p:spPr>
          <a:xfrm>
            <a:off x="10945368" y="5184647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15,945,642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20040" y="5495543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338328" y="5495543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Flujo acumulado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269748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TextBox 343"/>
          <p:cNvSpPr txBox="1"/>
          <p:nvPr/>
        </p:nvSpPr>
        <p:spPr>
          <a:xfrm>
            <a:off x="271576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−1,784,058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352044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TextBox 345"/>
          <p:cNvSpPr txBox="1"/>
          <p:nvPr/>
        </p:nvSpPr>
        <p:spPr>
          <a:xfrm>
            <a:off x="353872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−2,517,915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434340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TextBox 347"/>
          <p:cNvSpPr txBox="1"/>
          <p:nvPr/>
        </p:nvSpPr>
        <p:spPr>
          <a:xfrm>
            <a:off x="436168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−2,482,210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516636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18464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−1,317,196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98932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600760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645,146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81228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TextBox 353"/>
          <p:cNvSpPr txBox="1"/>
          <p:nvPr/>
        </p:nvSpPr>
        <p:spPr>
          <a:xfrm>
            <a:off x="683056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3,935,789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763524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765352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8,664,400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45820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847648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15,160,792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928116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TextBox 359"/>
          <p:cNvSpPr txBox="1"/>
          <p:nvPr/>
        </p:nvSpPr>
        <p:spPr>
          <a:xfrm>
            <a:off x="929944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23,605,712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1010412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1012240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34,346,085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10927080" y="5495543"/>
            <a:ext cx="8229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TextBox 363"/>
          <p:cNvSpPr txBox="1"/>
          <p:nvPr/>
        </p:nvSpPr>
        <p:spPr>
          <a:xfrm>
            <a:off x="10945368" y="5495543"/>
            <a:ext cx="78638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50,291,726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320040" y="630936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Fuente: Tabla 26 de la tesis y modelo financiero (réplica verificada). Valores en lempiras.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ANEXO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0D2341"/>
                </a:solidFill>
                <a:latin typeface="Calibri"/>
              </a:rPr>
              <a:t>Anexo B · Flujo de Caja Proyectado con Financiamiento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37744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14300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1576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6168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8464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0760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3056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5352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7648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944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0412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12240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1143000"/>
            <a:ext cx="822960" cy="28448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945368" y="11430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427480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38328" y="142748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Ingresos por ventas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71576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3872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3,024,000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36168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5,266,800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8464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8,255,709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0760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12,078,102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8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3056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16,828,822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5352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21,982,649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7648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28,222,581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8116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9944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34,979,592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12240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43,004,323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27080" y="142748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45368" y="142748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51,680,445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1711960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8328" y="171196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Costos variables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9748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71576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53872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1,708,181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4340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36168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2,975,081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6636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8464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4,663,440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8932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00760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6,822,613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1228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83056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9,506,174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3524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65352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12,417,440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47648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15,942,219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8116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29944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19,759,082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0412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12240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24,292,048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27080" y="171196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945368" y="171196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29,192,969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1996440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8328" y="199644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Costos fijos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9748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271576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2044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53872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2,048,517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4340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36168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2,140,700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6636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18464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2,237,031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8932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00760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2,337,698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1228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3056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2,442,894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3524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765352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2,552,824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5820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847648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2,667,701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8116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929944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2,787,748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0412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012240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2,913,197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927080" y="199644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0945368" y="199644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3,044,290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2280920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38328" y="228092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Gastos financieros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69748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271576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53872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124,884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36168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105,991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6636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518464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84,453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98932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00760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59,900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1228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83056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31,909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63524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65352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45820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847648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28116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29944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0412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012240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927080" y="228092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945368" y="228092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2565400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38328" y="2565400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Depreciación y amortización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9748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71576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2044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53872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34340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16636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18464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98932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00760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81228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83056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63524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765352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847648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28116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29944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0412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012240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927080" y="2565400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10945368" y="2565400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284987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38328" y="284987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ICS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69748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271576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52044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53872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1,160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34340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36168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2,057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16636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518464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98932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00760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4,573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81228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83056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5,999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63524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765352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7,347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45820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847648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8,595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28116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929944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9,697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10412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012240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10,901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0927080" y="28498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10945368" y="28498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12,202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313435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38328" y="313435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antes de impuestos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69748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71576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0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52044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53872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4340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436168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16636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518464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98932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600760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2,648,618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81228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683056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4,637,146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63524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765352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6,915,539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45820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847648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9,514,567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8116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929944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12,333,565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010412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1012240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15,698,677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10927080" y="31343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10945368" y="31343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19,341,483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20040" y="341883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338328" y="341883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ISR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69748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271576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352044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353872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434340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436168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16636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518464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98932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TextBox 207"/>
          <p:cNvSpPr txBox="1"/>
          <p:nvPr/>
        </p:nvSpPr>
        <p:spPr>
          <a:xfrm>
            <a:off x="600760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695,884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81228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TextBox 209"/>
          <p:cNvSpPr txBox="1"/>
          <p:nvPr/>
        </p:nvSpPr>
        <p:spPr>
          <a:xfrm>
            <a:off x="683056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1,341,144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63524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TextBox 211"/>
          <p:cNvSpPr txBox="1"/>
          <p:nvPr/>
        </p:nvSpPr>
        <p:spPr>
          <a:xfrm>
            <a:off x="765352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2,024,662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5820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847648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2,804,370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28116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929944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3,650,070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010412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TextBox 217"/>
          <p:cNvSpPr txBox="1"/>
          <p:nvPr/>
        </p:nvSpPr>
        <p:spPr>
          <a:xfrm>
            <a:off x="1012240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4,659,603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0927080" y="34188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10945368" y="34188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5,752,445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0040" y="370331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338328" y="370331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después de impuestos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269748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271576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0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352044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353872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434340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436168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16636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TextBox 229"/>
          <p:cNvSpPr txBox="1"/>
          <p:nvPr/>
        </p:nvSpPr>
        <p:spPr>
          <a:xfrm>
            <a:off x="518464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98932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Box 231"/>
          <p:cNvSpPr txBox="1"/>
          <p:nvPr/>
        </p:nvSpPr>
        <p:spPr>
          <a:xfrm>
            <a:off x="600760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1,952,734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681228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TextBox 233"/>
          <p:cNvSpPr txBox="1"/>
          <p:nvPr/>
        </p:nvSpPr>
        <p:spPr>
          <a:xfrm>
            <a:off x="683056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3,296,003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763524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TextBox 235"/>
          <p:cNvSpPr txBox="1"/>
          <p:nvPr/>
        </p:nvSpPr>
        <p:spPr>
          <a:xfrm>
            <a:off x="765352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4,890,877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45820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TextBox 237"/>
          <p:cNvSpPr txBox="1"/>
          <p:nvPr/>
        </p:nvSpPr>
        <p:spPr>
          <a:xfrm>
            <a:off x="847648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6,710,197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28116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929944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8,683,496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10412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TextBox 241"/>
          <p:cNvSpPr txBox="1"/>
          <p:nvPr/>
        </p:nvSpPr>
        <p:spPr>
          <a:xfrm>
            <a:off x="1012240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11,039,074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27080" y="37033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TextBox 243"/>
          <p:cNvSpPr txBox="1"/>
          <p:nvPr/>
        </p:nvSpPr>
        <p:spPr>
          <a:xfrm>
            <a:off x="10945368" y="37033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13,589,038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20040" y="398779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TextBox 245"/>
          <p:cNvSpPr txBox="1"/>
          <p:nvPr/>
        </p:nvSpPr>
        <p:spPr>
          <a:xfrm>
            <a:off x="338328" y="398779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Depreciación y amortización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9748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TextBox 247"/>
          <p:cNvSpPr txBox="1"/>
          <p:nvPr/>
        </p:nvSpPr>
        <p:spPr>
          <a:xfrm>
            <a:off x="271576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52044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TextBox 249"/>
          <p:cNvSpPr txBox="1"/>
          <p:nvPr/>
        </p:nvSpPr>
        <p:spPr>
          <a:xfrm>
            <a:off x="353872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34340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TextBox 251"/>
          <p:cNvSpPr txBox="1"/>
          <p:nvPr/>
        </p:nvSpPr>
        <p:spPr>
          <a:xfrm>
            <a:off x="436168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6636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518464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98932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TextBox 255"/>
          <p:cNvSpPr txBox="1"/>
          <p:nvPr/>
        </p:nvSpPr>
        <p:spPr>
          <a:xfrm>
            <a:off x="600760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81228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TextBox 257"/>
          <p:cNvSpPr txBox="1"/>
          <p:nvPr/>
        </p:nvSpPr>
        <p:spPr>
          <a:xfrm>
            <a:off x="683056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63524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TextBox 259"/>
          <p:cNvSpPr txBox="1"/>
          <p:nvPr/>
        </p:nvSpPr>
        <p:spPr>
          <a:xfrm>
            <a:off x="765352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845820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TextBox 261"/>
          <p:cNvSpPr txBox="1"/>
          <p:nvPr/>
        </p:nvSpPr>
        <p:spPr>
          <a:xfrm>
            <a:off x="847648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928116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TextBox 263"/>
          <p:cNvSpPr txBox="1"/>
          <p:nvPr/>
        </p:nvSpPr>
        <p:spPr>
          <a:xfrm>
            <a:off x="929944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1010412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TextBox 265"/>
          <p:cNvSpPr txBox="1"/>
          <p:nvPr/>
        </p:nvSpPr>
        <p:spPr>
          <a:xfrm>
            <a:off x="1012240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10927080" y="39877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TextBox 267"/>
          <p:cNvSpPr txBox="1"/>
          <p:nvPr/>
        </p:nvSpPr>
        <p:spPr>
          <a:xfrm>
            <a:off x="10945368" y="39877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320040" y="427227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TextBox 269"/>
          <p:cNvSpPr txBox="1"/>
          <p:nvPr/>
        </p:nvSpPr>
        <p:spPr>
          <a:xfrm>
            <a:off x="338328" y="427227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Recuperación de capital de trabajo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269748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TextBox 271"/>
          <p:cNvSpPr txBox="1"/>
          <p:nvPr/>
        </p:nvSpPr>
        <p:spPr>
          <a:xfrm>
            <a:off x="271576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352044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TextBox 273"/>
          <p:cNvSpPr txBox="1"/>
          <p:nvPr/>
        </p:nvSpPr>
        <p:spPr>
          <a:xfrm>
            <a:off x="353872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434340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TextBox 275"/>
          <p:cNvSpPr txBox="1"/>
          <p:nvPr/>
        </p:nvSpPr>
        <p:spPr>
          <a:xfrm>
            <a:off x="436168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516636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TextBox 277"/>
          <p:cNvSpPr txBox="1"/>
          <p:nvPr/>
        </p:nvSpPr>
        <p:spPr>
          <a:xfrm>
            <a:off x="518464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98932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TextBox 279"/>
          <p:cNvSpPr txBox="1"/>
          <p:nvPr/>
        </p:nvSpPr>
        <p:spPr>
          <a:xfrm>
            <a:off x="600760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681228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TextBox 281"/>
          <p:cNvSpPr txBox="1"/>
          <p:nvPr/>
        </p:nvSpPr>
        <p:spPr>
          <a:xfrm>
            <a:off x="683056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763524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765352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845820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TextBox 285"/>
          <p:cNvSpPr txBox="1"/>
          <p:nvPr/>
        </p:nvSpPr>
        <p:spPr>
          <a:xfrm>
            <a:off x="847648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928116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TextBox 287"/>
          <p:cNvSpPr txBox="1"/>
          <p:nvPr/>
        </p:nvSpPr>
        <p:spPr>
          <a:xfrm>
            <a:off x="929944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010412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TextBox 289"/>
          <p:cNvSpPr txBox="1"/>
          <p:nvPr/>
        </p:nvSpPr>
        <p:spPr>
          <a:xfrm>
            <a:off x="1012240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10927080" y="427227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TextBox 291"/>
          <p:cNvSpPr txBox="1"/>
          <p:nvPr/>
        </p:nvSpPr>
        <p:spPr>
          <a:xfrm>
            <a:off x="10945368" y="42722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2,686,438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320040" y="455675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TextBox 293"/>
          <p:cNvSpPr txBox="1"/>
          <p:nvPr/>
        </p:nvSpPr>
        <p:spPr>
          <a:xfrm>
            <a:off x="338328" y="455675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(+) Préstamo bancario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269748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TextBox 295"/>
          <p:cNvSpPr txBox="1"/>
          <p:nvPr/>
        </p:nvSpPr>
        <p:spPr>
          <a:xfrm>
            <a:off x="271576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52044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TextBox 297"/>
          <p:cNvSpPr txBox="1"/>
          <p:nvPr/>
        </p:nvSpPr>
        <p:spPr>
          <a:xfrm>
            <a:off x="353872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434340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TextBox 299"/>
          <p:cNvSpPr txBox="1"/>
          <p:nvPr/>
        </p:nvSpPr>
        <p:spPr>
          <a:xfrm>
            <a:off x="436168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516636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TextBox 301"/>
          <p:cNvSpPr txBox="1"/>
          <p:nvPr/>
        </p:nvSpPr>
        <p:spPr>
          <a:xfrm>
            <a:off x="518464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98932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TextBox 303"/>
          <p:cNvSpPr txBox="1"/>
          <p:nvPr/>
        </p:nvSpPr>
        <p:spPr>
          <a:xfrm>
            <a:off x="600760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681228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TextBox 305"/>
          <p:cNvSpPr txBox="1"/>
          <p:nvPr/>
        </p:nvSpPr>
        <p:spPr>
          <a:xfrm>
            <a:off x="683056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763524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TextBox 307"/>
          <p:cNvSpPr txBox="1"/>
          <p:nvPr/>
        </p:nvSpPr>
        <p:spPr>
          <a:xfrm>
            <a:off x="765352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TextBox 309"/>
          <p:cNvSpPr txBox="1"/>
          <p:nvPr/>
        </p:nvSpPr>
        <p:spPr>
          <a:xfrm>
            <a:off x="847648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28116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TextBox 311"/>
          <p:cNvSpPr txBox="1"/>
          <p:nvPr/>
        </p:nvSpPr>
        <p:spPr>
          <a:xfrm>
            <a:off x="929944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010412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TextBox 313"/>
          <p:cNvSpPr txBox="1"/>
          <p:nvPr/>
        </p:nvSpPr>
        <p:spPr>
          <a:xfrm>
            <a:off x="1012240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0927080" y="45567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TextBox 315"/>
          <p:cNvSpPr txBox="1"/>
          <p:nvPr/>
        </p:nvSpPr>
        <p:spPr>
          <a:xfrm>
            <a:off x="10945368" y="45567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20040" y="484123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TextBox 317"/>
          <p:cNvSpPr txBox="1"/>
          <p:nvPr/>
        </p:nvSpPr>
        <p:spPr>
          <a:xfrm>
            <a:off x="338328" y="484123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Inversión en activos fijos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9748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TextBox 319"/>
          <p:cNvSpPr txBox="1"/>
          <p:nvPr/>
        </p:nvSpPr>
        <p:spPr>
          <a:xfrm>
            <a:off x="271576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52044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TextBox 321"/>
          <p:cNvSpPr txBox="1"/>
          <p:nvPr/>
        </p:nvSpPr>
        <p:spPr>
          <a:xfrm>
            <a:off x="353872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34340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TextBox 323"/>
          <p:cNvSpPr txBox="1"/>
          <p:nvPr/>
        </p:nvSpPr>
        <p:spPr>
          <a:xfrm>
            <a:off x="436168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516636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TextBox 325"/>
          <p:cNvSpPr txBox="1"/>
          <p:nvPr/>
        </p:nvSpPr>
        <p:spPr>
          <a:xfrm>
            <a:off x="518464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98932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TextBox 327"/>
          <p:cNvSpPr txBox="1"/>
          <p:nvPr/>
        </p:nvSpPr>
        <p:spPr>
          <a:xfrm>
            <a:off x="600760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81228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TextBox 329"/>
          <p:cNvSpPr txBox="1"/>
          <p:nvPr/>
        </p:nvSpPr>
        <p:spPr>
          <a:xfrm>
            <a:off x="683056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763524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TextBox 331"/>
          <p:cNvSpPr txBox="1"/>
          <p:nvPr/>
        </p:nvSpPr>
        <p:spPr>
          <a:xfrm>
            <a:off x="765352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845820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TextBox 333"/>
          <p:cNvSpPr txBox="1"/>
          <p:nvPr/>
        </p:nvSpPr>
        <p:spPr>
          <a:xfrm>
            <a:off x="847648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28116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TextBox 335"/>
          <p:cNvSpPr txBox="1"/>
          <p:nvPr/>
        </p:nvSpPr>
        <p:spPr>
          <a:xfrm>
            <a:off x="929944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10412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TextBox 337"/>
          <p:cNvSpPr txBox="1"/>
          <p:nvPr/>
        </p:nvSpPr>
        <p:spPr>
          <a:xfrm>
            <a:off x="1012240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10927080" y="484123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TextBox 339"/>
          <p:cNvSpPr txBox="1"/>
          <p:nvPr/>
        </p:nvSpPr>
        <p:spPr>
          <a:xfrm>
            <a:off x="10945368" y="484123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20040" y="512571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338328" y="512571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Inversión en capital de trabajo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269748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TextBox 343"/>
          <p:cNvSpPr txBox="1"/>
          <p:nvPr/>
        </p:nvSpPr>
        <p:spPr>
          <a:xfrm>
            <a:off x="271576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313,058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352044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TextBox 345"/>
          <p:cNvSpPr txBox="1"/>
          <p:nvPr/>
        </p:nvSpPr>
        <p:spPr>
          <a:xfrm>
            <a:off x="353872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434340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TextBox 347"/>
          <p:cNvSpPr txBox="1"/>
          <p:nvPr/>
        </p:nvSpPr>
        <p:spPr>
          <a:xfrm>
            <a:off x="436168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113,257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516636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18464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148,724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98932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600760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188,320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81228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TextBox 353"/>
          <p:cNvSpPr txBox="1"/>
          <p:nvPr/>
        </p:nvSpPr>
        <p:spPr>
          <a:xfrm>
            <a:off x="683056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232,396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763524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765352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251,766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45820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847648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303,305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928116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TextBox 359"/>
          <p:cNvSpPr txBox="1"/>
          <p:nvPr/>
        </p:nvSpPr>
        <p:spPr>
          <a:xfrm>
            <a:off x="929944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328,076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1010412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1012240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388,201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10927080" y="512571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TextBox 363"/>
          <p:cNvSpPr txBox="1"/>
          <p:nvPr/>
        </p:nvSpPr>
        <p:spPr>
          <a:xfrm>
            <a:off x="10945368" y="512571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419,335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320040" y="541019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TextBox 365"/>
          <p:cNvSpPr txBox="1"/>
          <p:nvPr/>
        </p:nvSpPr>
        <p:spPr>
          <a:xfrm>
            <a:off x="338328" y="541019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Abono a capital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269748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TextBox 367"/>
          <p:cNvSpPr txBox="1"/>
          <p:nvPr/>
        </p:nvSpPr>
        <p:spPr>
          <a:xfrm>
            <a:off x="271576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352044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TextBox 369"/>
          <p:cNvSpPr txBox="1"/>
          <p:nvPr/>
        </p:nvSpPr>
        <p:spPr>
          <a:xfrm>
            <a:off x="353872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134,949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434340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TextBox 371"/>
          <p:cNvSpPr txBox="1"/>
          <p:nvPr/>
        </p:nvSpPr>
        <p:spPr>
          <a:xfrm>
            <a:off x="436168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153,842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516636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18464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175,380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98932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TextBox 375"/>
          <p:cNvSpPr txBox="1"/>
          <p:nvPr/>
        </p:nvSpPr>
        <p:spPr>
          <a:xfrm>
            <a:off x="600760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199,933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681228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TextBox 377"/>
          <p:cNvSpPr txBox="1"/>
          <p:nvPr/>
        </p:nvSpPr>
        <p:spPr>
          <a:xfrm>
            <a:off x="683056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227,924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763524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TextBox 379"/>
          <p:cNvSpPr txBox="1"/>
          <p:nvPr/>
        </p:nvSpPr>
        <p:spPr>
          <a:xfrm>
            <a:off x="765352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845820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TextBox 381"/>
          <p:cNvSpPr txBox="1"/>
          <p:nvPr/>
        </p:nvSpPr>
        <p:spPr>
          <a:xfrm>
            <a:off x="847648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928116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TextBox 383"/>
          <p:cNvSpPr txBox="1"/>
          <p:nvPr/>
        </p:nvSpPr>
        <p:spPr>
          <a:xfrm>
            <a:off x="929944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1010412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TextBox 385"/>
          <p:cNvSpPr txBox="1"/>
          <p:nvPr/>
        </p:nvSpPr>
        <p:spPr>
          <a:xfrm>
            <a:off x="1012240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10927080" y="541019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TextBox 387"/>
          <p:cNvSpPr txBox="1"/>
          <p:nvPr/>
        </p:nvSpPr>
        <p:spPr>
          <a:xfrm>
            <a:off x="10945368" y="541019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0040" y="5694679"/>
            <a:ext cx="237744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TextBox 389"/>
          <p:cNvSpPr txBox="1"/>
          <p:nvPr/>
        </p:nvSpPr>
        <p:spPr>
          <a:xfrm>
            <a:off x="338328" y="569467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FLUJO DE CAJA NETO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269748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TextBox 391"/>
          <p:cNvSpPr txBox="1"/>
          <p:nvPr/>
        </p:nvSpPr>
        <p:spPr>
          <a:xfrm>
            <a:off x="271576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−892,029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352044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TextBox 393"/>
          <p:cNvSpPr txBox="1"/>
          <p:nvPr/>
        </p:nvSpPr>
        <p:spPr>
          <a:xfrm>
            <a:off x="353872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−993,690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434340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TextBox 395"/>
          <p:cNvSpPr txBox="1"/>
          <p:nvPr/>
        </p:nvSpPr>
        <p:spPr>
          <a:xfrm>
            <a:off x="436168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−224,128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16636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TextBox 397"/>
          <p:cNvSpPr txBox="1"/>
          <p:nvPr/>
        </p:nvSpPr>
        <p:spPr>
          <a:xfrm>
            <a:off x="518464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943,428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98932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TextBox 399"/>
          <p:cNvSpPr txBox="1"/>
          <p:nvPr/>
        </p:nvSpPr>
        <p:spPr>
          <a:xfrm>
            <a:off x="600760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1,769,181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681228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TextBox 401"/>
          <p:cNvSpPr txBox="1"/>
          <p:nvPr/>
        </p:nvSpPr>
        <p:spPr>
          <a:xfrm>
            <a:off x="683056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3,040,382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63524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TextBox 403"/>
          <p:cNvSpPr txBox="1"/>
          <p:nvPr/>
        </p:nvSpPr>
        <p:spPr>
          <a:xfrm>
            <a:off x="765352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4,728,611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45820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TextBox 405"/>
          <p:cNvSpPr txBox="1"/>
          <p:nvPr/>
        </p:nvSpPr>
        <p:spPr>
          <a:xfrm>
            <a:off x="847648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6,496,392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928116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TextBox 407"/>
          <p:cNvSpPr txBox="1"/>
          <p:nvPr/>
        </p:nvSpPr>
        <p:spPr>
          <a:xfrm>
            <a:off x="929944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8,444,920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1010412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TextBox 409"/>
          <p:cNvSpPr txBox="1"/>
          <p:nvPr/>
        </p:nvSpPr>
        <p:spPr>
          <a:xfrm>
            <a:off x="1012240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10,740,373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927080" y="5694679"/>
            <a:ext cx="822960" cy="28448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TextBox 411"/>
          <p:cNvSpPr txBox="1"/>
          <p:nvPr/>
        </p:nvSpPr>
        <p:spPr>
          <a:xfrm>
            <a:off x="10945368" y="569467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15,945,642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320040" y="5979159"/>
            <a:ext cx="237744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TextBox 413"/>
          <p:cNvSpPr txBox="1"/>
          <p:nvPr/>
        </p:nvSpPr>
        <p:spPr>
          <a:xfrm>
            <a:off x="338328" y="5979159"/>
            <a:ext cx="234086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Flujo acumulado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269748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TextBox 415"/>
          <p:cNvSpPr txBox="1"/>
          <p:nvPr/>
        </p:nvSpPr>
        <p:spPr>
          <a:xfrm>
            <a:off x="271576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−892,029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352044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TextBox 417"/>
          <p:cNvSpPr txBox="1"/>
          <p:nvPr/>
        </p:nvSpPr>
        <p:spPr>
          <a:xfrm>
            <a:off x="353872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−1,885,719</a:t>
            </a:r>
          </a:p>
        </p:txBody>
      </p:sp>
      <p:sp>
        <p:nvSpPr>
          <p:cNvPr id="419" name="Rectangle 418"/>
          <p:cNvSpPr/>
          <p:nvPr/>
        </p:nvSpPr>
        <p:spPr>
          <a:xfrm>
            <a:off x="434340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TextBox 419"/>
          <p:cNvSpPr txBox="1"/>
          <p:nvPr/>
        </p:nvSpPr>
        <p:spPr>
          <a:xfrm>
            <a:off x="436168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−2,109,848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516636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TextBox 421"/>
          <p:cNvSpPr txBox="1"/>
          <p:nvPr/>
        </p:nvSpPr>
        <p:spPr>
          <a:xfrm>
            <a:off x="518464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−1,166,420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598932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TextBox 423"/>
          <p:cNvSpPr txBox="1"/>
          <p:nvPr/>
        </p:nvSpPr>
        <p:spPr>
          <a:xfrm>
            <a:off x="600760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602,761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81228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TextBox 425"/>
          <p:cNvSpPr txBox="1"/>
          <p:nvPr/>
        </p:nvSpPr>
        <p:spPr>
          <a:xfrm>
            <a:off x="683056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3,643,143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763524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TextBox 427"/>
          <p:cNvSpPr txBox="1"/>
          <p:nvPr/>
        </p:nvSpPr>
        <p:spPr>
          <a:xfrm>
            <a:off x="765352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8,371,754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845820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TextBox 429"/>
          <p:cNvSpPr txBox="1"/>
          <p:nvPr/>
        </p:nvSpPr>
        <p:spPr>
          <a:xfrm>
            <a:off x="847648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14,868,146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928116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TextBox 431"/>
          <p:cNvSpPr txBox="1"/>
          <p:nvPr/>
        </p:nvSpPr>
        <p:spPr>
          <a:xfrm>
            <a:off x="929944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23,313,066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1010412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TextBox 433"/>
          <p:cNvSpPr txBox="1"/>
          <p:nvPr/>
        </p:nvSpPr>
        <p:spPr>
          <a:xfrm>
            <a:off x="1012240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34,053,438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10927080" y="5979159"/>
            <a:ext cx="822960" cy="28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6" name="TextBox 435"/>
          <p:cNvSpPr txBox="1"/>
          <p:nvPr/>
        </p:nvSpPr>
        <p:spPr>
          <a:xfrm>
            <a:off x="10945368" y="5979159"/>
            <a:ext cx="786384" cy="28448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49,999,080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20040" y="630936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Fuente: Tabla 27 de la tesis y modelo financiero (réplica verificada). Valores en lempiras.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ANEXO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0D2341"/>
                </a:solidFill>
                <a:latin typeface="Calibri"/>
              </a:rPr>
              <a:t>Anexo C · Estado de Resultados Proyectado (con financiamiento)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377440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143000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15768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2736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1024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26280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13248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31536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18504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36792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42048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6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47304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4272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52560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39528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957816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44784" y="1143000"/>
            <a:ext cx="905256" cy="310896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863072" y="1143000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1453896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8328" y="1453896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Ingresos por ventas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97480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15768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3,024,000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736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21024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5,266,800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07992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526280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8,255,709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13248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431536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12,078,102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18504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36792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16,828,822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242048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21,982,649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9016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47304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28,222,581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34272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052560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34,979,592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39528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957816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43,004,323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44784" y="1453896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863072" y="1453896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51,680,445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1764792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8328" y="1764792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Leche cruda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97480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715768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1,512,557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02736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21024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2,634,370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7992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26280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4,129,374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13248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431536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6,041,275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18504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36792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8,417,509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42048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10,995,372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9016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47304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14,116,486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34272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52560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17,496,236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939528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957816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21,510,078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844784" y="1764792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863072" y="1764792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25,849,736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2075688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38328" y="2075688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Empaque y combustible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697480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715768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195,624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02736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621024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340,712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07992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526280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534,066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3248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5431536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781,338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18504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6336792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1,088,665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23760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242048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1,422,068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129016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8147304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1,825,732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34272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052560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2,262,847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939528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957816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2,781,970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44784" y="2075688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10863072" y="2075688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3,343,233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2386584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38328" y="2386584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Margen de contribución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697480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715768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1,315,819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02736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621024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2,291,719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507992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526280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3,592,269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13248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431536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5,255,489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18504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336792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7,322,649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223760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7242048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9,565,210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129016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8147304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12,280,363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034272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052560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15,220,510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939528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9957816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18,712,274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844784" y="2386584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863072" y="2386584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22,487,476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2697479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38328" y="2697479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Personal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697480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715768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1,426,533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02736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3621024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1,490,727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507992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526280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1,557,809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13248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431536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1,627,911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18504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336792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1,701,167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223760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7242048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1,777,719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129016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147304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1,857,716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034272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052560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1,941,314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939528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957816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2,028,673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844784" y="269747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0863072" y="269747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2,119,963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3008375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338328" y="3008375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Costos fijos operativos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697480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715768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351,120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602736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3621024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366,920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07992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4526280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383,432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413248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5431536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400,686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18504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336792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418,717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23760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7242048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437,559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129016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8147304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457,250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034272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9052560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477,826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939528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957816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499,328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44784" y="300837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10863072" y="300837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521,798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0040" y="3319271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338328" y="3319271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Gastos administrativos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97480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2715768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270,864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602736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621024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283,053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507992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4526280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295,790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413248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5431536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309,101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18504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6336792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323,010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223760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7242048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337,546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129016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8147304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352,735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9034272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9052560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368,608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939528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9957816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385,196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844784" y="331927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10863072" y="331927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402,530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20040" y="3630167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38328" y="3630167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EBITDA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697480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2715768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−732,697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602736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3621024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151,019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507992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4526280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1,355,238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413248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5431536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2,917,792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318504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6336792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4,879,754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223760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7242048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7,012,385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129016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8147304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9,612,661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034272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9052560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12,432,762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939528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9957816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15,799,078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0844784" y="363016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10863072" y="363016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19,443,185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320040" y="3941063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338328" y="3941063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Depreciación y amortización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697480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2715768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602736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TextBox 207"/>
          <p:cNvSpPr txBox="1"/>
          <p:nvPr/>
        </p:nvSpPr>
        <p:spPr>
          <a:xfrm>
            <a:off x="3621024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507992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TextBox 209"/>
          <p:cNvSpPr txBox="1"/>
          <p:nvPr/>
        </p:nvSpPr>
        <p:spPr>
          <a:xfrm>
            <a:off x="4526280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413248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TextBox 211"/>
          <p:cNvSpPr txBox="1"/>
          <p:nvPr/>
        </p:nvSpPr>
        <p:spPr>
          <a:xfrm>
            <a:off x="5431536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6318504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6336792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7223760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7242048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129016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TextBox 217"/>
          <p:cNvSpPr txBox="1"/>
          <p:nvPr/>
        </p:nvSpPr>
        <p:spPr>
          <a:xfrm>
            <a:off x="8147304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9034272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9052560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939528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9957816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844784" y="3941063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10863072" y="394106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89,500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320040" y="4251959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338328" y="4251959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Impuesto municipal (ICS)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697480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2715768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1,160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602736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TextBox 229"/>
          <p:cNvSpPr txBox="1"/>
          <p:nvPr/>
        </p:nvSpPr>
        <p:spPr>
          <a:xfrm>
            <a:off x="3621024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2,057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507992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Box 231"/>
          <p:cNvSpPr txBox="1"/>
          <p:nvPr/>
        </p:nvSpPr>
        <p:spPr>
          <a:xfrm>
            <a:off x="4526280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3,252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5413248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TextBox 233"/>
          <p:cNvSpPr txBox="1"/>
          <p:nvPr/>
        </p:nvSpPr>
        <p:spPr>
          <a:xfrm>
            <a:off x="5431536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4,573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6318504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TextBox 235"/>
          <p:cNvSpPr txBox="1"/>
          <p:nvPr/>
        </p:nvSpPr>
        <p:spPr>
          <a:xfrm>
            <a:off x="6336792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5,999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7223760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TextBox 237"/>
          <p:cNvSpPr txBox="1"/>
          <p:nvPr/>
        </p:nvSpPr>
        <p:spPr>
          <a:xfrm>
            <a:off x="7242048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7,347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8129016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8147304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8,595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9034272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TextBox 241"/>
          <p:cNvSpPr txBox="1"/>
          <p:nvPr/>
        </p:nvSpPr>
        <p:spPr>
          <a:xfrm>
            <a:off x="9052560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9,697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9939528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TextBox 243"/>
          <p:cNvSpPr txBox="1"/>
          <p:nvPr/>
        </p:nvSpPr>
        <p:spPr>
          <a:xfrm>
            <a:off x="9957816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10,901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0844784" y="425195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TextBox 245"/>
          <p:cNvSpPr txBox="1"/>
          <p:nvPr/>
        </p:nvSpPr>
        <p:spPr>
          <a:xfrm>
            <a:off x="10863072" y="425195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12,202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0040" y="4562855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TextBox 247"/>
          <p:cNvSpPr txBox="1"/>
          <p:nvPr/>
        </p:nvSpPr>
        <p:spPr>
          <a:xfrm>
            <a:off x="338328" y="4562855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Intereses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2697480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TextBox 249"/>
          <p:cNvSpPr txBox="1"/>
          <p:nvPr/>
        </p:nvSpPr>
        <p:spPr>
          <a:xfrm>
            <a:off x="2715768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124,884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602736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TextBox 251"/>
          <p:cNvSpPr txBox="1"/>
          <p:nvPr/>
        </p:nvSpPr>
        <p:spPr>
          <a:xfrm>
            <a:off x="3621024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105,991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07992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4526280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84,453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413248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TextBox 255"/>
          <p:cNvSpPr txBox="1"/>
          <p:nvPr/>
        </p:nvSpPr>
        <p:spPr>
          <a:xfrm>
            <a:off x="5431536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59,900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318504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TextBox 257"/>
          <p:cNvSpPr txBox="1"/>
          <p:nvPr/>
        </p:nvSpPr>
        <p:spPr>
          <a:xfrm>
            <a:off x="6336792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31,909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223760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TextBox 259"/>
          <p:cNvSpPr txBox="1"/>
          <p:nvPr/>
        </p:nvSpPr>
        <p:spPr>
          <a:xfrm>
            <a:off x="7242048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8129016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TextBox 261"/>
          <p:cNvSpPr txBox="1"/>
          <p:nvPr/>
        </p:nvSpPr>
        <p:spPr>
          <a:xfrm>
            <a:off x="8147304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9034272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TextBox 263"/>
          <p:cNvSpPr txBox="1"/>
          <p:nvPr/>
        </p:nvSpPr>
        <p:spPr>
          <a:xfrm>
            <a:off x="9052560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9939528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TextBox 265"/>
          <p:cNvSpPr txBox="1"/>
          <p:nvPr/>
        </p:nvSpPr>
        <p:spPr>
          <a:xfrm>
            <a:off x="9957816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10844784" y="4562855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TextBox 267"/>
          <p:cNvSpPr txBox="1"/>
          <p:nvPr/>
        </p:nvSpPr>
        <p:spPr>
          <a:xfrm>
            <a:off x="10863072" y="4562855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320040" y="4873751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TextBox 269"/>
          <p:cNvSpPr txBox="1"/>
          <p:nvPr/>
        </p:nvSpPr>
        <p:spPr>
          <a:xfrm>
            <a:off x="338328" y="4873751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antes de impuestos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2697480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TextBox 271"/>
          <p:cNvSpPr txBox="1"/>
          <p:nvPr/>
        </p:nvSpPr>
        <p:spPr>
          <a:xfrm>
            <a:off x="2715768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3602736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TextBox 273"/>
          <p:cNvSpPr txBox="1"/>
          <p:nvPr/>
        </p:nvSpPr>
        <p:spPr>
          <a:xfrm>
            <a:off x="3621024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4507992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TextBox 275"/>
          <p:cNvSpPr txBox="1"/>
          <p:nvPr/>
        </p:nvSpPr>
        <p:spPr>
          <a:xfrm>
            <a:off x="4526280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5413248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TextBox 277"/>
          <p:cNvSpPr txBox="1"/>
          <p:nvPr/>
        </p:nvSpPr>
        <p:spPr>
          <a:xfrm>
            <a:off x="5431536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2,648,618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6318504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TextBox 279"/>
          <p:cNvSpPr txBox="1"/>
          <p:nvPr/>
        </p:nvSpPr>
        <p:spPr>
          <a:xfrm>
            <a:off x="6336792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4,637,146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7223760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TextBox 281"/>
          <p:cNvSpPr txBox="1"/>
          <p:nvPr/>
        </p:nvSpPr>
        <p:spPr>
          <a:xfrm>
            <a:off x="7242048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6,915,539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8129016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8147304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9,514,567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9034272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TextBox 285"/>
          <p:cNvSpPr txBox="1"/>
          <p:nvPr/>
        </p:nvSpPr>
        <p:spPr>
          <a:xfrm>
            <a:off x="9052560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12,333,565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9939528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TextBox 287"/>
          <p:cNvSpPr txBox="1"/>
          <p:nvPr/>
        </p:nvSpPr>
        <p:spPr>
          <a:xfrm>
            <a:off x="9957816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15,698,677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0844784" y="4873751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TextBox 289"/>
          <p:cNvSpPr txBox="1"/>
          <p:nvPr/>
        </p:nvSpPr>
        <p:spPr>
          <a:xfrm>
            <a:off x="10863072" y="4873751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19,341,483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320040" y="5184647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TextBox 291"/>
          <p:cNvSpPr txBox="1"/>
          <p:nvPr/>
        </p:nvSpPr>
        <p:spPr>
          <a:xfrm>
            <a:off x="338328" y="5184647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Impuesto sobre la renta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2697480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TextBox 293"/>
          <p:cNvSpPr txBox="1"/>
          <p:nvPr/>
        </p:nvSpPr>
        <p:spPr>
          <a:xfrm>
            <a:off x="2715768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3602736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TextBox 295"/>
          <p:cNvSpPr txBox="1"/>
          <p:nvPr/>
        </p:nvSpPr>
        <p:spPr>
          <a:xfrm>
            <a:off x="3621024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4507992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TextBox 297"/>
          <p:cNvSpPr txBox="1"/>
          <p:nvPr/>
        </p:nvSpPr>
        <p:spPr>
          <a:xfrm>
            <a:off x="4526280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5413248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TextBox 299"/>
          <p:cNvSpPr txBox="1"/>
          <p:nvPr/>
        </p:nvSpPr>
        <p:spPr>
          <a:xfrm>
            <a:off x="5431536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695,884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318504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TextBox 301"/>
          <p:cNvSpPr txBox="1"/>
          <p:nvPr/>
        </p:nvSpPr>
        <p:spPr>
          <a:xfrm>
            <a:off x="6336792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1,341,144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7223760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TextBox 303"/>
          <p:cNvSpPr txBox="1"/>
          <p:nvPr/>
        </p:nvSpPr>
        <p:spPr>
          <a:xfrm>
            <a:off x="7242048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2,024,662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8129016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TextBox 305"/>
          <p:cNvSpPr txBox="1"/>
          <p:nvPr/>
        </p:nvSpPr>
        <p:spPr>
          <a:xfrm>
            <a:off x="8147304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2,804,370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034272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TextBox 307"/>
          <p:cNvSpPr txBox="1"/>
          <p:nvPr/>
        </p:nvSpPr>
        <p:spPr>
          <a:xfrm>
            <a:off x="9052560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3,650,070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39528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TextBox 309"/>
          <p:cNvSpPr txBox="1"/>
          <p:nvPr/>
        </p:nvSpPr>
        <p:spPr>
          <a:xfrm>
            <a:off x="9957816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4,659,603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844784" y="5184647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TextBox 311"/>
          <p:cNvSpPr txBox="1"/>
          <p:nvPr/>
        </p:nvSpPr>
        <p:spPr>
          <a:xfrm>
            <a:off x="10863072" y="5184647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5,752,445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20040" y="5495543"/>
            <a:ext cx="2377440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TextBox 313"/>
          <p:cNvSpPr txBox="1"/>
          <p:nvPr/>
        </p:nvSpPr>
        <p:spPr>
          <a:xfrm>
            <a:off x="338328" y="5495543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(=) UTILIDAD NETA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97480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TextBox 315"/>
          <p:cNvSpPr txBox="1"/>
          <p:nvPr/>
        </p:nvSpPr>
        <p:spPr>
          <a:xfrm>
            <a:off x="2715768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−1,063,441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602736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TextBox 317"/>
          <p:cNvSpPr txBox="1"/>
          <p:nvPr/>
        </p:nvSpPr>
        <p:spPr>
          <a:xfrm>
            <a:off x="3621024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−161,729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507992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TextBox 319"/>
          <p:cNvSpPr txBox="1"/>
          <p:nvPr/>
        </p:nvSpPr>
        <p:spPr>
          <a:xfrm>
            <a:off x="4526280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1,062,832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5413248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TextBox 321"/>
          <p:cNvSpPr txBox="1"/>
          <p:nvPr/>
        </p:nvSpPr>
        <p:spPr>
          <a:xfrm>
            <a:off x="5431536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1,952,734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318504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TextBox 323"/>
          <p:cNvSpPr txBox="1"/>
          <p:nvPr/>
        </p:nvSpPr>
        <p:spPr>
          <a:xfrm>
            <a:off x="6336792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3,296,003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223760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TextBox 325"/>
          <p:cNvSpPr txBox="1"/>
          <p:nvPr/>
        </p:nvSpPr>
        <p:spPr>
          <a:xfrm>
            <a:off x="7242048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4,890,877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8129016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TextBox 327"/>
          <p:cNvSpPr txBox="1"/>
          <p:nvPr/>
        </p:nvSpPr>
        <p:spPr>
          <a:xfrm>
            <a:off x="8147304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6,710,197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034272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TextBox 329"/>
          <p:cNvSpPr txBox="1"/>
          <p:nvPr/>
        </p:nvSpPr>
        <p:spPr>
          <a:xfrm>
            <a:off x="9052560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8,683,496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9939528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TextBox 331"/>
          <p:cNvSpPr txBox="1"/>
          <p:nvPr/>
        </p:nvSpPr>
        <p:spPr>
          <a:xfrm>
            <a:off x="9957816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11,039,074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10844784" y="5495543"/>
            <a:ext cx="905256" cy="310896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TextBox 333"/>
          <p:cNvSpPr txBox="1"/>
          <p:nvPr/>
        </p:nvSpPr>
        <p:spPr>
          <a:xfrm>
            <a:off x="10863072" y="5495543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13,589,038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20040" y="5806439"/>
            <a:ext cx="2377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TextBox 335"/>
          <p:cNvSpPr txBox="1"/>
          <p:nvPr/>
        </p:nvSpPr>
        <p:spPr>
          <a:xfrm>
            <a:off x="338328" y="5806439"/>
            <a:ext cx="2340864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Margen neto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2697480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TextBox 337"/>
          <p:cNvSpPr txBox="1"/>
          <p:nvPr/>
        </p:nvSpPr>
        <p:spPr>
          <a:xfrm>
            <a:off x="2715768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-35.2 %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3602736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TextBox 339"/>
          <p:cNvSpPr txBox="1"/>
          <p:nvPr/>
        </p:nvSpPr>
        <p:spPr>
          <a:xfrm>
            <a:off x="3621024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-3.1 %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507992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4526280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12.9 %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413248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TextBox 343"/>
          <p:cNvSpPr txBox="1"/>
          <p:nvPr/>
        </p:nvSpPr>
        <p:spPr>
          <a:xfrm>
            <a:off x="5431536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16.2 %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18504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TextBox 345"/>
          <p:cNvSpPr txBox="1"/>
          <p:nvPr/>
        </p:nvSpPr>
        <p:spPr>
          <a:xfrm>
            <a:off x="6336792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19.6 %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223760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TextBox 347"/>
          <p:cNvSpPr txBox="1"/>
          <p:nvPr/>
        </p:nvSpPr>
        <p:spPr>
          <a:xfrm>
            <a:off x="7242048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22.2 %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129016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8147304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23.8 %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9034272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9052560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24.8 %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939528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TextBox 353"/>
          <p:cNvSpPr txBox="1"/>
          <p:nvPr/>
        </p:nvSpPr>
        <p:spPr>
          <a:xfrm>
            <a:off x="9957816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25.7 %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844784" y="5806439"/>
            <a:ext cx="90525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10863072" y="5806439"/>
            <a:ext cx="868680" cy="310896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26.3 %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20040" y="626364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Fuente: modelo financiero, hoja "Análisis Complementario" (sección 10). La utilidad antes de impuestos coincide con la Tabla 27.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1A7A8A"/>
                </a:solidFill>
                <a:latin typeface="Calibri"/>
              </a:rPr>
              <a:t>ANEXO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75488"/>
            <a:ext cx="11521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0D2341"/>
                </a:solidFill>
                <a:latin typeface="Calibri"/>
              </a:rPr>
              <a:t>Anexo C · Balance General Proyectado (con financiamiento)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11430000" cy="182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37744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14300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Concepto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1576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6168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8464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0760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3056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5352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7648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944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0412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12240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1143000"/>
            <a:ext cx="822960" cy="365760"/>
          </a:xfrm>
          <a:prstGeom prst="rect">
            <a:avLst/>
          </a:prstGeom>
          <a:solidFill>
            <a:srgbClr val="0D2341"/>
          </a:solidFill>
          <a:ln w="12700">
            <a:solidFill>
              <a:srgbClr val="0D2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945368" y="11430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Año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508760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38328" y="150876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Caja y bancos (excedentes)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71576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3872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36168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8464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943,428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0760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2,712,609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1228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3056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5,752,991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5352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10,481,602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7648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16,977,994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8116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9944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25,422,913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12240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36,163,286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27080" y="150876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45368" y="150876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49,422,490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1874519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8328" y="1874519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Capital de trabajo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9748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71576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313,058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53872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313,058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4340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36168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426,315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6636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8464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575,039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8932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00760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763,359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1228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83056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995,756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3524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65352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1,247,522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47648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1,550,827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8116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29944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1,878,903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0412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12240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2,267,104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27080" y="187451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945368" y="187451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2,686,438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240279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8328" y="2240279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Activos fijos y diferidos (costo)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9748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271576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2044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53872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4340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36168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6636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18464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8932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00760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1228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3056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3524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765352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5820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847648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8116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929944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0412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012240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927080" y="224027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0945368" y="224027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2606039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38328" y="2606039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(−) Depreciación acumulada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69748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271576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53872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204,700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36168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409,400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6636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518464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614,100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98932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00760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818,800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1228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83056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1,023,500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63524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65352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1,113,000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45820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847648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1,202,500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28116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29944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1,292,000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0412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012240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1,381,500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927080" y="260603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945368" y="260603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1,471,000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2971799"/>
            <a:ext cx="237744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38328" y="2971799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TOTAL ACTIVO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9748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71576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1,784,058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2044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53872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1,579,358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34340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1,487,915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16636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18464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2,375,367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98932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00760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4,128,168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81228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83056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7,196,246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63524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765352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12,087,124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847648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18,797,320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28116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29944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27,480,816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0412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012240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38,519,890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927080" y="2971799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10945368" y="297179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52,108,928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3337559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38328" y="3337559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Préstamo bancario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69748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271576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52044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53872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757,080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34340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36168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603,238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16636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518464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427,857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98932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00760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227,924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81228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83056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63524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765352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45820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847648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28116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929944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10412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012240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0927080" y="3337559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10945368" y="3337559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3703320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38328" y="370332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Capital social inicial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69748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71576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52044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53872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4340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436168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16636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518464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98932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600760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81228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683056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63524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765352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45820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847648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8116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929944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010412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1012240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10927080" y="370332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10945368" y="370332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892,029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20040" y="4069080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338328" y="406908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Aportes adicionales de socios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69748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271576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352044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353872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993,690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434340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436168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16636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518464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98932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TextBox 207"/>
          <p:cNvSpPr txBox="1"/>
          <p:nvPr/>
        </p:nvSpPr>
        <p:spPr>
          <a:xfrm>
            <a:off x="600760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81228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TextBox 209"/>
          <p:cNvSpPr txBox="1"/>
          <p:nvPr/>
        </p:nvSpPr>
        <p:spPr>
          <a:xfrm>
            <a:off x="683056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63524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TextBox 211"/>
          <p:cNvSpPr txBox="1"/>
          <p:nvPr/>
        </p:nvSpPr>
        <p:spPr>
          <a:xfrm>
            <a:off x="765352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5820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847648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28116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929944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010412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TextBox 217"/>
          <p:cNvSpPr txBox="1"/>
          <p:nvPr/>
        </p:nvSpPr>
        <p:spPr>
          <a:xfrm>
            <a:off x="1012240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0927080" y="406908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10945368" y="406908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1,217,819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0040" y="4434840"/>
            <a:ext cx="2377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338328" y="443484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0" i="0">
                <a:solidFill>
                  <a:srgbClr val="334155"/>
                </a:solidFill>
                <a:latin typeface="Calibri"/>
              </a:rPr>
              <a:t>Utilidades retenidas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269748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271576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0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352044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353872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−1,063,441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434340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436168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−1,225,170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16636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TextBox 229"/>
          <p:cNvSpPr txBox="1"/>
          <p:nvPr/>
        </p:nvSpPr>
        <p:spPr>
          <a:xfrm>
            <a:off x="518464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−162,338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98932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Box 231"/>
          <p:cNvSpPr txBox="1"/>
          <p:nvPr/>
        </p:nvSpPr>
        <p:spPr>
          <a:xfrm>
            <a:off x="600760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1,790,396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681228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TextBox 233"/>
          <p:cNvSpPr txBox="1"/>
          <p:nvPr/>
        </p:nvSpPr>
        <p:spPr>
          <a:xfrm>
            <a:off x="683056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5,086,399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763524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TextBox 235"/>
          <p:cNvSpPr txBox="1"/>
          <p:nvPr/>
        </p:nvSpPr>
        <p:spPr>
          <a:xfrm>
            <a:off x="765352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9,977,276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45820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TextBox 237"/>
          <p:cNvSpPr txBox="1"/>
          <p:nvPr/>
        </p:nvSpPr>
        <p:spPr>
          <a:xfrm>
            <a:off x="847648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16,687,473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28116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929944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25,370,968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10412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TextBox 241"/>
          <p:cNvSpPr txBox="1"/>
          <p:nvPr/>
        </p:nvSpPr>
        <p:spPr>
          <a:xfrm>
            <a:off x="1012240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36,410,042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27080" y="4434840"/>
            <a:ext cx="822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TextBox 243"/>
          <p:cNvSpPr txBox="1"/>
          <p:nvPr/>
        </p:nvSpPr>
        <p:spPr>
          <a:xfrm>
            <a:off x="10945368" y="443484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0" i="0">
                <a:solidFill>
                  <a:srgbClr val="334155"/>
                </a:solidFill>
                <a:latin typeface="Calibri"/>
              </a:rPr>
              <a:t>49,999,080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20040" y="4800600"/>
            <a:ext cx="237744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TextBox 245"/>
          <p:cNvSpPr txBox="1"/>
          <p:nvPr/>
        </p:nvSpPr>
        <p:spPr>
          <a:xfrm>
            <a:off x="338328" y="4800600"/>
            <a:ext cx="234086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l"/>
            <a:r>
              <a:rPr sz="850" b="1" i="0">
                <a:solidFill>
                  <a:srgbClr val="0D2341"/>
                </a:solidFill>
                <a:latin typeface="Calibri"/>
              </a:rPr>
              <a:t>TOTAL PASIVO Y PATRIMONIO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9748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TextBox 247"/>
          <p:cNvSpPr txBox="1"/>
          <p:nvPr/>
        </p:nvSpPr>
        <p:spPr>
          <a:xfrm>
            <a:off x="271576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1,784,058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52044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TextBox 249"/>
          <p:cNvSpPr txBox="1"/>
          <p:nvPr/>
        </p:nvSpPr>
        <p:spPr>
          <a:xfrm>
            <a:off x="353872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1,579,358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34340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TextBox 251"/>
          <p:cNvSpPr txBox="1"/>
          <p:nvPr/>
        </p:nvSpPr>
        <p:spPr>
          <a:xfrm>
            <a:off x="436168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1,487,915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6636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518464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2,375,367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98932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TextBox 255"/>
          <p:cNvSpPr txBox="1"/>
          <p:nvPr/>
        </p:nvSpPr>
        <p:spPr>
          <a:xfrm>
            <a:off x="600760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4,128,168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81228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TextBox 257"/>
          <p:cNvSpPr txBox="1"/>
          <p:nvPr/>
        </p:nvSpPr>
        <p:spPr>
          <a:xfrm>
            <a:off x="683056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7,196,246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63524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TextBox 259"/>
          <p:cNvSpPr txBox="1"/>
          <p:nvPr/>
        </p:nvSpPr>
        <p:spPr>
          <a:xfrm>
            <a:off x="765352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12,087,124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845820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TextBox 261"/>
          <p:cNvSpPr txBox="1"/>
          <p:nvPr/>
        </p:nvSpPr>
        <p:spPr>
          <a:xfrm>
            <a:off x="847648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18,797,320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928116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TextBox 263"/>
          <p:cNvSpPr txBox="1"/>
          <p:nvPr/>
        </p:nvSpPr>
        <p:spPr>
          <a:xfrm>
            <a:off x="929944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27,480,816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1010412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TextBox 265"/>
          <p:cNvSpPr txBox="1"/>
          <p:nvPr/>
        </p:nvSpPr>
        <p:spPr>
          <a:xfrm>
            <a:off x="1012240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38,519,890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10927080" y="4800600"/>
            <a:ext cx="822960" cy="365760"/>
          </a:xfrm>
          <a:prstGeom prst="rect">
            <a:avLst/>
          </a:prstGeom>
          <a:solidFill>
            <a:srgbClr val="E6F4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TextBox 267"/>
          <p:cNvSpPr txBox="1"/>
          <p:nvPr/>
        </p:nvSpPr>
        <p:spPr>
          <a:xfrm>
            <a:off x="10945368" y="4800600"/>
            <a:ext cx="786384" cy="365760"/>
          </a:xfrm>
          <a:prstGeom prst="rect">
            <a:avLst/>
          </a:prstGeom>
          <a:noFill/>
        </p:spPr>
        <p:txBody>
          <a:bodyPr wrap="square" anchor="ctr" lIns="45720" rIns="45720" tIns="9144" bIns="9144">
            <a:spAutoFit/>
          </a:bodyPr>
          <a:lstStyle/>
          <a:p>
            <a:pPr algn="r"/>
            <a:r>
              <a:rPr sz="850" b="1" i="0">
                <a:solidFill>
                  <a:srgbClr val="0D2341"/>
                </a:solidFill>
                <a:latin typeface="Calibri"/>
              </a:rPr>
              <a:t>52,108,928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0040" y="5349240"/>
            <a:ext cx="11521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Supuestos: sin reparto de dividendos; déficits de los años 1 y 2 cubiertos con aportes de socios; la recuperación del capital de trabajo (año 10) es una convención de evaluación y no se registra como caja. Activo = pasivo + patrimonio en todos los años.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20040" y="6583680"/>
            <a:ext cx="11521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Maestría en Agronegocios · Universidad EAFIT · Zamorano · 2026   |   Caballero · Valladares · Medal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E783CA9-6FFC-4A5C-8070-73DABA78C17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4560c314-448b-424d-afca-702a2a5a5b0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4090</Words>
  <Application>Microsoft Office PowerPoint</Application>
  <PresentationFormat>Panorámica</PresentationFormat>
  <Paragraphs>708</Paragraphs>
  <Slides>23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FredyValladares23@outlook.com</dc:creator>
  <cp:lastModifiedBy>Elkin Arcesio Gomez Salazar</cp:lastModifiedBy>
  <cp:revision>4</cp:revision>
  <dcterms:created xsi:type="dcterms:W3CDTF">2026-09-17T05:51:58Z</dcterms:created>
  <dcterms:modified xsi:type="dcterms:W3CDTF">2026-09-24T15:00:51Z</dcterms:modified>
</cp:coreProperties>
</file>